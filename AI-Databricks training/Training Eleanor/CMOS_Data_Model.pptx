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Data Model — Tables, Keys &amp; Join Relationships Used in Training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proven join key (tested live in Module 2)   ·   dashed = presumed or unconfirmed — see Open Items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2743200" cy="1737360"/>
          </a:xfrm>
          <a:prstGeom prst="rect">
            <a:avLst/>
          </a:prstGeom>
          <a:solidFill>
            <a:srgbClr val="0E3D2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72491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962656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BD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/ parent table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66928" y="316382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agreement_id  (formal, but NOT the join key)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6928" y="3337560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D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join key: external_id  (UNIQUE, ~100% match)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356616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i="1" dirty="0">
                <a:solidFill>
                  <a:srgbClr val="E5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queries: counterparty_code, agreement_type, agreement_date, base_currency, agreement_status, reporting_date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2606040" cy="1417320"/>
          </a:xfrm>
          <a:prstGeom prst="rect">
            <a:avLst/>
          </a:prstGeom>
          <a:solidFill>
            <a:srgbClr val="EAF3EC"/>
          </a:solidFill>
          <a:ln w="13970">
            <a:solidFill>
              <a:srgbClr val="1F7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3210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daily_exposure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103327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external_id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agreements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3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(external_id, reporting_date)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base_total_exposure_amount, call_status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7452360" y="777240"/>
            <a:ext cx="2651760" cy="1417320"/>
          </a:xfrm>
          <a:prstGeom prst="rect">
            <a:avLst/>
          </a:prstGeom>
          <a:solidFill>
            <a:srgbClr val="EAF3EC"/>
          </a:solidFill>
          <a:ln w="13970">
            <a:solidFill>
              <a:srgbClr val="1F7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83210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asset_holdings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43800" y="1033272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agreement_ext_id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543800" y="1188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spelling of external_id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543800" y="1508760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3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(agreement_ext_id, reporting_date)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754380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asset_class, asset_type, reported_collateral_value, rating, pd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0378440" y="777240"/>
            <a:ext cx="1691640" cy="1874520"/>
          </a:xfrm>
          <a:prstGeom prst="rect">
            <a:avLst/>
          </a:prstGeom>
          <a:solidFill>
            <a:srgbClr val="F6EFE0"/>
          </a:solidFill>
          <a:ln w="13970">
            <a:solidFill>
              <a:srgbClr val="9C6B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69880" y="832104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collateral_eligibility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469880" y="1033272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agreement_external_id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469880" y="11887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spelling. date col is reporting_day, not reporting_date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0469880" y="1508760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3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(agreement_external_id, reporting_day)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10469880" y="16916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asset_class, from_rating_level, to_rating_level, valuation_haircut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572000" y="4160520"/>
            <a:ext cx="2606040" cy="1417320"/>
          </a:xfrm>
          <a:prstGeom prst="rect">
            <a:avLst/>
          </a:prstGeom>
          <a:solidFill>
            <a:srgbClr val="F7EAE6"/>
          </a:solidFill>
          <a:ln w="13970">
            <a:solidFill>
              <a:srgbClr val="9C3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21538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441655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agreement_id only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63440" y="45720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external_id column exists here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663440" y="489204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3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unconfirmed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4663440" y="50749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dispute_amount, dispute_age, action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452360" y="4160520"/>
            <a:ext cx="2651760" cy="1417320"/>
          </a:xfrm>
          <a:prstGeom prst="rect">
            <a:avLst/>
          </a:prstGeom>
          <a:solidFill>
            <a:srgbClr val="F7EAE6"/>
          </a:solidFill>
          <a:ln w="13970">
            <a:solidFill>
              <a:srgbClr val="9C3B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2153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settlement_instructions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43800" y="4416552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agreement_id only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543800" y="4572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external_id column exists here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543800" y="4892040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3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unconfirmed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754380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bucket, type, asset, business_line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0" y="2926080"/>
            <a:ext cx="1371600" cy="-1440180"/>
          </a:xfrm>
          <a:prstGeom prst="line">
            <a:avLst/>
          </a:prstGeom>
          <a:noFill/>
          <a:ln w="17780">
            <a:solidFill>
              <a:srgbClr val="1F7A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680"/>
              </a:lnSpc>
              <a:buNone/>
            </a:pPr>
            <a:r>
              <a:rPr lang="en-US" sz="6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external_id</a:t>
            </a:r>
            <a:endParaRPr lang="en-US" sz="600" dirty="0"/>
          </a:p>
          <a:p>
            <a:pPr algn="ctr" indent="0" marL="0">
              <a:lnSpc>
                <a:spcPts val="680"/>
              </a:lnSpc>
              <a:buNone/>
            </a:pPr>
            <a:r>
              <a:rPr lang="en-US" sz="6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00" dirty="0"/>
          </a:p>
          <a:p>
            <a:pPr algn="ctr" indent="0" marL="0">
              <a:lnSpc>
                <a:spcPts val="680"/>
              </a:lnSpc>
              <a:buNone/>
            </a:pPr>
            <a:r>
              <a:rPr lang="en-US" sz="6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external_id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200400" y="3108960"/>
            <a:ext cx="4251960" cy="-1268730"/>
          </a:xfrm>
          <a:prstGeom prst="line">
            <a:avLst/>
          </a:prstGeom>
          <a:noFill/>
          <a:ln w="17780">
            <a:solidFill>
              <a:srgbClr val="1F7A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external_id = agreement_ext_id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200400" y="3291840"/>
            <a:ext cx="7178040" cy="-921258"/>
          </a:xfrm>
          <a:prstGeom prst="line">
            <a:avLst/>
          </a:prstGeom>
          <a:noFill/>
          <a:ln w="16510">
            <a:solidFill>
              <a:srgbClr val="9C6B16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9436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external_id = agreement_external_id  (presumed)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00400" y="4114800"/>
            <a:ext cx="1371600" cy="754380"/>
          </a:xfrm>
          <a:prstGeom prst="line">
            <a:avLst/>
          </a:prstGeom>
          <a:noFill/>
          <a:ln w="16510">
            <a:solidFill>
              <a:srgbClr val="9C3B2E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3566160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agreement_id = agreement_id  (?)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3200400" y="4297680"/>
            <a:ext cx="4251960" cy="217170"/>
          </a:xfrm>
          <a:prstGeom prst="line">
            <a:avLst/>
          </a:prstGeom>
          <a:noFill/>
          <a:ln w="16510">
            <a:solidFill>
              <a:srgbClr val="9C3B2E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576072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agreement_id = agreement_id  (?)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57200" y="5989320"/>
            <a:ext cx="274320" cy="146304"/>
          </a:xfrm>
          <a:prstGeom prst="rect">
            <a:avLst/>
          </a:prstGeom>
          <a:solidFill>
            <a:srgbClr val="1F7A47"/>
          </a:solidFill>
          <a:ln/>
        </p:spPr>
      </p:sp>
      <p:sp>
        <p:nvSpPr>
          <p:cNvPr id="51" name="Text 49"/>
          <p:cNvSpPr/>
          <p:nvPr/>
        </p:nvSpPr>
        <p:spPr>
          <a:xfrm>
            <a:off x="804672" y="5971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proven live in Module 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840480" y="5989320"/>
            <a:ext cx="274320" cy="146304"/>
          </a:xfrm>
          <a:prstGeom prst="rect">
            <a:avLst/>
          </a:prstGeom>
          <a:solidFill>
            <a:srgbClr val="9C6B16"/>
          </a:solidFill>
          <a:ln/>
        </p:spPr>
      </p:sp>
      <p:sp>
        <p:nvSpPr>
          <p:cNvPr id="53" name="Text 51"/>
          <p:cNvSpPr/>
          <p:nvPr/>
        </p:nvSpPr>
        <p:spPr>
          <a:xfrm>
            <a:off x="4187952" y="59710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Presumed — same pattern, not yet tested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406640" y="5989320"/>
            <a:ext cx="274320" cy="146304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55" name="Text 53"/>
          <p:cNvSpPr/>
          <p:nvPr/>
        </p:nvSpPr>
        <p:spPr>
          <a:xfrm>
            <a:off x="7754112" y="5971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— no matching key column found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naming itself is the lesson: the same real-world concept (“which agreement”) is spelled external_id, agreement_ext_id, agreement_external_id, and agreement_id across six tables in one schema — explicit join keys, not column-name matching, are the only safe approach.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2026-09-04T12:28:30Z</dcterms:created>
  <dcterms:modified xsi:type="dcterms:W3CDTF">2026-09-04T12:28:30Z</dcterms:modified>
</cp:coreProperties>
</file>