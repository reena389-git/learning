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8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landscape, one slide. Top: the four product groups and what they produce (Liquidity = ALFA only; Finance = TRW only; SRLM and Infinity sit under Market Risk). Below: the layered flow, colour-coded to separate enterprise-managed central layers (Veritas, InfoP, Dremio, CDS, streaming — on Cloudera) from Risk-owned tech (calc engines, polyglot persistence). Calc is vendor / Monte-Carlo / in-house; distribution is service APIs + CSV. Close on the neutral message: it works, but no shared meaning travels.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+ tooling + constraints on one slide. Left: the TDVIP/Databricks operating model. Right: the other tools (Dremio enterprise-managed; Strategy and Power BI approved BI), plus a colour-coded ownership line. Constraints, sharpened: schema names tied to malcode; control inside a schema but nothing above it (no create/alter schema, tags or properties); compute set by policy and serverless off (which gates AI and the semantic layer); slow/IP-limited workspace provisioning (shared not dedicated); and the engagement point — the platform should facilitate, not gate. Detailed ownership matrix is Appendix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target conformance model, domain-first. Inside the Risk Domain boundary, data is conformed in an upward progression: app data → product-group conformance → Risk conformed entities → Risk data products (exposure, PFE, limits) → business analytics (Strategy). The single upward arrow fixes the earlier odd arrows. Right rail: then align to the enterprise CDM (domain-first, then enterprise); populate-forward/consume-back so conformance isn't rebuilt; and serverless as the unlock. PoC validates the model (no application named).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Reframed to the enterprise opportunity in plain language. Both Veritas (real-time) and CDM (batch) are ENTERPRISE paths for the same data; the Risk Data Model is a separate Risk-domain concern (Slide 3). Today the two paths can disagree and each app reconciles them. The opportunity: one governed model (agreed meaning + lineage + data contract), fed by the live feed as input, served two ways (live view + official end-of-day snapshot) so every app gets the same answer. Real-time and batch won't be identical every instant, but they share meaning and reconcile at end-of-day. Governing the live feed is the precondition. Avoid implying Veritas becomes the source of truth — the governed model owns the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 appendix: the enterprise data-domain taxonomy the CDM models. Risk-generated metrics sit in Derived Data &amp; Metrics (highlighted); the other domains are shared enterprise data Risk consumes. Useful for the new CDO to place Risk within the bank-wide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behind Slide 2's constraints, colour-coded. Amber = platform-owned, green = Risk-owned. The pattern is clear: everything at and above the schema is platform-owned; Risk's control starts with objects inside a schema. The note is the constructive unlock — granting CREATE SCHEMA / ownership within guardrails moves that boundary up, enabling domain self-service without a product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184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3291840" cy="3291840"/>
          </a:xfrm>
          <a:prstGeom prst="ellipse">
            <a:avLst/>
          </a:prstGeom>
          <a:solidFill>
            <a:srgbClr val="184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Data: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Where We're Going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9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technology and data landscape — the applications and layers in play today, the constraints we operate within, and the path to a governed analytics environment alongside the enterprise model.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 ·  THE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Applications &amp; How Data Flows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PRODUCT GROUPS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26464"/>
            <a:ext cx="2581580" cy="896112"/>
          </a:xfrm>
          <a:prstGeom prst="roundRect">
            <a:avLst>
              <a:gd name="adj" fmla="val 5102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4944" y="1490472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4944" y="1746504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XVALA · CMOS · CRS · REGDS · TCC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694944" y="1975104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</a:t>
            </a:r>
            <a:r>
              <a:rPr lang="en-US" sz="83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XVA, collateral, counterparty exposure, limits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386252" y="1426464"/>
            <a:ext cx="2581580" cy="896112"/>
          </a:xfrm>
          <a:prstGeom prst="roundRect">
            <a:avLst>
              <a:gd name="adj" fmla="val 5102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32556" y="1490472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32556" y="1746504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RCAPS · RCS · RAMS · SRLM · Infinity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3532556" y="1975104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i="1" dirty="0">
                <a:solidFill>
                  <a:srgbClr val="00B050"/>
                </a:solidFill>
                <a:latin typeface="Calibri" pitchFamily="34" charset="0"/>
                <a:cs typeface="Calibri" pitchFamily="34" charset="-120"/>
              </a:rPr>
              <a:t>Produces</a:t>
            </a:r>
            <a:r>
              <a:rPr lang="en-US" sz="83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Valuations, VaR, sensitivities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223864" y="1426464"/>
            <a:ext cx="2581580" cy="896112"/>
          </a:xfrm>
          <a:prstGeom prst="roundRect">
            <a:avLst>
              <a:gd name="adj" fmla="val 5102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70168" y="1490472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0168" y="1746504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6370168" y="1975104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i="1" dirty="0">
                <a:solidFill>
                  <a:srgbClr val="00B050"/>
                </a:solidFill>
                <a:latin typeface="Calibri" pitchFamily="34" charset="0"/>
                <a:cs typeface="Calibri" pitchFamily="34" charset="-120"/>
              </a:rPr>
              <a:t>Produces</a:t>
            </a:r>
            <a:r>
              <a:rPr lang="en-US" sz="83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Liquidity &amp; funding metrics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9061475" y="1426464"/>
            <a:ext cx="2581580" cy="896112"/>
          </a:xfrm>
          <a:prstGeom prst="roundRect">
            <a:avLst>
              <a:gd name="adj" fmla="val 5102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07779" y="1490472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07779" y="1746504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TRW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9207779" y="1975104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i="1" dirty="0">
                <a:solidFill>
                  <a:srgbClr val="00B050"/>
                </a:solidFill>
                <a:latin typeface="Calibri" pitchFamily="34" charset="0"/>
                <a:cs typeface="Calibri" pitchFamily="34" charset="-120"/>
              </a:rPr>
              <a:t>Produces</a:t>
            </a:r>
            <a:r>
              <a:rPr lang="en-US" sz="83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P&amp;L consolidation, attribution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548640" y="24688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today — from sources, through enterprise-managed layers, to Risk applications and consumers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1295" y="2487168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6E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91295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ENTERPRISE-MANAGED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344607" y="2487168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EA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344607" y="24871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RISK-OWNED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2834640"/>
            <a:ext cx="1999427" cy="1920240"/>
          </a:xfrm>
          <a:prstGeom prst="roundRect">
            <a:avLst>
              <a:gd name="adj" fmla="val 2857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19754" y="3017520"/>
            <a:ext cx="457200" cy="457200"/>
          </a:xfrm>
          <a:prstGeom prst="ellipse">
            <a:avLst/>
          </a:prstGeom>
          <a:solidFill>
            <a:srgbClr val="5563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054" y="3131820"/>
            <a:ext cx="228600" cy="228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40080" y="3547872"/>
            <a:ext cx="18165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76656" y="3968496"/>
            <a:ext cx="17433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/ TMS — Calypso · Murex · Sophis · Matrix; market &amp; reference data</a:t>
            </a:r>
            <a:endParaRPr lang="en-US" sz="870" dirty="0"/>
          </a:p>
        </p:txBody>
      </p:sp>
      <p:sp>
        <p:nvSpPr>
          <p:cNvPr id="31" name="Text 28"/>
          <p:cNvSpPr/>
          <p:nvPr/>
        </p:nvSpPr>
        <p:spPr>
          <a:xfrm>
            <a:off x="2548067" y="350215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29"/>
          <p:cNvSpPr/>
          <p:nvPr/>
        </p:nvSpPr>
        <p:spPr>
          <a:xfrm>
            <a:off x="2822387" y="2834640"/>
            <a:ext cx="1999427" cy="1920240"/>
          </a:xfrm>
          <a:prstGeom prst="roundRect">
            <a:avLst>
              <a:gd name="adj" fmla="val 2857"/>
            </a:avLst>
          </a:prstGeom>
          <a:solidFill>
            <a:srgbClr val="F6EFE0"/>
          </a:solidFill>
          <a:ln w="12700">
            <a:solidFill>
              <a:srgbClr val="E6D6B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593501" y="3017520"/>
            <a:ext cx="457200" cy="457200"/>
          </a:xfrm>
          <a:prstGeom prst="ellipse">
            <a:avLst/>
          </a:prstGeom>
          <a:solidFill>
            <a:srgbClr val="9C6B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01" y="3131820"/>
            <a:ext cx="228600" cy="2286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2913827" y="3547872"/>
            <a:ext cx="18165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distribution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2950403" y="3968496"/>
            <a:ext cx="17433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services · InfoP · Dremio · CDS · streaming (Kafka)</a:t>
            </a:r>
            <a:endParaRPr lang="en-US" sz="870" dirty="0"/>
          </a:p>
        </p:txBody>
      </p:sp>
      <p:sp>
        <p:nvSpPr>
          <p:cNvPr id="37" name="Text 33"/>
          <p:cNvSpPr/>
          <p:nvPr/>
        </p:nvSpPr>
        <p:spPr>
          <a:xfrm>
            <a:off x="4821814" y="350215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8" name="Shape 34"/>
          <p:cNvSpPr/>
          <p:nvPr/>
        </p:nvSpPr>
        <p:spPr>
          <a:xfrm>
            <a:off x="5096134" y="2834640"/>
            <a:ext cx="1999427" cy="1920240"/>
          </a:xfrm>
          <a:prstGeom prst="roundRect">
            <a:avLst>
              <a:gd name="adj" fmla="val 2857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5867248" y="3017520"/>
            <a:ext cx="457200" cy="457200"/>
          </a:xfrm>
          <a:prstGeom prst="ellipse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548" y="3131820"/>
            <a:ext cx="228600" cy="22860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187574" y="3547872"/>
            <a:ext cx="18165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processing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5224150" y="3968496"/>
            <a:ext cx="17433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engines — vendor or in-house</a:t>
            </a:r>
            <a:endParaRPr lang="en-US" sz="870" dirty="0"/>
          </a:p>
        </p:txBody>
      </p:sp>
      <p:sp>
        <p:nvSpPr>
          <p:cNvPr id="43" name="Text 38"/>
          <p:cNvSpPr/>
          <p:nvPr/>
        </p:nvSpPr>
        <p:spPr>
          <a:xfrm>
            <a:off x="7095561" y="350215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44" name="Shape 39"/>
          <p:cNvSpPr/>
          <p:nvPr/>
        </p:nvSpPr>
        <p:spPr>
          <a:xfrm>
            <a:off x="7369881" y="2834640"/>
            <a:ext cx="1999427" cy="1920240"/>
          </a:xfrm>
          <a:prstGeom prst="roundRect">
            <a:avLst>
              <a:gd name="adj" fmla="val 2857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8140995" y="3017520"/>
            <a:ext cx="457200" cy="457200"/>
          </a:xfrm>
          <a:prstGeom prst="ellipse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295" y="3131820"/>
            <a:ext cx="228600" cy="22860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461321" y="3547872"/>
            <a:ext cx="18165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many systems</a:t>
            </a:r>
            <a:endParaRPr lang="en-US" sz="1150" dirty="0"/>
          </a:p>
        </p:txBody>
      </p:sp>
      <p:sp>
        <p:nvSpPr>
          <p:cNvPr id="48" name="Text 42"/>
          <p:cNvSpPr/>
          <p:nvPr/>
        </p:nvSpPr>
        <p:spPr>
          <a:xfrm>
            <a:off x="7497897" y="3968496"/>
            <a:ext cx="17433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HBase · Cassandra · SQL Server · Druid · files</a:t>
            </a:r>
            <a:endParaRPr lang="en-US" sz="870" dirty="0"/>
          </a:p>
        </p:txBody>
      </p:sp>
      <p:sp>
        <p:nvSpPr>
          <p:cNvPr id="49" name="Text 43"/>
          <p:cNvSpPr/>
          <p:nvPr/>
        </p:nvSpPr>
        <p:spPr>
          <a:xfrm>
            <a:off x="9369308" y="350215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50" name="Shape 44"/>
          <p:cNvSpPr/>
          <p:nvPr/>
        </p:nvSpPr>
        <p:spPr>
          <a:xfrm>
            <a:off x="9643628" y="2834640"/>
            <a:ext cx="1999427" cy="1920240"/>
          </a:xfrm>
          <a:prstGeom prst="roundRect">
            <a:avLst>
              <a:gd name="adj" fmla="val 2857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5"/>
          <p:cNvSpPr/>
          <p:nvPr/>
        </p:nvSpPr>
        <p:spPr>
          <a:xfrm>
            <a:off x="10414742" y="3017520"/>
            <a:ext cx="457200" cy="457200"/>
          </a:xfrm>
          <a:prstGeom prst="ellipse">
            <a:avLst/>
          </a:prstGeom>
          <a:solidFill>
            <a:srgbClr val="5563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9042" y="3131820"/>
            <a:ext cx="228600" cy="228600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9735068" y="3547872"/>
            <a:ext cx="18165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150" dirty="0"/>
          </a:p>
        </p:txBody>
      </p:sp>
      <p:sp>
        <p:nvSpPr>
          <p:cNvPr id="54" name="Text 47"/>
          <p:cNvSpPr/>
          <p:nvPr/>
        </p:nvSpPr>
        <p:spPr>
          <a:xfrm>
            <a:off x="9771644" y="3968496"/>
            <a:ext cx="17433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APIs + CSV → Excel · </a:t>
            </a:r>
          </a:p>
          <a:p>
            <a:pPr marL="0" indent="0" algn="ctr">
              <a:lnSpc>
                <a:spcPct val="103000"/>
              </a:lnSpc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BI · custom UIs</a:t>
            </a:r>
            <a:endParaRPr lang="en-US" sz="870" dirty="0"/>
          </a:p>
        </p:txBody>
      </p:sp>
      <p:sp>
        <p:nvSpPr>
          <p:cNvPr id="55" name="Text 48"/>
          <p:cNvSpPr/>
          <p:nvPr/>
        </p:nvSpPr>
        <p:spPr>
          <a:xfrm>
            <a:off x="548640" y="4846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InfoP / CDM run on the enterprise platform (Cloudera) — separate from TDVIP. Dremio is the query engine for InfoP.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548640" y="5157216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822960" y="5157216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is produced and distributed.  </a:t>
            </a:r>
            <a:r>
              <a:rPr lang="en-US" sz="1250" dirty="0">
                <a:solidFill>
                  <a:srgbClr val="C9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nothing tells each consumer what the data means — so consumers have to work it out for themselves.</a:t>
            </a:r>
            <a:endParaRPr lang="en-US" sz="1250" dirty="0"/>
          </a:p>
        </p:txBody>
      </p:sp>
      <p:sp>
        <p:nvSpPr>
          <p:cNvPr id="58" name="Text 51"/>
          <p:cNvSpPr/>
          <p:nvPr/>
        </p:nvSpPr>
        <p:spPr>
          <a:xfrm>
            <a:off x="548639" y="5888736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ahead — Risk data modernization: </a:t>
            </a:r>
            <a:r>
              <a:rPr lang="en-US" sz="105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r>
              <a:rPr lang="en-US" sz="1050" i="1" dirty="0" err="1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silo’d</a:t>
            </a:r>
            <a:r>
              <a:rPr lang="en-US" sz="105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copies, where every team re-derives its meaning, to sharing one governed set — one catalog, one set of meanings. It starts with the move onto TDVIP and declaring schemas and definitions in unity catalog (</a:t>
            </a:r>
            <a:r>
              <a:rPr lang="en-US" sz="1050" i="1" dirty="0" err="1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r>
              <a:rPr lang="en-US" sz="105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59" name="Text 5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60" name="Text 53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61" name="Text 54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2" name="Right Arrow 61">
            <a:extLst>
              <a:ext uri="{FF2B5EF4-FFF2-40B4-BE49-F238E27FC236}">
                <a16:creationId xmlns:a16="http://schemas.microsoft.com/office/drawing/2014/main" id="{20187E6C-982A-E09F-0836-202840C6531F}"/>
              </a:ext>
            </a:extLst>
          </p:cNvPr>
          <p:cNvSpPr/>
          <p:nvPr/>
        </p:nvSpPr>
        <p:spPr>
          <a:xfrm>
            <a:off x="105103" y="5888736"/>
            <a:ext cx="262759" cy="22702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 ·  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TDVIP Platform, Tooling &amp; Operating Constraints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TDVIP — the new Databricks risk analytics platform – medallion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79"/>
            <a:ext cx="5669280" cy="365760"/>
          </a:xfrm>
          <a:prstGeom prst="roundRect">
            <a:avLst>
              <a:gd name="adj" fmla="val 125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554479"/>
            <a:ext cx="543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 </a:t>
            </a:r>
            <a:r>
              <a:rPr lang="en-US" sz="83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TDS  Databricks account, managed by TD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137160" cy="0"/>
          </a:xfrm>
          <a:prstGeom prst="line">
            <a:avLst/>
          </a:prstGeom>
          <a:noFill/>
          <a:ln w="15875">
            <a:solidFill>
              <a:srgbClr val="3E9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0976" y="2029968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  </a:t>
            </a:r>
            <a:r>
              <a:rPr lang="en-US" sz="83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by the platform team ( </a:t>
            </a:r>
            <a:r>
              <a:rPr lang="en-US" sz="830" dirty="0" err="1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expected:dedicated</a:t>
            </a:r>
            <a:r>
              <a:rPr lang="en-US" sz="83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actual: shared)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2432304"/>
            <a:ext cx="5120640" cy="365760"/>
          </a:xfrm>
          <a:prstGeom prst="roundRect">
            <a:avLst>
              <a:gd name="adj" fmla="val 125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" y="2615184"/>
            <a:ext cx="137160" cy="0"/>
          </a:xfrm>
          <a:prstGeom prst="line">
            <a:avLst/>
          </a:prstGeom>
          <a:noFill/>
          <a:ln w="15875">
            <a:solidFill>
              <a:srgbClr val="3E9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25296" y="2432304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 =  product group   </a:t>
            </a:r>
            <a:r>
              <a:rPr lang="en-US" sz="83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· marketrisk · liquidity · finance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71600" y="2834640"/>
            <a:ext cx="4846320" cy="365760"/>
          </a:xfrm>
          <a:prstGeom prst="roundRect">
            <a:avLst>
              <a:gd name="adj" fmla="val 125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34440" y="3017520"/>
            <a:ext cx="137160" cy="0"/>
          </a:xfrm>
          <a:prstGeom prst="line">
            <a:avLst/>
          </a:prstGeom>
          <a:noFill/>
          <a:ln w="15875">
            <a:solidFill>
              <a:srgbClr val="3E9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99616" y="283464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 =  app / project   </a:t>
            </a:r>
            <a:r>
              <a:rPr lang="en-US" sz="83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per risk app, apps build conformity and contracts.  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78992" y="3236976"/>
            <a:ext cx="5138928" cy="365760"/>
          </a:xfrm>
          <a:prstGeom prst="roundRect">
            <a:avLst>
              <a:gd name="adj" fmla="val 12500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73936" y="3236976"/>
            <a:ext cx="4334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 err="1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riskwh</a:t>
            </a: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/>
              <a:t>enables business analytics — consuming app-published data products and joining across products.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75120" y="1298448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in the stack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1627632"/>
            <a:ext cx="4967935" cy="457200"/>
          </a:xfrm>
          <a:prstGeom prst="roundRect">
            <a:avLst>
              <a:gd name="adj" fmla="val 10000"/>
            </a:avLst>
          </a:prstGeom>
          <a:solidFill>
            <a:srgbClr val="F6EFE0"/>
          </a:solidFill>
          <a:ln w="12700">
            <a:solidFill>
              <a:srgbClr val="E6D6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93992" y="1700784"/>
            <a:ext cx="310896" cy="310896"/>
          </a:xfrm>
          <a:prstGeom prst="ellipse">
            <a:avLst/>
          </a:prstGeom>
          <a:solidFill>
            <a:srgbClr val="9C6B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16" y="1778508"/>
            <a:ext cx="155448" cy="1554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205472" y="1664208"/>
            <a:ext cx="43095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Dremio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205472" y="1865376"/>
            <a:ext cx="43095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InfoP (enterprise CDM); Currently does not integrate with Unity Catalog .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6675120" y="2139696"/>
            <a:ext cx="4967935" cy="457200"/>
          </a:xfrm>
          <a:prstGeom prst="roundRect">
            <a:avLst>
              <a:gd name="adj" fmla="val 100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793992" y="2212848"/>
            <a:ext cx="310896" cy="310896"/>
          </a:xfrm>
          <a:prstGeom prst="ellipse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716" y="2290572"/>
            <a:ext cx="155448" cy="15544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205472" y="2176272"/>
            <a:ext cx="43095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(MicroStrategy)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7205472" y="2377440"/>
            <a:ext cx="43095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semantic model (Databricks lacks today); enterprise direction still to be settled</a:t>
            </a:r>
            <a:endParaRPr lang="en-US" sz="830" dirty="0"/>
          </a:p>
        </p:txBody>
      </p:sp>
      <p:sp>
        <p:nvSpPr>
          <p:cNvPr id="30" name="Shape 26"/>
          <p:cNvSpPr/>
          <p:nvPr/>
        </p:nvSpPr>
        <p:spPr>
          <a:xfrm>
            <a:off x="6675120" y="2651760"/>
            <a:ext cx="4967935" cy="457200"/>
          </a:xfrm>
          <a:prstGeom prst="roundRect">
            <a:avLst>
              <a:gd name="adj" fmla="val 100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793992" y="2724912"/>
            <a:ext cx="310896" cy="310896"/>
          </a:xfrm>
          <a:prstGeom prst="ellipse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716" y="2802636"/>
            <a:ext cx="155448" cy="15544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205472" y="2688336"/>
            <a:ext cx="43095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7205472" y="2889504"/>
            <a:ext cx="43095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BI tool for dashboards and self-service . </a:t>
            </a:r>
            <a:endParaRPr lang="en-US" sz="830" dirty="0"/>
          </a:p>
        </p:txBody>
      </p:sp>
      <p:sp>
        <p:nvSpPr>
          <p:cNvPr id="35" name="Shape 30"/>
          <p:cNvSpPr/>
          <p:nvPr/>
        </p:nvSpPr>
        <p:spPr>
          <a:xfrm>
            <a:off x="6675120" y="3163824"/>
            <a:ext cx="4967935" cy="420624"/>
          </a:xfrm>
          <a:prstGeom prst="roundRect">
            <a:avLst>
              <a:gd name="adj" fmla="val 10870"/>
            </a:avLst>
          </a:prstGeom>
          <a:solidFill>
            <a:srgbClr val="EDF1F3"/>
          </a:solidFill>
          <a:ln w="12700">
            <a:solidFill>
              <a:srgbClr val="D3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821424" y="3163824"/>
            <a:ext cx="46936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Platform-owned: </a:t>
            </a: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· catalog · schema &amp; properties · compute.   </a:t>
            </a:r>
            <a:r>
              <a:rPr lang="en-US" sz="95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Risk-owned: </a:t>
            </a: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within a schema.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548640" y="371246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slowing us down today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548640" y="40050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guardrails — compute from an approved list, central provisioning — are fine. </a:t>
            </a:r>
            <a:r>
              <a:rPr lang="en-US" sz="105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five actually slow us down: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548640" y="4297680"/>
            <a:ext cx="2057949" cy="2011680"/>
          </a:xfrm>
          <a:prstGeom prst="roundRect">
            <a:avLst>
              <a:gd name="adj" fmla="val 2727"/>
            </a:avLst>
          </a:prstGeom>
          <a:solidFill>
            <a:srgbClr val="F6EFE0"/>
          </a:solidFill>
          <a:ln w="12700">
            <a:solidFill>
              <a:srgbClr val="E6D6B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694944" y="4443984"/>
            <a:ext cx="384048" cy="384048"/>
          </a:xfrm>
          <a:prstGeom prst="ellipse">
            <a:avLst/>
          </a:prstGeom>
          <a:solidFill>
            <a:srgbClr val="9C6B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" y="4539996"/>
            <a:ext cx="192024" cy="19202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94944" y="4882896"/>
            <a:ext cx="1765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takes a ticket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694944" y="5285232"/>
            <a:ext cx="17653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data area must be created by the platform team and named using app deployment codes — not the business name. We wait on it.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694944" y="5961888"/>
            <a:ext cx="17653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Expectation: domain teams set up their own areas within guardrails.</a:t>
            </a:r>
            <a:endParaRPr lang="en-US" sz="740" dirty="0"/>
          </a:p>
        </p:txBody>
      </p:sp>
      <p:sp>
        <p:nvSpPr>
          <p:cNvPr id="45" name="Shape 39"/>
          <p:cNvSpPr/>
          <p:nvPr/>
        </p:nvSpPr>
        <p:spPr>
          <a:xfrm>
            <a:off x="2807757" y="4297680"/>
            <a:ext cx="2057949" cy="2011680"/>
          </a:xfrm>
          <a:prstGeom prst="roundRect">
            <a:avLst>
              <a:gd name="adj" fmla="val 2727"/>
            </a:avLst>
          </a:prstGeom>
          <a:solidFill>
            <a:srgbClr val="F6EFE0"/>
          </a:solidFill>
          <a:ln w="12700">
            <a:solidFill>
              <a:srgbClr val="E6D6B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2954061" y="4443984"/>
            <a:ext cx="384048" cy="384048"/>
          </a:xfrm>
          <a:prstGeom prst="ellipse">
            <a:avLst/>
          </a:prstGeom>
          <a:solidFill>
            <a:srgbClr val="9C6B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0073" y="4539996"/>
            <a:ext cx="192024" cy="192024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2954061" y="4882896"/>
            <a:ext cx="1765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get a room, not the building</a:t>
            </a:r>
            <a:endParaRPr lang="en-US" sz="1050" dirty="0"/>
          </a:p>
        </p:txBody>
      </p:sp>
      <p:sp>
        <p:nvSpPr>
          <p:cNvPr id="49" name="Text 42"/>
          <p:cNvSpPr/>
          <p:nvPr/>
        </p:nvSpPr>
        <p:spPr>
          <a:xfrm>
            <a:off x="2954061" y="5285232"/>
            <a:ext cx="17653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work inside a space, but can't create or change the space, its labels (tags) or settings ourselves.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2954061" y="5961888"/>
            <a:ext cx="17653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Expectation: domain teams own their own space.</a:t>
            </a:r>
            <a:endParaRPr lang="en-US" sz="740" dirty="0"/>
          </a:p>
        </p:txBody>
      </p:sp>
      <p:sp>
        <p:nvSpPr>
          <p:cNvPr id="51" name="Shape 44"/>
          <p:cNvSpPr/>
          <p:nvPr/>
        </p:nvSpPr>
        <p:spPr>
          <a:xfrm>
            <a:off x="5066873" y="4297680"/>
            <a:ext cx="2057949" cy="2011680"/>
          </a:xfrm>
          <a:prstGeom prst="roundRect">
            <a:avLst>
              <a:gd name="adj" fmla="val 2727"/>
            </a:avLst>
          </a:prstGeom>
          <a:solidFill>
            <a:srgbClr val="F6EFE0"/>
          </a:solidFill>
          <a:ln w="12700">
            <a:solidFill>
              <a:srgbClr val="E6D6B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5"/>
          <p:cNvSpPr/>
          <p:nvPr/>
        </p:nvSpPr>
        <p:spPr>
          <a:xfrm>
            <a:off x="5213177" y="4443984"/>
            <a:ext cx="384048" cy="384048"/>
          </a:xfrm>
          <a:prstGeom prst="ellipse">
            <a:avLst/>
          </a:prstGeom>
          <a:solidFill>
            <a:srgbClr val="9C6B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9189" y="4539996"/>
            <a:ext cx="192024" cy="192024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213177" y="4882896"/>
            <a:ext cx="1765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self-service are switched off</a:t>
            </a:r>
            <a:endParaRPr lang="en-US" sz="1050" dirty="0"/>
          </a:p>
        </p:txBody>
      </p:sp>
      <p:sp>
        <p:nvSpPr>
          <p:cNvPr id="55" name="Text 47"/>
          <p:cNvSpPr/>
          <p:nvPr/>
        </p:nvSpPr>
        <p:spPr>
          <a:xfrm>
            <a:off x="5213177" y="5285232"/>
            <a:ext cx="17653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is off, so the AI assistant, the business-friendly metric layer and self-service aren't available to us yet.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5213177" y="5961888"/>
            <a:ext cx="17653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Expectation: these run as standard.</a:t>
            </a:r>
            <a:endParaRPr lang="en-US" sz="740" dirty="0"/>
          </a:p>
        </p:txBody>
      </p:sp>
      <p:sp>
        <p:nvSpPr>
          <p:cNvPr id="57" name="Shape 49"/>
          <p:cNvSpPr/>
          <p:nvPr/>
        </p:nvSpPr>
        <p:spPr>
          <a:xfrm>
            <a:off x="7325990" y="4297680"/>
            <a:ext cx="2057949" cy="2011680"/>
          </a:xfrm>
          <a:prstGeom prst="roundRect">
            <a:avLst>
              <a:gd name="adj" fmla="val 2727"/>
            </a:avLst>
          </a:prstGeom>
          <a:solidFill>
            <a:srgbClr val="F6EFE0"/>
          </a:solidFill>
          <a:ln w="12700">
            <a:solidFill>
              <a:srgbClr val="E6D6B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0"/>
          <p:cNvSpPr/>
          <p:nvPr/>
        </p:nvSpPr>
        <p:spPr>
          <a:xfrm>
            <a:off x="7472294" y="4443984"/>
            <a:ext cx="384048" cy="384048"/>
          </a:xfrm>
          <a:prstGeom prst="ellipse">
            <a:avLst/>
          </a:prstGeom>
          <a:solidFill>
            <a:srgbClr val="9C6B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306" y="4539996"/>
            <a:ext cx="192024" cy="192024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7472294" y="4882896"/>
            <a:ext cx="1765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data, described twice</a:t>
            </a:r>
            <a:endParaRPr lang="en-US" sz="1050" dirty="0"/>
          </a:p>
        </p:txBody>
      </p:sp>
      <p:sp>
        <p:nvSpPr>
          <p:cNvPr id="61" name="Text 52"/>
          <p:cNvSpPr/>
          <p:nvPr/>
        </p:nvSpPr>
        <p:spPr>
          <a:xfrm>
            <a:off x="7472294" y="5285232"/>
            <a:ext cx="17653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Dremio doesn't connect to Databricks’ catalog, so data gets defined in two places — and the two can drift apart.</a:t>
            </a:r>
            <a:endParaRPr lang="en-US" sz="800" dirty="0"/>
          </a:p>
        </p:txBody>
      </p:sp>
      <p:sp>
        <p:nvSpPr>
          <p:cNvPr id="62" name="Text 53"/>
          <p:cNvSpPr/>
          <p:nvPr/>
        </p:nvSpPr>
        <p:spPr>
          <a:xfrm>
            <a:off x="7472294" y="5961888"/>
            <a:ext cx="17653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Expectation: one catalog (Unity Catalog), not two.</a:t>
            </a:r>
            <a:endParaRPr lang="en-US" sz="740" dirty="0"/>
          </a:p>
        </p:txBody>
      </p:sp>
      <p:sp>
        <p:nvSpPr>
          <p:cNvPr id="63" name="Shape 54"/>
          <p:cNvSpPr/>
          <p:nvPr/>
        </p:nvSpPr>
        <p:spPr>
          <a:xfrm>
            <a:off x="9585107" y="4297680"/>
            <a:ext cx="2057949" cy="2011680"/>
          </a:xfrm>
          <a:prstGeom prst="roundRect">
            <a:avLst>
              <a:gd name="adj" fmla="val 2727"/>
            </a:avLst>
          </a:prstGeom>
          <a:solidFill>
            <a:srgbClr val="F6EFE0"/>
          </a:solidFill>
          <a:ln w="12700">
            <a:solidFill>
              <a:srgbClr val="E6D6B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55"/>
          <p:cNvSpPr/>
          <p:nvPr/>
        </p:nvSpPr>
        <p:spPr>
          <a:xfrm>
            <a:off x="9731411" y="4443984"/>
            <a:ext cx="384048" cy="384048"/>
          </a:xfrm>
          <a:prstGeom prst="ellipse">
            <a:avLst/>
          </a:prstGeom>
          <a:solidFill>
            <a:srgbClr val="9C6B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7423" y="4539996"/>
            <a:ext cx="192024" cy="192024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9731411" y="4882896"/>
            <a:ext cx="1765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share a workspace, not our own</a:t>
            </a:r>
            <a:endParaRPr lang="en-US" sz="1050" dirty="0"/>
          </a:p>
        </p:txBody>
      </p:sp>
      <p:sp>
        <p:nvSpPr>
          <p:cNvPr id="67" name="Text 57"/>
          <p:cNvSpPr/>
          <p:nvPr/>
        </p:nvSpPr>
        <p:spPr>
          <a:xfrm>
            <a:off x="9731411" y="5285232"/>
            <a:ext cx="17653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IP limits, Risk shares a workspace rather than having a dedicated one — less isolation, and harder to manage as we grow.</a:t>
            </a:r>
            <a:endParaRPr lang="en-US" sz="800" dirty="0"/>
          </a:p>
        </p:txBody>
      </p:sp>
      <p:sp>
        <p:nvSpPr>
          <p:cNvPr id="68" name="Text 58"/>
          <p:cNvSpPr/>
          <p:nvPr/>
        </p:nvSpPr>
        <p:spPr>
          <a:xfrm>
            <a:off x="9731411" y="5961888"/>
            <a:ext cx="17653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Expectation: each domain or business unit gets its own workspace.</a:t>
            </a:r>
            <a:endParaRPr lang="en-US" sz="740" dirty="0"/>
          </a:p>
        </p:txBody>
      </p:sp>
      <p:sp>
        <p:nvSpPr>
          <p:cNvPr id="69" name="Text 5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70" name="Text 60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71" name="Text 61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  ·  STEP ONE, INSIDE 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Domain-First Conformance &amp; Risk Data Products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one of the shift, inside Risk: conform the data once in Risk, so every team reads the same thing — then align to the enterprise.  </a:t>
            </a:r>
            <a:r>
              <a:rPr lang="en-US" sz="13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read in place.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589520" cy="4160520"/>
          </a:xfrm>
          <a:prstGeom prst="roundRect">
            <a:avLst>
              <a:gd name="adj" fmla="val 1758"/>
            </a:avLst>
          </a:prstGeom>
          <a:solidFill>
            <a:srgbClr val="F2F8F4"/>
          </a:solidFill>
          <a:ln w="19050">
            <a:solidFill>
              <a:srgbClr val="3E9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DOMAIN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6766560" cy="603504"/>
          </a:xfrm>
          <a:prstGeom prst="roundRect">
            <a:avLst>
              <a:gd name="adj" fmla="val 7576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88136" y="2432304"/>
            <a:ext cx="402336" cy="402336"/>
          </a:xfrm>
          <a:prstGeom prst="ellipse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53288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18488" y="24048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&amp; Reporting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94960" y="2404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dashboards and self-service via the Strategy semantic model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960120" y="3063240"/>
            <a:ext cx="6766560" cy="603504"/>
          </a:xfrm>
          <a:prstGeom prst="roundRect">
            <a:avLst>
              <a:gd name="adj" fmla="val 7576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88136" y="3163824"/>
            <a:ext cx="402336" cy="402336"/>
          </a:xfrm>
          <a:prstGeom prst="ellipse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64408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18488" y="31363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Products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94960" y="31363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· PFE · Limits — schema and metadata travel as a contract</a:t>
            </a:r>
            <a:endParaRPr lang="en-US" sz="870" dirty="0"/>
          </a:p>
        </p:txBody>
      </p:sp>
      <p:sp>
        <p:nvSpPr>
          <p:cNvPr id="17" name="Shape 13"/>
          <p:cNvSpPr/>
          <p:nvPr/>
        </p:nvSpPr>
        <p:spPr>
          <a:xfrm>
            <a:off x="960120" y="3794760"/>
            <a:ext cx="67665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088136" y="3895344"/>
            <a:ext cx="402336" cy="402336"/>
          </a:xfrm>
          <a:prstGeom prst="ellipse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99592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18488" y="38679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Conformed Entities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94960" y="38679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agreed definition across the Risk domain</a:t>
            </a:r>
            <a:endParaRPr lang="en-US" sz="870" dirty="0"/>
          </a:p>
        </p:txBody>
      </p:sp>
      <p:sp>
        <p:nvSpPr>
          <p:cNvPr id="22" name="Shape 17"/>
          <p:cNvSpPr/>
          <p:nvPr/>
        </p:nvSpPr>
        <p:spPr>
          <a:xfrm>
            <a:off x="960120" y="4526280"/>
            <a:ext cx="67665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88136" y="4626864"/>
            <a:ext cx="402336" cy="402336"/>
          </a:xfrm>
          <a:prstGeom prst="ellipse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727448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18488" y="4599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Product-Group Conformance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394960" y="4599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entities across applications within a product group</a:t>
            </a:r>
            <a:endParaRPr lang="en-US" sz="870" dirty="0"/>
          </a:p>
        </p:txBody>
      </p:sp>
      <p:sp>
        <p:nvSpPr>
          <p:cNvPr id="27" name="Shape 21"/>
          <p:cNvSpPr/>
          <p:nvPr/>
        </p:nvSpPr>
        <p:spPr>
          <a:xfrm>
            <a:off x="960120" y="5257800"/>
            <a:ext cx="67665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1088136" y="5358384"/>
            <a:ext cx="402336" cy="402336"/>
          </a:xfrm>
          <a:prstGeom prst="ellipse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5458968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18488" y="5330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data &amp; app-entity conformance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394960" y="53309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7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Risk-generated data lands in app schemas; elevate existing datasets into a data model</a:t>
            </a:r>
            <a:endParaRPr lang="en-US" sz="870" dirty="0"/>
          </a:p>
        </p:txBody>
      </p:sp>
      <p:sp>
        <p:nvSpPr>
          <p:cNvPr id="32" name="Shape 25"/>
          <p:cNvSpPr/>
          <p:nvPr/>
        </p:nvSpPr>
        <p:spPr>
          <a:xfrm flipV="1">
            <a:off x="768096" y="2514600"/>
            <a:ext cx="0" cy="3163824"/>
          </a:xfrm>
          <a:prstGeom prst="line">
            <a:avLst/>
          </a:prstGeom>
          <a:noFill/>
          <a:ln w="31750">
            <a:solidFill>
              <a:srgbClr val="1F7A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566928" y="388620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elevate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8549640" y="1874520"/>
            <a:ext cx="3093415" cy="1417320"/>
          </a:xfrm>
          <a:prstGeom prst="roundRect">
            <a:avLst>
              <a:gd name="adj" fmla="val 3871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8732520" y="2057400"/>
            <a:ext cx="420624" cy="420624"/>
          </a:xfrm>
          <a:prstGeom prst="ellipse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7676" y="2162556"/>
            <a:ext cx="210312" cy="2103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262872" y="2075688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enterprise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8732520" y="2551176"/>
            <a:ext cx="2727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Risk entities align to — and contribute back to — the enterprise CDM where Risk owns expertise CDM does not yet cover </a:t>
            </a:r>
            <a:r>
              <a:rPr lang="en-US" sz="95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(netting set, CSA terms, regulatory regime).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8549640" y="3474720"/>
            <a:ext cx="3093415" cy="1280160"/>
          </a:xfrm>
          <a:prstGeom prst="roundRect">
            <a:avLst>
              <a:gd name="adj" fmla="val 4286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8732520" y="3657600"/>
            <a:ext cx="420624" cy="420624"/>
          </a:xfrm>
          <a:prstGeom prst="ellipse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7676" y="3762756"/>
            <a:ext cx="210312" cy="21031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9262872" y="3675888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forward, consume back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8732520" y="4151376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feed the conformed model and read it back. One model — conformance is no longer rebuilt downstream.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8549640" y="4846320"/>
            <a:ext cx="3093415" cy="1188720"/>
          </a:xfrm>
          <a:prstGeom prst="roundRect">
            <a:avLst>
              <a:gd name="adj" fmla="val 4615"/>
            </a:avLst>
          </a:prstGeom>
          <a:solidFill>
            <a:srgbClr val="F6EFE0"/>
          </a:solidFill>
          <a:ln w="12700">
            <a:solidFill>
              <a:srgbClr val="E6D6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6"/>
          <p:cNvSpPr/>
          <p:nvPr/>
        </p:nvSpPr>
        <p:spPr>
          <a:xfrm>
            <a:off x="8732520" y="5029200"/>
            <a:ext cx="420624" cy="420624"/>
          </a:xfrm>
          <a:prstGeom prst="ellipse">
            <a:avLst/>
          </a:prstGeom>
          <a:solidFill>
            <a:srgbClr val="9C6B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7676" y="5134356"/>
            <a:ext cx="210312" cy="21031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9262872" y="5047488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unlocks it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8732520" y="5522976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brings native AI, the semantic metric layer and self-service. 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51" name="Text 41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Left-Right Arrow 51">
            <a:extLst>
              <a:ext uri="{FF2B5EF4-FFF2-40B4-BE49-F238E27FC236}">
                <a16:creationId xmlns:a16="http://schemas.microsoft.com/office/drawing/2014/main" id="{592C5E8F-3076-DA6E-9332-AAE9D90D94FD}"/>
              </a:ext>
            </a:extLst>
          </p:cNvPr>
          <p:cNvSpPr/>
          <p:nvPr/>
        </p:nvSpPr>
        <p:spPr>
          <a:xfrm>
            <a:off x="8199645" y="2667788"/>
            <a:ext cx="288509" cy="100584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  ·  STEP TWO, WITH THE ENTERPRISE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Answer, Whichever Way You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two of the shift, upstream of Risk: today the enterprise sends the same information two ways, and each app lines them up itself. </a:t>
            </a:r>
            <a:r>
              <a:rPr lang="en-US" sz="13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simpler way.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TWO main ENTERPRISE PATHS, IN PARALLEL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3200400" cy="585216"/>
          </a:xfrm>
          <a:prstGeom prst="roundRect">
            <a:avLst>
              <a:gd name="adj" fmla="val 9375"/>
            </a:avLst>
          </a:prstGeom>
          <a:solidFill>
            <a:srgbClr val="F6EFE0"/>
          </a:solidFill>
          <a:ln w="12700">
            <a:solidFill>
              <a:srgbClr val="E6D6B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6656" y="2249424"/>
            <a:ext cx="365760" cy="365760"/>
          </a:xfrm>
          <a:prstGeom prst="ellipse">
            <a:avLst/>
          </a:prstGeom>
          <a:solidFill>
            <a:srgbClr val="9C6B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340864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2144" y="21945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  </a:t>
            </a:r>
            <a:r>
              <a:rPr lang="en-US" sz="12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service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2144" y="24505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data model · not governed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3200400" cy="585216"/>
          </a:xfrm>
          <a:prstGeom prst="roundRect">
            <a:avLst>
              <a:gd name="adj" fmla="val 9375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76656" y="3035808"/>
            <a:ext cx="365760" cy="365760"/>
          </a:xfrm>
          <a:prstGeom prst="ellipse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12724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52144" y="29809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  </a:t>
            </a:r>
            <a:r>
              <a:rPr lang="en-US" sz="12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batch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52144" y="323697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Conformed, governed model · new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803904" y="2450592"/>
            <a:ext cx="658368" cy="0"/>
          </a:xfrm>
          <a:prstGeom prst="line">
            <a:avLst/>
          </a:prstGeom>
          <a:noFill/>
          <a:ln w="19050">
            <a:solidFill>
              <a:srgbClr val="9C6B1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803904" y="3218688"/>
            <a:ext cx="658368" cy="0"/>
          </a:xfrm>
          <a:prstGeom prst="line">
            <a:avLst/>
          </a:prstGeom>
          <a:noFill/>
          <a:ln w="19050">
            <a:solidFill>
              <a:srgbClr val="1F7A47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0" y="2139696"/>
            <a:ext cx="1783080" cy="1371600"/>
          </a:xfrm>
          <a:prstGeom prst="roundRect">
            <a:avLst>
              <a:gd name="adj" fmla="val 40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572000" y="23225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0" y="26334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both paths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572000" y="29077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lines them up itself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720840" y="2139696"/>
            <a:ext cx="4922215" cy="1371600"/>
          </a:xfrm>
          <a:prstGeom prst="roundRect">
            <a:avLst>
              <a:gd name="adj" fmla="val 4000"/>
            </a:avLst>
          </a:prstGeom>
          <a:solidFill>
            <a:srgbClr val="F7E9E3"/>
          </a:solidFill>
          <a:ln w="12700">
            <a:solidFill>
              <a:srgbClr val="E3C3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903720" y="2286000"/>
            <a:ext cx="4556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9C3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risk: </a:t>
            </a:r>
            <a:r>
              <a:rPr lang="en-US" sz="10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paths can carry the same number differently, so a figure read live may not match the one reported at end-of-day.</a:t>
            </a:r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62B27"/>
                </a:solidFill>
                <a:latin typeface="Calibri" pitchFamily="34" charset="0"/>
                <a:cs typeface="Calibri" pitchFamily="34" charset="-120"/>
              </a:rPr>
              <a:t>Different Semantics.</a:t>
            </a:r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62B27"/>
                </a:solidFill>
                <a:latin typeface="Calibri" pitchFamily="34" charset="0"/>
                <a:cs typeface="Calibri" pitchFamily="34" charset="-120"/>
              </a:rPr>
              <a:t>Reconciliation between two data models left to the Apps.</a:t>
            </a:r>
          </a:p>
          <a:p>
            <a:pPr marL="0" indent="0">
              <a:lnSpc>
                <a:spcPct val="106000"/>
              </a:lnSpc>
              <a:buNone/>
            </a:pP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48640" y="382219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— ONE GOVERNED MODEL, SERVED TWO WAYS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48640" y="4114800"/>
            <a:ext cx="2320976" cy="1554480"/>
          </a:xfrm>
          <a:prstGeom prst="roundRect">
            <a:avLst>
              <a:gd name="adj" fmla="val 3529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1498816" y="4279392"/>
            <a:ext cx="420624" cy="420624"/>
          </a:xfrm>
          <a:prstGeom prst="ellipse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972" y="4384548"/>
            <a:ext cx="210312" cy="21031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0080" y="4773168"/>
            <a:ext cx="213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in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58368" y="5084064"/>
            <a:ext cx="210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flows in as the input — not as a second model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2906192" y="459943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1" name="Shape 26"/>
          <p:cNvSpPr/>
          <p:nvPr/>
        </p:nvSpPr>
        <p:spPr>
          <a:xfrm>
            <a:off x="3473120" y="4114800"/>
            <a:ext cx="2320976" cy="1554480"/>
          </a:xfrm>
          <a:prstGeom prst="roundRect">
            <a:avLst>
              <a:gd name="adj" fmla="val 3529"/>
            </a:avLst>
          </a:prstGeom>
          <a:solidFill>
            <a:srgbClr val="EAF3EC"/>
          </a:solidFill>
          <a:ln w="19050">
            <a:solidFill>
              <a:srgbClr val="3E9E68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4423296" y="4279392"/>
            <a:ext cx="420624" cy="420624"/>
          </a:xfrm>
          <a:prstGeom prst="ellipse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8452" y="4384548"/>
            <a:ext cx="210312" cy="21031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564560" y="4773168"/>
            <a:ext cx="213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model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3582848" y="5084064"/>
            <a:ext cx="210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meaning, lineage and a data contract — defined once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5830672" y="459943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7" name="Shape 31"/>
          <p:cNvSpPr/>
          <p:nvPr/>
        </p:nvSpPr>
        <p:spPr>
          <a:xfrm>
            <a:off x="6397600" y="4114800"/>
            <a:ext cx="2320976" cy="1554480"/>
          </a:xfrm>
          <a:prstGeom prst="roundRect">
            <a:avLst>
              <a:gd name="adj" fmla="val 3529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7347776" y="4279392"/>
            <a:ext cx="420624" cy="420624"/>
          </a:xfrm>
          <a:prstGeom prst="ellipse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932" y="4384548"/>
            <a:ext cx="210312" cy="21031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489040" y="4773168"/>
            <a:ext cx="213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two ways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6507328" y="5084064"/>
            <a:ext cx="210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view and an official end-of-day snapshot — from the same model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8755151" y="459943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43" name="Shape 36"/>
          <p:cNvSpPr/>
          <p:nvPr/>
        </p:nvSpPr>
        <p:spPr>
          <a:xfrm>
            <a:off x="9322079" y="4114800"/>
            <a:ext cx="2320976" cy="1554480"/>
          </a:xfrm>
          <a:prstGeom prst="roundRect">
            <a:avLst>
              <a:gd name="adj" fmla="val 3529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10272255" y="4279392"/>
            <a:ext cx="420624" cy="420624"/>
          </a:xfrm>
          <a:prstGeom prst="ellipse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7411" y="4384548"/>
            <a:ext cx="210312" cy="21031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413519" y="4773168"/>
            <a:ext cx="213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 for every app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9431807" y="5084064"/>
            <a:ext cx="210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re-does the mapping; the numbers line up</a:t>
            </a:r>
            <a:endParaRPr lang="en-US" sz="850" dirty="0"/>
          </a:p>
        </p:txBody>
      </p:sp>
      <p:sp>
        <p:nvSpPr>
          <p:cNvPr id="48" name="Text 40"/>
          <p:cNvSpPr/>
          <p:nvPr/>
        </p:nvSpPr>
        <p:spPr>
          <a:xfrm>
            <a:off x="548640" y="57790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and end-of-day won't match every second — but they mean the same thing and line up at end-of-day. Governing the live feed (lineage + contract) is the price of entry.</a:t>
            </a:r>
            <a:endParaRPr lang="en-US" sz="950" dirty="0"/>
          </a:p>
        </p:txBody>
      </p:sp>
      <p:sp>
        <p:nvSpPr>
          <p:cNvPr id="49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A1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Data Domains — the Enterprise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domains the enterprise CDM models. Risk's generated outputs sit primarily in Derived Data &amp; Metrics; everything else is shared enterprise data Risk consumes.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81580" cy="1213104"/>
          </a:xfrm>
          <a:prstGeom prst="roundRect">
            <a:avLst>
              <a:gd name="adj" fmla="val 4523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975104"/>
            <a:ext cx="2252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225239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· OTC Derivs · Listed Derivs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6252" y="1828800"/>
            <a:ext cx="2581580" cy="1213104"/>
          </a:xfrm>
          <a:prstGeom prst="roundRect">
            <a:avLst>
              <a:gd name="adj" fmla="val 4523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50844" y="1975104"/>
            <a:ext cx="2252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50844" y="2377440"/>
            <a:ext cx="225239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· OTC Derivs · Listed Derivs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23864" y="1828800"/>
            <a:ext cx="2581580" cy="1213104"/>
          </a:xfrm>
          <a:prstGeom prst="roundRect">
            <a:avLst>
              <a:gd name="adj" fmla="val 4523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88456" y="1975104"/>
            <a:ext cx="2252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8456" y="2377440"/>
            <a:ext cx="225239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· Cash Balances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61475" y="1828800"/>
            <a:ext cx="2581580" cy="1213104"/>
          </a:xfrm>
          <a:prstGeom prst="roundRect">
            <a:avLst>
              <a:gd name="adj" fmla="val 4523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26067" y="1975104"/>
            <a:ext cx="2252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26067" y="2377440"/>
            <a:ext cx="225239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279648"/>
            <a:ext cx="2581580" cy="1213104"/>
          </a:xfrm>
          <a:prstGeom prst="roundRect">
            <a:avLst>
              <a:gd name="adj" fmla="val 4523"/>
            </a:avLst>
          </a:prstGeom>
          <a:solidFill>
            <a:srgbClr val="EAF3EC"/>
          </a:solidFill>
          <a:ln w="25400">
            <a:solidFill>
              <a:srgbClr val="3E9E68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3425952"/>
            <a:ext cx="2252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Data &amp; Metrics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3828288"/>
            <a:ext cx="225239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· xVA · Valuations · Collateral · PnL · Cash Flows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8972" y="344424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86252" y="3279648"/>
            <a:ext cx="2581580" cy="1213104"/>
          </a:xfrm>
          <a:prstGeom prst="roundRect">
            <a:avLst>
              <a:gd name="adj" fmla="val 4523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50844" y="3425952"/>
            <a:ext cx="2252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50844" y="3828288"/>
            <a:ext cx="225239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· Deals · Fees · Loans · Deposits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23864" y="3279648"/>
            <a:ext cx="2581580" cy="1213104"/>
          </a:xfrm>
          <a:prstGeom prst="roundRect">
            <a:avLst>
              <a:gd name="adj" fmla="val 4523"/>
            </a:avLst>
          </a:prstGeom>
          <a:solidFill>
            <a:srgbClr val="F0ECF3"/>
          </a:solidFill>
          <a:ln w="12700">
            <a:solidFill>
              <a:srgbClr val="D6CBE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88456" y="3425952"/>
            <a:ext cx="2252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88456" y="3828288"/>
            <a:ext cx="225239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NOSTRO / VOSTRO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61475" y="3279648"/>
            <a:ext cx="2581580" cy="1213104"/>
          </a:xfrm>
          <a:prstGeom prst="roundRect">
            <a:avLst>
              <a:gd name="adj" fmla="val 4523"/>
            </a:avLst>
          </a:prstGeom>
          <a:solidFill>
            <a:srgbClr val="EAF0EC"/>
          </a:solidFill>
          <a:ln w="12700">
            <a:solidFill>
              <a:srgbClr val="C4D2C8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226067" y="3425952"/>
            <a:ext cx="2252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&amp; Master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26067" y="3828288"/>
            <a:ext cx="225239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· Account · Facilities · Trading Agreements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730496"/>
            <a:ext cx="2581580" cy="1213104"/>
          </a:xfrm>
          <a:prstGeom prst="roundRect">
            <a:avLst>
              <a:gd name="adj" fmla="val 4523"/>
            </a:avLst>
          </a:prstGeom>
          <a:solidFill>
            <a:srgbClr val="EAF0EC"/>
          </a:solidFill>
          <a:ln w="12700">
            <a:solidFill>
              <a:srgbClr val="C4D2C8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" y="4876800"/>
            <a:ext cx="2252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Instrument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" y="5279136"/>
            <a:ext cx="225239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Instruments · Basket Comp.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86252" y="4730496"/>
            <a:ext cx="2581580" cy="1213104"/>
          </a:xfrm>
          <a:prstGeom prst="roundRect">
            <a:avLst>
              <a:gd name="adj" fmla="val 4523"/>
            </a:avLst>
          </a:prstGeom>
          <a:solidFill>
            <a:srgbClr val="EDF1F3"/>
          </a:solidFill>
          <a:ln w="12700">
            <a:solidFill>
              <a:srgbClr val="D3DCE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50844" y="4876800"/>
            <a:ext cx="2252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Market Data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50844" y="5279136"/>
            <a:ext cx="225239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· Corporate Actions · Other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23864" y="4730496"/>
            <a:ext cx="2581580" cy="1213104"/>
          </a:xfrm>
          <a:prstGeom prst="roundRect">
            <a:avLst>
              <a:gd name="adj" fmla="val 4523"/>
            </a:avLst>
          </a:prstGeom>
          <a:solidFill>
            <a:srgbClr val="EDF1F3"/>
          </a:solidFill>
          <a:ln w="12700">
            <a:solidFill>
              <a:srgbClr val="D3DCE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88456" y="4876800"/>
            <a:ext cx="2252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Pricing Data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88456" y="5279136"/>
            <a:ext cx="225239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· Other Internal Data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61475" y="4730496"/>
            <a:ext cx="2581580" cy="1213104"/>
          </a:xfrm>
          <a:prstGeom prst="roundRect">
            <a:avLst>
              <a:gd name="adj" fmla="val 4523"/>
            </a:avLst>
          </a:prstGeom>
          <a:solidFill>
            <a:srgbClr val="EAF0EC"/>
          </a:solidFill>
          <a:ln w="12700">
            <a:solidFill>
              <a:srgbClr val="C4D2C8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226067" y="4876800"/>
            <a:ext cx="2252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26067" y="5279136"/>
            <a:ext cx="225239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6236208"/>
            <a:ext cx="182880" cy="182880"/>
          </a:xfrm>
          <a:prstGeom prst="rect">
            <a:avLst/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86384" y="6199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609344" y="6236208"/>
            <a:ext cx="182880" cy="182880"/>
          </a:xfrm>
          <a:prstGeom prst="rect">
            <a:avLst/>
          </a:prstGeom>
          <a:solidFill>
            <a:srgbClr val="EAF0EC"/>
          </a:solidFill>
          <a:ln w="12700">
            <a:solidFill>
              <a:srgbClr val="C4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847088" y="6199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12948" y="6236208"/>
            <a:ext cx="182880" cy="182880"/>
          </a:xfrm>
          <a:prstGeom prst="rect">
            <a:avLst/>
          </a:prstGeom>
          <a:solidFill>
            <a:srgbClr val="EDF1F3"/>
          </a:solidFill>
          <a:ln w="12700">
            <a:solidFill>
              <a:srgbClr val="D3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50692" y="6199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10812" y="6236208"/>
            <a:ext cx="182880" cy="182880"/>
          </a:xfrm>
          <a:prstGeom prst="rect">
            <a:avLst/>
          </a:prstGeom>
          <a:solidFill>
            <a:srgbClr val="F0ECF3"/>
          </a:solidFill>
          <a:ln w="12700">
            <a:solidFill>
              <a:srgbClr val="D6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448556" y="6199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GL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20156" y="6236208"/>
            <a:ext cx="182880" cy="182880"/>
          </a:xfrm>
          <a:prstGeom prst="rect">
            <a:avLst/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57900" y="6199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A2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Governance Control — Who Owns What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sits largely with the platform team (amber). Risk's control begins inside the schema (green). This is the detail behind the constraints.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690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TDVIP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(Workspace)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(App / Risk)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 / Network /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C6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Catalog binding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C6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Warehouse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C6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creation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C6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creation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C6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names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properties / tags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C6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C6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follow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· Jobs · Tables · Views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3D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permissions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3D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3D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Cross-catalog sharing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3D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934456"/>
            <a:ext cx="182880" cy="182880"/>
          </a:xfrm>
          <a:prstGeom prst="rect">
            <a:avLst/>
          </a:prstGeom>
          <a:solidFill>
            <a:srgbClr val="F6EFE0"/>
          </a:solidFill>
          <a:ln w="12700">
            <a:solidFill>
              <a:srgbClr val="E6D6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86384" y="5897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Platform-owned</a:t>
            </a:r>
            <a:endParaRPr lang="en-US" sz="950" dirty="0"/>
          </a:p>
        </p:txBody>
      </p:sp>
      <p:sp>
        <p:nvSpPr>
          <p:cNvPr id="5" name="Shape 5"/>
          <p:cNvSpPr/>
          <p:nvPr/>
        </p:nvSpPr>
        <p:spPr>
          <a:xfrm>
            <a:off x="2377440" y="5934456"/>
            <a:ext cx="182880" cy="182880"/>
          </a:xfrm>
          <a:prstGeom prst="rect">
            <a:avLst/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615184" y="5897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Risk-owned (within a schema)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0" y="5879592"/>
            <a:ext cx="6156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practice: domain teams are granted schema creation and ownership within central guardrails, so the green boundary sits higher. Granting CREATE SCHEMA / ownership in Unity Catalog moves it there — domain self-service without a product change.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2080</Words>
  <Application>Microsoft Macintosh PowerPoint</Application>
  <PresentationFormat>Widescreen</PresentationFormat>
  <Paragraphs>252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Data Platform — Technology &amp; Data</dc:title>
  <dc:subject>PptxGenJS Presentation</dc:subject>
  <dc:creator>TD Securities · Risk Data Platform</dc:creator>
  <cp:lastModifiedBy>Reena Cheema</cp:lastModifiedBy>
  <cp:revision>5</cp:revision>
  <dcterms:created xsi:type="dcterms:W3CDTF">2026-06-26T00:51:39Z</dcterms:created>
  <dcterms:modified xsi:type="dcterms:W3CDTF">2026-06-26T11:43:50Z</dcterms:modified>
</cp:coreProperties>
</file>