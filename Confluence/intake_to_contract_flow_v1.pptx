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to Contract Flow</a:t>
            </a:r>
            <a:pPr indent="0" marL="0">
              <a:buNone/>
            </a:pPr>
            <a:r>
              <a:rPr lang="en-US" sz="22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business need to a consumable data product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scenarios · Product exists → subscribe and consume · Product doesn't exist → Jira intake, PG owner orchestrates, Risk Data authors the contract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331720" y="1097280"/>
            <a:ext cx="2926080" cy="502920"/>
          </a:xfrm>
          <a:prstGeom prst="rect">
            <a:avLst/>
          </a:prstGeom>
          <a:solidFill>
            <a:srgbClr val="DDE7F5"/>
          </a:solidFill>
          <a:ln w="19050">
            <a:solidFill>
              <a:srgbClr val="1F5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04872" y="1152144"/>
            <a:ext cx="2779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Business user has a need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94760" y="1600200"/>
            <a:ext cx="0" cy="164592"/>
          </a:xfrm>
          <a:prstGeom prst="line">
            <a:avLst/>
          </a:prstGeom>
          <a:noFill/>
          <a:ln w="22860">
            <a:solidFill>
              <a:srgbClr val="1F5E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331720" y="1764792"/>
            <a:ext cx="2926080" cy="502920"/>
          </a:xfrm>
          <a:prstGeom prst="rect">
            <a:avLst/>
          </a:prstGeom>
          <a:solidFill>
            <a:srgbClr val="DDE7F5"/>
          </a:solidFill>
          <a:ln w="19050">
            <a:solidFill>
              <a:srgbClr val="1F5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4872" y="1819656"/>
            <a:ext cx="2779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 Unity Catalog / Collibra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existing data products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94760" y="2267712"/>
            <a:ext cx="0" cy="164592"/>
          </a:xfrm>
          <a:prstGeom prst="line">
            <a:avLst/>
          </a:prstGeom>
          <a:noFill/>
          <a:ln w="22860">
            <a:solidFill>
              <a:srgbClr val="1F5E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71800" y="2432304"/>
            <a:ext cx="1645920" cy="685800"/>
          </a:xfrm>
          <a:prstGeom prst="diamond">
            <a:avLst/>
          </a:prstGeom>
          <a:solidFill>
            <a:srgbClr val="FFE9C2"/>
          </a:solidFill>
          <a:ln w="22860">
            <a:solidFill>
              <a:srgbClr val="C88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47802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2615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2615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71800" y="2775204"/>
            <a:ext cx="-914400" cy="0"/>
          </a:xfrm>
          <a:prstGeom prst="line">
            <a:avLst/>
          </a:prstGeom>
          <a:noFill/>
          <a:ln w="22860">
            <a:solidFill>
              <a:srgbClr val="176B2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057400" y="2775204"/>
            <a:ext cx="0" cy="507492"/>
          </a:xfrm>
          <a:prstGeom prst="line">
            <a:avLst/>
          </a:prstGeom>
          <a:noFill/>
          <a:ln w="22860">
            <a:solidFill>
              <a:srgbClr val="176B2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17720" y="2775204"/>
            <a:ext cx="914400" cy="0"/>
          </a:xfrm>
          <a:prstGeom prst="line">
            <a:avLst/>
          </a:prstGeom>
          <a:noFill/>
          <a:ln w="22860">
            <a:solidFill>
              <a:srgbClr val="9C2A2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32120" y="2775204"/>
            <a:ext cx="0" cy="507492"/>
          </a:xfrm>
          <a:prstGeom prst="line">
            <a:avLst/>
          </a:prstGeom>
          <a:noFill/>
          <a:ln w="22860">
            <a:solidFill>
              <a:srgbClr val="9C2A2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4360" y="3282696"/>
            <a:ext cx="2926080" cy="502920"/>
          </a:xfrm>
          <a:prstGeom prst="rect">
            <a:avLst/>
          </a:prstGeom>
          <a:solidFill>
            <a:srgbClr val="E5F0DD"/>
          </a:solidFill>
          <a:ln w="19050">
            <a:solidFill>
              <a:srgbClr val="176B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337560"/>
            <a:ext cx="2779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via Collibra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formalise consumption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57400" y="3785616"/>
            <a:ext cx="0" cy="164592"/>
          </a:xfrm>
          <a:prstGeom prst="line">
            <a:avLst/>
          </a:prstGeom>
          <a:noFill/>
          <a:ln w="22860">
            <a:solidFill>
              <a:srgbClr val="176B2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4360" y="3950208"/>
            <a:ext cx="2926080" cy="502920"/>
          </a:xfrm>
          <a:prstGeom prst="rect">
            <a:avLst/>
          </a:prstGeom>
          <a:solidFill>
            <a:srgbClr val="E5F0DD"/>
          </a:solidFill>
          <a:ln w="19050">
            <a:solidFill>
              <a:srgbClr val="176B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4005072"/>
            <a:ext cx="2779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dashboard / model / feed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in risk_governance.consumer_registry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57400" y="4453128"/>
            <a:ext cx="0" cy="164592"/>
          </a:xfrm>
          <a:prstGeom prst="line">
            <a:avLst/>
          </a:prstGeom>
          <a:noFill/>
          <a:ln w="22860">
            <a:solidFill>
              <a:srgbClr val="176B2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94360" y="4617720"/>
            <a:ext cx="2926080" cy="502920"/>
          </a:xfrm>
          <a:prstGeom prst="rect">
            <a:avLst/>
          </a:prstGeom>
          <a:solidFill>
            <a:srgbClr val="176B2C"/>
          </a:solidFill>
          <a:ln w="19050">
            <a:solidFill>
              <a:srgbClr val="176B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672584"/>
            <a:ext cx="2779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Report · Model · Ad-hoc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" y="3282696"/>
            <a:ext cx="868680" cy="1188720"/>
          </a:xfrm>
          <a:prstGeom prst="roundRect">
            <a:avLst/>
          </a:prstGeom>
          <a:solidFill>
            <a:srgbClr val="E8DDF0"/>
          </a:solidFill>
          <a:ln w="15240">
            <a:solidFill>
              <a:srgbClr val="6B3F8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4008" y="3310128"/>
            <a:ext cx="83210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B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AD-group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6B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800" dirty="0"/>
          </a:p>
          <a:p>
            <a:pPr indent="0" marL="0">
              <a:buNone/>
            </a:pPr>
            <a:r>
              <a:rPr lang="en-US" sz="2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700" i="1" dirty="0">
                <a:solidFill>
                  <a:srgbClr val="6B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user to an AD group with access to a registered dashboard implies subscription to source data products.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32688" y="4151376"/>
            <a:ext cx="-338328" cy="0"/>
          </a:xfrm>
          <a:prstGeom prst="line">
            <a:avLst/>
          </a:prstGeom>
          <a:noFill/>
          <a:ln w="12700">
            <a:solidFill>
              <a:srgbClr val="6B3F8C"/>
            </a:solidFill>
            <a:prstDash val="dot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069080" y="3282696"/>
            <a:ext cx="2926080" cy="502920"/>
          </a:xfrm>
          <a:prstGeom prst="rect">
            <a:avLst/>
          </a:prstGeom>
          <a:solidFill>
            <a:srgbClr val="FCE7E6"/>
          </a:solidFill>
          <a:ln w="19050">
            <a:solidFill>
              <a:srgbClr val="9C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42232" y="3337560"/>
            <a:ext cx="2779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Jira intake ticket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5–7 fields (see right panel)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32120" y="3785616"/>
            <a:ext cx="0" cy="164592"/>
          </a:xfrm>
          <a:prstGeom prst="line">
            <a:avLst/>
          </a:prstGeom>
          <a:noFill/>
          <a:ln w="22860">
            <a:solidFill>
              <a:srgbClr val="9C2A2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069080" y="3950208"/>
            <a:ext cx="2926080" cy="502920"/>
          </a:xfrm>
          <a:prstGeom prst="rect">
            <a:avLst/>
          </a:prstGeom>
          <a:solidFill>
            <a:srgbClr val="FFF4DD"/>
          </a:solidFill>
          <a:ln w="19050">
            <a:solidFill>
              <a:srgbClr val="C880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42232" y="4005072"/>
            <a:ext cx="2779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PG owner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four PGs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32120" y="4453128"/>
            <a:ext cx="0" cy="164592"/>
          </a:xfrm>
          <a:prstGeom prst="line">
            <a:avLst/>
          </a:prstGeom>
          <a:noFill/>
          <a:ln w="22860">
            <a:solidFill>
              <a:srgbClr val="C8801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069080" y="4617720"/>
            <a:ext cx="2926080" cy="502920"/>
          </a:xfrm>
          <a:prstGeom prst="rect">
            <a:avLst/>
          </a:prstGeom>
          <a:solidFill>
            <a:srgbClr val="FFF4DD"/>
          </a:solidFill>
          <a:ln w="19050">
            <a:solidFill>
              <a:srgbClr val="C880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42232" y="4672584"/>
            <a:ext cx="2779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owner converses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App teams · with other PGs if cross-PG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32120" y="5120640"/>
            <a:ext cx="0" cy="164592"/>
          </a:xfrm>
          <a:prstGeom prst="line">
            <a:avLst/>
          </a:prstGeom>
          <a:noFill/>
          <a:ln w="22860">
            <a:solidFill>
              <a:srgbClr val="C8801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069080" y="5285232"/>
            <a:ext cx="2926080" cy="502920"/>
          </a:xfrm>
          <a:prstGeom prst="rect">
            <a:avLst/>
          </a:prstGeom>
          <a:solidFill>
            <a:srgbClr val="E5F0DD"/>
          </a:solidFill>
          <a:ln w="19050">
            <a:solidFill>
              <a:srgbClr val="176B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42232" y="5340096"/>
            <a:ext cx="2779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authors contract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storage panel for Excel → JSON/YAML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32120" y="5788152"/>
            <a:ext cx="0" cy="164592"/>
          </a:xfrm>
          <a:prstGeom prst="line">
            <a:avLst/>
          </a:prstGeom>
          <a:noFill/>
          <a:ln w="22860">
            <a:solidFill>
              <a:srgbClr val="176B2C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069080" y="5952744"/>
            <a:ext cx="2926080" cy="502920"/>
          </a:xfrm>
          <a:prstGeom prst="rect">
            <a:avLst/>
          </a:prstGeom>
          <a:solidFill>
            <a:srgbClr val="176B2C"/>
          </a:solidFill>
          <a:ln w="19050">
            <a:solidFill>
              <a:srgbClr val="176B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42232" y="6007608"/>
            <a:ext cx="2779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UC + Collibra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becomes discoverable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95160" y="6204204"/>
            <a:ext cx="182880" cy="0"/>
          </a:xfrm>
          <a:prstGeom prst="line">
            <a:avLst/>
          </a:prstGeom>
          <a:noFill/>
          <a:ln w="15240">
            <a:solidFill>
              <a:srgbClr val="176B2C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7178040" y="2194560"/>
            <a:ext cx="0" cy="4009644"/>
          </a:xfrm>
          <a:prstGeom prst="line">
            <a:avLst/>
          </a:prstGeom>
          <a:noFill/>
          <a:ln w="15240">
            <a:solidFill>
              <a:srgbClr val="176B2C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5257800" y="2194560"/>
            <a:ext cx="1920240" cy="0"/>
          </a:xfrm>
          <a:prstGeom prst="line">
            <a:avLst/>
          </a:prstGeom>
          <a:noFill/>
          <a:ln w="15240">
            <a:solidFill>
              <a:srgbClr val="176B2C"/>
            </a:solidFill>
            <a:prstDash val="dash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6172200" y="1993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discoverable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589520" y="1097280"/>
            <a:ext cx="4297680" cy="1874520"/>
          </a:xfrm>
          <a:prstGeom prst="rect">
            <a:avLst/>
          </a:prstGeom>
          <a:solidFill>
            <a:srgbClr val="FCE7E6"/>
          </a:solidFill>
          <a:ln w="19050">
            <a:solidFill>
              <a:srgbClr val="9C2A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26680" y="118872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 Jira intake fields</a:t>
            </a:r>
            <a:endParaRPr lang="en-US" sz="1150" dirty="0"/>
          </a:p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 Routes to PG owner.</a:t>
            </a:r>
            <a:endParaRPr lang="en-US" sz="11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team / business unit</a:t>
            </a:r>
            <a:endParaRPr lang="en-US" sz="11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(3–4 sentences)</a:t>
            </a:r>
            <a:endParaRPr lang="en-US" sz="11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consumer (dashboard, report, model, feed)</a:t>
            </a:r>
            <a:endParaRPr lang="en-US" sz="11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urgency / target date</a:t>
            </a:r>
            <a:endParaRPr lang="en-US" sz="11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source(s)  </a:t>
            </a:r>
            <a:pPr indent="0" marL="0">
              <a:buNone/>
            </a:pPr>
            <a:r>
              <a:rPr lang="en-US" sz="85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optional</a:t>
            </a:r>
            <a:endParaRPr lang="en-US" sz="11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PG involved  </a:t>
            </a:r>
            <a:pPr indent="0" marL="0">
              <a:buNone/>
            </a:pPr>
            <a:r>
              <a:rPr lang="en-US" sz="85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optional, auto-routes if known</a:t>
            </a:r>
            <a:endParaRPr lang="en-US" sz="11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approver name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589520" y="3063240"/>
            <a:ext cx="4297680" cy="1600200"/>
          </a:xfrm>
          <a:prstGeom prst="rect">
            <a:avLst/>
          </a:prstGeom>
          <a:solidFill>
            <a:srgbClr val="E5F0DD"/>
          </a:solidFill>
          <a:ln w="19050">
            <a:solidFill>
              <a:srgbClr val="176B2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26680" y="315468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Contract storage flow</a:t>
            </a:r>
            <a:endParaRPr lang="en-US" sz="11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(human-readable design source)</a:t>
            </a:r>
            <a:endParaRPr lang="en-US" sz="115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↓  engineering converts</a:t>
            </a:r>
            <a:endParaRPr lang="en-US" sz="115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or YAML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(machine-readable)</a:t>
            </a:r>
            <a:endParaRPr lang="en-US" sz="115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↓  stored in</a:t>
            </a:r>
            <a:endParaRPr lang="en-US" sz="1150" dirty="0"/>
          </a:p>
          <a:p>
            <a:pPr indent="0" marL="0">
              <a:buNone/>
            </a:pPr>
            <a:r>
              <a:rPr lang="en-US" sz="10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Warehouse Git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(source of truth)</a:t>
            </a:r>
            <a:endParaRPr lang="en-US" sz="115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↓  applied to</a:t>
            </a:r>
            <a:endParaRPr lang="en-US" sz="115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(tags) </a:t>
            </a:r>
            <a:pPr indent="0" marL="0">
              <a:buNone/>
            </a:pPr>
            <a:r>
              <a:rPr lang="en-US" sz="10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Collibra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(business)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589520" y="4754880"/>
            <a:ext cx="4297680" cy="2011680"/>
          </a:xfrm>
          <a:prstGeom prst="rect">
            <a:avLst/>
          </a:prstGeom>
          <a:solidFill>
            <a:srgbClr val="E8DDF0"/>
          </a:solidFill>
          <a:ln w="19050">
            <a:solidFill>
              <a:srgbClr val="6B3F8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26680" y="484632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B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Consumer tracking — four patterns</a:t>
            </a:r>
            <a:endParaRPr lang="en-US" sz="11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Collibra subscription  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individuals formalise as known consumers</a:t>
            </a:r>
            <a:endParaRPr lang="en-US" sz="1150" dirty="0"/>
          </a:p>
          <a:p>
            <a:pPr indent="0" marL="0">
              <a:buNone/>
            </a:pPr>
            <a:r>
              <a:rPr lang="en-US" sz="2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Query-log lineage  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UC audit logs capture actual usage</a:t>
            </a:r>
            <a:endParaRPr lang="en-US" sz="1150" dirty="0"/>
          </a:p>
          <a:p>
            <a:pPr indent="0" marL="0">
              <a:buNone/>
            </a:pPr>
            <a:r>
              <a:rPr lang="en-US" sz="2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Consumer registry  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00" dirty="0">
                <a:solidFill>
                  <a:srgbClr val="6B3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risk_governance.consumer_registry</a:t>
            </a:r>
            <a:endParaRPr lang="en-US" sz="1150" dirty="0"/>
          </a:p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captures dashboard/model/feed → product+version links</a:t>
            </a:r>
            <a:endParaRPr lang="en-US" sz="1150" dirty="0"/>
          </a:p>
          <a:p>
            <a:pPr indent="0" marL="0">
              <a:buNone/>
            </a:pPr>
            <a:r>
              <a:rPr lang="en-US" sz="2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AD-group inheritance  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 tool AD group + registered dashboard </a:t>
            </a:r>
            <a:endParaRPr lang="en-US" sz="1150" dirty="0"/>
          </a:p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= implicit subscription chain to source products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Data — Intake to Contract Flow</dc:title>
  <dc:subject>PptxGenJS Presentation</dc:subject>
  <dc:creator>PptxGenJS</dc:creator>
  <cp:lastModifiedBy>PptxGenJS</cp:lastModifiedBy>
  <cp:revision>1</cp:revision>
  <dcterms:created xsi:type="dcterms:W3CDTF">2026-05-12T00:28:36Z</dcterms:created>
  <dcterms:modified xsi:type="dcterms:W3CDTF">2026-05-12T00:28:36Z</dcterms:modified>
</cp:coreProperties>
</file>