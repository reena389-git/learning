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E5F0DD"/>
                </a:solidFill>
                <a:latin typeface="Calibri"/>
              </a:rP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474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Data Modeling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3474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A practical guide —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from application reports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to conformed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76B2C"/>
                </a:solidFill>
                <a:latin typeface="Calibri"/>
              </a:rPr>
              <a:t>What this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23160"/>
            <a:ext cx="713232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This is a friendly walkthrough of how risk data gets from where it lives today — flat application reports — to a shared model of the risk domain with conformed entities and trustworthy data products.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The good news: you already have most of what you need. The job is to give structure to what's already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754880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76B2C"/>
                </a:solidFill>
                <a:latin typeface="Calibri"/>
              </a:rPr>
              <a:t>Who this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074920"/>
            <a:ext cx="71323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Application teams in risk — anyone whose code produces data that lands somewhere downstream. No prior data modeling experience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you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Honest starting point — application reports, distributed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Pick collateral as our example. Today CMOS produces four reports: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Position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Daily positions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counterparty, CSA,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Exposure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Exposure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 + CSA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Settlements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 activity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by counterparty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Settlements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Open and resolved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Disputes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1">
                <a:solidFill>
                  <a:srgbClr val="B46F18"/>
                </a:solidFill>
                <a:latin typeface="Calibri"/>
              </a:rPr>
              <a:t>These are REPORTS, not data products yet.  (For the path that turns reports into governed products, see → 'From Risk Reports to Governed Data Products')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Each report is distributed: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Downstream consumers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Credit Ops, Risk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Reporting, Treasury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Downstream consumers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Upstream partners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Limits engine,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Counterparty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Upstream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Regulatory feeds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CCR, BCBS,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LCR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Regulatory feeds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data exists — it's just not modeled yet. That's what we'll do in the next few slides.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we're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entities, a shared risk domain model, governed data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4754880"/>
            <a:ext cx="9144000" cy="777240"/>
          </a:xfrm>
          <a:prstGeom prst="rect">
            <a:avLst/>
          </a:prstGeom>
          <a:solidFill>
            <a:srgbClr val="FCE7E6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800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82C1F"/>
                </a:solidFill>
                <a:latin typeface="Calibri"/>
              </a:rPr>
              <a:t>App level — where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47488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Flat reports. Each app names entities its own way. CMOS counterparty ≠ ALFA counterparty (yet). FX from MIDAS in CMOS, LAMP in ALFA.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80760.0" y="4389120"/>
            <a:ext cx="0.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08760" y="3291840"/>
            <a:ext cx="9144000" cy="1097280"/>
          </a:xfrm>
          <a:prstGeom prst="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3375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46F18"/>
                </a:solidFill>
                <a:latin typeface="Calibri"/>
              </a:rPr>
              <a:t>Conformed layer — where modeling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118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Entities identified across apps and resolved into one shared form. CMOS's counterparty and ALFA's counterparty become ONE conformed Counterparty. FX standardized to a single risk-wide source. Asset class/type taxonomy reconciled with documented mapping rules.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.0" y="2926080"/>
            <a:ext cx="0.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08760" y="1371600"/>
            <a:ext cx="9144000" cy="150876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417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Risk Domain Model + Governed Data Products — 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737360"/>
            <a:ext cx="8778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 connected model of Risk entities with documented relationships (the ERD). Foundational and derived data products built on conformed entities. Cross-product joins reconcile cleanly. This is Risk's contribution to the enterprise CDM (Domain #5 — Derived Data and Metrics).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Already covered on Architecture &amp; Design (Databricks landscape, A→B→C resolution path, Three Views).  This deck is about the practical work of getting from the bottom layer to the middle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1 — See the entities hiding in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 flat row is several entities and a measurement bundled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One row from CMOS's Collateral Exposure report — looks flat: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CP000123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CSA-4421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Fixed Income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Corp Bond 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exposure_amount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1,250,000.00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pledged_amount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950,000.00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1460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76B2C"/>
                </a:solidFill>
                <a:latin typeface="Calibri"/>
              </a:rPr>
              <a:t>What's actually here — entities hiding in the columns: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20140.0" y="2121408"/>
            <a:ext cx="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csa_id, counterparty_id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20340.0" y="2121408"/>
            <a:ext cx="9144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20540.0" y="2121408"/>
            <a:ext cx="64008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960620.0" y="2121408"/>
            <a:ext cx="9601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751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75220.0" y="2121408"/>
            <a:ext cx="457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03920" y="3108960"/>
            <a:ext cx="3200400" cy="1371600"/>
          </a:xfrm>
          <a:prstGeom prst="roundRect">
            <a:avLst/>
          </a:prstGeom>
          <a:solidFill>
            <a:srgbClr val="E5F0DD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 (fact)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exposure_amount, pledged_amount (measures)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at grain: CP × CSA × Currency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004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Exposure (fact)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21140.0" y="2121408"/>
            <a:ext cx="98298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104120.0" y="2121408"/>
            <a:ext cx="6172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3776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The exercise: look at every column in your generated data and ask 'is this a real-world thing, or a property of one?'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Identifiers (counterparty_id, csa_id) → name an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Categorizations (asset_class, asset_type) → describe an entity, but the entity is Asset, not Asset Class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Codes referencing standards (currency = ISO code) → reference data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Numbers being measured (amounts, counts, percentages) → measures, belong on a fact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2 — Sketch your application's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Entities as boxes, relationships as lines — your app-level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Same five entities — now connected. This is what CMOS's app-level model looks like: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counterparty_id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legal_entity_id,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jurisdiction, parent_id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csa_id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FK: counterparty_id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threshold, mta,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asset_id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issuer, isin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2286000" cy="1280160"/>
          </a:xfrm>
          <a:prstGeom prst="roundRect">
            <a:avLst/>
          </a:prstGeom>
          <a:solidFill>
            <a:srgbClr val="D8E5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(reference data)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iso_code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decimals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023360"/>
            <a:ext cx="5029200" cy="128016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Collateral Exposure  (fact)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FKs: counterparty_id, csa_id, asset_id, 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Grain: counterparty + csa + asset + currency + date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Measures: exposure_amount, pledged_amount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783080.0" y="3108960"/>
            <a:ext cx="438912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800600.0" y="3108960"/>
            <a:ext cx="137160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72200.0" y="3108960"/>
            <a:ext cx="164592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172200.0" y="3108960"/>
            <a:ext cx="466344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26080" y="2468880.0"/>
            <a:ext cx="731520" cy="0.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This is the 'App data footprint' level in the Artifact Types table on Architecture &amp; Design.</a:t>
            </a:r>
          </a:p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What you've just sketched is the foundation of everything else.  Every application in risk does this exercise for its own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3 — Classify your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Three categories tell you where each entity lives and who owns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9476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Enterprise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3794760" cy="365760"/>
          </a:xfrm>
          <a:prstGeom prst="rect">
            <a:avLst/>
          </a:prstGeom>
          <a:solidFill>
            <a:srgbClr val="D8E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Sourced upstream · conformed bank-wide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0672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66744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 Master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(from enterprise CRM)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42816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Calendar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18888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ISO codes,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LEI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You don't own these. You reference them. Lives in core.reference.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94760" cy="640080"/>
          </a:xfrm>
          <a:prstGeom prst="rect">
            <a:avLst/>
          </a:prstGeom>
          <a:solidFill>
            <a:srgbClr val="B46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Risk-internal conformed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3794760" cy="365760"/>
          </a:xfrm>
          <a:prstGeom prst="rect">
            <a:avLst/>
          </a:prstGeom>
          <a:solidFill>
            <a:srgbClr val="FFE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Risk owns · conformed across risk 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2514600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(enriched with risk attrs)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90672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 / Netting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66744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 taxonomy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(risk's mapping)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242816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FX Rate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(canonical for risk)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18888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Risk Data owns. Built once, used by all risk apps. Lives in 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794760" cy="640080"/>
          </a:xfrm>
          <a:prstGeom prst="rect">
            <a:avLst/>
          </a:prstGeom>
          <a:solidFill>
            <a:srgbClr val="C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App-specific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011680"/>
            <a:ext cx="3794760" cy="365760"/>
          </a:xfrm>
          <a:prstGeom prst="rect">
            <a:avLst/>
          </a:prstGeom>
          <a:solidFill>
            <a:srgbClr val="FC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Stays in the malcode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2514600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App-internal codes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090672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processing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flags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66744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audit/lineage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242816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App-specific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intermediate calcs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App team owns. Not shared. Lives in &lt;pg&gt;.&lt;app&gt; schema.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Look at every entity on your app sketch and ask: where does this belong?  Most apps have a mix of all three — that's normal.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4 — Conform across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When CMOS's Counterparty and ALFA's Counterparty become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CMOS — Collateral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4389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cp_id_cmos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(CMOS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MIDAS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39776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ALFA —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389120"/>
            <a:ext cx="4389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cp_id_alfa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(ALFA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188720"/>
            <a:ext cx="7589520" cy="1828800"/>
          </a:xfrm>
          <a:prstGeom prst="roundRect">
            <a:avLst/>
          </a:prstGeom>
          <a:solidFill>
            <a:srgbClr val="FFE9C2"/>
          </a:solidFill>
          <a:ln w="254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34440"/>
            <a:ext cx="722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 — core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645920"/>
            <a:ext cx="704088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core.counterparty       resolves cp_id_cmos AND cp_id_alfa to one cp_id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core.asset_type          one risk taxonomy + mapping rules from CMOS-native and ALFA-native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core.fx_rate              one canonical risk FX source + documented precedence rules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34640.0" y="3017520"/>
            <a:ext cx="1280160.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046720" y="3017520"/>
            <a:ext cx="1325880.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1 — FX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CMOS uses MIDAS, ALFA uses LAMP → conformed entity picks ONE source for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2 — Asset class/type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4728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Different naming/granularity → conformed entity holds the mapping rules in its definition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Conformance is not deleting one source in favor of another — it's making the rules explicit so cross-app joins are trustworthy.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Two representations of the same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Visual for documentation · technical for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same model has two faces. Both come from the same logical model — they just describe it for different audiences.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 representation — ERD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8404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5740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4160520"/>
            <a:ext cx="3200400" cy="64008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Collateral Exposure (fact)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.0" y="3246120"/>
            <a:ext cx="502920.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91840" y="3246120"/>
            <a:ext cx="320040.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80560" y="2697480"/>
            <a:ext cx="411480.0" cy="146304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Collibra and erwin / PowerDesigner. For business analysts, stewards, architects.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Technical representation — DDL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548640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2064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CREATE TABLE core.collateral_exposure (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counterparty_id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csa_id  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asset_id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currency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business_date    DATE  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exposure_amount  DECIMAL(18,2)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pledged_amount   DECIMAL(18,2),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PRIMARY KEY (counterparty_id, csa_id,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           asset_id, currency, business_date),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(counterparty_id)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REFERENCES core.counterparty(counterparty_id),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(csa_id) REFERENCES core.csa(csa_id),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CONSTRAINT amounts_non_neg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CHECK (exposure_amount &gt;= 0)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57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Unity Catalog. For engineers, analysts writing SQL, the platform itself.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1">
                <a:solidFill>
                  <a:srgbClr val="B46F18"/>
                </a:solidFill>
                <a:latin typeface="Calibri"/>
              </a:rPr>
              <a:t>Both faces stay in sync because they're generated from the same source — the contract and the modeling tool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this looks like in the modeling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Erwin · PowerDesigner — screenshot to be added by 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Calibri"/>
              </a:rPr>
              <a:t>[ Erwin / PowerDesigner screenshot to be inserted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This is where the formal documented model from the modeling tool sits.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/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Same model — same entities, same relationships, same attributes — just rendered in the tool the team uses for documentation and governance.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/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Owner: [insert tool admin]   ·   Repository: [insert link]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176B2C"/>
                </a:solidFill>
                <a:latin typeface="Calibri"/>
              </a:rPr>
              <a:t>The visual ERD in the previous slide is the sketch. The Erwin/PowerDesigner view is the formally documented version.  Both describe the same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this leads — back to data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 make trustworthy data products possible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383280" cy="27432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882C1F"/>
                </a:solidFill>
                <a:latin typeface="Calibri"/>
              </a:rPr>
              <a:t>Application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Each app produces data in its own shape and naming.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Schemas attached, entities identified, app-level model documented.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data products built directly from the app footprint — useful, but cross-app joins need care.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3200400.0"/>
            <a:ext cx="457200" cy="0.0"/>
          </a:xfrm>
          <a:prstGeom prst="line">
            <a:avLst/>
          </a:prstGeom>
          <a:ln w="381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828800"/>
            <a:ext cx="3383280" cy="2743200"/>
          </a:xfrm>
          <a:prstGeom prst="round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core.counterparty, core.asset_type, core.fx_rate — resolved across all risk apps.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Rules documented in the entity definitions (which FX source for risk, how asset taxonomies map).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can now reference these — no more guessing.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3200400.0"/>
            <a:ext cx="457200" cy="0.0"/>
          </a:xfrm>
          <a:prstGeom prst="line">
            <a:avLst/>
          </a:prstGeom>
          <a:ln w="381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828800"/>
            <a:ext cx="3383280" cy="274320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76B2C"/>
                </a:solidFill>
                <a:latin typeface="Calibri"/>
              </a:rPr>
              <a:t>Governed data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on conformed entities — trustworthy by construction.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Derived products (cross-app views) reconcile cleanly because the upstream FX and taxonomy issues are resolved in the conformed layer.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Star schemas surface through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4632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Where to go from here: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Architecture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The A→B→C resolution path and three views of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Worked Example — Counterparty 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48640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a real product is built from these foundations.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Risk Marketplace landing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76072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products are discovered and consumed once they're built.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From Risk Reports to Governed Data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603504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existing reports get promoted into the journey.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the data contract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Most of the contract is composed from upstream artifacts — not authored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474720" cy="3657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Source artifacts (upstream)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Contract YAML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3474720" cy="502920"/>
          </a:xfrm>
          <a:prstGeom prst="round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Semantic Layer (Metric View)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13432"/>
            <a:ext cx="3474720" cy="502920"/>
          </a:xfrm>
          <a:prstGeom prst="round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Naming Convention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35224"/>
            <a:ext cx="3474720" cy="502920"/>
          </a:xfrm>
          <a:prstGeom prst="round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App-layer UC 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557016"/>
            <a:ext cx="3474720" cy="502920"/>
          </a:xfrm>
          <a:prstGeom prst="round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Conformed Model / ERD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78808"/>
            <a:ext cx="3474720" cy="502920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UC observed lineage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800600"/>
            <a:ext cx="3474720" cy="502920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Consumer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422392"/>
            <a:ext cx="3474720" cy="502920"/>
          </a:xfrm>
          <a:prstGeom prst="round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Erwin / PowerDesigner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6044184"/>
            <a:ext cx="3474720" cy="502920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Jira / Git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6665976"/>
            <a:ext cx="3474720" cy="502920"/>
          </a:xfrm>
          <a:prstGeom prst="roundRect">
            <a:avLst/>
          </a:prstGeom>
          <a:solidFill>
            <a:srgbClr val="FCE7E6"/>
          </a:solidFill>
          <a:ln w="12700">
            <a:solidFill>
              <a:srgbClr val="882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Intake form (manual)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91640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product (identity, naming)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Naming Convention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221992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grain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Semantic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52344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dimensions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Semantic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82696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measures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Semantic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813048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classification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App-layer UC tags (inherited)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343400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ownership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App-layer UC tags (inherited)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873752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lineage.upstream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UC observed lineage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404104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downstream / consumers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Consumer 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934456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quality.constraints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Erwin / PowerDesigner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6464808"/>
            <a:ext cx="5303520" cy="457200"/>
          </a:xfrm>
          <a:prstGeom prst="roundRect">
            <a:avLst/>
          </a:prstGeom>
          <a:solidFill>
            <a:srgbClr val="D8E5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change_history</a:t>
            </a:r>
          </a:p>
          <a:p>
            <a:pPr algn="l"/>
            <a:r>
              <a:rPr sz="900" i="1">
                <a:solidFill>
                  <a:srgbClr val="595959"/>
                </a:solidFill>
                <a:latin typeface="Calibri"/>
              </a:rPr>
              <a:t>   ← from Jira / Git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6995160"/>
            <a:ext cx="5303520" cy="457200"/>
          </a:xfrm>
          <a:prstGeom prst="roundRect">
            <a:avLst/>
          </a:prstGeom>
          <a:solidFill>
            <a:srgbClr val="FCE7E6"/>
          </a:solidFill>
          <a:ln w="12700">
            <a:solidFill>
              <a:srgbClr val="882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100" b="1">
                <a:solidFill>
                  <a:srgbClr val="333333"/>
                </a:solidFill>
                <a:latin typeface="Consolas"/>
              </a:rPr>
              <a:t>description, business_owner, intake context</a:t>
            </a:r>
          </a:p>
          <a:p>
            <a:pPr algn="l"/>
            <a:r>
              <a:rPr sz="900" i="1">
                <a:solidFill>
                  <a:srgbClr val="882C1F"/>
                </a:solidFill>
                <a:latin typeface="Calibri"/>
              </a:rPr>
              <a:t>   ⊗ AUTHORED IN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1943100.0"/>
            <a:ext cx="2743200" cy="507492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40480" y="1943100.0"/>
            <a:ext cx="2743200" cy="103784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40480" y="1943100.0"/>
            <a:ext cx="2743200" cy="1568196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40480" y="1920240.0"/>
            <a:ext cx="2743200" cy="644652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40480" y="3186684.0"/>
            <a:ext cx="2743200" cy="85496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40480" y="3186684.0"/>
            <a:ext cx="2743200" cy="1385316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3808476.0"/>
            <a:ext cx="2743200" cy="2354580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" y="4430268.0"/>
            <a:ext cx="2743200" cy="67208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40480" y="5052060.0"/>
            <a:ext cx="2743200" cy="58064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40480" y="5673852.0"/>
            <a:ext cx="2743200" cy="48920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40480" y="6295644.0"/>
            <a:ext cx="2743200" cy="397764.0"/>
          </a:xfrm>
          <a:prstGeom prst="line">
            <a:avLst/>
          </a:prstGeom>
          <a:ln w="12700">
            <a:solidFill>
              <a:srgbClr val="2E8B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65760" y="6080760"/>
            <a:ext cx="3657600" cy="365760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76B2C"/>
                </a:solidFill>
                <a:latin typeface="Calibri"/>
              </a:rPr>
              <a:t>← arrow: derived from upstream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6080760"/>
            <a:ext cx="3657600" cy="365760"/>
          </a:xfrm>
          <a:prstGeom prst="rect">
            <a:avLst/>
          </a:prstGeom>
          <a:solidFill>
            <a:srgbClr val="FCE7E6"/>
          </a:solidFill>
          <a:ln w="6350">
            <a:solidFill>
              <a:srgbClr val="882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882C1F"/>
                </a:solidFill>
                <a:latin typeface="Calibri"/>
              </a:rPr>
              <a:t>⊗ no arrow: authored in contract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6080760"/>
            <a:ext cx="3840480" cy="365760"/>
          </a:xfrm>
          <a:prstGeom prst="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B46F18"/>
                </a:solidFill>
                <a:latin typeface="Calibri"/>
              </a:rPr>
              <a:t>Most blocks composed → less duplicate authoring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query-based to model-based consumption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How the business gets answers — and what it means for developers and product owners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365760"/>
          </a:xfrm>
          <a:prstGeom prst="rect">
            <a:avLst/>
          </a:prstGeom>
          <a:solidFill>
            <a:srgbClr val="882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Today — query-based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577840" cy="3657600"/>
          </a:xfrm>
          <a:prstGeom prst="rect">
            <a:avLst/>
          </a:prstGeom>
          <a:solidFill>
            <a:srgbClr val="FCE7E6"/>
          </a:solidFill>
          <a:ln w="12700">
            <a:solidFill>
              <a:srgbClr val="882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82C1F"/>
                </a:solidFill>
                <a:latin typeface="Calibri"/>
              </a:rPr>
              <a:t>How it works: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143000" cy="457200"/>
          </a:xfrm>
          <a:prstGeom prst="roundRect">
            <a:avLst/>
          </a:prstGeom>
          <a:solidFill>
            <a:srgbClr val="D9E8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Business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148840"/>
            <a:ext cx="1143000" cy="45720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Developer writes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148840"/>
            <a:ext cx="1143000" cy="457200"/>
          </a:xfrm>
          <a:prstGeom prst="roundRect">
            <a:avLst/>
          </a:prstGeom>
          <a:solidFill>
            <a:srgbClr val="E5F0DD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One-off query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48840"/>
            <a:ext cx="1143000" cy="457200"/>
          </a:xfrm>
          <a:prstGeom prst="roundRect">
            <a:avLst/>
          </a:prstGeom>
          <a:solidFill>
            <a:srgbClr val="D9E8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Result returned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2377440.0"/>
            <a:ext cx="274320" cy="0.0"/>
          </a:xfrm>
          <a:prstGeom prst="line">
            <a:avLst/>
          </a:prstGeom>
          <a:ln w="19050">
            <a:solidFill>
              <a:srgbClr val="88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23560" y="1965960"/>
            <a:ext cx="0" cy="411480.0"/>
          </a:xfrm>
          <a:prstGeom prst="line">
            <a:avLst/>
          </a:prstGeom>
          <a:ln w="19050">
            <a:solidFill>
              <a:srgbClr val="88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11580.0" y="1965960"/>
            <a:ext cx="4411980.0" cy="0"/>
          </a:xfrm>
          <a:prstGeom prst="line">
            <a:avLst/>
          </a:prstGeom>
          <a:ln w="19050">
            <a:solidFill>
              <a:srgbClr val="882C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1580.0" y="1965960"/>
            <a:ext cx="0.0" cy="182880"/>
          </a:xfrm>
          <a:prstGeom prst="line">
            <a:avLst/>
          </a:prstGeom>
          <a:ln w="19050">
            <a:solidFill>
              <a:srgbClr val="882C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65960" y="1856232"/>
            <a:ext cx="4206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1">
                <a:solidFill>
                  <a:srgbClr val="882C1F"/>
                </a:solidFill>
                <a:latin typeface="Calibri"/>
              </a:rPr>
              <a:t>Every new question → new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82C1F"/>
                </a:solidFill>
                <a:latin typeface="Calibri"/>
              </a:rPr>
              <a:t>What goes wrong: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Same metric gets coded differently across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93592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Aggregation rules live in developers' heads, not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Hundreds of one-off queries accumulate — no reuse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05656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Business waits on engineering for every new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61688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Audit &amp; lineage are after-the-fact, not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188720"/>
            <a:ext cx="5577840" cy="3657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Target — model-based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554480"/>
            <a:ext cx="5577840" cy="365760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76B2C"/>
                </a:solidFill>
                <a:latin typeface="Calibri"/>
              </a:rPr>
              <a:t>How it works: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148840"/>
            <a:ext cx="1143000" cy="457200"/>
          </a:xfrm>
          <a:prstGeom prst="roundRect">
            <a:avLst/>
          </a:prstGeom>
          <a:solidFill>
            <a:srgbClr val="D9E8F5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Business asks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0" y="2377440.0"/>
            <a:ext cx="45720" cy="0.0"/>
          </a:xfrm>
          <a:prstGeom prst="line">
            <a:avLst/>
          </a:prstGeom>
          <a:ln w="127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43800" y="2148840"/>
            <a:ext cx="1143000" cy="45720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BI tool / Genie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0" y="2377440.0"/>
            <a:ext cx="45720" cy="0.0"/>
          </a:xfrm>
          <a:prstGeom prst="line">
            <a:avLst/>
          </a:prstGeom>
          <a:ln w="127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732520" y="2148840"/>
            <a:ext cx="1143000" cy="45720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Semantic layer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75520" y="2377440.0"/>
            <a:ext cx="45720" cy="0.0"/>
          </a:xfrm>
          <a:prstGeom prst="line">
            <a:avLst/>
          </a:prstGeom>
          <a:ln w="127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21240" y="2148840"/>
            <a:ext cx="1143000" cy="457200"/>
          </a:xfrm>
          <a:prstGeom prst="roundRect">
            <a:avLst/>
          </a:prstGeom>
          <a:solidFill>
            <a:srgbClr val="E5F0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Self-serve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56232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1">
                <a:solidFill>
                  <a:srgbClr val="176B2C"/>
                </a:solidFill>
                <a:latin typeface="Calibri"/>
              </a:rPr>
              <a:t>Same model serves every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0175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76B2C"/>
                </a:solidFill>
                <a:latin typeface="Calibri"/>
              </a:rPr>
              <a:t>What you get: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33756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One canonical definition of each measure — consistency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593592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Aggregation rules live IN the model — enforced at query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49624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Drag-and-drop self-serve — business doesn't wait on devs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105656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Auditable: the model is documented; queries are derivable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61688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Developer time shifts from one-off queries to durable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86400"/>
            <a:ext cx="11521440" cy="868680"/>
          </a:xfrm>
          <a:prstGeom prst="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778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46F18"/>
                </a:solidFill>
                <a:latin typeface="Calibri"/>
              </a:rPr>
              <a:t>What this shift means for the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In the query-based world, the developer is the bridge between business and answers — writes every query, owns every change. In the model-based world, the Data Product Owner shapes the model with the business; engineering implements; the model serves every question. Same people, more leverage.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North Star — four threads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What we're doing — physical integration, structural conformance, modeling, and the query-to-model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274320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 Physical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743200" cy="365760"/>
          </a:xfrm>
          <a:prstGeom prst="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Bringing data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468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Risk apps generate data into many targets — HBase, Cassandra, file shares, JSON, Postgres, Druid. We're consolidating all of it into Databricks (Unity Catalog) as the centralized analytics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82C1F"/>
                </a:solidFill>
                <a:latin typeface="Calibri"/>
              </a:rPr>
              <a:t>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Today: scattered across many stores, hard to discover, hard to query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76B2C"/>
                </a:solidFill>
                <a:latin typeface="Calibri"/>
              </a:rPr>
              <a:t>Target: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Target: one searchable, governed analytics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solidFill>
            <a:srgbClr val="B46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 Structural conformance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743200" cy="365760"/>
          </a:xfrm>
          <a:prstGeom prst="rect">
            <a:avLst/>
          </a:prstGeom>
          <a:solidFill>
            <a:srgbClr val="FFE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Making entities consistent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1945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468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Not just bringing the data physically together — also resolving HOW entities are represented. Different apps use different FX sources (MIDAS vs LAMP). Different asset taxonomies. Different counterparty keys. Conformance reconciles all of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2336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82C1F"/>
                </a:solidFill>
                <a:latin typeface="Calibri"/>
              </a:rPr>
              <a:t>Today: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519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Today: each app names things its own way. Cross-app joins produce wrong answers silently.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80060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76B2C"/>
                </a:solidFill>
                <a:latin typeface="Calibri"/>
              </a:rPr>
              <a:t>Target: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029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Target: conformed entities with explicit mapping rules.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7432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 Modeling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28800"/>
            <a:ext cx="2743200" cy="365760"/>
          </a:xfrm>
          <a:prstGeom prst="rect">
            <a:avLst/>
          </a:prstGeom>
          <a:solidFill>
            <a:srgbClr val="E5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Documenting how data fits together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945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2468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App-level models, PG-level models, and the Risk Domain Model. Each level documents entities and relationships — not just lists. Conformed entities anchor the model; data products are built on top.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82C1F"/>
                </a:solidFill>
                <a:latin typeface="Calibri"/>
              </a:rPr>
              <a:t>Today: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Today: data exists but isn't modeled. ERDs are absent or out of 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76B2C"/>
                </a:solidFill>
                <a:latin typeface="Calibri"/>
              </a:rPr>
              <a:t>Target: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29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Target: a documented model in Erwin / Collibra, queryable in Databricks.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371600"/>
            <a:ext cx="27432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 From query to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828800"/>
            <a:ext cx="2743200" cy="365760"/>
          </a:xfrm>
          <a:prstGeom prst="rect">
            <a:avLst/>
          </a:prstGeom>
          <a:solidFill>
            <a:srgbClr val="D8E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8580" bIns="68580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How the business gets answers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1945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331720"/>
            <a:ext cx="2468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Replacing the one-off-SQL pattern with a semantic layer (e.g. Databricks Metric Views, dbt, MicroStrategy). Business asks → BI tool queries the model → answer. Developer time goes into building models, not writing each query.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02336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882C1F"/>
                </a:solidFill>
                <a:latin typeface="Calibri"/>
              </a:rPr>
              <a:t>Today: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25196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Today: hundreds of one-off queries. Every new question waits on a developer.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800600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76B2C"/>
                </a:solidFill>
                <a:latin typeface="Calibri"/>
              </a:rPr>
              <a:t>Target: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0292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Target: self-serve through BI tools on a documented model.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176B2C"/>
                </a:solidFill>
                <a:latin typeface="Calibri"/>
              </a:rPr>
              <a:t>All four threads converge on the same target state 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989320"/>
            <a:ext cx="5760720" cy="548640"/>
          </a:xfrm>
          <a:prstGeom prst="round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Trustworthy risk data — discoverable · consistent · self-servable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