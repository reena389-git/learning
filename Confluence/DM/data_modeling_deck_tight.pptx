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206240" cy="6858000"/>
          </a:xfrm>
          <a:prstGeom prst="rect">
            <a:avLst/>
          </a:prstGeom>
          <a:solidFill>
            <a:srgbClr val="176B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0"/>
            <a:ext cx="3474720" cy="457200"/>
          </a:xfrm>
          <a:prstGeom prst="rect">
            <a:avLst/>
          </a:prstGeom>
          <a:noFill/>
        </p:spPr>
        <p:txBody>
          <a:bodyPr wrap="square" lIns="45720" rIns="45720" tIns="18288" bIns="18288" anchor="t">
            <a:spAutoFit/>
          </a:bodyPr>
          <a:lstStyle/>
          <a:p>
            <a:pPr algn="l"/>
            <a:r>
              <a:rPr sz="2000" b="1" i="0">
                <a:solidFill>
                  <a:srgbClr val="E5F0DD"/>
                </a:solidFill>
                <a:latin typeface="Calibri"/>
              </a:rPr>
              <a:t>Risk Data</a:t>
            </a:r>
          </a:p>
        </p:txBody>
      </p:sp>
      <p:sp>
        <p:nvSpPr>
          <p:cNvPr id="4" name="TextBox 3"/>
          <p:cNvSpPr txBox="1"/>
          <p:nvPr/>
        </p:nvSpPr>
        <p:spPr>
          <a:xfrm>
            <a:off x="457200" y="2331720"/>
            <a:ext cx="3566160" cy="1554480"/>
          </a:xfrm>
          <a:prstGeom prst="rect">
            <a:avLst/>
          </a:prstGeom>
          <a:noFill/>
        </p:spPr>
        <p:txBody>
          <a:bodyPr wrap="square" lIns="45720" rIns="45720" tIns="18288" bIns="18288" anchor="t">
            <a:spAutoFit/>
          </a:bodyPr>
          <a:lstStyle/>
          <a:p>
            <a:pPr algn="l"/>
            <a:r>
              <a:rPr sz="4000" b="1" i="0">
                <a:solidFill>
                  <a:srgbClr val="FFFFFF"/>
                </a:solidFill>
                <a:latin typeface="Calibri"/>
              </a:rPr>
              <a:t>Data Modeling</a:t>
            </a:r>
          </a:p>
          <a:p>
            <a:pPr algn="l"/>
            <a:r>
              <a:rPr sz="4000" b="1" i="0">
                <a:solidFill>
                  <a:srgbClr val="FFFFFF"/>
                </a:solidFill>
                <a:latin typeface="Calibri"/>
              </a:rPr>
              <a:t>for Risk</a:t>
            </a:r>
          </a:p>
        </p:txBody>
      </p:sp>
      <p:sp>
        <p:nvSpPr>
          <p:cNvPr id="5" name="TextBox 4"/>
          <p:cNvSpPr txBox="1"/>
          <p:nvPr/>
        </p:nvSpPr>
        <p:spPr>
          <a:xfrm>
            <a:off x="457200" y="4114800"/>
            <a:ext cx="3474720" cy="1280160"/>
          </a:xfrm>
          <a:prstGeom prst="rect">
            <a:avLst/>
          </a:prstGeom>
          <a:noFill/>
        </p:spPr>
        <p:txBody>
          <a:bodyPr wrap="square" lIns="45720" rIns="45720" tIns="18288" bIns="18288" anchor="t">
            <a:spAutoFit/>
          </a:bodyPr>
          <a:lstStyle/>
          <a:p>
            <a:pPr algn="l"/>
            <a:r>
              <a:rPr sz="1500" b="0" i="1">
                <a:solidFill>
                  <a:srgbClr val="E5F0DD"/>
                </a:solidFill>
                <a:latin typeface="Calibri"/>
              </a:rPr>
              <a:t>A practical guide —</a:t>
            </a:r>
          </a:p>
          <a:p>
            <a:pPr algn="l"/>
            <a:r>
              <a:rPr sz="1500" b="0" i="1">
                <a:solidFill>
                  <a:srgbClr val="E5F0DD"/>
                </a:solidFill>
                <a:latin typeface="Calibri"/>
              </a:rPr>
              <a:t>from application reports</a:t>
            </a:r>
          </a:p>
          <a:p>
            <a:pPr algn="l"/>
            <a:r>
              <a:rPr sz="1500" b="0" i="1">
                <a:solidFill>
                  <a:srgbClr val="E5F0DD"/>
                </a:solidFill>
                <a:latin typeface="Calibri"/>
              </a:rPr>
              <a:t>to a connected model</a:t>
            </a:r>
          </a:p>
        </p:txBody>
      </p:sp>
      <p:sp>
        <p:nvSpPr>
          <p:cNvPr id="6" name="TextBox 5"/>
          <p:cNvSpPr txBox="1"/>
          <p:nvPr/>
        </p:nvSpPr>
        <p:spPr>
          <a:xfrm>
            <a:off x="4663440" y="1737360"/>
            <a:ext cx="7040880" cy="457200"/>
          </a:xfrm>
          <a:prstGeom prst="rect">
            <a:avLst/>
          </a:prstGeom>
          <a:noFill/>
        </p:spPr>
        <p:txBody>
          <a:bodyPr wrap="square" lIns="45720" rIns="45720" tIns="18288" bIns="18288" anchor="t">
            <a:spAutoFit/>
          </a:bodyPr>
          <a:lstStyle/>
          <a:p>
            <a:pPr algn="l"/>
            <a:r>
              <a:rPr sz="1800" b="1" i="0">
                <a:solidFill>
                  <a:srgbClr val="176B2C"/>
                </a:solidFill>
                <a:latin typeface="Calibri"/>
              </a:rPr>
              <a:t>What this is</a:t>
            </a:r>
          </a:p>
        </p:txBody>
      </p:sp>
      <p:sp>
        <p:nvSpPr>
          <p:cNvPr id="7" name="TextBox 6"/>
          <p:cNvSpPr txBox="1"/>
          <p:nvPr/>
        </p:nvSpPr>
        <p:spPr>
          <a:xfrm>
            <a:off x="4663440" y="2286000"/>
            <a:ext cx="7040880" cy="1828800"/>
          </a:xfrm>
          <a:prstGeom prst="rect">
            <a:avLst/>
          </a:prstGeom>
          <a:noFill/>
        </p:spPr>
        <p:txBody>
          <a:bodyPr wrap="square" lIns="45720" rIns="45720" tIns="18288" bIns="18288" anchor="t">
            <a:spAutoFit/>
          </a:bodyPr>
          <a:lstStyle/>
          <a:p>
            <a:pPr algn="l"/>
            <a:r>
              <a:rPr sz="1300" b="0" i="0">
                <a:solidFill>
                  <a:srgbClr val="333333"/>
                </a:solidFill>
                <a:latin typeface="Calibri"/>
              </a:rPr>
              <a:t>A walkthrough of how risk data moves from where it lives today — application reports and extracts — to where it needs to be: a connected, conformed model that an analytics platform and an enterprise CDM can rely on.</a:t>
            </a:r>
          </a:p>
          <a:p>
            <a:pPr algn="l"/>
            <a:r>
              <a:rPr sz="1300" b="0" i="0">
                <a:solidFill>
                  <a:srgbClr val="333333"/>
                </a:solidFill>
                <a:latin typeface="Calibri"/>
              </a:rPr>
              <a:t/>
            </a:r>
          </a:p>
          <a:p>
            <a:pPr algn="l"/>
            <a:r>
              <a:rPr sz="1300" b="0" i="0">
                <a:solidFill>
                  <a:srgbClr val="333333"/>
                </a:solidFill>
                <a:latin typeface="Calibri"/>
              </a:rPr>
              <a:t>The good news — you already have most of what you need. The work is to give structure to what is already there.</a:t>
            </a:r>
          </a:p>
        </p:txBody>
      </p:sp>
      <p:sp>
        <p:nvSpPr>
          <p:cNvPr id="8" name="TextBox 7"/>
          <p:cNvSpPr txBox="1"/>
          <p:nvPr/>
        </p:nvSpPr>
        <p:spPr>
          <a:xfrm>
            <a:off x="4663440" y="4297680"/>
            <a:ext cx="7040880" cy="365760"/>
          </a:xfrm>
          <a:prstGeom prst="rect">
            <a:avLst/>
          </a:prstGeom>
          <a:noFill/>
        </p:spPr>
        <p:txBody>
          <a:bodyPr wrap="square" lIns="45720" rIns="45720" tIns="18288" bIns="18288" anchor="t">
            <a:spAutoFit/>
          </a:bodyPr>
          <a:lstStyle/>
          <a:p>
            <a:pPr algn="l"/>
            <a:r>
              <a:rPr sz="1400" b="1" i="0">
                <a:solidFill>
                  <a:srgbClr val="176B2C"/>
                </a:solidFill>
                <a:latin typeface="Calibri"/>
              </a:rPr>
              <a:t>Who this is for</a:t>
            </a:r>
          </a:p>
        </p:txBody>
      </p:sp>
      <p:sp>
        <p:nvSpPr>
          <p:cNvPr id="9" name="TextBox 8"/>
          <p:cNvSpPr txBox="1"/>
          <p:nvPr/>
        </p:nvSpPr>
        <p:spPr>
          <a:xfrm>
            <a:off x="4663440" y="4617720"/>
            <a:ext cx="7040880" cy="914400"/>
          </a:xfrm>
          <a:prstGeom prst="rect">
            <a:avLst/>
          </a:prstGeom>
          <a:noFill/>
        </p:spPr>
        <p:txBody>
          <a:bodyPr wrap="square" lIns="45720" rIns="45720" tIns="18288" bIns="18288" anchor="t">
            <a:spAutoFit/>
          </a:bodyPr>
          <a:lstStyle/>
          <a:p>
            <a:pPr algn="l"/>
            <a:r>
              <a:rPr sz="1200" b="0" i="0">
                <a:solidFill>
                  <a:srgbClr val="333333"/>
                </a:solidFill>
                <a:latin typeface="Calibri"/>
              </a:rPr>
              <a:t>Application and data teams in risk — anyone whose system produces data that is consumed somewhere downstream. No prior data-modeling background needed.</a:t>
            </a:r>
          </a:p>
        </p:txBody>
      </p:sp>
      <p:sp>
        <p:nvSpPr>
          <p:cNvPr id="10" name="Rectangle 9"/>
          <p:cNvSpPr/>
          <p:nvPr/>
        </p:nvSpPr>
        <p:spPr>
          <a:xfrm>
            <a:off x="4663440" y="5440680"/>
            <a:ext cx="7040880" cy="640080"/>
          </a:xfrm>
          <a:prstGeom prst="rect">
            <a:avLst/>
          </a:prstGeom>
          <a:solidFill>
            <a:srgbClr val="E5F0DD"/>
          </a:solidFill>
          <a:ln w="1270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176B2C"/>
                </a:solidFill>
                <a:latin typeface="Calibri"/>
              </a:rPr>
              <a:t>Today — application reports     →     the artifacts in between     →     Tomorrow — a connected model</a:t>
            </a:r>
          </a:p>
        </p:txBody>
      </p:sp>
      <p:sp>
        <p:nvSpPr>
          <p:cNvPr id="11" name="TextBox 10"/>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i="1">
                <a:solidFill>
                  <a:srgbClr val="595959"/>
                </a:solidFill>
                <a:latin typeface="Calibri"/>
              </a:rPr>
              <a:t>Data Modeling for Risk — a practical guide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76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bIns="137160"/>
          <a:lstStyle/>
          <a:p>
            <a:pPr algn="l"/>
            <a:r>
              <a:rPr sz="2100" b="1" i="0">
                <a:solidFill>
                  <a:srgbClr val="FFFFFF"/>
                </a:solidFill>
                <a:latin typeface="Calibri"/>
              </a:rPr>
              <a:t>Risk Data — the shift we are making</a:t>
            </a:r>
          </a:p>
        </p:txBody>
      </p:sp>
      <p:sp>
        <p:nvSpPr>
          <p:cNvPr id="3" name="TextBox 2"/>
          <p:cNvSpPr txBox="1"/>
          <p:nvPr/>
        </p:nvSpPr>
        <p:spPr>
          <a:xfrm>
            <a:off x="274320" y="603504"/>
            <a:ext cx="11612880" cy="292608"/>
          </a:xfrm>
          <a:prstGeom prst="rect">
            <a:avLst/>
          </a:prstGeom>
          <a:noFill/>
        </p:spPr>
        <p:txBody>
          <a:bodyPr wrap="square" lIns="45720" rIns="45720" tIns="18288" bIns="18288" anchor="t">
            <a:spAutoFit/>
          </a:bodyPr>
          <a:lstStyle/>
          <a:p>
            <a:pPr algn="l"/>
            <a:r>
              <a:rPr sz="1200" b="0" i="1">
                <a:solidFill>
                  <a:srgbClr val="595959"/>
                </a:solidFill>
                <a:latin typeface="Calibri"/>
              </a:rPr>
              <a:t>From an application- and report-centric world to a connected model</a:t>
            </a:r>
          </a:p>
        </p:txBody>
      </p:sp>
      <p:sp>
        <p:nvSpPr>
          <p:cNvPr id="4" name="TextBox 3"/>
          <p:cNvSpPr txBox="1"/>
          <p:nvPr/>
        </p:nvSpPr>
        <p:spPr>
          <a:xfrm>
            <a:off x="365760" y="1051560"/>
            <a:ext cx="5486400" cy="365760"/>
          </a:xfrm>
          <a:prstGeom prst="rect">
            <a:avLst/>
          </a:prstGeom>
          <a:noFill/>
        </p:spPr>
        <p:txBody>
          <a:bodyPr wrap="square" lIns="45720" rIns="45720" tIns="18288" bIns="18288" anchor="t">
            <a:spAutoFit/>
          </a:bodyPr>
          <a:lstStyle/>
          <a:p>
            <a:pPr algn="l"/>
            <a:r>
              <a:rPr sz="1500" b="1" i="0">
                <a:solidFill>
                  <a:srgbClr val="882C1F"/>
                </a:solidFill>
                <a:latin typeface="Calibri"/>
              </a:rPr>
              <a:t>Today</a:t>
            </a:r>
          </a:p>
        </p:txBody>
      </p:sp>
      <p:sp>
        <p:nvSpPr>
          <p:cNvPr id="5" name="Rounded Rectangle 4"/>
          <p:cNvSpPr/>
          <p:nvPr/>
        </p:nvSpPr>
        <p:spPr>
          <a:xfrm>
            <a:off x="365760" y="1417320"/>
            <a:ext cx="5394960" cy="3291840"/>
          </a:xfrm>
          <a:prstGeom prst="roundRect">
            <a:avLst/>
          </a:prstGeom>
          <a:solidFill>
            <a:srgbClr val="FCE7E6"/>
          </a:solidFill>
          <a:ln w="15875">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600200"/>
            <a:ext cx="4937760" cy="3017520"/>
          </a:xfrm>
          <a:prstGeom prst="rect">
            <a:avLst/>
          </a:prstGeom>
          <a:noFill/>
        </p:spPr>
        <p:txBody>
          <a:bodyPr wrap="square" lIns="45720" rIns="45720" tIns="18288" bIns="18288">
            <a:spAutoFit/>
          </a:bodyPr>
          <a:lstStyle/>
          <a:p>
            <a:pPr algn="l">
              <a:spcAft>
                <a:spcPts val="600"/>
              </a:spcAft>
            </a:pPr>
            <a:r>
              <a:rPr sz="1200" b="1" i="0">
                <a:solidFill>
                  <a:srgbClr val="882C1F"/>
                </a:solidFill>
                <a:latin typeface="Calibri"/>
              </a:rPr>
              <a:t>Each application produces its own reports and extracts.</a:t>
            </a:r>
          </a:p>
          <a:p>
            <a:pPr algn="l">
              <a:spcAft>
                <a:spcPts val="400"/>
              </a:spcAft>
            </a:pPr>
            <a:r>
              <a:rPr sz="1100" b="0" i="0">
                <a:solidFill>
                  <a:srgbClr val="333333"/>
                </a:solidFill>
                <a:latin typeface="Calibri"/>
              </a:rPr>
              <a:t>• Data is shaped around one application, one use case</a:t>
            </a:r>
          </a:p>
          <a:p>
            <a:pPr algn="l">
              <a:spcAft>
                <a:spcPts val="400"/>
              </a:spcAft>
            </a:pPr>
            <a:r>
              <a:rPr sz="1100" b="0" i="0">
                <a:solidFill>
                  <a:srgbClr val="333333"/>
                </a:solidFill>
                <a:latin typeface="Calibri"/>
              </a:rPr>
              <a:t>• Distributed as CSV files and JSON / API extracts</a:t>
            </a:r>
          </a:p>
          <a:p>
            <a:pPr algn="l">
              <a:spcAft>
                <a:spcPts val="400"/>
              </a:spcAft>
            </a:pPr>
            <a:r>
              <a:rPr sz="1100" b="0" i="0">
                <a:solidFill>
                  <a:srgbClr val="333333"/>
                </a:solidFill>
                <a:latin typeface="Calibri"/>
              </a:rPr>
              <a:t>• No shared schema, no shared definitions</a:t>
            </a:r>
          </a:p>
          <a:p>
            <a:pPr algn="l">
              <a:spcAft>
                <a:spcPts val="400"/>
              </a:spcAft>
            </a:pPr>
            <a:r>
              <a:rPr sz="1100" b="0" i="0">
                <a:solidFill>
                  <a:srgbClr val="333333"/>
                </a:solidFill>
                <a:latin typeface="Calibri"/>
              </a:rPr>
              <a:t>• The same business concept is named differently in each system</a:t>
            </a:r>
          </a:p>
          <a:p>
            <a:pPr algn="l">
              <a:spcAft>
                <a:spcPts val="400"/>
              </a:spcAft>
            </a:pPr>
            <a:r>
              <a:rPr sz="1100" b="0" i="0">
                <a:solidFill>
                  <a:srgbClr val="333333"/>
                </a:solidFill>
                <a:latin typeface="Calibri"/>
              </a:rPr>
              <a:t>• Every new question goes back to a developer</a:t>
            </a:r>
          </a:p>
          <a:p>
            <a:pPr algn="l">
              <a:spcAft>
                <a:spcPts val="400"/>
              </a:spcAft>
            </a:pPr>
            <a:r>
              <a:rPr sz="1100" b="0" i="0">
                <a:solidFill>
                  <a:srgbClr val="333333"/>
                </a:solidFill>
                <a:latin typeface="Calibri"/>
              </a:rPr>
              <a:t>• Hard to join across applications — answers are not trusted</a:t>
            </a:r>
          </a:p>
        </p:txBody>
      </p:sp>
      <p:sp>
        <p:nvSpPr>
          <p:cNvPr id="7" name="TextBox 6"/>
          <p:cNvSpPr txBox="1"/>
          <p:nvPr/>
        </p:nvSpPr>
        <p:spPr>
          <a:xfrm>
            <a:off x="6400800" y="1051560"/>
            <a:ext cx="5486400" cy="365760"/>
          </a:xfrm>
          <a:prstGeom prst="rect">
            <a:avLst/>
          </a:prstGeom>
          <a:noFill/>
        </p:spPr>
        <p:txBody>
          <a:bodyPr wrap="square" lIns="45720" rIns="45720" tIns="18288" bIns="18288" anchor="t">
            <a:spAutoFit/>
          </a:bodyPr>
          <a:lstStyle/>
          <a:p>
            <a:pPr algn="l"/>
            <a:r>
              <a:rPr sz="1500" b="1" i="0">
                <a:solidFill>
                  <a:srgbClr val="176B2C"/>
                </a:solidFill>
                <a:latin typeface="Calibri"/>
              </a:rPr>
              <a:t>Tomorrow</a:t>
            </a:r>
          </a:p>
        </p:txBody>
      </p:sp>
      <p:sp>
        <p:nvSpPr>
          <p:cNvPr id="8" name="Rounded Rectangle 7"/>
          <p:cNvSpPr/>
          <p:nvPr/>
        </p:nvSpPr>
        <p:spPr>
          <a:xfrm>
            <a:off x="6400800" y="1417320"/>
            <a:ext cx="5394960" cy="3291840"/>
          </a:xfrm>
          <a:prstGeom prst="roundRect">
            <a:avLst/>
          </a:prstGeom>
          <a:solidFill>
            <a:srgbClr val="E5F0DD"/>
          </a:solidFill>
          <a:ln w="15875">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1600200"/>
            <a:ext cx="4937760" cy="3017520"/>
          </a:xfrm>
          <a:prstGeom prst="rect">
            <a:avLst/>
          </a:prstGeom>
          <a:noFill/>
        </p:spPr>
        <p:txBody>
          <a:bodyPr wrap="square" lIns="45720" rIns="45720" tIns="18288" bIns="18288">
            <a:spAutoFit/>
          </a:bodyPr>
          <a:lstStyle/>
          <a:p>
            <a:pPr algn="l">
              <a:spcAft>
                <a:spcPts val="600"/>
              </a:spcAft>
            </a:pPr>
            <a:r>
              <a:rPr sz="1200" b="1" i="0">
                <a:solidFill>
                  <a:srgbClr val="176B2C"/>
                </a:solidFill>
                <a:latin typeface="Calibri"/>
              </a:rPr>
              <a:t>A connected, conformed model the whole bank can rely on.</a:t>
            </a:r>
          </a:p>
          <a:p>
            <a:pPr algn="l">
              <a:spcAft>
                <a:spcPts val="400"/>
              </a:spcAft>
            </a:pPr>
            <a:r>
              <a:rPr sz="1100" b="0" i="0">
                <a:solidFill>
                  <a:srgbClr val="333333"/>
                </a:solidFill>
                <a:latin typeface="Calibri"/>
              </a:rPr>
              <a:t>• Entities defined once, used consistently across applications</a:t>
            </a:r>
          </a:p>
          <a:p>
            <a:pPr algn="l">
              <a:spcAft>
                <a:spcPts val="400"/>
              </a:spcAft>
            </a:pPr>
            <a:r>
              <a:rPr sz="1100" b="0" i="0">
                <a:solidFill>
                  <a:srgbClr val="333333"/>
                </a:solidFill>
                <a:latin typeface="Calibri"/>
              </a:rPr>
              <a:t>• A dimensional model an analytics platform can query directly</a:t>
            </a:r>
          </a:p>
          <a:p>
            <a:pPr algn="l">
              <a:spcAft>
                <a:spcPts val="400"/>
              </a:spcAft>
            </a:pPr>
            <a:r>
              <a:rPr sz="1100" b="0" i="0">
                <a:solidFill>
                  <a:srgbClr val="333333"/>
                </a:solidFill>
                <a:latin typeface="Calibri"/>
              </a:rPr>
              <a:t>• A canonical model that feeds the enterprise CDM</a:t>
            </a:r>
          </a:p>
          <a:p>
            <a:pPr algn="l">
              <a:spcAft>
                <a:spcPts val="400"/>
              </a:spcAft>
            </a:pPr>
            <a:r>
              <a:rPr sz="1100" b="0" i="0">
                <a:solidFill>
                  <a:srgbClr val="333333"/>
                </a:solidFill>
                <a:latin typeface="Calibri"/>
              </a:rPr>
              <a:t>• Governed data products with contracts, lineage, ownership</a:t>
            </a:r>
          </a:p>
          <a:p>
            <a:pPr algn="l">
              <a:spcAft>
                <a:spcPts val="400"/>
              </a:spcAft>
            </a:pPr>
            <a:r>
              <a:rPr sz="1100" b="0" i="0">
                <a:solidFill>
                  <a:srgbClr val="333333"/>
                </a:solidFill>
                <a:latin typeface="Calibri"/>
              </a:rPr>
              <a:t>• The business self-serves — fewer questions back to developers</a:t>
            </a:r>
          </a:p>
          <a:p>
            <a:pPr algn="l">
              <a:spcAft>
                <a:spcPts val="400"/>
              </a:spcAft>
            </a:pPr>
            <a:r>
              <a:rPr sz="1100" b="0" i="0">
                <a:solidFill>
                  <a:srgbClr val="333333"/>
                </a:solidFill>
                <a:latin typeface="Calibri"/>
              </a:rPr>
              <a:t>• Cross-application joins reconcile cleanly — answers are trusted</a:t>
            </a:r>
          </a:p>
        </p:txBody>
      </p:sp>
      <p:cxnSp>
        <p:nvCxnSpPr>
          <p:cNvPr id="10" name="Connector 9"/>
          <p:cNvCxnSpPr/>
          <p:nvPr/>
        </p:nvCxnSpPr>
        <p:spPr>
          <a:xfrm>
            <a:off x="5806440" y="3063240"/>
            <a:ext cx="548640" cy="0"/>
          </a:xfrm>
          <a:prstGeom prst="line">
            <a:avLst/>
          </a:prstGeom>
          <a:ln w="38100">
            <a:solidFill>
              <a:srgbClr val="176B2C"/>
            </a:solidFill>
            <a:tailEnd type="triangle" w="med" h="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65760" y="4937760"/>
            <a:ext cx="11430000" cy="1280160"/>
          </a:xfrm>
          <a:prstGeom prst="rect">
            <a:avLst/>
          </a:prstGeom>
          <a:solidFill>
            <a:srgbClr val="FFE9C2"/>
          </a:solidFill>
          <a:ln w="15875">
            <a:solidFill>
              <a:srgbClr val="B46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5029200"/>
            <a:ext cx="10972800" cy="365760"/>
          </a:xfrm>
          <a:prstGeom prst="rect">
            <a:avLst/>
          </a:prstGeom>
          <a:noFill/>
        </p:spPr>
        <p:txBody>
          <a:bodyPr wrap="square" lIns="45720" rIns="45720" tIns="18288" bIns="18288" anchor="t">
            <a:spAutoFit/>
          </a:bodyPr>
          <a:lstStyle/>
          <a:p>
            <a:pPr algn="l"/>
            <a:r>
              <a:rPr sz="1300" b="1" i="0">
                <a:solidFill>
                  <a:srgbClr val="B46F18"/>
                </a:solidFill>
                <a:latin typeface="Calibri"/>
              </a:rPr>
              <a:t>What sits in between — the artifacts this deck walks through</a:t>
            </a:r>
          </a:p>
        </p:txBody>
      </p:sp>
      <p:sp>
        <p:nvSpPr>
          <p:cNvPr id="13" name="TextBox 12"/>
          <p:cNvSpPr txBox="1"/>
          <p:nvPr/>
        </p:nvSpPr>
        <p:spPr>
          <a:xfrm>
            <a:off x="594360" y="5394960"/>
            <a:ext cx="10972800" cy="777240"/>
          </a:xfrm>
          <a:prstGeom prst="rect">
            <a:avLst/>
          </a:prstGeom>
          <a:noFill/>
        </p:spPr>
        <p:txBody>
          <a:bodyPr wrap="square" lIns="45720" rIns="45720" tIns="18288" bIns="18288">
            <a:spAutoFit/>
          </a:bodyPr>
          <a:lstStyle/>
          <a:p>
            <a:pPr algn="l"/>
            <a:r>
              <a:rPr sz="1200" b="0" i="0">
                <a:solidFill>
                  <a:srgbClr val="333333"/>
                </a:solidFill>
                <a:latin typeface="Calibri"/>
              </a:rPr>
              <a:t>A dimensional model derived from today's reports  ·  conformed entities  ·  a canonical model from the domain extract  ·  a data contract that ties it together</a:t>
            </a:r>
          </a:p>
          <a:p>
            <a:pPr algn="l">
              <a:spcBef>
                <a:spcPts val="400"/>
              </a:spcBef>
            </a:pPr>
            <a:r>
              <a:rPr sz="1100" b="0" i="1">
                <a:solidFill>
                  <a:srgbClr val="595959"/>
                </a:solidFill>
                <a:latin typeface="Calibri"/>
              </a:rPr>
              <a:t>None of this is a rebuild. Each artifact gives structure to data the applications already produce.</a:t>
            </a:r>
          </a:p>
        </p:txBody>
      </p:sp>
      <p:sp>
        <p:nvSpPr>
          <p:cNvPr id="14" name="TextBox 13"/>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i="1">
                <a:solidFill>
                  <a:srgbClr val="595959"/>
                </a:solidFill>
                <a:latin typeface="Calibri"/>
              </a:rPr>
              <a:t>Data Modeling for Risk — a practical guide</a:t>
            </a:r>
          </a:p>
        </p:txBody>
      </p:sp>
      <p:sp>
        <p:nvSpPr>
          <p:cNvPr id="15" name="TextBox 14"/>
          <p:cNvSpPr txBox="1"/>
          <p:nvPr/>
        </p:nvSpPr>
        <p:spPr>
          <a:xfrm>
            <a:off x="11338560" y="6537960"/>
            <a:ext cx="731520" cy="274320"/>
          </a:xfrm>
          <a:prstGeom prst="rect">
            <a:avLst/>
          </a:prstGeom>
          <a:noFill/>
        </p:spPr>
        <p:txBody>
          <a:bodyPr wrap="square" lIns="45720" rIns="45720" tIns="18288" bIns="18288" anchor="t">
            <a:spAutoFit/>
          </a:bodyPr>
          <a:lstStyle/>
          <a:p>
            <a:pPr algn="r"/>
            <a:r>
              <a:rPr sz="900" b="0" i="0">
                <a:solidFill>
                  <a:srgbClr val="595959"/>
                </a:solidFill>
                <a:latin typeface="Calibri"/>
              </a:rPr>
              <a:t>2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76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bIns="137160"/>
          <a:lstStyle/>
          <a:p>
            <a:pPr algn="l"/>
            <a:r>
              <a:rPr sz="2100" b="1" i="0">
                <a:solidFill>
                  <a:srgbClr val="FFFFFF"/>
                </a:solidFill>
                <a:latin typeface="Calibri"/>
              </a:rPr>
              <a:t>Application-Centric Reports — the starting point</a:t>
            </a:r>
          </a:p>
        </p:txBody>
      </p:sp>
      <p:sp>
        <p:nvSpPr>
          <p:cNvPr id="3" name="TextBox 2"/>
          <p:cNvSpPr txBox="1"/>
          <p:nvPr/>
        </p:nvSpPr>
        <p:spPr>
          <a:xfrm>
            <a:off x="274320" y="603504"/>
            <a:ext cx="11612880" cy="292608"/>
          </a:xfrm>
          <a:prstGeom prst="rect">
            <a:avLst/>
          </a:prstGeom>
          <a:noFill/>
        </p:spPr>
        <p:txBody>
          <a:bodyPr wrap="square" lIns="45720" rIns="45720" tIns="18288" bIns="18288" anchor="t">
            <a:spAutoFit/>
          </a:bodyPr>
          <a:lstStyle/>
          <a:p>
            <a:pPr algn="l"/>
            <a:r>
              <a:rPr sz="1200" b="0" i="1">
                <a:solidFill>
                  <a:srgbClr val="595959"/>
                </a:solidFill>
                <a:latin typeface="Calibri"/>
              </a:rPr>
              <a:t>Using collateral (CMOS) as the worked example throughout this deck</a:t>
            </a:r>
          </a:p>
        </p:txBody>
      </p:sp>
      <p:sp>
        <p:nvSpPr>
          <p:cNvPr id="4" name="TextBox 3"/>
          <p:cNvSpPr txBox="1"/>
          <p:nvPr/>
        </p:nvSpPr>
        <p:spPr>
          <a:xfrm>
            <a:off x="365760" y="1005840"/>
            <a:ext cx="11430000" cy="411480"/>
          </a:xfrm>
          <a:prstGeom prst="rect">
            <a:avLst/>
          </a:prstGeom>
          <a:noFill/>
        </p:spPr>
        <p:txBody>
          <a:bodyPr wrap="square" lIns="45720" rIns="45720" tIns="18288" bIns="18288" anchor="t">
            <a:spAutoFit/>
          </a:bodyPr>
          <a:lstStyle/>
          <a:p>
            <a:pPr algn="l"/>
            <a:r>
              <a:rPr sz="1200" b="0" i="0">
                <a:solidFill>
                  <a:srgbClr val="333333"/>
                </a:solidFill>
                <a:latin typeface="Calibri"/>
              </a:rPr>
              <a:t>Today, the collateral application produces its data as a set of reports and an extract:</a:t>
            </a:r>
          </a:p>
        </p:txBody>
      </p:sp>
      <p:sp>
        <p:nvSpPr>
          <p:cNvPr id="5" name="Rounded Rectangle 4"/>
          <p:cNvSpPr/>
          <p:nvPr/>
        </p:nvSpPr>
        <p:spPr>
          <a:xfrm>
            <a:off x="365760" y="1463040"/>
            <a:ext cx="2148840" cy="1371600"/>
          </a:xfrm>
          <a:prstGeom prst="roundRect">
            <a:avLst/>
          </a:prstGeom>
          <a:solidFill>
            <a:srgbClr val="FCE7E6"/>
          </a:solidFill>
          <a:ln w="15875">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572768"/>
            <a:ext cx="2148840" cy="320040"/>
          </a:xfrm>
          <a:prstGeom prst="rect">
            <a:avLst/>
          </a:prstGeom>
          <a:noFill/>
        </p:spPr>
        <p:txBody>
          <a:bodyPr wrap="square" lIns="45720" rIns="45720" tIns="18288" bIns="18288" anchor="t">
            <a:spAutoFit/>
          </a:bodyPr>
          <a:lstStyle/>
          <a:p>
            <a:pPr algn="ctr"/>
            <a:r>
              <a:rPr sz="1200" b="1" i="0">
                <a:solidFill>
                  <a:srgbClr val="882C1F"/>
                </a:solidFill>
                <a:latin typeface="Calibri"/>
              </a:rPr>
              <a:t>Daily Exposure</a:t>
            </a:r>
          </a:p>
        </p:txBody>
      </p:sp>
      <p:sp>
        <p:nvSpPr>
          <p:cNvPr id="7" name="TextBox 6"/>
          <p:cNvSpPr txBox="1"/>
          <p:nvPr/>
        </p:nvSpPr>
        <p:spPr>
          <a:xfrm>
            <a:off x="365760" y="1920240"/>
            <a:ext cx="2148840" cy="548640"/>
          </a:xfrm>
          <a:prstGeom prst="rect">
            <a:avLst/>
          </a:prstGeom>
          <a:noFill/>
        </p:spPr>
        <p:txBody>
          <a:bodyPr wrap="square" lIns="45720" rIns="45720" tIns="18288" bIns="18288" anchor="t">
            <a:spAutoFit/>
          </a:bodyPr>
          <a:lstStyle/>
          <a:p>
            <a:pPr algn="ctr"/>
            <a:r>
              <a:rPr sz="1000" b="0" i="0">
                <a:solidFill>
                  <a:srgbClr val="333333"/>
                </a:solidFill>
                <a:latin typeface="Calibri"/>
              </a:rPr>
              <a:t>margin call events</a:t>
            </a:r>
          </a:p>
        </p:txBody>
      </p:sp>
      <p:sp>
        <p:nvSpPr>
          <p:cNvPr id="8" name="Rounded Rectangle 7"/>
          <p:cNvSpPr/>
          <p:nvPr/>
        </p:nvSpPr>
        <p:spPr>
          <a:xfrm>
            <a:off x="868680" y="2450592"/>
            <a:ext cx="1143000" cy="274320"/>
          </a:xfrm>
          <a:prstGeom prst="roundRect">
            <a:avLst/>
          </a:prstGeom>
          <a:solidFill>
            <a:srgbClr val="FFFFFF"/>
          </a:solidFill>
          <a:ln w="9525">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900" b="1" i="0">
                <a:solidFill>
                  <a:srgbClr val="882C1F"/>
                </a:solidFill>
                <a:latin typeface="Calibri"/>
              </a:rPr>
              <a:t>CSV</a:t>
            </a:r>
          </a:p>
        </p:txBody>
      </p:sp>
      <p:sp>
        <p:nvSpPr>
          <p:cNvPr id="9" name="Rounded Rectangle 8"/>
          <p:cNvSpPr/>
          <p:nvPr/>
        </p:nvSpPr>
        <p:spPr>
          <a:xfrm>
            <a:off x="2660904" y="1463040"/>
            <a:ext cx="2148840" cy="1371600"/>
          </a:xfrm>
          <a:prstGeom prst="roundRect">
            <a:avLst/>
          </a:prstGeom>
          <a:solidFill>
            <a:srgbClr val="FCE7E6"/>
          </a:solidFill>
          <a:ln w="15875">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60904" y="1572768"/>
            <a:ext cx="2148840" cy="320040"/>
          </a:xfrm>
          <a:prstGeom prst="rect">
            <a:avLst/>
          </a:prstGeom>
          <a:noFill/>
        </p:spPr>
        <p:txBody>
          <a:bodyPr wrap="square" lIns="45720" rIns="45720" tIns="18288" bIns="18288" anchor="t">
            <a:spAutoFit/>
          </a:bodyPr>
          <a:lstStyle/>
          <a:p>
            <a:pPr algn="ctr"/>
            <a:r>
              <a:rPr sz="1200" b="1" i="0">
                <a:solidFill>
                  <a:srgbClr val="882C1F"/>
                </a:solidFill>
                <a:latin typeface="Calibri"/>
              </a:rPr>
              <a:t>Disputes</a:t>
            </a:r>
          </a:p>
        </p:txBody>
      </p:sp>
      <p:sp>
        <p:nvSpPr>
          <p:cNvPr id="11" name="TextBox 10"/>
          <p:cNvSpPr txBox="1"/>
          <p:nvPr/>
        </p:nvSpPr>
        <p:spPr>
          <a:xfrm>
            <a:off x="2660904" y="1920240"/>
            <a:ext cx="2148840" cy="548640"/>
          </a:xfrm>
          <a:prstGeom prst="rect">
            <a:avLst/>
          </a:prstGeom>
          <a:noFill/>
        </p:spPr>
        <p:txBody>
          <a:bodyPr wrap="square" lIns="45720" rIns="45720" tIns="18288" bIns="18288" anchor="t">
            <a:spAutoFit/>
          </a:bodyPr>
          <a:lstStyle/>
          <a:p>
            <a:pPr algn="ctr"/>
            <a:r>
              <a:rPr sz="1000" b="0" i="0">
                <a:solidFill>
                  <a:srgbClr val="333333"/>
                </a:solidFill>
                <a:latin typeface="Calibri"/>
              </a:rPr>
              <a:t>open &amp; resolved disputes</a:t>
            </a:r>
          </a:p>
        </p:txBody>
      </p:sp>
      <p:sp>
        <p:nvSpPr>
          <p:cNvPr id="12" name="Rounded Rectangle 11"/>
          <p:cNvSpPr/>
          <p:nvPr/>
        </p:nvSpPr>
        <p:spPr>
          <a:xfrm>
            <a:off x="3163824" y="2450592"/>
            <a:ext cx="1143000" cy="274320"/>
          </a:xfrm>
          <a:prstGeom prst="roundRect">
            <a:avLst/>
          </a:prstGeom>
          <a:solidFill>
            <a:srgbClr val="FFFFFF"/>
          </a:solidFill>
          <a:ln w="9525">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900" b="1" i="0">
                <a:solidFill>
                  <a:srgbClr val="882C1F"/>
                </a:solidFill>
                <a:latin typeface="Calibri"/>
              </a:rPr>
              <a:t>CSV</a:t>
            </a:r>
          </a:p>
        </p:txBody>
      </p:sp>
      <p:sp>
        <p:nvSpPr>
          <p:cNvPr id="13" name="Rounded Rectangle 12"/>
          <p:cNvSpPr/>
          <p:nvPr/>
        </p:nvSpPr>
        <p:spPr>
          <a:xfrm>
            <a:off x="4956048" y="1463040"/>
            <a:ext cx="2148840" cy="1371600"/>
          </a:xfrm>
          <a:prstGeom prst="roundRect">
            <a:avLst/>
          </a:prstGeom>
          <a:solidFill>
            <a:srgbClr val="FCE7E6"/>
          </a:solidFill>
          <a:ln w="15875">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56048" y="1572768"/>
            <a:ext cx="2148840" cy="320040"/>
          </a:xfrm>
          <a:prstGeom prst="rect">
            <a:avLst/>
          </a:prstGeom>
          <a:noFill/>
        </p:spPr>
        <p:txBody>
          <a:bodyPr wrap="square" lIns="45720" rIns="45720" tIns="18288" bIns="18288" anchor="t">
            <a:spAutoFit/>
          </a:bodyPr>
          <a:lstStyle/>
          <a:p>
            <a:pPr algn="ctr"/>
            <a:r>
              <a:rPr sz="1200" b="1" i="0">
                <a:solidFill>
                  <a:srgbClr val="882C1F"/>
                </a:solidFill>
                <a:latin typeface="Calibri"/>
              </a:rPr>
              <a:t>Settlements</a:t>
            </a:r>
          </a:p>
        </p:txBody>
      </p:sp>
      <p:sp>
        <p:nvSpPr>
          <p:cNvPr id="15" name="TextBox 14"/>
          <p:cNvSpPr txBox="1"/>
          <p:nvPr/>
        </p:nvSpPr>
        <p:spPr>
          <a:xfrm>
            <a:off x="4956048" y="1920240"/>
            <a:ext cx="2148840" cy="548640"/>
          </a:xfrm>
          <a:prstGeom prst="rect">
            <a:avLst/>
          </a:prstGeom>
          <a:noFill/>
        </p:spPr>
        <p:txBody>
          <a:bodyPr wrap="square" lIns="45720" rIns="45720" tIns="18288" bIns="18288" anchor="t">
            <a:spAutoFit/>
          </a:bodyPr>
          <a:lstStyle/>
          <a:p>
            <a:pPr algn="ctr"/>
            <a:r>
              <a:rPr sz="1000" b="0" i="0">
                <a:solidFill>
                  <a:srgbClr val="333333"/>
                </a:solidFill>
                <a:latin typeface="Calibri"/>
              </a:rPr>
              <a:t>settlement instructions</a:t>
            </a:r>
          </a:p>
        </p:txBody>
      </p:sp>
      <p:sp>
        <p:nvSpPr>
          <p:cNvPr id="16" name="Rounded Rectangle 15"/>
          <p:cNvSpPr/>
          <p:nvPr/>
        </p:nvSpPr>
        <p:spPr>
          <a:xfrm>
            <a:off x="5458968" y="2450592"/>
            <a:ext cx="1143000" cy="274320"/>
          </a:xfrm>
          <a:prstGeom prst="roundRect">
            <a:avLst/>
          </a:prstGeom>
          <a:solidFill>
            <a:srgbClr val="FFFFFF"/>
          </a:solidFill>
          <a:ln w="9525">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900" b="1" i="0">
                <a:solidFill>
                  <a:srgbClr val="882C1F"/>
                </a:solidFill>
                <a:latin typeface="Calibri"/>
              </a:rPr>
              <a:t>CSV</a:t>
            </a:r>
          </a:p>
        </p:txBody>
      </p:sp>
      <p:sp>
        <p:nvSpPr>
          <p:cNvPr id="17" name="Rounded Rectangle 16"/>
          <p:cNvSpPr/>
          <p:nvPr/>
        </p:nvSpPr>
        <p:spPr>
          <a:xfrm>
            <a:off x="7251192" y="1463040"/>
            <a:ext cx="2148840" cy="1371600"/>
          </a:xfrm>
          <a:prstGeom prst="roundRect">
            <a:avLst/>
          </a:prstGeom>
          <a:solidFill>
            <a:srgbClr val="FCE7E6"/>
          </a:solidFill>
          <a:ln w="15875">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51192" y="1572768"/>
            <a:ext cx="2148840" cy="320040"/>
          </a:xfrm>
          <a:prstGeom prst="rect">
            <a:avLst/>
          </a:prstGeom>
          <a:noFill/>
        </p:spPr>
        <p:txBody>
          <a:bodyPr wrap="square" lIns="45720" rIns="45720" tIns="18288" bIns="18288" anchor="t">
            <a:spAutoFit/>
          </a:bodyPr>
          <a:lstStyle/>
          <a:p>
            <a:pPr algn="ctr"/>
            <a:r>
              <a:rPr sz="1200" b="1" i="0">
                <a:solidFill>
                  <a:srgbClr val="882C1F"/>
                </a:solidFill>
                <a:latin typeface="Calibri"/>
              </a:rPr>
              <a:t>Trades</a:t>
            </a:r>
          </a:p>
        </p:txBody>
      </p:sp>
      <p:sp>
        <p:nvSpPr>
          <p:cNvPr id="19" name="TextBox 18"/>
          <p:cNvSpPr txBox="1"/>
          <p:nvPr/>
        </p:nvSpPr>
        <p:spPr>
          <a:xfrm>
            <a:off x="7251192" y="1920240"/>
            <a:ext cx="2148840" cy="548640"/>
          </a:xfrm>
          <a:prstGeom prst="rect">
            <a:avLst/>
          </a:prstGeom>
          <a:noFill/>
        </p:spPr>
        <p:txBody>
          <a:bodyPr wrap="square" lIns="45720" rIns="45720" tIns="18288" bIns="18288" anchor="t">
            <a:spAutoFit/>
          </a:bodyPr>
          <a:lstStyle/>
          <a:p>
            <a:pPr algn="ctr"/>
            <a:r>
              <a:rPr sz="1000" b="0" i="0">
                <a:solidFill>
                  <a:srgbClr val="333333"/>
                </a:solidFill>
                <a:latin typeface="Calibri"/>
              </a:rPr>
              <a:t>trade-level detail</a:t>
            </a:r>
          </a:p>
        </p:txBody>
      </p:sp>
      <p:sp>
        <p:nvSpPr>
          <p:cNvPr id="20" name="Rounded Rectangle 19"/>
          <p:cNvSpPr/>
          <p:nvPr/>
        </p:nvSpPr>
        <p:spPr>
          <a:xfrm>
            <a:off x="7754112" y="2450592"/>
            <a:ext cx="1143000" cy="274320"/>
          </a:xfrm>
          <a:prstGeom prst="roundRect">
            <a:avLst/>
          </a:prstGeom>
          <a:solidFill>
            <a:srgbClr val="FFFFFF"/>
          </a:solidFill>
          <a:ln w="9525">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900" b="1" i="0">
                <a:solidFill>
                  <a:srgbClr val="882C1F"/>
                </a:solidFill>
                <a:latin typeface="Calibri"/>
              </a:rPr>
              <a:t>CSV</a:t>
            </a:r>
          </a:p>
        </p:txBody>
      </p:sp>
      <p:sp>
        <p:nvSpPr>
          <p:cNvPr id="21" name="Rounded Rectangle 20"/>
          <p:cNvSpPr/>
          <p:nvPr/>
        </p:nvSpPr>
        <p:spPr>
          <a:xfrm>
            <a:off x="9546336" y="1463040"/>
            <a:ext cx="2148840" cy="1371600"/>
          </a:xfrm>
          <a:prstGeom prst="roundRect">
            <a:avLst/>
          </a:prstGeom>
          <a:solidFill>
            <a:srgbClr val="D9E8F5"/>
          </a:solidFill>
          <a:ln w="15875">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46336" y="1572768"/>
            <a:ext cx="2148840" cy="320040"/>
          </a:xfrm>
          <a:prstGeom prst="rect">
            <a:avLst/>
          </a:prstGeom>
          <a:noFill/>
        </p:spPr>
        <p:txBody>
          <a:bodyPr wrap="square" lIns="45720" rIns="45720" tIns="18288" bIns="18288" anchor="t">
            <a:spAutoFit/>
          </a:bodyPr>
          <a:lstStyle/>
          <a:p>
            <a:pPr algn="ctr"/>
            <a:r>
              <a:rPr sz="1200" b="1" i="0">
                <a:solidFill>
                  <a:srgbClr val="5B9BD5"/>
                </a:solidFill>
                <a:latin typeface="Calibri"/>
              </a:rPr>
              <a:t>Collateral Domain</a:t>
            </a:r>
          </a:p>
        </p:txBody>
      </p:sp>
      <p:sp>
        <p:nvSpPr>
          <p:cNvPr id="23" name="TextBox 22"/>
          <p:cNvSpPr txBox="1"/>
          <p:nvPr/>
        </p:nvSpPr>
        <p:spPr>
          <a:xfrm>
            <a:off x="9546336" y="1920240"/>
            <a:ext cx="2148840" cy="548640"/>
          </a:xfrm>
          <a:prstGeom prst="rect">
            <a:avLst/>
          </a:prstGeom>
          <a:noFill/>
        </p:spPr>
        <p:txBody>
          <a:bodyPr wrap="square" lIns="45720" rIns="45720" tIns="18288" bIns="18288" anchor="t">
            <a:spAutoFit/>
          </a:bodyPr>
          <a:lstStyle/>
          <a:p>
            <a:pPr algn="ctr"/>
            <a:r>
              <a:rPr sz="1000" b="0" i="0">
                <a:solidFill>
                  <a:srgbClr val="333333"/>
                </a:solidFill>
                <a:latin typeface="Calibri"/>
              </a:rPr>
              <a:t>nested entities + TAMS data</a:t>
            </a:r>
          </a:p>
        </p:txBody>
      </p:sp>
      <p:sp>
        <p:nvSpPr>
          <p:cNvPr id="24" name="Rounded Rectangle 23"/>
          <p:cNvSpPr/>
          <p:nvPr/>
        </p:nvSpPr>
        <p:spPr>
          <a:xfrm>
            <a:off x="10049256" y="2450592"/>
            <a:ext cx="1143000" cy="274320"/>
          </a:xfrm>
          <a:prstGeom prst="roundRect">
            <a:avLst/>
          </a:prstGeom>
          <a:solidFill>
            <a:srgbClr val="FFFFFF"/>
          </a:solidFill>
          <a:ln w="9525">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900" b="1" i="0">
                <a:solidFill>
                  <a:srgbClr val="5B9BD5"/>
                </a:solidFill>
                <a:latin typeface="Calibri"/>
              </a:rPr>
              <a:t>JSON / API</a:t>
            </a:r>
          </a:p>
        </p:txBody>
      </p:sp>
      <p:sp>
        <p:nvSpPr>
          <p:cNvPr id="25" name="TextBox 24"/>
          <p:cNvSpPr txBox="1"/>
          <p:nvPr/>
        </p:nvSpPr>
        <p:spPr>
          <a:xfrm>
            <a:off x="365760" y="3063240"/>
            <a:ext cx="5669280" cy="365760"/>
          </a:xfrm>
          <a:prstGeom prst="rect">
            <a:avLst/>
          </a:prstGeom>
          <a:noFill/>
        </p:spPr>
        <p:txBody>
          <a:bodyPr wrap="square" lIns="45720" rIns="45720" tIns="18288" bIns="18288" anchor="t">
            <a:spAutoFit/>
          </a:bodyPr>
          <a:lstStyle/>
          <a:p>
            <a:pPr algn="l"/>
            <a:r>
              <a:rPr sz="1300" b="1" i="0">
                <a:solidFill>
                  <a:srgbClr val="176B2C"/>
                </a:solidFill>
                <a:latin typeface="Calibri"/>
              </a:rPr>
              <a:t>How they are distributed</a:t>
            </a:r>
          </a:p>
        </p:txBody>
      </p:sp>
      <p:sp>
        <p:nvSpPr>
          <p:cNvPr id="26" name="TextBox 25"/>
          <p:cNvSpPr txBox="1"/>
          <p:nvPr/>
        </p:nvSpPr>
        <p:spPr>
          <a:xfrm>
            <a:off x="365760" y="3429000"/>
            <a:ext cx="5669280" cy="1463040"/>
          </a:xfrm>
          <a:prstGeom prst="rect">
            <a:avLst/>
          </a:prstGeom>
          <a:noFill/>
        </p:spPr>
        <p:txBody>
          <a:bodyPr wrap="square" lIns="45720" rIns="45720" tIns="18288" bIns="18288">
            <a:spAutoFit/>
          </a:bodyPr>
          <a:lstStyle/>
          <a:p>
            <a:pPr algn="l">
              <a:spcAft>
                <a:spcPts val="500"/>
              </a:spcAft>
            </a:pPr>
            <a:r>
              <a:rPr sz="1100" b="0" i="0">
                <a:solidFill>
                  <a:srgbClr val="333333"/>
                </a:solidFill>
                <a:latin typeface="Calibri"/>
              </a:rPr>
              <a:t>• CSV files — same data served as flat documents</a:t>
            </a:r>
          </a:p>
          <a:p>
            <a:pPr algn="l">
              <a:spcAft>
                <a:spcPts val="500"/>
              </a:spcAft>
            </a:pPr>
            <a:r>
              <a:rPr sz="1100" b="0" i="0">
                <a:solidFill>
                  <a:srgbClr val="333333"/>
                </a:solidFill>
                <a:latin typeface="Calibri"/>
              </a:rPr>
              <a:t>• JSON / API — nested entities, sourced from TAMS API and CMOS API</a:t>
            </a:r>
          </a:p>
          <a:p>
            <a:pPr algn="l">
              <a:spcAft>
                <a:spcPts val="500"/>
              </a:spcAft>
            </a:pPr>
            <a:r>
              <a:rPr sz="1100" b="0" i="0">
                <a:solidFill>
                  <a:srgbClr val="333333"/>
                </a:solidFill>
                <a:latin typeface="Calibri"/>
              </a:rPr>
              <a:t>• Documents are at counterparty level — one per counterparty</a:t>
            </a:r>
          </a:p>
          <a:p>
            <a:pPr algn="l">
              <a:spcAft>
                <a:spcPts val="500"/>
              </a:spcAft>
            </a:pPr>
            <a:r>
              <a:rPr sz="1100" b="0" i="0">
                <a:solidFill>
                  <a:srgbClr val="333333"/>
                </a:solidFill>
                <a:latin typeface="Calibri"/>
              </a:rPr>
              <a:t>• Distribution format is for data movement, not for analysis</a:t>
            </a:r>
          </a:p>
        </p:txBody>
      </p:sp>
      <p:sp>
        <p:nvSpPr>
          <p:cNvPr id="27" name="TextBox 26"/>
          <p:cNvSpPr txBox="1"/>
          <p:nvPr/>
        </p:nvSpPr>
        <p:spPr>
          <a:xfrm>
            <a:off x="365760" y="5029200"/>
            <a:ext cx="5669280" cy="320040"/>
          </a:xfrm>
          <a:prstGeom prst="rect">
            <a:avLst/>
          </a:prstGeom>
          <a:noFill/>
        </p:spPr>
        <p:txBody>
          <a:bodyPr wrap="square" lIns="45720" rIns="45720" tIns="18288" bIns="18288" anchor="t">
            <a:spAutoFit/>
          </a:bodyPr>
          <a:lstStyle/>
          <a:p>
            <a:pPr algn="l"/>
            <a:r>
              <a:rPr sz="1100" b="1" i="0">
                <a:solidFill>
                  <a:srgbClr val="176B2C"/>
                </a:solidFill>
                <a:latin typeface="Calibri"/>
              </a:rPr>
              <a:t>Report links</a:t>
            </a:r>
          </a:p>
        </p:txBody>
      </p:sp>
      <p:sp>
        <p:nvSpPr>
          <p:cNvPr id="28" name="TextBox 27"/>
          <p:cNvSpPr txBox="1"/>
          <p:nvPr/>
        </p:nvSpPr>
        <p:spPr>
          <a:xfrm>
            <a:off x="365760" y="5321808"/>
            <a:ext cx="5669280" cy="914400"/>
          </a:xfrm>
          <a:prstGeom prst="rect">
            <a:avLst/>
          </a:prstGeom>
          <a:noFill/>
        </p:spPr>
        <p:txBody>
          <a:bodyPr wrap="square" lIns="45720" rIns="45720" tIns="18288" bIns="18288" anchor="t">
            <a:spAutoFit/>
          </a:bodyPr>
          <a:lstStyle/>
          <a:p>
            <a:pPr algn="l"/>
            <a:r>
              <a:rPr sz="1000" b="0" i="1">
                <a:solidFill>
                  <a:srgbClr val="595959"/>
                </a:solidFill>
                <a:latin typeface="Calibri"/>
              </a:rPr>
              <a:t>[ Daily Exposure ]   [ Disputes ]   [ Settlements ]</a:t>
            </a:r>
          </a:p>
          <a:p>
            <a:pPr algn="l"/>
            <a:r>
              <a:rPr sz="1000" b="0" i="1">
                <a:solidFill>
                  <a:srgbClr val="595959"/>
                </a:solidFill>
                <a:latin typeface="Calibri"/>
              </a:rPr>
              <a:t>[ Trades ]   [ Collateral Domain JSON ]</a:t>
            </a:r>
          </a:p>
          <a:p>
            <a:pPr algn="l"/>
            <a:r>
              <a:rPr sz="1000" b="0" i="1">
                <a:solidFill>
                  <a:srgbClr val="595959"/>
                </a:solidFill>
                <a:latin typeface="Calibri"/>
              </a:rPr>
              <a:t>— attach the live links here —</a:t>
            </a:r>
          </a:p>
        </p:txBody>
      </p:sp>
      <p:sp>
        <p:nvSpPr>
          <p:cNvPr id="29" name="Rectangle 28"/>
          <p:cNvSpPr/>
          <p:nvPr/>
        </p:nvSpPr>
        <p:spPr>
          <a:xfrm>
            <a:off x="6263640" y="3063240"/>
            <a:ext cx="5532120" cy="3200400"/>
          </a:xfrm>
          <a:prstGeom prst="rect">
            <a:avLst/>
          </a:prstGeom>
          <a:solidFill>
            <a:srgbClr val="FFE9C2"/>
          </a:solidFill>
          <a:ln w="15875">
            <a:solidFill>
              <a:srgbClr val="B46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46520" y="3154680"/>
            <a:ext cx="5212080" cy="365760"/>
          </a:xfrm>
          <a:prstGeom prst="rect">
            <a:avLst/>
          </a:prstGeom>
          <a:noFill/>
        </p:spPr>
        <p:txBody>
          <a:bodyPr wrap="square" lIns="45720" rIns="45720" tIns="18288" bIns="18288" anchor="t">
            <a:spAutoFit/>
          </a:bodyPr>
          <a:lstStyle/>
          <a:p>
            <a:pPr algn="l"/>
            <a:r>
              <a:rPr sz="1300" b="1" i="0">
                <a:solidFill>
                  <a:srgbClr val="B46F18"/>
                </a:solidFill>
                <a:latin typeface="Calibri"/>
              </a:rPr>
              <a:t>The open questions these files cannot answer</a:t>
            </a:r>
          </a:p>
        </p:txBody>
      </p:sp>
      <p:sp>
        <p:nvSpPr>
          <p:cNvPr id="31" name="TextBox 30"/>
          <p:cNvSpPr txBox="1"/>
          <p:nvPr/>
        </p:nvSpPr>
        <p:spPr>
          <a:xfrm>
            <a:off x="6446520" y="3520440"/>
            <a:ext cx="5212080" cy="2651760"/>
          </a:xfrm>
          <a:prstGeom prst="rect">
            <a:avLst/>
          </a:prstGeom>
          <a:noFill/>
        </p:spPr>
        <p:txBody>
          <a:bodyPr wrap="square" lIns="45720" rIns="45720" tIns="18288" bIns="18288">
            <a:spAutoFit/>
          </a:bodyPr>
          <a:lstStyle/>
          <a:p>
            <a:pPr algn="l">
              <a:spcAft>
                <a:spcPts val="600"/>
              </a:spcAft>
            </a:pPr>
            <a:r>
              <a:rPr sz="1100" b="0" i="0">
                <a:solidFill>
                  <a:srgbClr val="333333"/>
                </a:solidFill>
                <a:latin typeface="Calibri"/>
              </a:rPr>
              <a:t>• No schema — what are the fields, formally?</a:t>
            </a:r>
          </a:p>
          <a:p>
            <a:pPr algn="l">
              <a:spcAft>
                <a:spcPts val="600"/>
              </a:spcAft>
            </a:pPr>
            <a:r>
              <a:rPr sz="1100" b="0" i="0">
                <a:solidFill>
                  <a:srgbClr val="333333"/>
                </a:solidFill>
                <a:latin typeface="Calibri"/>
              </a:rPr>
              <a:t>• No context — what does each attribute mean?</a:t>
            </a:r>
          </a:p>
          <a:p>
            <a:pPr algn="l">
              <a:spcAft>
                <a:spcPts val="600"/>
              </a:spcAft>
            </a:pPr>
            <a:r>
              <a:rPr sz="1100" b="0" i="0">
                <a:solidFill>
                  <a:srgbClr val="333333"/>
                </a:solidFill>
                <a:latin typeface="Calibri"/>
              </a:rPr>
              <a:t>• Where is each field sourced from?</a:t>
            </a:r>
          </a:p>
          <a:p>
            <a:pPr algn="l">
              <a:spcAft>
                <a:spcPts val="600"/>
              </a:spcAft>
            </a:pPr>
            <a:r>
              <a:rPr sz="1100" b="0" i="0">
                <a:solidFill>
                  <a:srgbClr val="333333"/>
                </a:solidFill>
                <a:latin typeface="Calibri"/>
              </a:rPr>
              <a:t>• Is it consistent across all risk-produced data?</a:t>
            </a:r>
          </a:p>
          <a:p>
            <a:pPr algn="l">
              <a:spcAft>
                <a:spcPts val="600"/>
              </a:spcAft>
            </a:pPr>
            <a:r>
              <a:rPr sz="1100" b="0" i="0">
                <a:solidFill>
                  <a:srgbClr val="333333"/>
                </a:solidFill>
                <a:latin typeface="Calibri"/>
              </a:rPr>
              <a:t>• How do I join across the different files?</a:t>
            </a:r>
          </a:p>
          <a:p>
            <a:pPr algn="l">
              <a:spcAft>
                <a:spcPts val="600"/>
              </a:spcAft>
            </a:pPr>
            <a:r>
              <a:rPr sz="1100" b="0" i="0">
                <a:solidFill>
                  <a:srgbClr val="333333"/>
                </a:solidFill>
                <a:latin typeface="Calibri"/>
              </a:rPr>
              <a:t>• At what level is each calculated number produced?</a:t>
            </a:r>
          </a:p>
          <a:p>
            <a:pPr algn="l">
              <a:spcAft>
                <a:spcPts val="600"/>
              </a:spcAft>
            </a:pPr>
            <a:r>
              <a:rPr sz="1100" b="0" i="0">
                <a:solidFill>
                  <a:srgbClr val="333333"/>
                </a:solidFill>
                <a:latin typeface="Calibri"/>
              </a:rPr>
              <a:t>• Can these numbers be safely added up?</a:t>
            </a:r>
          </a:p>
        </p:txBody>
      </p:sp>
      <p:sp>
        <p:nvSpPr>
          <p:cNvPr id="32" name="TextBox 31"/>
          <p:cNvSpPr txBox="1"/>
          <p:nvPr/>
        </p:nvSpPr>
        <p:spPr>
          <a:xfrm>
            <a:off x="6446520" y="5943600"/>
            <a:ext cx="5212080" cy="274320"/>
          </a:xfrm>
          <a:prstGeom prst="rect">
            <a:avLst/>
          </a:prstGeom>
          <a:noFill/>
        </p:spPr>
        <p:txBody>
          <a:bodyPr wrap="square" lIns="45720" rIns="45720" tIns="18288" bIns="18288" anchor="t">
            <a:spAutoFit/>
          </a:bodyPr>
          <a:lstStyle/>
          <a:p>
            <a:pPr algn="l"/>
            <a:r>
              <a:rPr sz="1000" b="0" i="1">
                <a:solidFill>
                  <a:srgbClr val="B46F18"/>
                </a:solidFill>
                <a:latin typeface="Calibri"/>
              </a:rPr>
              <a:t>The next few slides answer every one of these.</a:t>
            </a:r>
          </a:p>
        </p:txBody>
      </p:sp>
      <p:sp>
        <p:nvSpPr>
          <p:cNvPr id="33" name="TextBox 32"/>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i="1">
                <a:solidFill>
                  <a:srgbClr val="595959"/>
                </a:solidFill>
                <a:latin typeface="Calibri"/>
              </a:rPr>
              <a:t>Data Modeling for Risk — a practical guide</a:t>
            </a:r>
          </a:p>
        </p:txBody>
      </p:sp>
      <p:sp>
        <p:nvSpPr>
          <p:cNvPr id="34" name="TextBox 33"/>
          <p:cNvSpPr txBox="1"/>
          <p:nvPr/>
        </p:nvSpPr>
        <p:spPr>
          <a:xfrm>
            <a:off x="11338560" y="6537960"/>
            <a:ext cx="731520" cy="274320"/>
          </a:xfrm>
          <a:prstGeom prst="rect">
            <a:avLst/>
          </a:prstGeom>
          <a:noFill/>
        </p:spPr>
        <p:txBody>
          <a:bodyPr wrap="square" lIns="45720" rIns="45720" tIns="18288" bIns="18288" anchor="t">
            <a:spAutoFit/>
          </a:bodyPr>
          <a:lstStyle/>
          <a:p>
            <a:pPr algn="r"/>
            <a:r>
              <a:rPr sz="900" b="0" i="0">
                <a:solidFill>
                  <a:srgbClr val="595959"/>
                </a:solidFill>
                <a:latin typeface="Calibri"/>
              </a:rPr>
              <a:t>3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76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bIns="137160"/>
          <a:lstStyle/>
          <a:p>
            <a:pPr algn="l"/>
            <a:r>
              <a:rPr sz="2100" b="1" i="0">
                <a:solidFill>
                  <a:srgbClr val="FFFFFF"/>
                </a:solidFill>
                <a:latin typeface="Calibri"/>
              </a:rPr>
              <a:t>What the business has to do to use them</a:t>
            </a:r>
          </a:p>
        </p:txBody>
      </p:sp>
      <p:sp>
        <p:nvSpPr>
          <p:cNvPr id="3" name="TextBox 2"/>
          <p:cNvSpPr txBox="1"/>
          <p:nvPr/>
        </p:nvSpPr>
        <p:spPr>
          <a:xfrm>
            <a:off x="274320" y="603504"/>
            <a:ext cx="11612880" cy="292608"/>
          </a:xfrm>
          <a:prstGeom prst="rect">
            <a:avLst/>
          </a:prstGeom>
          <a:noFill/>
        </p:spPr>
        <p:txBody>
          <a:bodyPr wrap="square" lIns="45720" rIns="45720" tIns="18288" bIns="18288" anchor="t">
            <a:spAutoFit/>
          </a:bodyPr>
          <a:lstStyle/>
          <a:p>
            <a:pPr algn="l"/>
            <a:r>
              <a:rPr sz="1200" b="0" i="1">
                <a:solidFill>
                  <a:srgbClr val="595959"/>
                </a:solidFill>
                <a:latin typeface="Calibri"/>
              </a:rPr>
              <a:t>The reports are easy to read — but hard to actually use</a:t>
            </a:r>
          </a:p>
        </p:txBody>
      </p:sp>
      <p:sp>
        <p:nvSpPr>
          <p:cNvPr id="4" name="TextBox 3"/>
          <p:cNvSpPr txBox="1"/>
          <p:nvPr/>
        </p:nvSpPr>
        <p:spPr>
          <a:xfrm>
            <a:off x="365760" y="1051560"/>
            <a:ext cx="4206240" cy="365760"/>
          </a:xfrm>
          <a:prstGeom prst="rect">
            <a:avLst/>
          </a:prstGeom>
          <a:noFill/>
        </p:spPr>
        <p:txBody>
          <a:bodyPr wrap="square" lIns="45720" rIns="45720" tIns="18288" bIns="18288" anchor="t">
            <a:spAutoFit/>
          </a:bodyPr>
          <a:lstStyle/>
          <a:p>
            <a:pPr algn="l"/>
            <a:r>
              <a:rPr sz="1400" b="1" i="0">
                <a:solidFill>
                  <a:srgbClr val="176B2C"/>
                </a:solidFill>
                <a:latin typeface="Calibri"/>
              </a:rPr>
              <a:t>A simple business question</a:t>
            </a:r>
          </a:p>
        </p:txBody>
      </p:sp>
      <p:sp>
        <p:nvSpPr>
          <p:cNvPr id="5" name="Rectangle 4"/>
          <p:cNvSpPr/>
          <p:nvPr/>
        </p:nvSpPr>
        <p:spPr>
          <a:xfrm>
            <a:off x="365760" y="1417320"/>
            <a:ext cx="4206240" cy="731520"/>
          </a:xfrm>
          <a:prstGeom prst="rect">
            <a:avLst/>
          </a:prstGeom>
          <a:solidFill>
            <a:srgbClr val="E5F0DD"/>
          </a:solidFill>
          <a:ln w="1270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0" i="1">
                <a:solidFill>
                  <a:srgbClr val="176B2C"/>
                </a:solidFill>
                <a:latin typeface="Calibri"/>
              </a:rPr>
              <a:t>"What is our total exposure to Central 1 Credit Union,</a:t>
            </a:r>
          </a:p>
          <a:p>
            <a:pPr algn="ctr"/>
            <a:r>
              <a:rPr sz="1100" b="0" i="1">
                <a:solidFill>
                  <a:srgbClr val="176B2C"/>
                </a:solidFill>
                <a:latin typeface="Calibri"/>
              </a:rPr>
              <a:t>and do they have any open disputes?"</a:t>
            </a:r>
          </a:p>
        </p:txBody>
      </p:sp>
      <p:sp>
        <p:nvSpPr>
          <p:cNvPr id="6" name="TextBox 5"/>
          <p:cNvSpPr txBox="1"/>
          <p:nvPr/>
        </p:nvSpPr>
        <p:spPr>
          <a:xfrm>
            <a:off x="365760" y="2377440"/>
            <a:ext cx="4206240" cy="365760"/>
          </a:xfrm>
          <a:prstGeom prst="rect">
            <a:avLst/>
          </a:prstGeom>
          <a:noFill/>
        </p:spPr>
        <p:txBody>
          <a:bodyPr wrap="square" lIns="45720" rIns="45720" tIns="18288" bIns="18288" anchor="t">
            <a:spAutoFit/>
          </a:bodyPr>
          <a:lstStyle/>
          <a:p>
            <a:pPr algn="l"/>
            <a:r>
              <a:rPr sz="1300" b="1" i="0">
                <a:solidFill>
                  <a:srgbClr val="176B2C"/>
                </a:solidFill>
                <a:latin typeface="Calibri"/>
              </a:rPr>
              <a:t>To answer it, the business must:</a:t>
            </a:r>
          </a:p>
        </p:txBody>
      </p:sp>
      <p:sp>
        <p:nvSpPr>
          <p:cNvPr id="7" name="TextBox 6"/>
          <p:cNvSpPr txBox="1"/>
          <p:nvPr/>
        </p:nvSpPr>
        <p:spPr>
          <a:xfrm>
            <a:off x="365760" y="2743200"/>
            <a:ext cx="4206240" cy="2377440"/>
          </a:xfrm>
          <a:prstGeom prst="rect">
            <a:avLst/>
          </a:prstGeom>
          <a:noFill/>
        </p:spPr>
        <p:txBody>
          <a:bodyPr wrap="square" lIns="45720" rIns="45720" tIns="18288" bIns="18288">
            <a:spAutoFit/>
          </a:bodyPr>
          <a:lstStyle/>
          <a:p>
            <a:pPr algn="l">
              <a:spcAft>
                <a:spcPts val="700"/>
              </a:spcAft>
            </a:pPr>
            <a:r>
              <a:rPr sz="1100" b="0" i="0">
                <a:solidFill>
                  <a:srgbClr val="333333"/>
                </a:solidFill>
                <a:latin typeface="Calibri"/>
              </a:rPr>
              <a:t>1.  Open the Daily Exposure file and find the counterparty</a:t>
            </a:r>
          </a:p>
          <a:p>
            <a:pPr algn="l">
              <a:spcAft>
                <a:spcPts val="700"/>
              </a:spcAft>
            </a:pPr>
            <a:r>
              <a:rPr sz="1100" b="0" i="0">
                <a:solidFill>
                  <a:srgbClr val="333333"/>
                </a:solidFill>
                <a:latin typeface="Calibri"/>
              </a:rPr>
              <a:t>2.  Open the Disputes file separately</a:t>
            </a:r>
          </a:p>
          <a:p>
            <a:pPr algn="l">
              <a:spcAft>
                <a:spcPts val="700"/>
              </a:spcAft>
            </a:pPr>
            <a:r>
              <a:rPr sz="1100" b="1" i="0">
                <a:solidFill>
                  <a:srgbClr val="882C1F"/>
                </a:solidFill>
                <a:latin typeface="Calibri"/>
              </a:rPr>
              <a:t>3.  Try to match the two — and discover the names do not line up</a:t>
            </a:r>
          </a:p>
          <a:p>
            <a:pPr algn="l">
              <a:spcAft>
                <a:spcPts val="700"/>
              </a:spcAft>
            </a:pPr>
            <a:r>
              <a:rPr sz="1100" b="0" i="0">
                <a:solidFill>
                  <a:srgbClr val="333333"/>
                </a:solidFill>
                <a:latin typeface="Calibri"/>
              </a:rPr>
              <a:t>4.  Guess which column is really the counterparty</a:t>
            </a:r>
          </a:p>
          <a:p>
            <a:pPr algn="l">
              <a:spcAft>
                <a:spcPts val="700"/>
              </a:spcAft>
            </a:pPr>
            <a:r>
              <a:rPr sz="1100" b="0" i="0">
                <a:solidFill>
                  <a:srgbClr val="333333"/>
                </a:solidFill>
                <a:latin typeface="Calibri"/>
              </a:rPr>
              <a:t>5.  Guess whether the exposure numbers can be added together</a:t>
            </a:r>
          </a:p>
          <a:p>
            <a:pPr algn="l">
              <a:spcAft>
                <a:spcPts val="700"/>
              </a:spcAft>
            </a:pPr>
            <a:r>
              <a:rPr sz="1100" b="0" i="0">
                <a:solidFill>
                  <a:srgbClr val="333333"/>
                </a:solidFill>
                <a:latin typeface="Calibri"/>
              </a:rPr>
              <a:t>6.  Ask a developer — and wait</a:t>
            </a:r>
          </a:p>
        </p:txBody>
      </p:sp>
      <p:sp>
        <p:nvSpPr>
          <p:cNvPr id="8" name="Rectangle 7"/>
          <p:cNvSpPr/>
          <p:nvPr/>
        </p:nvSpPr>
        <p:spPr>
          <a:xfrm>
            <a:off x="365760" y="5257800"/>
            <a:ext cx="4206240" cy="960120"/>
          </a:xfrm>
          <a:prstGeom prst="rect">
            <a:avLst/>
          </a:prstGeom>
          <a:solidFill>
            <a:srgbClr val="FFE9C2"/>
          </a:solidFill>
          <a:ln w="12700">
            <a:solidFill>
              <a:srgbClr val="B46F1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1">
                <a:solidFill>
                  <a:srgbClr val="B46F18"/>
                </a:solidFill>
                <a:latin typeface="Calibri"/>
              </a:rPr>
              <a:t>Every question becomes a small project.</a:t>
            </a:r>
          </a:p>
          <a:p>
            <a:pPr algn="ctr"/>
            <a:r>
              <a:rPr sz="1100" b="1" i="1">
                <a:solidFill>
                  <a:srgbClr val="B46F18"/>
                </a:solidFill>
                <a:latin typeface="Calibri"/>
              </a:rPr>
              <a:t>The data was delivered — but not in a usable shape.</a:t>
            </a:r>
          </a:p>
        </p:txBody>
      </p:sp>
      <p:sp>
        <p:nvSpPr>
          <p:cNvPr id="9" name="TextBox 8"/>
          <p:cNvSpPr txBox="1"/>
          <p:nvPr/>
        </p:nvSpPr>
        <p:spPr>
          <a:xfrm>
            <a:off x="4846320" y="1051560"/>
            <a:ext cx="6949440" cy="365760"/>
          </a:xfrm>
          <a:prstGeom prst="rect">
            <a:avLst/>
          </a:prstGeom>
          <a:noFill/>
        </p:spPr>
        <p:txBody>
          <a:bodyPr wrap="square" lIns="45720" rIns="45720" tIns="18288" bIns="18288" anchor="t">
            <a:spAutoFit/>
          </a:bodyPr>
          <a:lstStyle/>
          <a:p>
            <a:pPr algn="l"/>
            <a:r>
              <a:rPr sz="1400" b="1" i="0">
                <a:solidFill>
                  <a:srgbClr val="176B2C"/>
                </a:solidFill>
                <a:latin typeface="Calibri"/>
              </a:rPr>
              <a:t>The same counterparty — named three different ways</a:t>
            </a:r>
          </a:p>
        </p:txBody>
      </p:sp>
      <p:sp>
        <p:nvSpPr>
          <p:cNvPr id="10" name="TextBox 9"/>
          <p:cNvSpPr txBox="1"/>
          <p:nvPr/>
        </p:nvSpPr>
        <p:spPr>
          <a:xfrm>
            <a:off x="4846320" y="1371600"/>
            <a:ext cx="6949440" cy="320040"/>
          </a:xfrm>
          <a:prstGeom prst="rect">
            <a:avLst/>
          </a:prstGeom>
          <a:noFill/>
        </p:spPr>
        <p:txBody>
          <a:bodyPr wrap="square" lIns="45720" rIns="45720" tIns="18288" bIns="18288" anchor="t">
            <a:spAutoFit/>
          </a:bodyPr>
          <a:lstStyle/>
          <a:p>
            <a:pPr algn="l"/>
            <a:r>
              <a:rPr sz="1100" b="0" i="1">
                <a:solidFill>
                  <a:srgbClr val="595959"/>
                </a:solidFill>
                <a:latin typeface="Calibri"/>
              </a:rPr>
              <a:t>Taken from the actual sample files:</a:t>
            </a:r>
          </a:p>
        </p:txBody>
      </p:sp>
      <p:sp>
        <p:nvSpPr>
          <p:cNvPr id="11" name="Rectangle 10"/>
          <p:cNvSpPr/>
          <p:nvPr/>
        </p:nvSpPr>
        <p:spPr>
          <a:xfrm>
            <a:off x="4846320" y="1783080"/>
            <a:ext cx="6949440" cy="658368"/>
          </a:xfrm>
          <a:prstGeom prst="rect">
            <a:avLst/>
          </a:prstGeom>
          <a:solidFill>
            <a:srgbClr val="FFFFFF"/>
          </a:solidFill>
          <a:ln w="12700">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83480" y="1837944"/>
            <a:ext cx="2011680" cy="274320"/>
          </a:xfrm>
          <a:prstGeom prst="rect">
            <a:avLst/>
          </a:prstGeom>
          <a:noFill/>
        </p:spPr>
        <p:txBody>
          <a:bodyPr wrap="square" lIns="45720" rIns="45720" tIns="18288" bIns="18288" anchor="t">
            <a:spAutoFit/>
          </a:bodyPr>
          <a:lstStyle/>
          <a:p>
            <a:pPr algn="l"/>
            <a:r>
              <a:rPr sz="1000" b="1" i="0">
                <a:solidFill>
                  <a:srgbClr val="882C1F"/>
                </a:solidFill>
                <a:latin typeface="Calibri"/>
              </a:rPr>
              <a:t>Disputes.csv</a:t>
            </a:r>
          </a:p>
        </p:txBody>
      </p:sp>
      <p:sp>
        <p:nvSpPr>
          <p:cNvPr id="13" name="TextBox 12"/>
          <p:cNvSpPr txBox="1"/>
          <p:nvPr/>
        </p:nvSpPr>
        <p:spPr>
          <a:xfrm>
            <a:off x="4983480" y="2093976"/>
            <a:ext cx="2011680" cy="274320"/>
          </a:xfrm>
          <a:prstGeom prst="rect">
            <a:avLst/>
          </a:prstGeom>
          <a:noFill/>
        </p:spPr>
        <p:txBody>
          <a:bodyPr wrap="square" lIns="45720" rIns="45720" tIns="18288" bIns="18288" anchor="t">
            <a:spAutoFit/>
          </a:bodyPr>
          <a:lstStyle/>
          <a:p>
            <a:pPr algn="l"/>
            <a:r>
              <a:rPr sz="900" b="0" i="1">
                <a:solidFill>
                  <a:srgbClr val="595959"/>
                </a:solidFill>
                <a:latin typeface="Calibri"/>
              </a:rPr>
              <a:t>column: Counterparty</a:t>
            </a:r>
          </a:p>
        </p:txBody>
      </p:sp>
      <p:sp>
        <p:nvSpPr>
          <p:cNvPr id="14" name="Rounded Rectangle 13"/>
          <p:cNvSpPr/>
          <p:nvPr/>
        </p:nvSpPr>
        <p:spPr>
          <a:xfrm>
            <a:off x="7086600" y="1901952"/>
            <a:ext cx="4572000" cy="420624"/>
          </a:xfrm>
          <a:prstGeom prst="roundRect">
            <a:avLst/>
          </a:prstGeom>
          <a:solidFill>
            <a:srgbClr val="FCE7E6"/>
          </a:solidFill>
          <a:ln w="9525">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882C1F"/>
                </a:solidFill>
                <a:latin typeface="Consolas"/>
              </a:rPr>
              <a:t>CENTRAL 1 CREDIT UNION</a:t>
            </a:r>
          </a:p>
        </p:txBody>
      </p:sp>
      <p:sp>
        <p:nvSpPr>
          <p:cNvPr id="15" name="Rectangle 14"/>
          <p:cNvSpPr/>
          <p:nvPr/>
        </p:nvSpPr>
        <p:spPr>
          <a:xfrm>
            <a:off x="4846320" y="2560320"/>
            <a:ext cx="6949440" cy="658368"/>
          </a:xfrm>
          <a:prstGeom prst="rect">
            <a:avLst/>
          </a:prstGeom>
          <a:solidFill>
            <a:srgbClr val="FFFFFF"/>
          </a:solidFill>
          <a:ln w="12700">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83480" y="2615184"/>
            <a:ext cx="2011680" cy="274320"/>
          </a:xfrm>
          <a:prstGeom prst="rect">
            <a:avLst/>
          </a:prstGeom>
          <a:noFill/>
        </p:spPr>
        <p:txBody>
          <a:bodyPr wrap="square" lIns="45720" rIns="45720" tIns="18288" bIns="18288" anchor="t">
            <a:spAutoFit/>
          </a:bodyPr>
          <a:lstStyle/>
          <a:p>
            <a:pPr algn="l"/>
            <a:r>
              <a:rPr sz="1000" b="1" i="0">
                <a:solidFill>
                  <a:srgbClr val="882C1F"/>
                </a:solidFill>
                <a:latin typeface="Calibri"/>
              </a:rPr>
              <a:t>Agreements.csv</a:t>
            </a:r>
          </a:p>
        </p:txBody>
      </p:sp>
      <p:sp>
        <p:nvSpPr>
          <p:cNvPr id="17" name="TextBox 16"/>
          <p:cNvSpPr txBox="1"/>
          <p:nvPr/>
        </p:nvSpPr>
        <p:spPr>
          <a:xfrm>
            <a:off x="4983480" y="2871216"/>
            <a:ext cx="2011680" cy="274320"/>
          </a:xfrm>
          <a:prstGeom prst="rect">
            <a:avLst/>
          </a:prstGeom>
          <a:noFill/>
        </p:spPr>
        <p:txBody>
          <a:bodyPr wrap="square" lIns="45720" rIns="45720" tIns="18288" bIns="18288" anchor="t">
            <a:spAutoFit/>
          </a:bodyPr>
          <a:lstStyle/>
          <a:p>
            <a:pPr algn="l"/>
            <a:r>
              <a:rPr sz="900" b="0" i="1">
                <a:solidFill>
                  <a:srgbClr val="595959"/>
                </a:solidFill>
                <a:latin typeface="Calibri"/>
              </a:rPr>
              <a:t>column: Counterparty</a:t>
            </a:r>
          </a:p>
        </p:txBody>
      </p:sp>
      <p:sp>
        <p:nvSpPr>
          <p:cNvPr id="18" name="Rounded Rectangle 17"/>
          <p:cNvSpPr/>
          <p:nvPr/>
        </p:nvSpPr>
        <p:spPr>
          <a:xfrm>
            <a:off x="7086600" y="2679192"/>
            <a:ext cx="4572000" cy="420624"/>
          </a:xfrm>
          <a:prstGeom prst="roundRect">
            <a:avLst/>
          </a:prstGeom>
          <a:solidFill>
            <a:srgbClr val="FCE7E6"/>
          </a:solidFill>
          <a:ln w="9525">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882C1F"/>
                </a:solidFill>
                <a:latin typeface="Consolas"/>
              </a:rPr>
              <a:t>CENTRAL 1 CREDIT UNION:BCCU</a:t>
            </a:r>
          </a:p>
        </p:txBody>
      </p:sp>
      <p:sp>
        <p:nvSpPr>
          <p:cNvPr id="19" name="Rectangle 18"/>
          <p:cNvSpPr/>
          <p:nvPr/>
        </p:nvSpPr>
        <p:spPr>
          <a:xfrm>
            <a:off x="4846320" y="3337560"/>
            <a:ext cx="6949440" cy="658368"/>
          </a:xfrm>
          <a:prstGeom prst="rect">
            <a:avLst/>
          </a:prstGeom>
          <a:solidFill>
            <a:srgbClr val="FFFFFF"/>
          </a:solidFill>
          <a:ln w="12700">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83480" y="3392424"/>
            <a:ext cx="2011680" cy="274320"/>
          </a:xfrm>
          <a:prstGeom prst="rect">
            <a:avLst/>
          </a:prstGeom>
          <a:noFill/>
        </p:spPr>
        <p:txBody>
          <a:bodyPr wrap="square" lIns="45720" rIns="45720" tIns="18288" bIns="18288" anchor="t">
            <a:spAutoFit/>
          </a:bodyPr>
          <a:lstStyle/>
          <a:p>
            <a:pPr algn="l"/>
            <a:r>
              <a:rPr sz="1000" b="1" i="0">
                <a:solidFill>
                  <a:srgbClr val="882C1F"/>
                </a:solidFill>
                <a:latin typeface="Calibri"/>
              </a:rPr>
              <a:t>DailyExposure.csv</a:t>
            </a:r>
          </a:p>
        </p:txBody>
      </p:sp>
      <p:sp>
        <p:nvSpPr>
          <p:cNvPr id="21" name="TextBox 20"/>
          <p:cNvSpPr txBox="1"/>
          <p:nvPr/>
        </p:nvSpPr>
        <p:spPr>
          <a:xfrm>
            <a:off x="4983480" y="3648456"/>
            <a:ext cx="2011680" cy="274320"/>
          </a:xfrm>
          <a:prstGeom prst="rect">
            <a:avLst/>
          </a:prstGeom>
          <a:noFill/>
        </p:spPr>
        <p:txBody>
          <a:bodyPr wrap="square" lIns="45720" rIns="45720" tIns="18288" bIns="18288" anchor="t">
            <a:spAutoFit/>
          </a:bodyPr>
          <a:lstStyle/>
          <a:p>
            <a:pPr algn="l"/>
            <a:r>
              <a:rPr sz="900" b="0" i="1">
                <a:solidFill>
                  <a:srgbClr val="595959"/>
                </a:solidFill>
                <a:latin typeface="Calibri"/>
              </a:rPr>
              <a:t>column: Counterparty</a:t>
            </a:r>
          </a:p>
        </p:txBody>
      </p:sp>
      <p:sp>
        <p:nvSpPr>
          <p:cNvPr id="22" name="Rounded Rectangle 21"/>
          <p:cNvSpPr/>
          <p:nvPr/>
        </p:nvSpPr>
        <p:spPr>
          <a:xfrm>
            <a:off x="7086600" y="3456432"/>
            <a:ext cx="4572000" cy="420624"/>
          </a:xfrm>
          <a:prstGeom prst="roundRect">
            <a:avLst/>
          </a:prstGeom>
          <a:solidFill>
            <a:srgbClr val="FCE7E6"/>
          </a:solidFill>
          <a:ln w="9525">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882C1F"/>
                </a:solidFill>
                <a:latin typeface="Consolas"/>
              </a:rPr>
              <a:t>TDBK_BCCU_GENERAL_CSA</a:t>
            </a:r>
          </a:p>
        </p:txBody>
      </p:sp>
      <p:sp>
        <p:nvSpPr>
          <p:cNvPr id="23" name="Rectangle 22"/>
          <p:cNvSpPr/>
          <p:nvPr/>
        </p:nvSpPr>
        <p:spPr>
          <a:xfrm>
            <a:off x="4846320" y="4251960"/>
            <a:ext cx="6949440" cy="914400"/>
          </a:xfrm>
          <a:prstGeom prst="rect">
            <a:avLst/>
          </a:prstGeom>
          <a:solidFill>
            <a:srgbClr val="FCE7E6"/>
          </a:solidFill>
          <a:ln w="15875">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0" y="4343400"/>
            <a:ext cx="6583680" cy="777240"/>
          </a:xfrm>
          <a:prstGeom prst="rect">
            <a:avLst/>
          </a:prstGeom>
          <a:noFill/>
        </p:spPr>
        <p:txBody>
          <a:bodyPr wrap="square" lIns="45720" rIns="45720" tIns="18288" bIns="18288">
            <a:spAutoFit/>
          </a:bodyPr>
          <a:lstStyle/>
          <a:p>
            <a:pPr algn="l">
              <a:spcAft>
                <a:spcPts val="300"/>
              </a:spcAft>
            </a:pPr>
            <a:r>
              <a:rPr sz="1200" b="1" i="0">
                <a:solidFill>
                  <a:srgbClr val="882C1F"/>
                </a:solidFill>
                <a:latin typeface="Calibri"/>
              </a:rPr>
              <a:t>The join simply does not work.</a:t>
            </a:r>
          </a:p>
          <a:p>
            <a:pPr algn="l"/>
            <a:r>
              <a:rPr sz="1050" b="0" i="0">
                <a:solidFill>
                  <a:srgbClr val="333333"/>
                </a:solidFill>
                <a:latin typeface="Calibri"/>
              </a:rPr>
              <a:t>Three files, three spellings of the same counterparty. A person can eyeball it for two rows — not for ten thousand. And one file's "Counterparty" column is not a counterparty at all; it holds an agreement code.</a:t>
            </a:r>
          </a:p>
        </p:txBody>
      </p:sp>
      <p:sp>
        <p:nvSpPr>
          <p:cNvPr id="25" name="Rectangle 24"/>
          <p:cNvSpPr/>
          <p:nvPr/>
        </p:nvSpPr>
        <p:spPr>
          <a:xfrm>
            <a:off x="4846320" y="5303520"/>
            <a:ext cx="6949440" cy="914400"/>
          </a:xfrm>
          <a:prstGeom prst="rect">
            <a:avLst/>
          </a:prstGeom>
          <a:solidFill>
            <a:srgbClr val="E5F0DD"/>
          </a:solidFill>
          <a:ln w="15875">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0" y="5394960"/>
            <a:ext cx="6583680" cy="777240"/>
          </a:xfrm>
          <a:prstGeom prst="rect">
            <a:avLst/>
          </a:prstGeom>
          <a:noFill/>
        </p:spPr>
        <p:txBody>
          <a:bodyPr wrap="square" lIns="45720" rIns="45720" tIns="18288" bIns="18288">
            <a:spAutoFit/>
          </a:bodyPr>
          <a:lstStyle/>
          <a:p>
            <a:pPr algn="l">
              <a:spcAft>
                <a:spcPts val="300"/>
              </a:spcAft>
            </a:pPr>
            <a:r>
              <a:rPr sz="1200" b="1" i="0">
                <a:solidFill>
                  <a:srgbClr val="176B2C"/>
                </a:solidFill>
                <a:latin typeface="Calibri"/>
              </a:rPr>
              <a:t>What would fix it</a:t>
            </a:r>
          </a:p>
          <a:p>
            <a:pPr algn="l"/>
            <a:r>
              <a:rPr sz="1050" b="0" i="0">
                <a:solidFill>
                  <a:srgbClr val="333333"/>
                </a:solidFill>
                <a:latin typeface="Calibri"/>
              </a:rPr>
              <a:t>One agreed identifier for each counterparty, used in every file — so the files line up without guesswork. That agreement is what the rest of this deck builds.</a:t>
            </a:r>
          </a:p>
        </p:txBody>
      </p:sp>
      <p:sp>
        <p:nvSpPr>
          <p:cNvPr id="27" name="TextBox 26"/>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i="1">
                <a:solidFill>
                  <a:srgbClr val="595959"/>
                </a:solidFill>
                <a:latin typeface="Calibri"/>
              </a:rPr>
              <a:t>Data Modeling for Risk — a practical guide</a:t>
            </a:r>
          </a:p>
        </p:txBody>
      </p:sp>
      <p:sp>
        <p:nvSpPr>
          <p:cNvPr id="28" name="TextBox 27"/>
          <p:cNvSpPr txBox="1"/>
          <p:nvPr/>
        </p:nvSpPr>
        <p:spPr>
          <a:xfrm>
            <a:off x="11338560" y="6537960"/>
            <a:ext cx="731520" cy="274320"/>
          </a:xfrm>
          <a:prstGeom prst="rect">
            <a:avLst/>
          </a:prstGeom>
          <a:noFill/>
        </p:spPr>
        <p:txBody>
          <a:bodyPr wrap="square" lIns="45720" rIns="45720" tIns="18288" bIns="18288" anchor="t">
            <a:spAutoFit/>
          </a:bodyPr>
          <a:lstStyle/>
          <a:p>
            <a:pPr algn="r"/>
            <a:r>
              <a:rPr sz="900" b="0" i="0">
                <a:solidFill>
                  <a:srgbClr val="595959"/>
                </a:solidFill>
                <a:latin typeface="Calibri"/>
              </a:rPr>
              <a:t>4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76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bIns="137160"/>
          <a:lstStyle/>
          <a:p>
            <a:pPr algn="l"/>
            <a:r>
              <a:rPr sz="2100" b="1" i="0">
                <a:solidFill>
                  <a:srgbClr val="FFFFFF"/>
                </a:solidFill>
                <a:latin typeface="Calibri"/>
              </a:rPr>
              <a:t>What is really inside the file</a:t>
            </a:r>
          </a:p>
        </p:txBody>
      </p:sp>
      <p:sp>
        <p:nvSpPr>
          <p:cNvPr id="3" name="TextBox 2"/>
          <p:cNvSpPr txBox="1"/>
          <p:nvPr/>
        </p:nvSpPr>
        <p:spPr>
          <a:xfrm>
            <a:off x="274320" y="603504"/>
            <a:ext cx="11612880" cy="292608"/>
          </a:xfrm>
          <a:prstGeom prst="rect">
            <a:avLst/>
          </a:prstGeom>
          <a:noFill/>
        </p:spPr>
        <p:txBody>
          <a:bodyPr wrap="square" lIns="45720" rIns="45720" tIns="18288" bIns="18288" anchor="t">
            <a:spAutoFit/>
          </a:bodyPr>
          <a:lstStyle/>
          <a:p>
            <a:pPr algn="l"/>
            <a:r>
              <a:rPr sz="1200" b="0" i="1">
                <a:solidFill>
                  <a:srgbClr val="595959"/>
                </a:solidFill>
                <a:latin typeface="Calibri"/>
              </a:rPr>
              <a:t>One report row, looked at closely — and the words for what we find</a:t>
            </a:r>
          </a:p>
        </p:txBody>
      </p:sp>
      <p:sp>
        <p:nvSpPr>
          <p:cNvPr id="4" name="TextBox 3"/>
          <p:cNvSpPr txBox="1"/>
          <p:nvPr/>
        </p:nvSpPr>
        <p:spPr>
          <a:xfrm>
            <a:off x="274320" y="1051560"/>
            <a:ext cx="4297680" cy="365760"/>
          </a:xfrm>
          <a:prstGeom prst="rect">
            <a:avLst/>
          </a:prstGeom>
          <a:noFill/>
        </p:spPr>
        <p:txBody>
          <a:bodyPr wrap="square" lIns="45720" rIns="45720" tIns="18288" bIns="18288" anchor="t">
            <a:spAutoFit/>
          </a:bodyPr>
          <a:lstStyle/>
          <a:p>
            <a:pPr algn="l"/>
            <a:r>
              <a:rPr sz="1400" b="1" i="0">
                <a:solidFill>
                  <a:srgbClr val="176B2C"/>
                </a:solidFill>
                <a:latin typeface="Calibri"/>
              </a:rPr>
              <a:t>A row is not one thing</a:t>
            </a:r>
          </a:p>
        </p:txBody>
      </p:sp>
      <p:sp>
        <p:nvSpPr>
          <p:cNvPr id="5" name="TextBox 4"/>
          <p:cNvSpPr txBox="1"/>
          <p:nvPr/>
        </p:nvSpPr>
        <p:spPr>
          <a:xfrm>
            <a:off x="274320" y="1371600"/>
            <a:ext cx="4297680" cy="868680"/>
          </a:xfrm>
          <a:prstGeom prst="rect">
            <a:avLst/>
          </a:prstGeom>
          <a:noFill/>
        </p:spPr>
        <p:txBody>
          <a:bodyPr wrap="square" lIns="45720" rIns="45720" tIns="18288" bIns="18288" anchor="t">
            <a:spAutoFit/>
          </a:bodyPr>
          <a:lstStyle/>
          <a:p>
            <a:pPr algn="l"/>
            <a:r>
              <a:rPr sz="1100" b="0" i="0">
                <a:solidFill>
                  <a:srgbClr val="333333"/>
                </a:solidFill>
                <a:latin typeface="Calibri"/>
              </a:rPr>
              <a:t>A single row in the exposure file is actually several things bundled together — some attributes that describe who and when, and a number that the application has calculated.</a:t>
            </a:r>
          </a:p>
        </p:txBody>
      </p:sp>
      <p:sp>
        <p:nvSpPr>
          <p:cNvPr id="6" name="TextBox 5"/>
          <p:cNvSpPr txBox="1"/>
          <p:nvPr/>
        </p:nvSpPr>
        <p:spPr>
          <a:xfrm>
            <a:off x="274320" y="2331720"/>
            <a:ext cx="4297680" cy="320040"/>
          </a:xfrm>
          <a:prstGeom prst="rect">
            <a:avLst/>
          </a:prstGeom>
          <a:noFill/>
        </p:spPr>
        <p:txBody>
          <a:bodyPr wrap="square" lIns="45720" rIns="45720" tIns="18288" bIns="18288" anchor="t">
            <a:spAutoFit/>
          </a:bodyPr>
          <a:lstStyle/>
          <a:p>
            <a:pPr algn="l"/>
            <a:r>
              <a:rPr sz="1400" b="1" i="0">
                <a:solidFill>
                  <a:srgbClr val="176B2C"/>
                </a:solidFill>
                <a:latin typeface="Calibri"/>
              </a:rPr>
              <a:t>Three words worth knowing</a:t>
            </a:r>
          </a:p>
        </p:txBody>
      </p:sp>
      <p:sp>
        <p:nvSpPr>
          <p:cNvPr id="7" name="Rounded Rectangle 6"/>
          <p:cNvSpPr/>
          <p:nvPr/>
        </p:nvSpPr>
        <p:spPr>
          <a:xfrm>
            <a:off x="274320" y="2697480"/>
            <a:ext cx="1143000" cy="713232"/>
          </a:xfrm>
          <a:prstGeom prst="roundRect">
            <a:avLst/>
          </a:prstGeom>
          <a:solidFill>
            <a:srgbClr val="C5DAB1"/>
          </a:solidFill>
          <a:ln w="9525">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176B2C"/>
                </a:solidFill>
                <a:latin typeface="Calibri"/>
              </a:rPr>
              <a:t>Dimension</a:t>
            </a:r>
          </a:p>
        </p:txBody>
      </p:sp>
      <p:sp>
        <p:nvSpPr>
          <p:cNvPr id="8" name="TextBox 7"/>
          <p:cNvSpPr txBox="1"/>
          <p:nvPr/>
        </p:nvSpPr>
        <p:spPr>
          <a:xfrm>
            <a:off x="1554480" y="2697480"/>
            <a:ext cx="3017520" cy="713232"/>
          </a:xfrm>
          <a:prstGeom prst="rect">
            <a:avLst/>
          </a:prstGeom>
          <a:noFill/>
        </p:spPr>
        <p:txBody>
          <a:bodyPr wrap="square" lIns="45720" rIns="45720" tIns="18288" bIns="18288" anchor="ctr">
            <a:spAutoFit/>
          </a:bodyPr>
          <a:lstStyle/>
          <a:p>
            <a:pPr algn="l"/>
            <a:r>
              <a:rPr sz="1000" b="0" i="0">
                <a:solidFill>
                  <a:srgbClr val="333333"/>
                </a:solidFill>
                <a:latin typeface="Calibri"/>
              </a:rPr>
              <a:t>An attribute you can group or filter by — counterparty, agreement, date, asset class.</a:t>
            </a:r>
          </a:p>
        </p:txBody>
      </p:sp>
      <p:sp>
        <p:nvSpPr>
          <p:cNvPr id="9" name="Rounded Rectangle 8"/>
          <p:cNvSpPr/>
          <p:nvPr/>
        </p:nvSpPr>
        <p:spPr>
          <a:xfrm>
            <a:off x="274320" y="3520440"/>
            <a:ext cx="1143000" cy="713232"/>
          </a:xfrm>
          <a:prstGeom prst="roundRect">
            <a:avLst/>
          </a:prstGeom>
          <a:solidFill>
            <a:srgbClr val="FFE9C2"/>
          </a:solidFill>
          <a:ln w="9525">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176B2C"/>
                </a:solidFill>
                <a:latin typeface="Calibri"/>
              </a:rPr>
              <a:t>Measure</a:t>
            </a:r>
          </a:p>
        </p:txBody>
      </p:sp>
      <p:sp>
        <p:nvSpPr>
          <p:cNvPr id="10" name="TextBox 9"/>
          <p:cNvSpPr txBox="1"/>
          <p:nvPr/>
        </p:nvSpPr>
        <p:spPr>
          <a:xfrm>
            <a:off x="1554480" y="3520440"/>
            <a:ext cx="3017520" cy="713232"/>
          </a:xfrm>
          <a:prstGeom prst="rect">
            <a:avLst/>
          </a:prstGeom>
          <a:noFill/>
        </p:spPr>
        <p:txBody>
          <a:bodyPr wrap="square" lIns="45720" rIns="45720" tIns="18288" bIns="18288" anchor="ctr">
            <a:spAutoFit/>
          </a:bodyPr>
          <a:lstStyle/>
          <a:p>
            <a:pPr algn="l"/>
            <a:r>
              <a:rPr sz="1000" b="0" i="0">
                <a:solidFill>
                  <a:srgbClr val="333333"/>
                </a:solidFill>
                <a:latin typeface="Calibri"/>
              </a:rPr>
              <a:t>The number the application calculated — the exposure amount, the call amount.</a:t>
            </a:r>
          </a:p>
        </p:txBody>
      </p:sp>
      <p:sp>
        <p:nvSpPr>
          <p:cNvPr id="11" name="Rounded Rectangle 10"/>
          <p:cNvSpPr/>
          <p:nvPr/>
        </p:nvSpPr>
        <p:spPr>
          <a:xfrm>
            <a:off x="274320" y="4343400"/>
            <a:ext cx="1143000" cy="713232"/>
          </a:xfrm>
          <a:prstGeom prst="roundRect">
            <a:avLst/>
          </a:prstGeom>
          <a:solidFill>
            <a:srgbClr val="DBEAF0"/>
          </a:solidFill>
          <a:ln w="9525">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176B2C"/>
                </a:solidFill>
                <a:latin typeface="Calibri"/>
              </a:rPr>
              <a:t>Aggregate</a:t>
            </a:r>
          </a:p>
        </p:txBody>
      </p:sp>
      <p:sp>
        <p:nvSpPr>
          <p:cNvPr id="12" name="TextBox 11"/>
          <p:cNvSpPr txBox="1"/>
          <p:nvPr/>
        </p:nvSpPr>
        <p:spPr>
          <a:xfrm>
            <a:off x="1554480" y="4343400"/>
            <a:ext cx="3017520" cy="713232"/>
          </a:xfrm>
          <a:prstGeom prst="rect">
            <a:avLst/>
          </a:prstGeom>
          <a:noFill/>
        </p:spPr>
        <p:txBody>
          <a:bodyPr wrap="square" lIns="45720" rIns="45720" tIns="18288" bIns="18288" anchor="ctr">
            <a:spAutoFit/>
          </a:bodyPr>
          <a:lstStyle/>
          <a:p>
            <a:pPr algn="l"/>
            <a:r>
              <a:rPr sz="1000" b="0" i="0">
                <a:solidFill>
                  <a:srgbClr val="333333"/>
                </a:solidFill>
                <a:latin typeface="Calibri"/>
              </a:rPr>
              <a:t>Rolling measures up to a higher level — total exposure per counterparty, per month.</a:t>
            </a:r>
          </a:p>
        </p:txBody>
      </p:sp>
      <p:sp>
        <p:nvSpPr>
          <p:cNvPr id="13" name="Rectangle 12"/>
          <p:cNvSpPr/>
          <p:nvPr/>
        </p:nvSpPr>
        <p:spPr>
          <a:xfrm>
            <a:off x="274320" y="5257800"/>
            <a:ext cx="4297680" cy="960120"/>
          </a:xfrm>
          <a:prstGeom prst="rect">
            <a:avLst/>
          </a:prstGeom>
          <a:solidFill>
            <a:srgbClr val="E5F0DD"/>
          </a:solidFill>
          <a:ln w="1270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176B2C"/>
                </a:solidFill>
                <a:latin typeface="Calibri"/>
              </a:rPr>
              <a:t>Once we can name the parts, we can give the file</a:t>
            </a:r>
          </a:p>
          <a:p>
            <a:pPr algn="ctr"/>
            <a:r>
              <a:rPr sz="1100" b="1" i="0">
                <a:solidFill>
                  <a:srgbClr val="176B2C"/>
                </a:solidFill>
                <a:latin typeface="Calibri"/>
              </a:rPr>
              <a:t>a proper shape — and that shape is a model.</a:t>
            </a:r>
          </a:p>
        </p:txBody>
      </p:sp>
      <p:sp>
        <p:nvSpPr>
          <p:cNvPr id="14" name="TextBox 13"/>
          <p:cNvSpPr txBox="1"/>
          <p:nvPr/>
        </p:nvSpPr>
        <p:spPr>
          <a:xfrm>
            <a:off x="4846320" y="1051560"/>
            <a:ext cx="6949440" cy="365760"/>
          </a:xfrm>
          <a:prstGeom prst="rect">
            <a:avLst/>
          </a:prstGeom>
          <a:noFill/>
        </p:spPr>
        <p:txBody>
          <a:bodyPr wrap="square" lIns="45720" rIns="45720" tIns="18288" bIns="18288" anchor="t">
            <a:spAutoFit/>
          </a:bodyPr>
          <a:lstStyle/>
          <a:p>
            <a:pPr algn="l"/>
            <a:r>
              <a:rPr sz="1300" b="1" i="0">
                <a:solidFill>
                  <a:srgbClr val="176B2C"/>
                </a:solidFill>
                <a:latin typeface="Calibri"/>
              </a:rPr>
              <a:t>One row from the Daily Exposure file</a:t>
            </a:r>
          </a:p>
        </p:txBody>
      </p:sp>
      <p:sp>
        <p:nvSpPr>
          <p:cNvPr id="15" name="Rectangle 14"/>
          <p:cNvSpPr/>
          <p:nvPr/>
        </p:nvSpPr>
        <p:spPr>
          <a:xfrm>
            <a:off x="4846320" y="1463040"/>
            <a:ext cx="1389888"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tIns="13716" bIns="13716"/>
          <a:lstStyle/>
          <a:p>
            <a:pPr algn="ctr"/>
            <a:r>
              <a:rPr sz="850" b="1" i="0">
                <a:solidFill>
                  <a:srgbClr val="176B2C"/>
                </a:solidFill>
                <a:latin typeface="Calibri"/>
              </a:rPr>
              <a:t>Counterparty</a:t>
            </a:r>
          </a:p>
        </p:txBody>
      </p:sp>
      <p:sp>
        <p:nvSpPr>
          <p:cNvPr id="16" name="Rectangle 15"/>
          <p:cNvSpPr/>
          <p:nvPr/>
        </p:nvSpPr>
        <p:spPr>
          <a:xfrm>
            <a:off x="4846320" y="1773936"/>
            <a:ext cx="1389888" cy="384048"/>
          </a:xfrm>
          <a:prstGeom prst="rect">
            <a:avLst/>
          </a:prstGeom>
          <a:solidFill>
            <a:srgbClr val="FFFFFF"/>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tIns="13716" bIns="13716"/>
          <a:lstStyle/>
          <a:p>
            <a:pPr algn="ctr"/>
            <a:r>
              <a:rPr sz="850" b="0" i="0">
                <a:solidFill>
                  <a:srgbClr val="333333"/>
                </a:solidFill>
                <a:latin typeface="Consolas"/>
              </a:rPr>
              <a:t>CENTRAL 1 CREDIT UNION</a:t>
            </a:r>
          </a:p>
        </p:txBody>
      </p:sp>
      <p:sp>
        <p:nvSpPr>
          <p:cNvPr id="17" name="Rectangle 16"/>
          <p:cNvSpPr/>
          <p:nvPr/>
        </p:nvSpPr>
        <p:spPr>
          <a:xfrm>
            <a:off x="4846320" y="2157984"/>
            <a:ext cx="1389888" cy="274320"/>
          </a:xfrm>
          <a:prstGeom prst="rect">
            <a:avLst/>
          </a:prstGeom>
          <a:solidFill>
            <a:srgbClr val="C5DAB1"/>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r>
              <a:rPr sz="750" b="1" i="0">
                <a:solidFill>
                  <a:srgbClr val="176B2C"/>
                </a:solidFill>
                <a:latin typeface="Calibri"/>
              </a:rPr>
              <a:t>DIMENSION</a:t>
            </a:r>
          </a:p>
        </p:txBody>
      </p:sp>
      <p:sp>
        <p:nvSpPr>
          <p:cNvPr id="18" name="Rectangle 17"/>
          <p:cNvSpPr/>
          <p:nvPr/>
        </p:nvSpPr>
        <p:spPr>
          <a:xfrm>
            <a:off x="6236208" y="1463040"/>
            <a:ext cx="1389888"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tIns="13716" bIns="13716"/>
          <a:lstStyle/>
          <a:p>
            <a:pPr algn="ctr"/>
            <a:r>
              <a:rPr sz="850" b="1" i="0">
                <a:solidFill>
                  <a:srgbClr val="176B2C"/>
                </a:solidFill>
                <a:latin typeface="Calibri"/>
              </a:rPr>
              <a:t>Agreement Id</a:t>
            </a:r>
          </a:p>
        </p:txBody>
      </p:sp>
      <p:sp>
        <p:nvSpPr>
          <p:cNvPr id="19" name="Rectangle 18"/>
          <p:cNvSpPr/>
          <p:nvPr/>
        </p:nvSpPr>
        <p:spPr>
          <a:xfrm>
            <a:off x="6236208" y="1773936"/>
            <a:ext cx="1389888" cy="384048"/>
          </a:xfrm>
          <a:prstGeom prst="rect">
            <a:avLst/>
          </a:prstGeom>
          <a:solidFill>
            <a:srgbClr val="FFFFFF"/>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tIns="13716" bIns="13716"/>
          <a:lstStyle/>
          <a:p>
            <a:pPr algn="ctr"/>
            <a:r>
              <a:rPr sz="850" b="0" i="0">
                <a:solidFill>
                  <a:srgbClr val="333333"/>
                </a:solidFill>
                <a:latin typeface="Consolas"/>
              </a:rPr>
              <a:t>1689</a:t>
            </a:r>
          </a:p>
        </p:txBody>
      </p:sp>
      <p:sp>
        <p:nvSpPr>
          <p:cNvPr id="20" name="Rectangle 19"/>
          <p:cNvSpPr/>
          <p:nvPr/>
        </p:nvSpPr>
        <p:spPr>
          <a:xfrm>
            <a:off x="6236208" y="2157984"/>
            <a:ext cx="1389888" cy="274320"/>
          </a:xfrm>
          <a:prstGeom prst="rect">
            <a:avLst/>
          </a:prstGeom>
          <a:solidFill>
            <a:srgbClr val="C5DAB1"/>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r>
              <a:rPr sz="750" b="1" i="0">
                <a:solidFill>
                  <a:srgbClr val="176B2C"/>
                </a:solidFill>
                <a:latin typeface="Calibri"/>
              </a:rPr>
              <a:t>DIMENSION</a:t>
            </a:r>
          </a:p>
        </p:txBody>
      </p:sp>
      <p:sp>
        <p:nvSpPr>
          <p:cNvPr id="21" name="Rectangle 20"/>
          <p:cNvSpPr/>
          <p:nvPr/>
        </p:nvSpPr>
        <p:spPr>
          <a:xfrm>
            <a:off x="7626096" y="1463040"/>
            <a:ext cx="1389888"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tIns="13716" bIns="13716"/>
          <a:lstStyle/>
          <a:p>
            <a:pPr algn="ctr"/>
            <a:r>
              <a:rPr sz="850" b="1" i="0">
                <a:solidFill>
                  <a:srgbClr val="176B2C"/>
                </a:solidFill>
                <a:latin typeface="Calibri"/>
              </a:rPr>
              <a:t>Event Date</a:t>
            </a:r>
          </a:p>
        </p:txBody>
      </p:sp>
      <p:sp>
        <p:nvSpPr>
          <p:cNvPr id="22" name="Rectangle 21"/>
          <p:cNvSpPr/>
          <p:nvPr/>
        </p:nvSpPr>
        <p:spPr>
          <a:xfrm>
            <a:off x="7626096" y="1773936"/>
            <a:ext cx="1389888" cy="384048"/>
          </a:xfrm>
          <a:prstGeom prst="rect">
            <a:avLst/>
          </a:prstGeom>
          <a:solidFill>
            <a:srgbClr val="FFFFFF"/>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tIns="13716" bIns="13716"/>
          <a:lstStyle/>
          <a:p>
            <a:pPr algn="ctr"/>
            <a:r>
              <a:rPr sz="850" b="0" i="0">
                <a:solidFill>
                  <a:srgbClr val="333333"/>
                </a:solidFill>
                <a:latin typeface="Consolas"/>
              </a:rPr>
              <a:t>2026-04-02</a:t>
            </a:r>
          </a:p>
        </p:txBody>
      </p:sp>
      <p:sp>
        <p:nvSpPr>
          <p:cNvPr id="23" name="Rectangle 22"/>
          <p:cNvSpPr/>
          <p:nvPr/>
        </p:nvSpPr>
        <p:spPr>
          <a:xfrm>
            <a:off x="7626096" y="2157984"/>
            <a:ext cx="1389888" cy="274320"/>
          </a:xfrm>
          <a:prstGeom prst="rect">
            <a:avLst/>
          </a:prstGeom>
          <a:solidFill>
            <a:srgbClr val="C5DAB1"/>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r>
              <a:rPr sz="750" b="1" i="0">
                <a:solidFill>
                  <a:srgbClr val="176B2C"/>
                </a:solidFill>
                <a:latin typeface="Calibri"/>
              </a:rPr>
              <a:t>DIMENSION</a:t>
            </a:r>
          </a:p>
        </p:txBody>
      </p:sp>
      <p:sp>
        <p:nvSpPr>
          <p:cNvPr id="24" name="Rectangle 23"/>
          <p:cNvSpPr/>
          <p:nvPr/>
        </p:nvSpPr>
        <p:spPr>
          <a:xfrm>
            <a:off x="9015984" y="1463040"/>
            <a:ext cx="1389888"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tIns="13716" bIns="13716"/>
          <a:lstStyle/>
          <a:p>
            <a:pPr algn="ctr"/>
            <a:r>
              <a:rPr sz="850" b="1" i="0">
                <a:solidFill>
                  <a:srgbClr val="176B2C"/>
                </a:solidFill>
                <a:latin typeface="Calibri"/>
              </a:rPr>
              <a:t>Call Status</a:t>
            </a:r>
          </a:p>
        </p:txBody>
      </p:sp>
      <p:sp>
        <p:nvSpPr>
          <p:cNvPr id="25" name="Rectangle 24"/>
          <p:cNvSpPr/>
          <p:nvPr/>
        </p:nvSpPr>
        <p:spPr>
          <a:xfrm>
            <a:off x="9015984" y="1773936"/>
            <a:ext cx="1389888" cy="384048"/>
          </a:xfrm>
          <a:prstGeom prst="rect">
            <a:avLst/>
          </a:prstGeom>
          <a:solidFill>
            <a:srgbClr val="FFFFFF"/>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tIns="13716" bIns="13716"/>
          <a:lstStyle/>
          <a:p>
            <a:pPr algn="ctr"/>
            <a:r>
              <a:rPr sz="850" b="0" i="0">
                <a:solidFill>
                  <a:srgbClr val="333333"/>
                </a:solidFill>
                <a:latin typeface="Consolas"/>
              </a:rPr>
              <a:t>Pending Review</a:t>
            </a:r>
          </a:p>
        </p:txBody>
      </p:sp>
      <p:sp>
        <p:nvSpPr>
          <p:cNvPr id="26" name="Rectangle 25"/>
          <p:cNvSpPr/>
          <p:nvPr/>
        </p:nvSpPr>
        <p:spPr>
          <a:xfrm>
            <a:off x="9015984" y="2157984"/>
            <a:ext cx="1389888" cy="274320"/>
          </a:xfrm>
          <a:prstGeom prst="rect">
            <a:avLst/>
          </a:prstGeom>
          <a:solidFill>
            <a:srgbClr val="C5DAB1"/>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r>
              <a:rPr sz="750" b="1" i="0">
                <a:solidFill>
                  <a:srgbClr val="176B2C"/>
                </a:solidFill>
                <a:latin typeface="Calibri"/>
              </a:rPr>
              <a:t>DIMENSION</a:t>
            </a:r>
          </a:p>
        </p:txBody>
      </p:sp>
      <p:sp>
        <p:nvSpPr>
          <p:cNvPr id="27" name="Rectangle 26"/>
          <p:cNvSpPr/>
          <p:nvPr/>
        </p:nvSpPr>
        <p:spPr>
          <a:xfrm>
            <a:off x="10405872" y="1463040"/>
            <a:ext cx="1389888"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tIns="13716" bIns="13716"/>
          <a:lstStyle/>
          <a:p>
            <a:pPr algn="ctr"/>
            <a:r>
              <a:rPr sz="850" b="1" i="0">
                <a:solidFill>
                  <a:srgbClr val="176B2C"/>
                </a:solidFill>
                <a:latin typeface="Calibri"/>
              </a:rPr>
              <a:t>Base Total Exposure</a:t>
            </a:r>
          </a:p>
        </p:txBody>
      </p:sp>
      <p:sp>
        <p:nvSpPr>
          <p:cNvPr id="28" name="Rectangle 27"/>
          <p:cNvSpPr/>
          <p:nvPr/>
        </p:nvSpPr>
        <p:spPr>
          <a:xfrm>
            <a:off x="10405872" y="1773936"/>
            <a:ext cx="1389888" cy="384048"/>
          </a:xfrm>
          <a:prstGeom prst="rect">
            <a:avLst/>
          </a:prstGeom>
          <a:solidFill>
            <a:srgbClr val="FFFFFF"/>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tIns="13716" bIns="13716"/>
          <a:lstStyle/>
          <a:p>
            <a:pPr algn="ctr"/>
            <a:r>
              <a:rPr sz="850" b="0" i="0">
                <a:solidFill>
                  <a:srgbClr val="333333"/>
                </a:solidFill>
                <a:latin typeface="Consolas"/>
              </a:rPr>
              <a:t>-154,448.68</a:t>
            </a:r>
          </a:p>
        </p:txBody>
      </p:sp>
      <p:sp>
        <p:nvSpPr>
          <p:cNvPr id="29" name="Rectangle 28"/>
          <p:cNvSpPr/>
          <p:nvPr/>
        </p:nvSpPr>
        <p:spPr>
          <a:xfrm>
            <a:off x="10405872" y="2157984"/>
            <a:ext cx="1389888" cy="274320"/>
          </a:xfrm>
          <a:prstGeom prst="rect">
            <a:avLst/>
          </a:prstGeom>
          <a:solidFill>
            <a:srgbClr val="FFE9C2"/>
          </a:solidFill>
          <a:ln w="6350">
            <a:solidFill>
              <a:srgbClr val="B46F18"/>
            </a:solid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r>
              <a:rPr sz="750" b="1" i="0">
                <a:solidFill>
                  <a:srgbClr val="B46F18"/>
                </a:solidFill>
                <a:latin typeface="Calibri"/>
              </a:rPr>
              <a:t>MEASURE</a:t>
            </a:r>
          </a:p>
        </p:txBody>
      </p:sp>
      <p:sp>
        <p:nvSpPr>
          <p:cNvPr id="30" name="Rectangle 29"/>
          <p:cNvSpPr/>
          <p:nvPr/>
        </p:nvSpPr>
        <p:spPr>
          <a:xfrm>
            <a:off x="4846320" y="2743200"/>
            <a:ext cx="6949440" cy="1051560"/>
          </a:xfrm>
          <a:prstGeom prst="rect">
            <a:avLst/>
          </a:prstGeom>
          <a:solidFill>
            <a:srgbClr val="E5F0DD"/>
          </a:solidFill>
          <a:ln w="1270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0" y="2834640"/>
            <a:ext cx="6583680" cy="914400"/>
          </a:xfrm>
          <a:prstGeom prst="rect">
            <a:avLst/>
          </a:prstGeom>
          <a:noFill/>
        </p:spPr>
        <p:txBody>
          <a:bodyPr wrap="square" lIns="45720" rIns="45720" tIns="18288" bIns="18288">
            <a:spAutoFit/>
          </a:bodyPr>
          <a:lstStyle/>
          <a:p>
            <a:pPr algn="l">
              <a:spcAft>
                <a:spcPts val="400"/>
              </a:spcAft>
            </a:pPr>
            <a:r>
              <a:rPr sz="1050" b="0" i="0">
                <a:solidFill>
                  <a:srgbClr val="333333"/>
                </a:solidFill>
                <a:latin typeface="Calibri"/>
              </a:rPr>
              <a:t>Four of these columns describe the exposure — who, which agreement, when, what state. Those are dimensions.</a:t>
            </a:r>
          </a:p>
          <a:p>
            <a:pPr algn="l"/>
            <a:r>
              <a:rPr sz="1050" b="0" i="0">
                <a:solidFill>
                  <a:srgbClr val="333333"/>
                </a:solidFill>
                <a:latin typeface="Calibri"/>
              </a:rPr>
              <a:t>One column is the number the application worked out — the exposure amount. That is the measure.</a:t>
            </a:r>
          </a:p>
        </p:txBody>
      </p:sp>
      <p:sp>
        <p:nvSpPr>
          <p:cNvPr id="32" name="Rectangle 31"/>
          <p:cNvSpPr/>
          <p:nvPr/>
        </p:nvSpPr>
        <p:spPr>
          <a:xfrm>
            <a:off x="4846320" y="3931920"/>
            <a:ext cx="6949440" cy="2194560"/>
          </a:xfrm>
          <a:prstGeom prst="rect">
            <a:avLst/>
          </a:prstGeom>
          <a:solidFill>
            <a:srgbClr val="FFE9C2"/>
          </a:solidFill>
          <a:ln w="15875">
            <a:solidFill>
              <a:srgbClr val="B46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0" y="4023360"/>
            <a:ext cx="6583680" cy="365760"/>
          </a:xfrm>
          <a:prstGeom prst="rect">
            <a:avLst/>
          </a:prstGeom>
          <a:noFill/>
        </p:spPr>
        <p:txBody>
          <a:bodyPr wrap="square" lIns="45720" rIns="45720" tIns="18288" bIns="18288" anchor="t">
            <a:spAutoFit/>
          </a:bodyPr>
          <a:lstStyle/>
          <a:p>
            <a:pPr algn="l"/>
            <a:r>
              <a:rPr sz="1300" b="1" i="0">
                <a:solidFill>
                  <a:srgbClr val="B46F18"/>
                </a:solidFill>
                <a:latin typeface="Calibri"/>
              </a:rPr>
              <a:t>What the file still does not tell us</a:t>
            </a:r>
          </a:p>
        </p:txBody>
      </p:sp>
      <p:sp>
        <p:nvSpPr>
          <p:cNvPr id="34" name="TextBox 33"/>
          <p:cNvSpPr txBox="1"/>
          <p:nvPr/>
        </p:nvSpPr>
        <p:spPr>
          <a:xfrm>
            <a:off x="5029200" y="4389120"/>
            <a:ext cx="6583680" cy="1691640"/>
          </a:xfrm>
          <a:prstGeom prst="rect">
            <a:avLst/>
          </a:prstGeom>
          <a:noFill/>
        </p:spPr>
        <p:txBody>
          <a:bodyPr wrap="square" lIns="45720" rIns="45720" tIns="18288" bIns="18288">
            <a:spAutoFit/>
          </a:bodyPr>
          <a:lstStyle/>
          <a:p>
            <a:pPr algn="l">
              <a:spcAft>
                <a:spcPts val="600"/>
              </a:spcAft>
            </a:pPr>
            <a:r>
              <a:rPr sz="1050" b="0" i="0">
                <a:solidFill>
                  <a:srgbClr val="333333"/>
                </a:solidFill>
                <a:latin typeface="Calibri"/>
              </a:rPr>
              <a:t>• At what level was the exposure number calculated? Per call event? Per agreement? Per counterparty? It matters — it decides what can be added up.</a:t>
            </a:r>
          </a:p>
          <a:p>
            <a:pPr algn="l">
              <a:spcAft>
                <a:spcPts val="600"/>
              </a:spcAft>
            </a:pPr>
            <a:r>
              <a:rPr sz="1050" b="0" i="0">
                <a:solidFill>
                  <a:srgbClr val="333333"/>
                </a:solidFill>
                <a:latin typeface="Calibri"/>
              </a:rPr>
              <a:t>• Can two exposure numbers be added together — or are they in different currencies?</a:t>
            </a:r>
          </a:p>
          <a:p>
            <a:pPr algn="l">
              <a:spcAft>
                <a:spcPts val="600"/>
              </a:spcAft>
            </a:pPr>
            <a:r>
              <a:rPr sz="1050" b="0" i="0">
                <a:solidFill>
                  <a:srgbClr val="333333"/>
                </a:solidFill>
                <a:latin typeface="Calibri"/>
              </a:rPr>
              <a:t>• Which columns are safe to group by, and which are not?</a:t>
            </a:r>
          </a:p>
          <a:p>
            <a:pPr algn="l"/>
            <a:r>
              <a:rPr sz="1050" b="1" i="0">
                <a:solidFill>
                  <a:srgbClr val="B46F18"/>
                </a:solidFill>
                <a:latin typeface="Calibri"/>
              </a:rPr>
              <a:t>• None of this is written down. It lives in a developer's head.</a:t>
            </a:r>
          </a:p>
        </p:txBody>
      </p:sp>
      <p:sp>
        <p:nvSpPr>
          <p:cNvPr id="35" name="TextBox 34"/>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i="1">
                <a:solidFill>
                  <a:srgbClr val="595959"/>
                </a:solidFill>
                <a:latin typeface="Calibri"/>
              </a:rPr>
              <a:t>Data Modeling for Risk — a practical guide</a:t>
            </a:r>
          </a:p>
        </p:txBody>
      </p:sp>
      <p:sp>
        <p:nvSpPr>
          <p:cNvPr id="36" name="TextBox 35"/>
          <p:cNvSpPr txBox="1"/>
          <p:nvPr/>
        </p:nvSpPr>
        <p:spPr>
          <a:xfrm>
            <a:off x="11338560" y="6537960"/>
            <a:ext cx="731520" cy="274320"/>
          </a:xfrm>
          <a:prstGeom prst="rect">
            <a:avLst/>
          </a:prstGeom>
          <a:noFill/>
        </p:spPr>
        <p:txBody>
          <a:bodyPr wrap="square" lIns="45720" rIns="45720" tIns="18288" bIns="18288" anchor="t">
            <a:spAutoFit/>
          </a:bodyPr>
          <a:lstStyle/>
          <a:p>
            <a:pPr algn="r"/>
            <a:r>
              <a:rPr sz="900" b="0" i="0">
                <a:solidFill>
                  <a:srgbClr val="595959"/>
                </a:solidFill>
                <a:latin typeface="Calibri"/>
              </a:rPr>
              <a:t>5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76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bIns="137160"/>
          <a:lstStyle/>
          <a:p>
            <a:pPr algn="l"/>
            <a:r>
              <a:rPr sz="2100" b="1" i="0">
                <a:solidFill>
                  <a:srgbClr val="FFFFFF"/>
                </a:solidFill>
                <a:latin typeface="Calibri"/>
              </a:rPr>
              <a:t>An analytical model vs a one-off query</a:t>
            </a:r>
          </a:p>
        </p:txBody>
      </p:sp>
      <p:sp>
        <p:nvSpPr>
          <p:cNvPr id="3" name="TextBox 2"/>
          <p:cNvSpPr txBox="1"/>
          <p:nvPr/>
        </p:nvSpPr>
        <p:spPr>
          <a:xfrm>
            <a:off x="274320" y="603504"/>
            <a:ext cx="11612880" cy="292608"/>
          </a:xfrm>
          <a:prstGeom prst="rect">
            <a:avLst/>
          </a:prstGeom>
          <a:noFill/>
        </p:spPr>
        <p:txBody>
          <a:bodyPr wrap="square" lIns="45720" rIns="45720" tIns="18288" bIns="18288" anchor="t">
            <a:spAutoFit/>
          </a:bodyPr>
          <a:lstStyle/>
          <a:p>
            <a:pPr algn="l"/>
            <a:r>
              <a:rPr sz="1200" b="0" i="1">
                <a:solidFill>
                  <a:srgbClr val="595959"/>
                </a:solidFill>
                <a:latin typeface="Calibri"/>
              </a:rPr>
              <a:t>Why a model beats a pile of separate queries — and why a model needs context to be trusted</a:t>
            </a:r>
          </a:p>
        </p:txBody>
      </p:sp>
      <p:sp>
        <p:nvSpPr>
          <p:cNvPr id="4" name="TextBox 3"/>
          <p:cNvSpPr txBox="1"/>
          <p:nvPr/>
        </p:nvSpPr>
        <p:spPr>
          <a:xfrm>
            <a:off x="320040" y="1005840"/>
            <a:ext cx="3657600" cy="365760"/>
          </a:xfrm>
          <a:prstGeom prst="rect">
            <a:avLst/>
          </a:prstGeom>
          <a:noFill/>
        </p:spPr>
        <p:txBody>
          <a:bodyPr wrap="square" lIns="45720" rIns="45720" tIns="18288" bIns="18288" anchor="t">
            <a:spAutoFit/>
          </a:bodyPr>
          <a:lstStyle/>
          <a:p>
            <a:pPr algn="l"/>
            <a:r>
              <a:rPr sz="1400" b="1" i="0">
                <a:solidFill>
                  <a:srgbClr val="882C1F"/>
                </a:solidFill>
                <a:latin typeface="Calibri"/>
              </a:rPr>
              <a:t>A report is a query</a:t>
            </a:r>
          </a:p>
        </p:txBody>
      </p:sp>
      <p:sp>
        <p:nvSpPr>
          <p:cNvPr id="5" name="Rounded Rectangle 4"/>
          <p:cNvSpPr/>
          <p:nvPr/>
        </p:nvSpPr>
        <p:spPr>
          <a:xfrm>
            <a:off x="320040" y="1371600"/>
            <a:ext cx="3657600" cy="2194560"/>
          </a:xfrm>
          <a:prstGeom prst="roundRect">
            <a:avLst/>
          </a:prstGeom>
          <a:solidFill>
            <a:srgbClr val="FCE7E6"/>
          </a:solidFill>
          <a:ln w="15875">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508760"/>
            <a:ext cx="3291840" cy="2011680"/>
          </a:xfrm>
          <a:prstGeom prst="rect">
            <a:avLst/>
          </a:prstGeom>
          <a:noFill/>
        </p:spPr>
        <p:txBody>
          <a:bodyPr wrap="square" lIns="45720" rIns="45720" tIns="18288" bIns="18288">
            <a:spAutoFit/>
          </a:bodyPr>
          <a:lstStyle/>
          <a:p>
            <a:pPr algn="l">
              <a:spcAft>
                <a:spcPts val="500"/>
              </a:spcAft>
            </a:pPr>
            <a:r>
              <a:rPr sz="1100" b="1" i="0">
                <a:solidFill>
                  <a:srgbClr val="882C1F"/>
                </a:solidFill>
                <a:latin typeface="Calibri"/>
              </a:rPr>
              <a:t>Each report answers one question, one way.</a:t>
            </a:r>
          </a:p>
          <a:p>
            <a:pPr algn="l">
              <a:spcAft>
                <a:spcPts val="500"/>
              </a:spcAft>
            </a:pPr>
            <a:r>
              <a:rPr sz="1050" b="0" i="0">
                <a:solidFill>
                  <a:srgbClr val="333333"/>
                </a:solidFill>
                <a:latin typeface="Calibri"/>
              </a:rPr>
              <a:t>A developer wrote a query, froze the answer into a file, and shipped it.</a:t>
            </a:r>
          </a:p>
          <a:p>
            <a:pPr algn="l">
              <a:spcAft>
                <a:spcPts val="500"/>
              </a:spcAft>
            </a:pPr>
            <a:r>
              <a:rPr sz="1050" b="0" i="0">
                <a:solidFill>
                  <a:srgbClr val="333333"/>
                </a:solidFill>
                <a:latin typeface="Calibri"/>
              </a:rPr>
              <a:t>A new question — even a small variation — means a new query and a new file.</a:t>
            </a:r>
          </a:p>
          <a:p>
            <a:pPr algn="l"/>
            <a:r>
              <a:rPr sz="1050" b="0" i="0">
                <a:solidFill>
                  <a:srgbClr val="333333"/>
                </a:solidFill>
                <a:latin typeface="Calibri"/>
              </a:rPr>
              <a:t>The logic lives in scattered SQL, not in anything shared.</a:t>
            </a:r>
          </a:p>
        </p:txBody>
      </p:sp>
      <p:sp>
        <p:nvSpPr>
          <p:cNvPr id="7" name="TextBox 6"/>
          <p:cNvSpPr txBox="1"/>
          <p:nvPr/>
        </p:nvSpPr>
        <p:spPr>
          <a:xfrm>
            <a:off x="4206240" y="1005840"/>
            <a:ext cx="3749039" cy="365760"/>
          </a:xfrm>
          <a:prstGeom prst="rect">
            <a:avLst/>
          </a:prstGeom>
          <a:noFill/>
        </p:spPr>
        <p:txBody>
          <a:bodyPr wrap="square" lIns="45720" rIns="45720" tIns="18288" bIns="18288" anchor="t">
            <a:spAutoFit/>
          </a:bodyPr>
          <a:lstStyle/>
          <a:p>
            <a:pPr algn="l"/>
            <a:r>
              <a:rPr sz="1400" b="1" i="0">
                <a:solidFill>
                  <a:srgbClr val="176B2C"/>
                </a:solidFill>
                <a:latin typeface="Calibri"/>
              </a:rPr>
              <a:t>An analytical model</a:t>
            </a:r>
          </a:p>
        </p:txBody>
      </p:sp>
      <p:sp>
        <p:nvSpPr>
          <p:cNvPr id="8" name="Rounded Rectangle 7"/>
          <p:cNvSpPr/>
          <p:nvPr/>
        </p:nvSpPr>
        <p:spPr>
          <a:xfrm>
            <a:off x="4206240" y="1371600"/>
            <a:ext cx="3749039" cy="2194560"/>
          </a:xfrm>
          <a:prstGeom prst="roundRect">
            <a:avLst/>
          </a:prstGeom>
          <a:solidFill>
            <a:srgbClr val="E5F0DD"/>
          </a:solidFill>
          <a:ln w="15875">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1508760"/>
            <a:ext cx="3383280" cy="2011680"/>
          </a:xfrm>
          <a:prstGeom prst="rect">
            <a:avLst/>
          </a:prstGeom>
          <a:noFill/>
        </p:spPr>
        <p:txBody>
          <a:bodyPr wrap="square" lIns="45720" rIns="45720" tIns="18288" bIns="18288">
            <a:spAutoFit/>
          </a:bodyPr>
          <a:lstStyle/>
          <a:p>
            <a:pPr algn="l">
              <a:spcAft>
                <a:spcPts val="500"/>
              </a:spcAft>
            </a:pPr>
            <a:r>
              <a:rPr sz="1100" b="1" i="0">
                <a:solidFill>
                  <a:srgbClr val="176B2C"/>
                </a:solidFill>
                <a:latin typeface="Calibri"/>
              </a:rPr>
              <a:t>One shape, built to answer many questions.</a:t>
            </a:r>
          </a:p>
          <a:p>
            <a:pPr algn="l">
              <a:spcAft>
                <a:spcPts val="500"/>
              </a:spcAft>
            </a:pPr>
            <a:r>
              <a:rPr sz="1050" b="0" i="0">
                <a:solidFill>
                  <a:srgbClr val="333333"/>
                </a:solidFill>
                <a:latin typeface="Calibri"/>
              </a:rPr>
              <a:t>Facts (the measures) surrounded by the dimensions you slice and group by.</a:t>
            </a:r>
          </a:p>
          <a:p>
            <a:pPr algn="l">
              <a:spcAft>
                <a:spcPts val="500"/>
              </a:spcAft>
            </a:pPr>
            <a:r>
              <a:rPr sz="1050" b="0" i="0">
                <a:solidFill>
                  <a:srgbClr val="333333"/>
                </a:solidFill>
                <a:latin typeface="Calibri"/>
              </a:rPr>
              <a:t>Built once. The business slices it many ways without a developer in the loop.</a:t>
            </a:r>
          </a:p>
          <a:p>
            <a:pPr algn="l"/>
            <a:r>
              <a:rPr sz="1050" b="0" i="0">
                <a:solidFill>
                  <a:srgbClr val="333333"/>
                </a:solidFill>
                <a:latin typeface="Calibri"/>
              </a:rPr>
              <a:t>This shape is called a star schema — an analytics model.</a:t>
            </a:r>
          </a:p>
        </p:txBody>
      </p:sp>
      <p:sp>
        <p:nvSpPr>
          <p:cNvPr id="10" name="TextBox 9"/>
          <p:cNvSpPr txBox="1"/>
          <p:nvPr/>
        </p:nvSpPr>
        <p:spPr>
          <a:xfrm>
            <a:off x="8092440" y="1005840"/>
            <a:ext cx="3749039" cy="365760"/>
          </a:xfrm>
          <a:prstGeom prst="rect">
            <a:avLst/>
          </a:prstGeom>
          <a:noFill/>
        </p:spPr>
        <p:txBody>
          <a:bodyPr wrap="square" lIns="45720" rIns="45720" tIns="18288" bIns="18288" anchor="t">
            <a:spAutoFit/>
          </a:bodyPr>
          <a:lstStyle/>
          <a:p>
            <a:pPr algn="l"/>
            <a:r>
              <a:rPr sz="1400" b="1" i="0">
                <a:solidFill>
                  <a:srgbClr val="B46F18"/>
                </a:solidFill>
                <a:latin typeface="Calibri"/>
              </a:rPr>
              <a:t>A model still needs context</a:t>
            </a:r>
          </a:p>
        </p:txBody>
      </p:sp>
      <p:sp>
        <p:nvSpPr>
          <p:cNvPr id="11" name="Rounded Rectangle 10"/>
          <p:cNvSpPr/>
          <p:nvPr/>
        </p:nvSpPr>
        <p:spPr>
          <a:xfrm>
            <a:off x="8092440" y="1371600"/>
            <a:ext cx="3749039" cy="2194560"/>
          </a:xfrm>
          <a:prstGeom prst="roundRect">
            <a:avLst/>
          </a:prstGeom>
          <a:solidFill>
            <a:srgbClr val="FFE9C2"/>
          </a:solidFill>
          <a:ln w="15875">
            <a:solidFill>
              <a:srgbClr val="B46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508760"/>
            <a:ext cx="3383280" cy="2011680"/>
          </a:xfrm>
          <a:prstGeom prst="rect">
            <a:avLst/>
          </a:prstGeom>
          <a:noFill/>
        </p:spPr>
        <p:txBody>
          <a:bodyPr wrap="square" lIns="45720" rIns="45720" tIns="18288" bIns="18288">
            <a:spAutoFit/>
          </a:bodyPr>
          <a:lstStyle/>
          <a:p>
            <a:pPr algn="l">
              <a:spcAft>
                <a:spcPts val="500"/>
              </a:spcAft>
            </a:pPr>
            <a:r>
              <a:rPr sz="1100" b="1" i="0">
                <a:solidFill>
                  <a:srgbClr val="B46F18"/>
                </a:solidFill>
                <a:latin typeface="Calibri"/>
              </a:rPr>
              <a:t>Query-ready is not the same as query-trusted.</a:t>
            </a:r>
          </a:p>
          <a:p>
            <a:pPr algn="l">
              <a:spcAft>
                <a:spcPts val="500"/>
              </a:spcAft>
            </a:pPr>
            <a:r>
              <a:rPr sz="1050" b="0" i="0">
                <a:solidFill>
                  <a:srgbClr val="333333"/>
                </a:solidFill>
                <a:latin typeface="Calibri"/>
              </a:rPr>
              <a:t>A model can be queried — but the answer is only trustworthy if the context is declared:</a:t>
            </a:r>
          </a:p>
          <a:p>
            <a:pPr algn="l">
              <a:spcAft>
                <a:spcPts val="300"/>
              </a:spcAft>
            </a:pPr>
            <a:r>
              <a:rPr sz="1050" b="0" i="0">
                <a:solidFill>
                  <a:srgbClr val="333333"/>
                </a:solidFill>
                <a:latin typeface="Calibri"/>
              </a:rPr>
              <a:t>• what each measure means   • what level it sits at</a:t>
            </a:r>
          </a:p>
          <a:p>
            <a:pPr algn="l">
              <a:spcAft>
                <a:spcPts val="500"/>
              </a:spcAft>
            </a:pPr>
            <a:r>
              <a:rPr sz="1050" b="0" i="0">
                <a:solidFill>
                  <a:srgbClr val="333333"/>
                </a:solidFill>
                <a:latin typeface="Calibri"/>
              </a:rPr>
              <a:t>• what can be added up   • how facts join</a:t>
            </a:r>
          </a:p>
          <a:p>
            <a:pPr algn="l"/>
            <a:r>
              <a:rPr sz="1050" b="1" i="0">
                <a:solidFill>
                  <a:srgbClr val="B46F18"/>
                </a:solidFill>
                <a:latin typeface="Calibri"/>
              </a:rPr>
              <a:t>Without that, the model still guesses.</a:t>
            </a:r>
          </a:p>
        </p:txBody>
      </p:sp>
      <p:cxnSp>
        <p:nvCxnSpPr>
          <p:cNvPr id="13" name="Connector 12"/>
          <p:cNvCxnSpPr/>
          <p:nvPr/>
        </p:nvCxnSpPr>
        <p:spPr>
          <a:xfrm>
            <a:off x="4023360" y="2468880"/>
            <a:ext cx="137160" cy="0"/>
          </a:xfrm>
          <a:prstGeom prst="line">
            <a:avLst/>
          </a:prstGeom>
          <a:ln w="31750">
            <a:solidFill>
              <a:srgbClr val="176B2C"/>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955279" y="2468880"/>
            <a:ext cx="137161" cy="0"/>
          </a:xfrm>
          <a:prstGeom prst="line">
            <a:avLst/>
          </a:prstGeom>
          <a:ln w="31750">
            <a:solidFill>
              <a:srgbClr val="176B2C"/>
            </a:solidFill>
            <a:tailEnd type="triangle" w="med" h="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20040" y="3794760"/>
            <a:ext cx="11521440" cy="365760"/>
          </a:xfrm>
          <a:prstGeom prst="rect">
            <a:avLst/>
          </a:prstGeom>
          <a:noFill/>
        </p:spPr>
        <p:txBody>
          <a:bodyPr wrap="square" lIns="45720" rIns="45720" tIns="18288" bIns="18288" anchor="t">
            <a:spAutoFit/>
          </a:bodyPr>
          <a:lstStyle/>
          <a:p>
            <a:pPr algn="l"/>
            <a:r>
              <a:rPr sz="1400" b="1" i="0">
                <a:solidFill>
                  <a:srgbClr val="176B2C"/>
                </a:solidFill>
                <a:latin typeface="Calibri"/>
              </a:rPr>
              <a:t>The mistake to avoid when you build the model</a:t>
            </a:r>
          </a:p>
        </p:txBody>
      </p:sp>
      <p:sp>
        <p:nvSpPr>
          <p:cNvPr id="16" name="Rectangle 15"/>
          <p:cNvSpPr/>
          <p:nvPr/>
        </p:nvSpPr>
        <p:spPr>
          <a:xfrm>
            <a:off x="320040" y="4160520"/>
            <a:ext cx="5715000" cy="2011680"/>
          </a:xfrm>
          <a:prstGeom prst="rect">
            <a:avLst/>
          </a:prstGeom>
          <a:solidFill>
            <a:srgbClr val="FCE7E6"/>
          </a:solidFill>
          <a:ln w="15875">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4251960"/>
            <a:ext cx="5349240" cy="320040"/>
          </a:xfrm>
          <a:prstGeom prst="rect">
            <a:avLst/>
          </a:prstGeom>
          <a:noFill/>
        </p:spPr>
        <p:txBody>
          <a:bodyPr wrap="square" lIns="45720" rIns="45720" tIns="18288" bIns="18288" anchor="t">
            <a:spAutoFit/>
          </a:bodyPr>
          <a:lstStyle/>
          <a:p>
            <a:pPr algn="l"/>
            <a:r>
              <a:rPr sz="1200" b="1" i="0">
                <a:solidFill>
                  <a:srgbClr val="882C1F"/>
                </a:solidFill>
                <a:latin typeface="Calibri"/>
              </a:rPr>
              <a:t>The tempting shortcut</a:t>
            </a:r>
          </a:p>
        </p:txBody>
      </p:sp>
      <p:sp>
        <p:nvSpPr>
          <p:cNvPr id="18" name="TextBox 17"/>
          <p:cNvSpPr txBox="1"/>
          <p:nvPr/>
        </p:nvSpPr>
        <p:spPr>
          <a:xfrm>
            <a:off x="502920" y="4572000"/>
            <a:ext cx="5349240" cy="1508760"/>
          </a:xfrm>
          <a:prstGeom prst="rect">
            <a:avLst/>
          </a:prstGeom>
          <a:noFill/>
        </p:spPr>
        <p:txBody>
          <a:bodyPr wrap="square" lIns="45720" rIns="45720" tIns="18288" bIns="18288">
            <a:spAutoFit/>
          </a:bodyPr>
          <a:lstStyle/>
          <a:p>
            <a:pPr algn="l">
              <a:spcAft>
                <a:spcPts val="500"/>
              </a:spcAft>
            </a:pPr>
            <a:r>
              <a:rPr sz="1050" b="0" i="1">
                <a:solidFill>
                  <a:srgbClr val="333333"/>
                </a:solidFill>
                <a:latin typeface="Calibri"/>
              </a:rPr>
              <a:t>"To analyse across the files, just merge all of them into one big table."</a:t>
            </a:r>
          </a:p>
          <a:p>
            <a:pPr algn="l">
              <a:spcAft>
                <a:spcPts val="500"/>
              </a:spcAft>
            </a:pPr>
            <a:r>
              <a:rPr sz="1050" b="0" i="0">
                <a:solidFill>
                  <a:srgbClr val="333333"/>
                </a:solidFill>
                <a:latin typeface="Calibri"/>
              </a:rPr>
              <a:t>Do not. The files are calculated at different levels — a margin call event, a dispute, a settlement instruction, a trade.</a:t>
            </a:r>
          </a:p>
          <a:p>
            <a:pPr algn="l"/>
            <a:r>
              <a:rPr sz="1050" b="0" i="0">
                <a:solidFill>
                  <a:srgbClr val="333333"/>
                </a:solidFill>
                <a:latin typeface="Calibri"/>
              </a:rPr>
              <a:t>Forced into one table, one level wins and the rest is duplicated — a trade repeated against every call event — and totals silently double-count.</a:t>
            </a:r>
          </a:p>
        </p:txBody>
      </p:sp>
      <p:sp>
        <p:nvSpPr>
          <p:cNvPr id="19" name="Rectangle 18"/>
          <p:cNvSpPr/>
          <p:nvPr/>
        </p:nvSpPr>
        <p:spPr>
          <a:xfrm>
            <a:off x="6172200" y="4160520"/>
            <a:ext cx="5669280" cy="2011680"/>
          </a:xfrm>
          <a:prstGeom prst="rect">
            <a:avLst/>
          </a:prstGeom>
          <a:solidFill>
            <a:srgbClr val="E5F0DD"/>
          </a:solidFill>
          <a:ln w="15875">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51960"/>
            <a:ext cx="5303520" cy="320040"/>
          </a:xfrm>
          <a:prstGeom prst="rect">
            <a:avLst/>
          </a:prstGeom>
          <a:noFill/>
        </p:spPr>
        <p:txBody>
          <a:bodyPr wrap="square" lIns="45720" rIns="45720" tIns="18288" bIns="18288" anchor="t">
            <a:spAutoFit/>
          </a:bodyPr>
          <a:lstStyle/>
          <a:p>
            <a:pPr algn="l"/>
            <a:r>
              <a:rPr sz="1200" b="1" i="0">
                <a:solidFill>
                  <a:srgbClr val="176B2C"/>
                </a:solidFill>
                <a:latin typeface="Calibri"/>
              </a:rPr>
              <a:t>The right way</a:t>
            </a:r>
          </a:p>
        </p:txBody>
      </p:sp>
      <p:sp>
        <p:nvSpPr>
          <p:cNvPr id="21" name="TextBox 20"/>
          <p:cNvSpPr txBox="1"/>
          <p:nvPr/>
        </p:nvSpPr>
        <p:spPr>
          <a:xfrm>
            <a:off x="6355080" y="4572000"/>
            <a:ext cx="5303520" cy="1508760"/>
          </a:xfrm>
          <a:prstGeom prst="rect">
            <a:avLst/>
          </a:prstGeom>
          <a:noFill/>
        </p:spPr>
        <p:txBody>
          <a:bodyPr wrap="square" lIns="45720" rIns="45720" tIns="18288" bIns="18288">
            <a:spAutoFit/>
          </a:bodyPr>
          <a:lstStyle/>
          <a:p>
            <a:pPr algn="l">
              <a:spcAft>
                <a:spcPts val="500"/>
              </a:spcAft>
            </a:pPr>
            <a:r>
              <a:rPr sz="1050" b="0" i="0">
                <a:solidFill>
                  <a:srgbClr val="333333"/>
                </a:solidFill>
                <a:latin typeface="Calibri"/>
              </a:rPr>
              <a:t>Keep each fact separate, at its own honest level.</a:t>
            </a:r>
          </a:p>
          <a:p>
            <a:pPr algn="l">
              <a:spcAft>
                <a:spcPts val="500"/>
              </a:spcAft>
            </a:pPr>
            <a:r>
              <a:rPr sz="1050" b="0" i="0">
                <a:solidFill>
                  <a:srgbClr val="333333"/>
                </a:solidFill>
                <a:latin typeface="Calibri"/>
              </a:rPr>
              <a:t>To compare across them, roll each one up to a common level through the shared dimensions — the same Counterparty, Agreement and Date in every fact.</a:t>
            </a:r>
          </a:p>
          <a:p>
            <a:pPr algn="l"/>
            <a:r>
              <a:rPr sz="1050" b="1" i="0">
                <a:solidFill>
                  <a:srgbClr val="176B2C"/>
                </a:solidFill>
                <a:latin typeface="Calibri"/>
              </a:rPr>
              <a:t>Facts meet at the dimensions — not by being jammed into one table.</a:t>
            </a:r>
          </a:p>
        </p:txBody>
      </p:sp>
      <p:sp>
        <p:nvSpPr>
          <p:cNvPr id="22" name="TextBox 21"/>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i="1">
                <a:solidFill>
                  <a:srgbClr val="595959"/>
                </a:solidFill>
                <a:latin typeface="Calibri"/>
              </a:rPr>
              <a:t>Data Modeling for Risk — a practical guide</a:t>
            </a:r>
          </a:p>
        </p:txBody>
      </p:sp>
      <p:sp>
        <p:nvSpPr>
          <p:cNvPr id="23" name="TextBox 22"/>
          <p:cNvSpPr txBox="1"/>
          <p:nvPr/>
        </p:nvSpPr>
        <p:spPr>
          <a:xfrm>
            <a:off x="11338560" y="6537960"/>
            <a:ext cx="731520" cy="274320"/>
          </a:xfrm>
          <a:prstGeom prst="rect">
            <a:avLst/>
          </a:prstGeom>
          <a:noFill/>
        </p:spPr>
        <p:txBody>
          <a:bodyPr wrap="square" lIns="45720" rIns="45720" tIns="18288" bIns="18288" anchor="t">
            <a:spAutoFit/>
          </a:bodyPr>
          <a:lstStyle/>
          <a:p>
            <a:pPr algn="r"/>
            <a:r>
              <a:rPr sz="900" b="0" i="0">
                <a:solidFill>
                  <a:srgbClr val="595959"/>
                </a:solidFill>
                <a:latin typeface="Calibri"/>
              </a:rPr>
              <a:t>6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76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bIns="137160"/>
          <a:lstStyle/>
          <a:p>
            <a:pPr algn="l"/>
            <a:r>
              <a:rPr sz="2100" b="1" i="0">
                <a:solidFill>
                  <a:srgbClr val="FFFFFF"/>
                </a:solidFill>
                <a:latin typeface="Calibri"/>
              </a:rPr>
              <a:t>Conformance — defined once, used everywhere</a:t>
            </a:r>
          </a:p>
        </p:txBody>
      </p:sp>
      <p:sp>
        <p:nvSpPr>
          <p:cNvPr id="3" name="TextBox 2"/>
          <p:cNvSpPr txBox="1"/>
          <p:nvPr/>
        </p:nvSpPr>
        <p:spPr>
          <a:xfrm>
            <a:off x="274320" y="603504"/>
            <a:ext cx="11612880" cy="292608"/>
          </a:xfrm>
          <a:prstGeom prst="rect">
            <a:avLst/>
          </a:prstGeom>
          <a:noFill/>
        </p:spPr>
        <p:txBody>
          <a:bodyPr wrap="square" lIns="45720" rIns="45720" tIns="18288" bIns="18288" anchor="t">
            <a:spAutoFit/>
          </a:bodyPr>
          <a:lstStyle/>
          <a:p>
            <a:pPr algn="l"/>
            <a:r>
              <a:rPr sz="1200" b="0" i="1">
                <a:solidFill>
                  <a:srgbClr val="595959"/>
                </a:solidFill>
                <a:latin typeface="Calibri"/>
              </a:rPr>
              <a:t>The shared dimensions are what let separate facts be compared safely</a:t>
            </a:r>
          </a:p>
        </p:txBody>
      </p:sp>
      <p:sp>
        <p:nvSpPr>
          <p:cNvPr id="4" name="TextBox 3"/>
          <p:cNvSpPr txBox="1"/>
          <p:nvPr/>
        </p:nvSpPr>
        <p:spPr>
          <a:xfrm>
            <a:off x="320040" y="1005840"/>
            <a:ext cx="4206240" cy="365760"/>
          </a:xfrm>
          <a:prstGeom prst="rect">
            <a:avLst/>
          </a:prstGeom>
          <a:noFill/>
        </p:spPr>
        <p:txBody>
          <a:bodyPr wrap="square" lIns="45720" rIns="45720" tIns="18288" bIns="18288" anchor="t">
            <a:spAutoFit/>
          </a:bodyPr>
          <a:lstStyle/>
          <a:p>
            <a:pPr algn="l"/>
            <a:r>
              <a:rPr sz="1400" b="1" i="0">
                <a:solidFill>
                  <a:srgbClr val="176B2C"/>
                </a:solidFill>
                <a:latin typeface="Calibri"/>
              </a:rPr>
              <a:t>What conformance means</a:t>
            </a:r>
          </a:p>
        </p:txBody>
      </p:sp>
      <p:sp>
        <p:nvSpPr>
          <p:cNvPr id="5" name="TextBox 4"/>
          <p:cNvSpPr txBox="1"/>
          <p:nvPr/>
        </p:nvSpPr>
        <p:spPr>
          <a:xfrm>
            <a:off x="320040" y="1371600"/>
            <a:ext cx="4206240" cy="2377440"/>
          </a:xfrm>
          <a:prstGeom prst="rect">
            <a:avLst/>
          </a:prstGeom>
          <a:noFill/>
        </p:spPr>
        <p:txBody>
          <a:bodyPr wrap="square" lIns="45720" rIns="45720" tIns="18288" bIns="18288">
            <a:spAutoFit/>
          </a:bodyPr>
          <a:lstStyle/>
          <a:p>
            <a:pPr algn="l">
              <a:spcAft>
                <a:spcPts val="700"/>
              </a:spcAft>
            </a:pPr>
            <a:r>
              <a:rPr sz="1100" b="0" i="0">
                <a:solidFill>
                  <a:srgbClr val="333333"/>
                </a:solidFill>
                <a:latin typeface="Calibri"/>
              </a:rPr>
              <a:t>Identify the entities that show up across applications — Counterparty, Agreement, Asset Class, Date.</a:t>
            </a:r>
          </a:p>
          <a:p>
            <a:pPr algn="l">
              <a:spcAft>
                <a:spcPts val="400"/>
              </a:spcAft>
            </a:pPr>
            <a:r>
              <a:rPr sz="1100" b="1" i="0">
                <a:solidFill>
                  <a:srgbClr val="333333"/>
                </a:solidFill>
                <a:latin typeface="Calibri"/>
              </a:rPr>
              <a:t>For each one, decide:</a:t>
            </a:r>
          </a:p>
          <a:p>
            <a:pPr algn="l">
              <a:spcAft>
                <a:spcPts val="400"/>
              </a:spcAft>
            </a:pPr>
            <a:r>
              <a:rPr sz="1100" b="0" i="0">
                <a:solidFill>
                  <a:srgbClr val="333333"/>
                </a:solidFill>
                <a:latin typeface="Calibri"/>
              </a:rPr>
              <a:t>•  Is it an enterprise standard the bank already owns?</a:t>
            </a:r>
          </a:p>
          <a:p>
            <a:pPr algn="l">
              <a:spcAft>
                <a:spcPts val="700"/>
              </a:spcAft>
            </a:pPr>
            <a:r>
              <a:rPr sz="1100" b="0" i="0">
                <a:solidFill>
                  <a:srgbClr val="333333"/>
                </a:solidFill>
                <a:latin typeface="Calibri"/>
              </a:rPr>
              <a:t>•  Or must Risk author the definition and the rules?</a:t>
            </a:r>
          </a:p>
          <a:p>
            <a:pPr algn="l">
              <a:spcAft>
                <a:spcPts val="700"/>
              </a:spcAft>
            </a:pPr>
            <a:r>
              <a:rPr sz="1100" b="0" i="0">
                <a:solidFill>
                  <a:srgbClr val="333333"/>
                </a:solidFill>
                <a:latin typeface="Calibri"/>
              </a:rPr>
              <a:t>Define it once. Every application then refers to that one definition — instead of each keeping its own version.</a:t>
            </a:r>
          </a:p>
          <a:p>
            <a:pPr algn="l"/>
            <a:r>
              <a:rPr sz="1100" b="0" i="0">
                <a:solidFill>
                  <a:srgbClr val="333333"/>
                </a:solidFill>
                <a:latin typeface="Calibri"/>
              </a:rPr>
              <a:t>Any rules live inside the entity's definition — so the rule travels with the data.</a:t>
            </a:r>
          </a:p>
        </p:txBody>
      </p:sp>
      <p:sp>
        <p:nvSpPr>
          <p:cNvPr id="6" name="Rectangle 5"/>
          <p:cNvSpPr/>
          <p:nvPr/>
        </p:nvSpPr>
        <p:spPr>
          <a:xfrm>
            <a:off x="320040" y="4023360"/>
            <a:ext cx="4206240" cy="2148840"/>
          </a:xfrm>
          <a:prstGeom prst="rect">
            <a:avLst/>
          </a:prstGeom>
          <a:solidFill>
            <a:srgbClr val="E5F0DD"/>
          </a:solidFill>
          <a:ln w="15875">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0"/>
            <a:ext cx="3840480" cy="320040"/>
          </a:xfrm>
          <a:prstGeom prst="rect">
            <a:avLst/>
          </a:prstGeom>
          <a:noFill/>
        </p:spPr>
        <p:txBody>
          <a:bodyPr wrap="square" lIns="45720" rIns="45720" tIns="18288" bIns="18288" anchor="t">
            <a:spAutoFit/>
          </a:bodyPr>
          <a:lstStyle/>
          <a:p>
            <a:pPr algn="l"/>
            <a:r>
              <a:rPr sz="1200" b="1" i="0">
                <a:solidFill>
                  <a:srgbClr val="176B2C"/>
                </a:solidFill>
                <a:latin typeface="Calibri"/>
              </a:rPr>
              <a:t>Why it matters</a:t>
            </a:r>
          </a:p>
        </p:txBody>
      </p:sp>
      <p:sp>
        <p:nvSpPr>
          <p:cNvPr id="8" name="TextBox 7"/>
          <p:cNvSpPr txBox="1"/>
          <p:nvPr/>
        </p:nvSpPr>
        <p:spPr>
          <a:xfrm>
            <a:off x="502920" y="4434840"/>
            <a:ext cx="3840480" cy="1645920"/>
          </a:xfrm>
          <a:prstGeom prst="rect">
            <a:avLst/>
          </a:prstGeom>
          <a:noFill/>
        </p:spPr>
        <p:txBody>
          <a:bodyPr wrap="square" lIns="45720" rIns="45720" tIns="18288" bIns="18288">
            <a:spAutoFit/>
          </a:bodyPr>
          <a:lstStyle/>
          <a:p>
            <a:pPr algn="l">
              <a:spcAft>
                <a:spcPts val="500"/>
              </a:spcAft>
            </a:pPr>
            <a:r>
              <a:rPr sz="1050" b="1" i="0">
                <a:solidFill>
                  <a:srgbClr val="333333"/>
                </a:solidFill>
                <a:latin typeface="Calibri"/>
              </a:rPr>
              <a:t>A conformed entity is the bridge between facts.</a:t>
            </a:r>
          </a:p>
          <a:p>
            <a:pPr algn="l">
              <a:spcAft>
                <a:spcPts val="500"/>
              </a:spcAft>
            </a:pPr>
            <a:r>
              <a:rPr sz="1050" b="0" i="0">
                <a:solidFill>
                  <a:srgbClr val="333333"/>
                </a:solidFill>
                <a:latin typeface="Calibri"/>
              </a:rPr>
              <a:t>Because every fact uses the same Counterparty and the same Asset Class, their results line up.</a:t>
            </a:r>
          </a:p>
          <a:p>
            <a:pPr algn="l"/>
            <a:r>
              <a:rPr sz="1050" b="0" i="0">
                <a:solidFill>
                  <a:srgbClr val="333333"/>
                </a:solidFill>
                <a:latin typeface="Calibri"/>
              </a:rPr>
              <a:t>Conformance is not deleting one source in favour of another — it is making the rules explicit so cross-application answers can be trusted.</a:t>
            </a:r>
          </a:p>
        </p:txBody>
      </p:sp>
      <p:sp>
        <p:nvSpPr>
          <p:cNvPr id="9" name="TextBox 8"/>
          <p:cNvSpPr txBox="1"/>
          <p:nvPr/>
        </p:nvSpPr>
        <p:spPr>
          <a:xfrm>
            <a:off x="4800600" y="1005840"/>
            <a:ext cx="7040880" cy="365760"/>
          </a:xfrm>
          <a:prstGeom prst="rect">
            <a:avLst/>
          </a:prstGeom>
          <a:noFill/>
        </p:spPr>
        <p:txBody>
          <a:bodyPr wrap="square" lIns="45720" rIns="45720" tIns="18288" bIns="18288" anchor="t">
            <a:spAutoFit/>
          </a:bodyPr>
          <a:lstStyle/>
          <a:p>
            <a:pPr algn="l"/>
            <a:r>
              <a:rPr sz="1400" b="1" i="0">
                <a:solidFill>
                  <a:srgbClr val="176B2C"/>
                </a:solidFill>
                <a:latin typeface="Calibri"/>
              </a:rPr>
              <a:t>Worked example — Asset Class</a:t>
            </a:r>
          </a:p>
        </p:txBody>
      </p:sp>
      <p:sp>
        <p:nvSpPr>
          <p:cNvPr id="10" name="TextBox 9"/>
          <p:cNvSpPr txBox="1"/>
          <p:nvPr/>
        </p:nvSpPr>
        <p:spPr>
          <a:xfrm>
            <a:off x="4800600" y="1325880"/>
            <a:ext cx="7040880" cy="320040"/>
          </a:xfrm>
          <a:prstGeom prst="rect">
            <a:avLst/>
          </a:prstGeom>
          <a:noFill/>
        </p:spPr>
        <p:txBody>
          <a:bodyPr wrap="square" lIns="45720" rIns="45720" tIns="18288" bIns="18288" anchor="t">
            <a:spAutoFit/>
          </a:bodyPr>
          <a:lstStyle/>
          <a:p>
            <a:pPr algn="l"/>
            <a:r>
              <a:rPr sz="1100" b="0" i="1">
                <a:solidFill>
                  <a:srgbClr val="595959"/>
                </a:solidFill>
                <a:latin typeface="Calibri"/>
              </a:rPr>
              <a:t>The same bond, classified differently by three systems:</a:t>
            </a:r>
          </a:p>
        </p:txBody>
      </p:sp>
      <p:sp>
        <p:nvSpPr>
          <p:cNvPr id="11" name="Rectangle 10"/>
          <p:cNvSpPr/>
          <p:nvPr/>
        </p:nvSpPr>
        <p:spPr>
          <a:xfrm>
            <a:off x="4800600" y="1737360"/>
            <a:ext cx="7040880" cy="548640"/>
          </a:xfrm>
          <a:prstGeom prst="rect">
            <a:avLst/>
          </a:prstGeom>
          <a:solidFill>
            <a:srgbClr val="FFFFFF"/>
          </a:solidFill>
          <a:ln w="12700">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0" y="1856232"/>
            <a:ext cx="2743200" cy="310896"/>
          </a:xfrm>
          <a:prstGeom prst="rect">
            <a:avLst/>
          </a:prstGeom>
          <a:noFill/>
        </p:spPr>
        <p:txBody>
          <a:bodyPr wrap="square" lIns="45720" rIns="45720" tIns="18288" bIns="18288" anchor="t">
            <a:spAutoFit/>
          </a:bodyPr>
          <a:lstStyle/>
          <a:p>
            <a:pPr algn="l"/>
            <a:r>
              <a:rPr sz="1000" b="1" i="0">
                <a:solidFill>
                  <a:srgbClr val="882C1F"/>
                </a:solidFill>
                <a:latin typeface="Calibri"/>
              </a:rPr>
              <a:t>Collateral domain (JSON)</a:t>
            </a:r>
          </a:p>
        </p:txBody>
      </p:sp>
      <p:sp>
        <p:nvSpPr>
          <p:cNvPr id="13" name="Rounded Rectangle 12"/>
          <p:cNvSpPr/>
          <p:nvPr/>
        </p:nvSpPr>
        <p:spPr>
          <a:xfrm>
            <a:off x="7772400" y="1828800"/>
            <a:ext cx="3931920" cy="365760"/>
          </a:xfrm>
          <a:prstGeom prst="roundRect">
            <a:avLst/>
          </a:prstGeom>
          <a:solidFill>
            <a:srgbClr val="FCE7E6"/>
          </a:solidFill>
          <a:ln w="9525">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50" b="1" i="0">
                <a:solidFill>
                  <a:srgbClr val="882C1F"/>
                </a:solidFill>
                <a:latin typeface="Consolas"/>
              </a:rPr>
              <a:t>Sovereign Bond</a:t>
            </a:r>
          </a:p>
        </p:txBody>
      </p:sp>
      <p:sp>
        <p:nvSpPr>
          <p:cNvPr id="14" name="Rectangle 13"/>
          <p:cNvSpPr/>
          <p:nvPr/>
        </p:nvSpPr>
        <p:spPr>
          <a:xfrm>
            <a:off x="4800600" y="2395728"/>
            <a:ext cx="7040880" cy="548640"/>
          </a:xfrm>
          <a:prstGeom prst="rect">
            <a:avLst/>
          </a:prstGeom>
          <a:solidFill>
            <a:srgbClr val="FFFFFF"/>
          </a:solidFill>
          <a:ln w="12700">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7760" y="2514600"/>
            <a:ext cx="2743200" cy="310896"/>
          </a:xfrm>
          <a:prstGeom prst="rect">
            <a:avLst/>
          </a:prstGeom>
          <a:noFill/>
        </p:spPr>
        <p:txBody>
          <a:bodyPr wrap="square" lIns="45720" rIns="45720" tIns="18288" bIns="18288" anchor="t">
            <a:spAutoFit/>
          </a:bodyPr>
          <a:lstStyle/>
          <a:p>
            <a:pPr algn="l"/>
            <a:r>
              <a:rPr sz="1000" b="1" i="0">
                <a:solidFill>
                  <a:srgbClr val="882C1F"/>
                </a:solidFill>
                <a:latin typeface="Calibri"/>
              </a:rPr>
              <a:t>Security master</a:t>
            </a:r>
          </a:p>
        </p:txBody>
      </p:sp>
      <p:sp>
        <p:nvSpPr>
          <p:cNvPr id="16" name="Rounded Rectangle 15"/>
          <p:cNvSpPr/>
          <p:nvPr/>
        </p:nvSpPr>
        <p:spPr>
          <a:xfrm>
            <a:off x="7772400" y="2487168"/>
            <a:ext cx="3931920" cy="365760"/>
          </a:xfrm>
          <a:prstGeom prst="roundRect">
            <a:avLst/>
          </a:prstGeom>
          <a:solidFill>
            <a:srgbClr val="FCE7E6"/>
          </a:solidFill>
          <a:ln w="9525">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50" b="1" i="0">
                <a:solidFill>
                  <a:srgbClr val="882C1F"/>
                </a:solidFill>
                <a:latin typeface="Consolas"/>
              </a:rPr>
              <a:t>Government Bond</a:t>
            </a:r>
          </a:p>
        </p:txBody>
      </p:sp>
      <p:sp>
        <p:nvSpPr>
          <p:cNvPr id="17" name="Rectangle 16"/>
          <p:cNvSpPr/>
          <p:nvPr/>
        </p:nvSpPr>
        <p:spPr>
          <a:xfrm>
            <a:off x="4800600" y="3054096"/>
            <a:ext cx="7040880" cy="548640"/>
          </a:xfrm>
          <a:prstGeom prst="rect">
            <a:avLst/>
          </a:prstGeom>
          <a:solidFill>
            <a:srgbClr val="FFFFFF"/>
          </a:solidFill>
          <a:ln w="12700">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0" y="3172968"/>
            <a:ext cx="2743200" cy="310896"/>
          </a:xfrm>
          <a:prstGeom prst="rect">
            <a:avLst/>
          </a:prstGeom>
          <a:noFill/>
        </p:spPr>
        <p:txBody>
          <a:bodyPr wrap="square" lIns="45720" rIns="45720" tIns="18288" bIns="18288" anchor="t">
            <a:spAutoFit/>
          </a:bodyPr>
          <a:lstStyle/>
          <a:p>
            <a:pPr algn="l"/>
            <a:r>
              <a:rPr sz="1000" b="1" i="0">
                <a:solidFill>
                  <a:srgbClr val="882C1F"/>
                </a:solidFill>
                <a:latin typeface="Calibri"/>
              </a:rPr>
              <a:t>Eligibility schedule</a:t>
            </a:r>
          </a:p>
        </p:txBody>
      </p:sp>
      <p:sp>
        <p:nvSpPr>
          <p:cNvPr id="19" name="Rounded Rectangle 18"/>
          <p:cNvSpPr/>
          <p:nvPr/>
        </p:nvSpPr>
        <p:spPr>
          <a:xfrm>
            <a:off x="7772400" y="3145536"/>
            <a:ext cx="3931920" cy="365760"/>
          </a:xfrm>
          <a:prstGeom prst="roundRect">
            <a:avLst/>
          </a:prstGeom>
          <a:solidFill>
            <a:srgbClr val="FCE7E6"/>
          </a:solidFill>
          <a:ln w="9525">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50" b="1" i="0">
                <a:solidFill>
                  <a:srgbClr val="882C1F"/>
                </a:solidFill>
                <a:latin typeface="Consolas"/>
              </a:rPr>
              <a:t>Government of Canada Bond</a:t>
            </a:r>
          </a:p>
        </p:txBody>
      </p:sp>
      <p:sp>
        <p:nvSpPr>
          <p:cNvPr id="20" name="Rectangle 19"/>
          <p:cNvSpPr/>
          <p:nvPr/>
        </p:nvSpPr>
        <p:spPr>
          <a:xfrm>
            <a:off x="4800600" y="3749039"/>
            <a:ext cx="7040880" cy="548640"/>
          </a:xfrm>
          <a:prstGeom prst="rect">
            <a:avLst/>
          </a:prstGeom>
          <a:solidFill>
            <a:srgbClr val="FCE7E6"/>
          </a:solidFill>
          <a:ln w="12700">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50" b="0" i="1">
                <a:solidFill>
                  <a:srgbClr val="882C1F"/>
                </a:solidFill>
                <a:latin typeface="Calibri"/>
              </a:rPr>
              <a:t>Slice exposure "by asset class" across systems → three taxonomies, no agreement, wrong picture.</a:t>
            </a:r>
          </a:p>
        </p:txBody>
      </p:sp>
      <p:sp>
        <p:nvSpPr>
          <p:cNvPr id="21" name="Rectangle 20"/>
          <p:cNvSpPr/>
          <p:nvPr/>
        </p:nvSpPr>
        <p:spPr>
          <a:xfrm>
            <a:off x="4800600" y="4434840"/>
            <a:ext cx="7040880" cy="1737360"/>
          </a:xfrm>
          <a:prstGeom prst="rect">
            <a:avLst/>
          </a:prstGeom>
          <a:solidFill>
            <a:srgbClr val="FFE9C2"/>
          </a:solidFill>
          <a:ln w="15875">
            <a:solidFill>
              <a:srgbClr val="B46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83480" y="4526280"/>
            <a:ext cx="6675120" cy="320040"/>
          </a:xfrm>
          <a:prstGeom prst="rect">
            <a:avLst/>
          </a:prstGeom>
          <a:noFill/>
        </p:spPr>
        <p:txBody>
          <a:bodyPr wrap="square" lIns="45720" rIns="45720" tIns="18288" bIns="18288" anchor="t">
            <a:spAutoFit/>
          </a:bodyPr>
          <a:lstStyle/>
          <a:p>
            <a:pPr algn="l"/>
            <a:r>
              <a:rPr sz="1200" b="1" i="0">
                <a:solidFill>
                  <a:srgbClr val="B46F18"/>
                </a:solidFill>
                <a:latin typeface="Calibri"/>
              </a:rPr>
              <a:t>The conformed Asset Class — authored by Risk</a:t>
            </a:r>
          </a:p>
        </p:txBody>
      </p:sp>
      <p:sp>
        <p:nvSpPr>
          <p:cNvPr id="23" name="TextBox 22"/>
          <p:cNvSpPr txBox="1"/>
          <p:nvPr/>
        </p:nvSpPr>
        <p:spPr>
          <a:xfrm>
            <a:off x="4983480" y="4846320"/>
            <a:ext cx="6675120" cy="1280160"/>
          </a:xfrm>
          <a:prstGeom prst="rect">
            <a:avLst/>
          </a:prstGeom>
          <a:noFill/>
        </p:spPr>
        <p:txBody>
          <a:bodyPr wrap="square" lIns="45720" rIns="45720" tIns="18288" bIns="18288">
            <a:spAutoFit/>
          </a:bodyPr>
          <a:lstStyle/>
          <a:p>
            <a:pPr algn="l">
              <a:spcAft>
                <a:spcPts val="500"/>
              </a:spcAft>
            </a:pPr>
            <a:r>
              <a:rPr sz="1050" b="0" i="0">
                <a:solidFill>
                  <a:srgbClr val="333333"/>
                </a:solidFill>
                <a:latin typeface="Calibri"/>
              </a:rPr>
              <a:t>No external standard exists for risk asset classification — so Risk authors the canonical taxonomy, and the mapping rules from each system's native classification.</a:t>
            </a:r>
          </a:p>
          <a:p>
            <a:pPr algn="l">
              <a:spcAft>
                <a:spcPts val="500"/>
              </a:spcAft>
            </a:pPr>
            <a:r>
              <a:rPr sz="1050" b="0" i="0">
                <a:solidFill>
                  <a:srgbClr val="333333"/>
                </a:solidFill>
                <a:latin typeface="Calibri"/>
              </a:rPr>
              <a:t>"Sovereign Bond", "Government Bond", "Government of Canada Bond" all map to one conformed class. The mapping rules live in the entity's definition.</a:t>
            </a:r>
          </a:p>
          <a:p>
            <a:pPr algn="l"/>
            <a:r>
              <a:rPr sz="1050" b="1" i="0">
                <a:solidFill>
                  <a:srgbClr val="B46F18"/>
                </a:solidFill>
                <a:latin typeface="Calibri"/>
              </a:rPr>
              <a:t>Defined once by Risk. Used by every application. That is conformance.</a:t>
            </a:r>
          </a:p>
        </p:txBody>
      </p:sp>
      <p:sp>
        <p:nvSpPr>
          <p:cNvPr id="24" name="TextBox 23"/>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i="1">
                <a:solidFill>
                  <a:srgbClr val="595959"/>
                </a:solidFill>
                <a:latin typeface="Calibri"/>
              </a:rPr>
              <a:t>Data Modeling for Risk — a practical guide</a:t>
            </a:r>
          </a:p>
        </p:txBody>
      </p:sp>
      <p:sp>
        <p:nvSpPr>
          <p:cNvPr id="25" name="TextBox 24"/>
          <p:cNvSpPr txBox="1"/>
          <p:nvPr/>
        </p:nvSpPr>
        <p:spPr>
          <a:xfrm>
            <a:off x="11338560" y="6537960"/>
            <a:ext cx="731520" cy="274320"/>
          </a:xfrm>
          <a:prstGeom prst="rect">
            <a:avLst/>
          </a:prstGeom>
          <a:noFill/>
        </p:spPr>
        <p:txBody>
          <a:bodyPr wrap="square" lIns="45720" rIns="45720" tIns="18288" bIns="18288" anchor="t">
            <a:spAutoFit/>
          </a:bodyPr>
          <a:lstStyle/>
          <a:p>
            <a:pPr algn="r"/>
            <a:r>
              <a:rPr sz="900" b="0" i="0">
                <a:solidFill>
                  <a:srgbClr val="595959"/>
                </a:solidFill>
                <a:latin typeface="Calibri"/>
              </a:rPr>
              <a:t>7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76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bIns="137160"/>
          <a:lstStyle/>
          <a:p>
            <a:pPr algn="l"/>
            <a:r>
              <a:rPr sz="2100" b="1" i="0">
                <a:solidFill>
                  <a:srgbClr val="FFFFFF"/>
                </a:solidFill>
                <a:latin typeface="Calibri"/>
              </a:rPr>
              <a:t>Inside the JSON — a domain model waiting to be opened up</a:t>
            </a:r>
          </a:p>
        </p:txBody>
      </p:sp>
      <p:sp>
        <p:nvSpPr>
          <p:cNvPr id="3" name="TextBox 2"/>
          <p:cNvSpPr txBox="1"/>
          <p:nvPr/>
        </p:nvSpPr>
        <p:spPr>
          <a:xfrm>
            <a:off x="274320" y="603504"/>
            <a:ext cx="11612880" cy="292608"/>
          </a:xfrm>
          <a:prstGeom prst="rect">
            <a:avLst/>
          </a:prstGeom>
          <a:noFill/>
        </p:spPr>
        <p:txBody>
          <a:bodyPr wrap="square" lIns="45720" rIns="45720" tIns="18288" bIns="18288" anchor="t">
            <a:spAutoFit/>
          </a:bodyPr>
          <a:lstStyle/>
          <a:p>
            <a:pPr algn="l"/>
            <a:r>
              <a:rPr sz="1200" b="0" i="1">
                <a:solidFill>
                  <a:srgbClr val="595959"/>
                </a:solidFill>
                <a:latin typeface="Calibri"/>
              </a:rPr>
              <a:t>The extract is nested; explode it and the canonical entities appear</a:t>
            </a:r>
          </a:p>
        </p:txBody>
      </p:sp>
      <p:sp>
        <p:nvSpPr>
          <p:cNvPr id="4" name="TextBox 3"/>
          <p:cNvSpPr txBox="1"/>
          <p:nvPr/>
        </p:nvSpPr>
        <p:spPr>
          <a:xfrm>
            <a:off x="320040" y="1005840"/>
            <a:ext cx="11521440" cy="548640"/>
          </a:xfrm>
          <a:prstGeom prst="rect">
            <a:avLst/>
          </a:prstGeom>
          <a:noFill/>
        </p:spPr>
        <p:txBody>
          <a:bodyPr wrap="square" lIns="45720" rIns="45720" tIns="18288" bIns="18288" anchor="t">
            <a:spAutoFit/>
          </a:bodyPr>
          <a:lstStyle/>
          <a:p>
            <a:pPr algn="l"/>
            <a:r>
              <a:rPr sz="1200" b="0" i="0">
                <a:solidFill>
                  <a:srgbClr val="333333"/>
                </a:solidFill>
                <a:latin typeface="Calibri"/>
              </a:rPr>
              <a:t>The collateral JSON carries nested entities and relationships that capture the whole domain — not just one report. Exploding it gives a domain model the business can explore to discover entities it does not use yet.</a:t>
            </a:r>
          </a:p>
        </p:txBody>
      </p:sp>
      <p:sp>
        <p:nvSpPr>
          <p:cNvPr id="5" name="TextBox 4"/>
          <p:cNvSpPr txBox="1"/>
          <p:nvPr/>
        </p:nvSpPr>
        <p:spPr>
          <a:xfrm>
            <a:off x="320040" y="1691640"/>
            <a:ext cx="4754880" cy="365760"/>
          </a:xfrm>
          <a:prstGeom prst="rect">
            <a:avLst/>
          </a:prstGeom>
          <a:noFill/>
        </p:spPr>
        <p:txBody>
          <a:bodyPr wrap="square" lIns="45720" rIns="45720" tIns="18288" bIns="18288" anchor="t">
            <a:spAutoFit/>
          </a:bodyPr>
          <a:lstStyle/>
          <a:p>
            <a:pPr algn="l"/>
            <a:r>
              <a:rPr sz="1300" b="1" i="0">
                <a:solidFill>
                  <a:srgbClr val="5B9BD5"/>
                </a:solidFill>
                <a:latin typeface="Calibri"/>
              </a:rPr>
              <a:t>The JSON — nested</a:t>
            </a:r>
          </a:p>
        </p:txBody>
      </p:sp>
      <p:sp>
        <p:nvSpPr>
          <p:cNvPr id="6" name="Rectangle 5"/>
          <p:cNvSpPr/>
          <p:nvPr/>
        </p:nvSpPr>
        <p:spPr>
          <a:xfrm>
            <a:off x="320040" y="2057400"/>
            <a:ext cx="4754880" cy="4114800"/>
          </a:xfrm>
          <a:prstGeom prst="rect">
            <a:avLst/>
          </a:prstGeom>
          <a:solidFill>
            <a:srgbClr val="D9E8F5"/>
          </a:solidFill>
          <a:ln w="15875">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194560"/>
            <a:ext cx="4389120" cy="3840480"/>
          </a:xfrm>
          <a:prstGeom prst="rect">
            <a:avLst/>
          </a:prstGeom>
          <a:noFill/>
        </p:spPr>
        <p:txBody>
          <a:bodyPr wrap="square" lIns="45720" rIns="45720" tIns="18288" bIns="18288">
            <a:spAutoFit/>
          </a:bodyPr>
          <a:lstStyle/>
          <a:p>
            <a:pPr algn="l">
              <a:spcAft>
                <a:spcPts val="200"/>
              </a:spcAft>
            </a:pPr>
            <a:r>
              <a:rPr sz="1100" b="1" i="0">
                <a:solidFill>
                  <a:srgbClr val="5B9BD5"/>
                </a:solidFill>
                <a:latin typeface="Consolas"/>
              </a:rPr>
              <a:t>agreement</a:t>
            </a:r>
          </a:p>
          <a:p>
            <a:pPr algn="l">
              <a:spcAft>
                <a:spcPts val="200"/>
              </a:spcAft>
            </a:pPr>
            <a:r>
              <a:rPr sz="950" b="0" i="0">
                <a:solidFill>
                  <a:srgbClr val="333333"/>
                </a:solidFill>
                <a:latin typeface="Consolas"/>
              </a:rPr>
              <a:t>  agreementGroupCode, collateralAgreementId</a:t>
            </a:r>
          </a:p>
          <a:p>
            <a:pPr algn="l">
              <a:spcAft>
                <a:spcPts val="200"/>
              </a:spcAft>
            </a:pPr>
            <a:r>
              <a:rPr sz="950" b="0" i="0">
                <a:solidFill>
                  <a:srgbClr val="333333"/>
                </a:solidFill>
                <a:latin typeface="Consolas"/>
              </a:rPr>
              <a:t>  counterparties:  td / cp</a:t>
            </a:r>
          </a:p>
          <a:p>
            <a:pPr algn="l">
              <a:spcAft>
                <a:spcPts val="200"/>
              </a:spcAft>
            </a:pPr>
            <a:r>
              <a:rPr sz="950" b="0" i="0">
                <a:solidFill>
                  <a:srgbClr val="333333"/>
                </a:solidFill>
                <a:latin typeface="Consolas"/>
              </a:rPr>
              <a:t>  tradeExposureList[]</a:t>
            </a:r>
          </a:p>
          <a:p>
            <a:pPr algn="l">
              <a:spcAft>
                <a:spcPts val="200"/>
              </a:spcAft>
            </a:pPr>
            <a:r>
              <a:rPr sz="900" b="0" i="0">
                <a:solidFill>
                  <a:srgbClr val="595959"/>
                </a:solidFill>
                <a:latin typeface="Consolas"/>
              </a:rPr>
              <a:t>    tradeId, productType, notional, pv</a:t>
            </a:r>
          </a:p>
          <a:p>
            <a:pPr algn="l">
              <a:spcAft>
                <a:spcPts val="200"/>
              </a:spcAft>
            </a:pPr>
            <a:r>
              <a:rPr sz="950" b="0" i="0">
                <a:solidFill>
                  <a:srgbClr val="333333"/>
                </a:solidFill>
                <a:latin typeface="Consolas"/>
              </a:rPr>
              <a:t>  exposureSummary:  im / vm</a:t>
            </a:r>
          </a:p>
          <a:p>
            <a:pPr algn="l">
              <a:spcAft>
                <a:spcPts val="200"/>
              </a:spcAft>
            </a:pPr>
            <a:r>
              <a:rPr sz="950" b="0" i="0">
                <a:solidFill>
                  <a:srgbClr val="333333"/>
                </a:solidFill>
                <a:latin typeface="Consolas"/>
              </a:rPr>
              <a:t>  marginCalls[]</a:t>
            </a:r>
          </a:p>
          <a:p>
            <a:pPr algn="l">
              <a:spcAft>
                <a:spcPts val="200"/>
              </a:spcAft>
            </a:pPr>
            <a:r>
              <a:rPr sz="900" b="0" i="0">
                <a:solidFill>
                  <a:srgbClr val="595959"/>
                </a:solidFill>
                <a:latin typeface="Consolas"/>
              </a:rPr>
              <a:t>    marginType, direction, amount, status</a:t>
            </a:r>
          </a:p>
          <a:p>
            <a:pPr algn="l">
              <a:spcAft>
                <a:spcPts val="200"/>
              </a:spcAft>
            </a:pPr>
            <a:r>
              <a:rPr sz="950" b="0" i="0">
                <a:solidFill>
                  <a:srgbClr val="333333"/>
                </a:solidFill>
                <a:latin typeface="Consolas"/>
              </a:rPr>
              <a:t>  assetHoldings[]</a:t>
            </a:r>
          </a:p>
          <a:p>
            <a:pPr algn="l">
              <a:spcAft>
                <a:spcPts val="200"/>
              </a:spcAft>
            </a:pPr>
            <a:r>
              <a:rPr sz="900" b="0" i="0">
                <a:solidFill>
                  <a:srgbClr val="595959"/>
                </a:solidFill>
                <a:latin typeface="Consolas"/>
              </a:rPr>
              <a:t>    assetId, assetType, issuer, value</a:t>
            </a:r>
          </a:p>
          <a:p>
            <a:pPr algn="l">
              <a:spcAft>
                <a:spcPts val="200"/>
              </a:spcAft>
            </a:pPr>
            <a:r>
              <a:rPr sz="950" b="0" i="0">
                <a:solidFill>
                  <a:srgbClr val="333333"/>
                </a:solidFill>
                <a:latin typeface="Consolas"/>
              </a:rPr>
              <a:t>  assetMovements[]</a:t>
            </a:r>
          </a:p>
          <a:p>
            <a:pPr algn="l">
              <a:spcAft>
                <a:spcPts val="200"/>
              </a:spcAft>
            </a:pPr>
            <a:r>
              <a:rPr sz="900" b="0" i="0">
                <a:solidFill>
                  <a:srgbClr val="595959"/>
                </a:solidFill>
                <a:latin typeface="Consolas"/>
              </a:rPr>
              <a:t>    movementType, amount, settlementDate</a:t>
            </a:r>
          </a:p>
          <a:p>
            <a:pPr algn="l"/>
            <a:r>
              <a:rPr sz="400" b="0" i="0">
                <a:solidFill>
                  <a:srgbClr val="333333"/>
                </a:solidFill>
                <a:latin typeface="Calibri"/>
              </a:rPr>
              <a:t/>
            </a:r>
          </a:p>
          <a:p>
            <a:pPr algn="l"/>
            <a:r>
              <a:rPr sz="1000" b="0" i="1">
                <a:solidFill>
                  <a:srgbClr val="333333"/>
                </a:solidFill>
                <a:latin typeface="Calibri"/>
              </a:rPr>
              <a:t>Everything is folded inside one nested document, one counterparty at a time.</a:t>
            </a:r>
          </a:p>
        </p:txBody>
      </p:sp>
      <p:cxnSp>
        <p:nvCxnSpPr>
          <p:cNvPr id="8" name="Connector 7"/>
          <p:cNvCxnSpPr/>
          <p:nvPr/>
        </p:nvCxnSpPr>
        <p:spPr>
          <a:xfrm>
            <a:off x="5166360" y="4023360"/>
            <a:ext cx="640080" cy="0"/>
          </a:xfrm>
          <a:prstGeom prst="line">
            <a:avLst/>
          </a:prstGeom>
          <a:ln w="38100">
            <a:solidFill>
              <a:srgbClr val="176B2C"/>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29200" y="3611880"/>
            <a:ext cx="914400" cy="320040"/>
          </a:xfrm>
          <a:prstGeom prst="rect">
            <a:avLst/>
          </a:prstGeom>
          <a:noFill/>
        </p:spPr>
        <p:txBody>
          <a:bodyPr wrap="square" lIns="45720" rIns="45720" tIns="18288" bIns="18288" anchor="t">
            <a:spAutoFit/>
          </a:bodyPr>
          <a:lstStyle/>
          <a:p>
            <a:pPr algn="ctr"/>
            <a:r>
              <a:rPr sz="1000" b="1" i="1">
                <a:solidFill>
                  <a:srgbClr val="176B2C"/>
                </a:solidFill>
                <a:latin typeface="Calibri"/>
              </a:rPr>
              <a:t>explode</a:t>
            </a:r>
          </a:p>
        </p:txBody>
      </p:sp>
      <p:sp>
        <p:nvSpPr>
          <p:cNvPr id="10" name="TextBox 9"/>
          <p:cNvSpPr txBox="1"/>
          <p:nvPr/>
        </p:nvSpPr>
        <p:spPr>
          <a:xfrm>
            <a:off x="5943600" y="1691640"/>
            <a:ext cx="5852160" cy="365760"/>
          </a:xfrm>
          <a:prstGeom prst="rect">
            <a:avLst/>
          </a:prstGeom>
          <a:noFill/>
        </p:spPr>
        <p:txBody>
          <a:bodyPr wrap="square" lIns="45720" rIns="45720" tIns="18288" bIns="18288" anchor="t">
            <a:spAutoFit/>
          </a:bodyPr>
          <a:lstStyle/>
          <a:p>
            <a:pPr algn="l"/>
            <a:r>
              <a:rPr sz="1300" b="1" i="0">
                <a:solidFill>
                  <a:srgbClr val="176B2C"/>
                </a:solidFill>
                <a:latin typeface="Calibri"/>
              </a:rPr>
              <a:t>Resolved — canonical entities</a:t>
            </a:r>
          </a:p>
        </p:txBody>
      </p:sp>
      <p:sp>
        <p:nvSpPr>
          <p:cNvPr id="11" name="Rounded Rectangle 10"/>
          <p:cNvSpPr/>
          <p:nvPr/>
        </p:nvSpPr>
        <p:spPr>
          <a:xfrm>
            <a:off x="5943600" y="2057400"/>
            <a:ext cx="5852160" cy="548640"/>
          </a:xfrm>
          <a:prstGeom prst="roundRect">
            <a:avLst/>
          </a:prstGeom>
          <a:solidFill>
            <a:srgbClr val="E5F0DD"/>
          </a:solidFill>
          <a:ln w="1270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2112264"/>
            <a:ext cx="2468880" cy="438912"/>
          </a:xfrm>
          <a:prstGeom prst="rect">
            <a:avLst/>
          </a:prstGeom>
          <a:noFill/>
        </p:spPr>
        <p:txBody>
          <a:bodyPr wrap="square" lIns="45720" rIns="45720" tIns="18288" bIns="18288" anchor="ctr">
            <a:spAutoFit/>
          </a:bodyPr>
          <a:lstStyle/>
          <a:p>
            <a:pPr algn="l"/>
            <a:r>
              <a:rPr sz="1050" b="1" i="0">
                <a:solidFill>
                  <a:srgbClr val="176B2C"/>
                </a:solidFill>
                <a:latin typeface="Calibri"/>
              </a:rPr>
              <a:t>Agreement / Component</a:t>
            </a:r>
          </a:p>
        </p:txBody>
      </p:sp>
      <p:sp>
        <p:nvSpPr>
          <p:cNvPr id="13" name="TextBox 12"/>
          <p:cNvSpPr txBox="1"/>
          <p:nvPr/>
        </p:nvSpPr>
        <p:spPr>
          <a:xfrm>
            <a:off x="8686800" y="2112264"/>
            <a:ext cx="3017520" cy="438912"/>
          </a:xfrm>
          <a:prstGeom prst="rect">
            <a:avLst/>
          </a:prstGeom>
          <a:noFill/>
        </p:spPr>
        <p:txBody>
          <a:bodyPr wrap="square" lIns="45720" rIns="45720" tIns="18288" bIns="18288" anchor="ctr">
            <a:spAutoFit/>
          </a:bodyPr>
          <a:lstStyle/>
          <a:p>
            <a:pPr algn="l"/>
            <a:r>
              <a:rPr sz="950" b="0" i="0">
                <a:solidFill>
                  <a:srgbClr val="333333"/>
                </a:solidFill>
                <a:latin typeface="Calibri"/>
              </a:rPr>
              <a:t>identifiers, parties, base currency</a:t>
            </a:r>
          </a:p>
        </p:txBody>
      </p:sp>
      <p:sp>
        <p:nvSpPr>
          <p:cNvPr id="14" name="Rounded Rectangle 13"/>
          <p:cNvSpPr/>
          <p:nvPr/>
        </p:nvSpPr>
        <p:spPr>
          <a:xfrm>
            <a:off x="5943600" y="2642616"/>
            <a:ext cx="5852160" cy="548640"/>
          </a:xfrm>
          <a:prstGeom prst="roundRect">
            <a:avLst/>
          </a:prstGeom>
          <a:solidFill>
            <a:srgbClr val="E5F0DD"/>
          </a:solidFill>
          <a:ln w="1270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2697480"/>
            <a:ext cx="2468880" cy="438912"/>
          </a:xfrm>
          <a:prstGeom prst="rect">
            <a:avLst/>
          </a:prstGeom>
          <a:noFill/>
        </p:spPr>
        <p:txBody>
          <a:bodyPr wrap="square" lIns="45720" rIns="45720" tIns="18288" bIns="18288" anchor="ctr">
            <a:spAutoFit/>
          </a:bodyPr>
          <a:lstStyle/>
          <a:p>
            <a:pPr algn="l"/>
            <a:r>
              <a:rPr sz="1050" b="1" i="0">
                <a:solidFill>
                  <a:srgbClr val="176B2C"/>
                </a:solidFill>
                <a:latin typeface="Calibri"/>
              </a:rPr>
              <a:t>Trade</a:t>
            </a:r>
          </a:p>
        </p:txBody>
      </p:sp>
      <p:sp>
        <p:nvSpPr>
          <p:cNvPr id="16" name="TextBox 15"/>
          <p:cNvSpPr txBox="1"/>
          <p:nvPr/>
        </p:nvSpPr>
        <p:spPr>
          <a:xfrm>
            <a:off x="8686800" y="2697480"/>
            <a:ext cx="3017520" cy="438912"/>
          </a:xfrm>
          <a:prstGeom prst="rect">
            <a:avLst/>
          </a:prstGeom>
          <a:noFill/>
        </p:spPr>
        <p:txBody>
          <a:bodyPr wrap="square" lIns="45720" rIns="45720" tIns="18288" bIns="18288" anchor="ctr">
            <a:spAutoFit/>
          </a:bodyPr>
          <a:lstStyle/>
          <a:p>
            <a:pPr algn="l"/>
            <a:r>
              <a:rPr sz="950" b="0" i="0">
                <a:solidFill>
                  <a:srgbClr val="333333"/>
                </a:solidFill>
                <a:latin typeface="Calibri"/>
              </a:rPr>
              <a:t>the trades generating the exposure</a:t>
            </a:r>
          </a:p>
        </p:txBody>
      </p:sp>
      <p:sp>
        <p:nvSpPr>
          <p:cNvPr id="17" name="Rounded Rectangle 16"/>
          <p:cNvSpPr/>
          <p:nvPr/>
        </p:nvSpPr>
        <p:spPr>
          <a:xfrm>
            <a:off x="5943600" y="3227832"/>
            <a:ext cx="5852160" cy="548640"/>
          </a:xfrm>
          <a:prstGeom prst="roundRect">
            <a:avLst/>
          </a:prstGeom>
          <a:solidFill>
            <a:srgbClr val="E5F0DD"/>
          </a:solidFill>
          <a:ln w="1270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3282696"/>
            <a:ext cx="2468880" cy="438912"/>
          </a:xfrm>
          <a:prstGeom prst="rect">
            <a:avLst/>
          </a:prstGeom>
          <a:noFill/>
        </p:spPr>
        <p:txBody>
          <a:bodyPr wrap="square" lIns="45720" rIns="45720" tIns="18288" bIns="18288" anchor="ctr">
            <a:spAutoFit/>
          </a:bodyPr>
          <a:lstStyle/>
          <a:p>
            <a:pPr algn="l"/>
            <a:r>
              <a:rPr sz="1050" b="1" i="0">
                <a:solidFill>
                  <a:srgbClr val="176B2C"/>
                </a:solidFill>
                <a:latin typeface="Calibri"/>
              </a:rPr>
              <a:t>Exposure</a:t>
            </a:r>
          </a:p>
        </p:txBody>
      </p:sp>
      <p:sp>
        <p:nvSpPr>
          <p:cNvPr id="19" name="TextBox 18"/>
          <p:cNvSpPr txBox="1"/>
          <p:nvPr/>
        </p:nvSpPr>
        <p:spPr>
          <a:xfrm>
            <a:off x="8686800" y="3282696"/>
            <a:ext cx="3017520" cy="438912"/>
          </a:xfrm>
          <a:prstGeom prst="rect">
            <a:avLst/>
          </a:prstGeom>
          <a:noFill/>
        </p:spPr>
        <p:txBody>
          <a:bodyPr wrap="square" lIns="45720" rIns="45720" tIns="18288" bIns="18288" anchor="ctr">
            <a:spAutoFit/>
          </a:bodyPr>
          <a:lstStyle/>
          <a:p>
            <a:pPr algn="l"/>
            <a:r>
              <a:rPr sz="950" b="0" i="0">
                <a:solidFill>
                  <a:srgbClr val="333333"/>
                </a:solidFill>
                <a:latin typeface="Calibri"/>
              </a:rPr>
              <a:t>independent amount + total exposure</a:t>
            </a:r>
          </a:p>
        </p:txBody>
      </p:sp>
      <p:sp>
        <p:nvSpPr>
          <p:cNvPr id="20" name="Rounded Rectangle 19"/>
          <p:cNvSpPr/>
          <p:nvPr/>
        </p:nvSpPr>
        <p:spPr>
          <a:xfrm>
            <a:off x="5943600" y="3813048"/>
            <a:ext cx="5852160" cy="548640"/>
          </a:xfrm>
          <a:prstGeom prst="roundRect">
            <a:avLst/>
          </a:prstGeom>
          <a:solidFill>
            <a:srgbClr val="E5F0DD"/>
          </a:solidFill>
          <a:ln w="1270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0" y="3867912"/>
            <a:ext cx="2468880" cy="438912"/>
          </a:xfrm>
          <a:prstGeom prst="rect">
            <a:avLst/>
          </a:prstGeom>
          <a:noFill/>
        </p:spPr>
        <p:txBody>
          <a:bodyPr wrap="square" lIns="45720" rIns="45720" tIns="18288" bIns="18288" anchor="ctr">
            <a:spAutoFit/>
          </a:bodyPr>
          <a:lstStyle/>
          <a:p>
            <a:pPr algn="l"/>
            <a:r>
              <a:rPr sz="1050" b="1" i="0">
                <a:solidFill>
                  <a:srgbClr val="176B2C"/>
                </a:solidFill>
                <a:latin typeface="Calibri"/>
              </a:rPr>
              <a:t>Margin Call</a:t>
            </a:r>
          </a:p>
        </p:txBody>
      </p:sp>
      <p:sp>
        <p:nvSpPr>
          <p:cNvPr id="22" name="TextBox 21"/>
          <p:cNvSpPr txBox="1"/>
          <p:nvPr/>
        </p:nvSpPr>
        <p:spPr>
          <a:xfrm>
            <a:off x="8686800" y="3867912"/>
            <a:ext cx="3017520" cy="438912"/>
          </a:xfrm>
          <a:prstGeom prst="rect">
            <a:avLst/>
          </a:prstGeom>
          <a:noFill/>
        </p:spPr>
        <p:txBody>
          <a:bodyPr wrap="square" lIns="45720" rIns="45720" tIns="18288" bIns="18288" anchor="ctr">
            <a:spAutoFit/>
          </a:bodyPr>
          <a:lstStyle/>
          <a:p>
            <a:pPr algn="l"/>
            <a:r>
              <a:rPr sz="950" b="0" i="0">
                <a:solidFill>
                  <a:srgbClr val="333333"/>
                </a:solidFill>
                <a:latin typeface="Calibri"/>
              </a:rPr>
              <a:t>each call event — action, status, amount</a:t>
            </a:r>
          </a:p>
        </p:txBody>
      </p:sp>
      <p:sp>
        <p:nvSpPr>
          <p:cNvPr id="23" name="Rounded Rectangle 22"/>
          <p:cNvSpPr/>
          <p:nvPr/>
        </p:nvSpPr>
        <p:spPr>
          <a:xfrm>
            <a:off x="5943600" y="4398264"/>
            <a:ext cx="5852160" cy="548640"/>
          </a:xfrm>
          <a:prstGeom prst="roundRect">
            <a:avLst/>
          </a:prstGeom>
          <a:solidFill>
            <a:srgbClr val="E5F0DD"/>
          </a:solidFill>
          <a:ln w="1270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6480" y="4453128"/>
            <a:ext cx="2468880" cy="438912"/>
          </a:xfrm>
          <a:prstGeom prst="rect">
            <a:avLst/>
          </a:prstGeom>
          <a:noFill/>
        </p:spPr>
        <p:txBody>
          <a:bodyPr wrap="square" lIns="45720" rIns="45720" tIns="18288" bIns="18288" anchor="ctr">
            <a:spAutoFit/>
          </a:bodyPr>
          <a:lstStyle/>
          <a:p>
            <a:pPr algn="l"/>
            <a:r>
              <a:rPr sz="1050" b="1" i="0">
                <a:solidFill>
                  <a:srgbClr val="176B2C"/>
                </a:solidFill>
                <a:latin typeface="Calibri"/>
              </a:rPr>
              <a:t>Asset Holding</a:t>
            </a:r>
          </a:p>
        </p:txBody>
      </p:sp>
      <p:sp>
        <p:nvSpPr>
          <p:cNvPr id="25" name="TextBox 24"/>
          <p:cNvSpPr txBox="1"/>
          <p:nvPr/>
        </p:nvSpPr>
        <p:spPr>
          <a:xfrm>
            <a:off x="8686800" y="4453128"/>
            <a:ext cx="3017520" cy="438912"/>
          </a:xfrm>
          <a:prstGeom prst="rect">
            <a:avLst/>
          </a:prstGeom>
          <a:noFill/>
        </p:spPr>
        <p:txBody>
          <a:bodyPr wrap="square" lIns="45720" rIns="45720" tIns="18288" bIns="18288" anchor="ctr">
            <a:spAutoFit/>
          </a:bodyPr>
          <a:lstStyle/>
          <a:p>
            <a:pPr algn="l"/>
            <a:r>
              <a:rPr sz="950" b="0" i="0">
                <a:solidFill>
                  <a:srgbClr val="333333"/>
                </a:solidFill>
                <a:latin typeface="Calibri"/>
              </a:rPr>
              <a:t>collateral positions held, by asset class</a:t>
            </a:r>
          </a:p>
        </p:txBody>
      </p:sp>
      <p:sp>
        <p:nvSpPr>
          <p:cNvPr id="26" name="Rounded Rectangle 25"/>
          <p:cNvSpPr/>
          <p:nvPr/>
        </p:nvSpPr>
        <p:spPr>
          <a:xfrm>
            <a:off x="5943600" y="4983480"/>
            <a:ext cx="5852160" cy="548640"/>
          </a:xfrm>
          <a:prstGeom prst="roundRect">
            <a:avLst/>
          </a:prstGeom>
          <a:solidFill>
            <a:srgbClr val="E5F0DD"/>
          </a:solidFill>
          <a:ln w="1270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5038344"/>
            <a:ext cx="2468880" cy="438912"/>
          </a:xfrm>
          <a:prstGeom prst="rect">
            <a:avLst/>
          </a:prstGeom>
          <a:noFill/>
        </p:spPr>
        <p:txBody>
          <a:bodyPr wrap="square" lIns="45720" rIns="45720" tIns="18288" bIns="18288" anchor="ctr">
            <a:spAutoFit/>
          </a:bodyPr>
          <a:lstStyle/>
          <a:p>
            <a:pPr algn="l"/>
            <a:r>
              <a:rPr sz="1050" b="1" i="0">
                <a:solidFill>
                  <a:srgbClr val="176B2C"/>
                </a:solidFill>
                <a:latin typeface="Calibri"/>
              </a:rPr>
              <a:t>Asset Movement</a:t>
            </a:r>
          </a:p>
        </p:txBody>
      </p:sp>
      <p:sp>
        <p:nvSpPr>
          <p:cNvPr id="28" name="TextBox 27"/>
          <p:cNvSpPr txBox="1"/>
          <p:nvPr/>
        </p:nvSpPr>
        <p:spPr>
          <a:xfrm>
            <a:off x="8686800" y="5038344"/>
            <a:ext cx="3017520" cy="438912"/>
          </a:xfrm>
          <a:prstGeom prst="rect">
            <a:avLst/>
          </a:prstGeom>
          <a:noFill/>
        </p:spPr>
        <p:txBody>
          <a:bodyPr wrap="square" lIns="45720" rIns="45720" tIns="18288" bIns="18288" anchor="ctr">
            <a:spAutoFit/>
          </a:bodyPr>
          <a:lstStyle/>
          <a:p>
            <a:pPr algn="l"/>
            <a:r>
              <a:rPr sz="950" b="0" i="0">
                <a:solidFill>
                  <a:srgbClr val="333333"/>
                </a:solidFill>
                <a:latin typeface="Calibri"/>
              </a:rPr>
              <a:t>collateral transferred in and out</a:t>
            </a:r>
          </a:p>
        </p:txBody>
      </p:sp>
      <p:sp>
        <p:nvSpPr>
          <p:cNvPr id="29" name="Rounded Rectangle 28"/>
          <p:cNvSpPr/>
          <p:nvPr/>
        </p:nvSpPr>
        <p:spPr>
          <a:xfrm>
            <a:off x="5943600" y="5568696"/>
            <a:ext cx="5852160" cy="548640"/>
          </a:xfrm>
          <a:prstGeom prst="roundRect">
            <a:avLst/>
          </a:prstGeom>
          <a:solidFill>
            <a:srgbClr val="E5F0DD"/>
          </a:solidFill>
          <a:ln w="1270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26480" y="5623560"/>
            <a:ext cx="2468880" cy="438912"/>
          </a:xfrm>
          <a:prstGeom prst="rect">
            <a:avLst/>
          </a:prstGeom>
          <a:noFill/>
        </p:spPr>
        <p:txBody>
          <a:bodyPr wrap="square" lIns="45720" rIns="45720" tIns="18288" bIns="18288" anchor="ctr">
            <a:spAutoFit/>
          </a:bodyPr>
          <a:lstStyle/>
          <a:p>
            <a:pPr algn="l"/>
            <a:r>
              <a:rPr sz="1050" b="1" i="0">
                <a:solidFill>
                  <a:srgbClr val="176B2C"/>
                </a:solidFill>
                <a:latin typeface="Calibri"/>
              </a:rPr>
              <a:t>Dispute</a:t>
            </a:r>
          </a:p>
        </p:txBody>
      </p:sp>
      <p:sp>
        <p:nvSpPr>
          <p:cNvPr id="31" name="TextBox 30"/>
          <p:cNvSpPr txBox="1"/>
          <p:nvPr/>
        </p:nvSpPr>
        <p:spPr>
          <a:xfrm>
            <a:off x="8686800" y="5623560"/>
            <a:ext cx="3017520" cy="438912"/>
          </a:xfrm>
          <a:prstGeom prst="rect">
            <a:avLst/>
          </a:prstGeom>
          <a:noFill/>
        </p:spPr>
        <p:txBody>
          <a:bodyPr wrap="square" lIns="45720" rIns="45720" tIns="18288" bIns="18288" anchor="ctr">
            <a:spAutoFit/>
          </a:bodyPr>
          <a:lstStyle/>
          <a:p>
            <a:pPr algn="l"/>
            <a:r>
              <a:rPr sz="950" b="0" i="0">
                <a:solidFill>
                  <a:srgbClr val="333333"/>
                </a:solidFill>
                <a:latin typeface="Calibri"/>
              </a:rPr>
              <a:t>disputed margin calls</a:t>
            </a:r>
          </a:p>
        </p:txBody>
      </p:sp>
      <p:sp>
        <p:nvSpPr>
          <p:cNvPr id="32" name="TextBox 31"/>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i="1">
                <a:solidFill>
                  <a:srgbClr val="595959"/>
                </a:solidFill>
                <a:latin typeface="Calibri"/>
              </a:rPr>
              <a:t>Data Modeling for Risk — a practical guide</a:t>
            </a:r>
          </a:p>
        </p:txBody>
      </p:sp>
      <p:sp>
        <p:nvSpPr>
          <p:cNvPr id="33" name="TextBox 32"/>
          <p:cNvSpPr txBox="1"/>
          <p:nvPr/>
        </p:nvSpPr>
        <p:spPr>
          <a:xfrm>
            <a:off x="11338560" y="6537960"/>
            <a:ext cx="731520" cy="274320"/>
          </a:xfrm>
          <a:prstGeom prst="rect">
            <a:avLst/>
          </a:prstGeom>
          <a:noFill/>
        </p:spPr>
        <p:txBody>
          <a:bodyPr wrap="square" lIns="45720" rIns="45720" tIns="18288" bIns="18288" anchor="t">
            <a:spAutoFit/>
          </a:bodyPr>
          <a:lstStyle/>
          <a:p>
            <a:pPr algn="r"/>
            <a:r>
              <a:rPr sz="900" b="0" i="0">
                <a:solidFill>
                  <a:srgbClr val="595959"/>
                </a:solidFill>
                <a:latin typeface="Calibri"/>
              </a:rPr>
              <a:t>8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76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bIns="137160"/>
          <a:lstStyle/>
          <a:p>
            <a:pPr algn="l"/>
            <a:r>
              <a:rPr sz="2100" b="1" i="0">
                <a:solidFill>
                  <a:srgbClr val="FFFFFF"/>
                </a:solidFill>
                <a:latin typeface="Calibri"/>
              </a:rPr>
              <a:t>Three models — and how they connect</a:t>
            </a:r>
          </a:p>
        </p:txBody>
      </p:sp>
      <p:sp>
        <p:nvSpPr>
          <p:cNvPr id="3" name="TextBox 2"/>
          <p:cNvSpPr txBox="1"/>
          <p:nvPr/>
        </p:nvSpPr>
        <p:spPr>
          <a:xfrm>
            <a:off x="274320" y="603504"/>
            <a:ext cx="11612880" cy="292608"/>
          </a:xfrm>
          <a:prstGeom prst="rect">
            <a:avLst/>
          </a:prstGeom>
          <a:noFill/>
        </p:spPr>
        <p:txBody>
          <a:bodyPr wrap="square" lIns="45720" rIns="45720" tIns="18288" bIns="18288" anchor="t">
            <a:spAutoFit/>
          </a:bodyPr>
          <a:lstStyle/>
          <a:p>
            <a:pPr algn="l"/>
            <a:r>
              <a:rPr sz="1200" b="0" i="1">
                <a:solidFill>
                  <a:srgbClr val="595959"/>
                </a:solidFill>
                <a:latin typeface="Calibri"/>
              </a:rPr>
              <a:t>Where you are today, and the two models that get you to tomorrow</a:t>
            </a:r>
          </a:p>
        </p:txBody>
      </p:sp>
      <p:sp>
        <p:nvSpPr>
          <p:cNvPr id="4" name="Rounded Rectangle 3"/>
          <p:cNvSpPr/>
          <p:nvPr/>
        </p:nvSpPr>
        <p:spPr>
          <a:xfrm>
            <a:off x="320040" y="1188720"/>
            <a:ext cx="3703320" cy="4114800"/>
          </a:xfrm>
          <a:prstGeom prst="roundRect">
            <a:avLst/>
          </a:prstGeom>
          <a:solidFill>
            <a:srgbClr val="FCE7E6"/>
          </a:solidFill>
          <a:ln w="15875">
            <a:solidFill>
              <a:srgbClr val="882C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188720"/>
            <a:ext cx="3703320" cy="502920"/>
          </a:xfrm>
          <a:prstGeom prst="rect">
            <a:avLst/>
          </a:prstGeom>
          <a:solidFill>
            <a:srgbClr val="882C1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Report model — today</a:t>
            </a:r>
          </a:p>
        </p:txBody>
      </p:sp>
      <p:sp>
        <p:nvSpPr>
          <p:cNvPr id="6" name="TextBox 5"/>
          <p:cNvSpPr txBox="1"/>
          <p:nvPr/>
        </p:nvSpPr>
        <p:spPr>
          <a:xfrm>
            <a:off x="521208" y="1828800"/>
            <a:ext cx="3300984" cy="3291840"/>
          </a:xfrm>
          <a:prstGeom prst="rect">
            <a:avLst/>
          </a:prstGeom>
          <a:noFill/>
        </p:spPr>
        <p:txBody>
          <a:bodyPr wrap="square" lIns="45720" rIns="45720" tIns="18288" bIns="18288">
            <a:spAutoFit/>
          </a:bodyPr>
          <a:lstStyle/>
          <a:p>
            <a:pPr algn="l">
              <a:spcAft>
                <a:spcPts val="600"/>
              </a:spcAft>
            </a:pPr>
            <a:r>
              <a:rPr sz="1050" b="0" i="1">
                <a:solidFill>
                  <a:srgbClr val="333333"/>
                </a:solidFill>
                <a:latin typeface="Calibri"/>
              </a:rPr>
              <a:t>How collateral data is delivered now.</a:t>
            </a:r>
          </a:p>
          <a:p>
            <a:pPr algn="l">
              <a:spcAft>
                <a:spcPts val="500"/>
              </a:spcAft>
            </a:pPr>
            <a:r>
              <a:rPr sz="1050" b="0" i="0">
                <a:solidFill>
                  <a:srgbClr val="333333"/>
                </a:solidFill>
                <a:latin typeface="Calibri"/>
              </a:rPr>
              <a:t>• Many copies, per user and per team</a:t>
            </a:r>
          </a:p>
          <a:p>
            <a:pPr algn="l">
              <a:spcAft>
                <a:spcPts val="500"/>
              </a:spcAft>
            </a:pPr>
            <a:r>
              <a:rPr sz="1050" b="0" i="0">
                <a:solidFill>
                  <a:srgbClr val="333333"/>
                </a:solidFill>
                <a:latin typeface="Calibri"/>
              </a:rPr>
              <a:t>• Modeled and written many times over</a:t>
            </a:r>
          </a:p>
          <a:p>
            <a:pPr algn="l">
              <a:spcAft>
                <a:spcPts val="500"/>
              </a:spcAft>
            </a:pPr>
            <a:r>
              <a:rPr sz="1050" b="0" i="0">
                <a:solidFill>
                  <a:srgbClr val="333333"/>
                </a:solidFill>
                <a:latin typeface="Calibri"/>
              </a:rPr>
              <a:t>• Developer-dependent — every question routes back</a:t>
            </a:r>
          </a:p>
          <a:p>
            <a:pPr algn="l">
              <a:spcAft>
                <a:spcPts val="500"/>
              </a:spcAft>
            </a:pPr>
            <a:r>
              <a:rPr sz="1050" b="0" i="0">
                <a:solidFill>
                  <a:srgbClr val="333333"/>
                </a:solidFill>
                <a:latin typeface="Calibri"/>
              </a:rPr>
              <a:t>• Missing metadata, missing context</a:t>
            </a:r>
          </a:p>
          <a:p>
            <a:pPr algn="l">
              <a:spcAft>
                <a:spcPts val="500"/>
              </a:spcAft>
            </a:pPr>
            <a:r>
              <a:rPr sz="1050" b="0" i="0">
                <a:solidFill>
                  <a:srgbClr val="333333"/>
                </a:solidFill>
                <a:latin typeface="Calibri"/>
              </a:rPr>
              <a:t>• No contract — nothing the consumer can rely on</a:t>
            </a:r>
          </a:p>
          <a:p>
            <a:pPr algn="l"/>
            <a:r>
              <a:rPr sz="1050" b="0" i="0">
                <a:solidFill>
                  <a:srgbClr val="333333"/>
                </a:solidFill>
                <a:latin typeface="Calibri"/>
              </a:rPr>
              <a:t>• Files do not join — names do not line up</a:t>
            </a:r>
          </a:p>
        </p:txBody>
      </p:sp>
      <p:sp>
        <p:nvSpPr>
          <p:cNvPr id="7" name="Rounded Rectangle 6"/>
          <p:cNvSpPr/>
          <p:nvPr/>
        </p:nvSpPr>
        <p:spPr>
          <a:xfrm>
            <a:off x="4279392" y="1188720"/>
            <a:ext cx="3703320" cy="4114800"/>
          </a:xfrm>
          <a:prstGeom prst="roundRect">
            <a:avLst/>
          </a:prstGeom>
          <a:solidFill>
            <a:srgbClr val="E5F0DD"/>
          </a:solidFill>
          <a:ln w="15875">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79392" y="1188720"/>
            <a:ext cx="3703320" cy="502920"/>
          </a:xfrm>
          <a:prstGeom prst="rect">
            <a:avLst/>
          </a:prstGeom>
          <a:solidFill>
            <a:srgbClr val="176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Dimensional model</a:t>
            </a:r>
          </a:p>
        </p:txBody>
      </p:sp>
      <p:sp>
        <p:nvSpPr>
          <p:cNvPr id="9" name="TextBox 8"/>
          <p:cNvSpPr txBox="1"/>
          <p:nvPr/>
        </p:nvSpPr>
        <p:spPr>
          <a:xfrm>
            <a:off x="4480560" y="1828800"/>
            <a:ext cx="3300984" cy="3291840"/>
          </a:xfrm>
          <a:prstGeom prst="rect">
            <a:avLst/>
          </a:prstGeom>
          <a:noFill/>
        </p:spPr>
        <p:txBody>
          <a:bodyPr wrap="square" lIns="45720" rIns="45720" tIns="18288" bIns="18288">
            <a:spAutoFit/>
          </a:bodyPr>
          <a:lstStyle/>
          <a:p>
            <a:pPr algn="l">
              <a:spcAft>
                <a:spcPts val="600"/>
              </a:spcAft>
            </a:pPr>
            <a:r>
              <a:rPr sz="1050" b="0" i="1">
                <a:solidFill>
                  <a:srgbClr val="333333"/>
                </a:solidFill>
                <a:latin typeface="Calibri"/>
              </a:rPr>
              <a:t>The CSV reports, promoted into one shape.</a:t>
            </a:r>
          </a:p>
          <a:p>
            <a:pPr algn="l">
              <a:spcAft>
                <a:spcPts val="500"/>
              </a:spcAft>
            </a:pPr>
            <a:r>
              <a:rPr sz="1050" b="0" i="0">
                <a:solidFill>
                  <a:srgbClr val="333333"/>
                </a:solidFill>
                <a:latin typeface="Calibri"/>
              </a:rPr>
              <a:t>• Facts — F_exposure, F_disputes, F_settlements, F_position</a:t>
            </a:r>
          </a:p>
          <a:p>
            <a:pPr algn="l">
              <a:spcAft>
                <a:spcPts val="500"/>
              </a:spcAft>
            </a:pPr>
            <a:r>
              <a:rPr sz="1050" b="0" i="0">
                <a:solidFill>
                  <a:srgbClr val="333333"/>
                </a:solidFill>
                <a:latin typeface="Calibri"/>
              </a:rPr>
              <a:t>• Surrounded by conformed dimensions — Counterparty, Asset Class, Date, Currency</a:t>
            </a:r>
          </a:p>
          <a:p>
            <a:pPr algn="l">
              <a:spcAft>
                <a:spcPts val="500"/>
              </a:spcAft>
            </a:pPr>
            <a:r>
              <a:rPr sz="1050" b="0" i="0">
                <a:solidFill>
                  <a:srgbClr val="333333"/>
                </a:solidFill>
                <a:latin typeface="Calibri"/>
              </a:rPr>
              <a:t>• Conformed dimensions bridge the separate facts</a:t>
            </a:r>
          </a:p>
          <a:p>
            <a:pPr algn="l">
              <a:spcAft>
                <a:spcPts val="500"/>
              </a:spcAft>
            </a:pPr>
            <a:r>
              <a:rPr sz="1050" b="0" i="0">
                <a:solidFill>
                  <a:srgbClr val="333333"/>
                </a:solidFill>
                <a:latin typeface="Calibri"/>
              </a:rPr>
              <a:t>• Built once — shaped to support many query paths</a:t>
            </a:r>
          </a:p>
          <a:p>
            <a:pPr algn="l"/>
            <a:r>
              <a:rPr sz="1050" b="0" i="0">
                <a:solidFill>
                  <a:srgbClr val="333333"/>
                </a:solidFill>
                <a:latin typeface="Calibri"/>
              </a:rPr>
              <a:t>• Slice, roll up, aggregate — without a developer</a:t>
            </a:r>
          </a:p>
        </p:txBody>
      </p:sp>
      <p:sp>
        <p:nvSpPr>
          <p:cNvPr id="10" name="Rounded Rectangle 9"/>
          <p:cNvSpPr/>
          <p:nvPr/>
        </p:nvSpPr>
        <p:spPr>
          <a:xfrm>
            <a:off x="8238744" y="1188720"/>
            <a:ext cx="3703320" cy="4114800"/>
          </a:xfrm>
          <a:prstGeom prst="roundRect">
            <a:avLst/>
          </a:prstGeom>
          <a:solidFill>
            <a:srgbClr val="FFE9C2"/>
          </a:solidFill>
          <a:ln w="15875">
            <a:solidFill>
              <a:srgbClr val="B46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38744" y="1188720"/>
            <a:ext cx="3703320" cy="502920"/>
          </a:xfrm>
          <a:prstGeom prst="rect">
            <a:avLst/>
          </a:prstGeom>
          <a:solidFill>
            <a:srgbClr val="B46F18"/>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Canonical model</a:t>
            </a:r>
          </a:p>
        </p:txBody>
      </p:sp>
      <p:sp>
        <p:nvSpPr>
          <p:cNvPr id="12" name="TextBox 11"/>
          <p:cNvSpPr txBox="1"/>
          <p:nvPr/>
        </p:nvSpPr>
        <p:spPr>
          <a:xfrm>
            <a:off x="8439912" y="1828800"/>
            <a:ext cx="3300984" cy="3291840"/>
          </a:xfrm>
          <a:prstGeom prst="rect">
            <a:avLst/>
          </a:prstGeom>
          <a:noFill/>
        </p:spPr>
        <p:txBody>
          <a:bodyPr wrap="square" lIns="45720" rIns="45720" tIns="18288" bIns="18288">
            <a:spAutoFit/>
          </a:bodyPr>
          <a:lstStyle/>
          <a:p>
            <a:pPr algn="l">
              <a:spcAft>
                <a:spcPts val="600"/>
              </a:spcAft>
            </a:pPr>
            <a:r>
              <a:rPr sz="1050" b="0" i="1">
                <a:solidFill>
                  <a:srgbClr val="333333"/>
                </a:solidFill>
                <a:latin typeface="Calibri"/>
              </a:rPr>
              <a:t>The JSON domain extract, opened up.</a:t>
            </a:r>
          </a:p>
          <a:p>
            <a:pPr algn="l">
              <a:spcAft>
                <a:spcPts val="500"/>
              </a:spcAft>
            </a:pPr>
            <a:r>
              <a:rPr sz="1050" b="0" i="0">
                <a:solidFill>
                  <a:srgbClr val="333333"/>
                </a:solidFill>
                <a:latin typeface="Calibri"/>
              </a:rPr>
              <a:t>• Many entities — the full picture of the domain</a:t>
            </a:r>
          </a:p>
          <a:p>
            <a:pPr algn="l">
              <a:spcAft>
                <a:spcPts val="500"/>
              </a:spcAft>
            </a:pPr>
            <a:r>
              <a:rPr sz="1050" b="0" i="0">
                <a:solidFill>
                  <a:srgbClr val="333333"/>
                </a:solidFill>
                <a:latin typeface="Calibri"/>
              </a:rPr>
              <a:t>• Independent of any one report or analysis</a:t>
            </a:r>
          </a:p>
          <a:p>
            <a:pPr algn="l">
              <a:spcAft>
                <a:spcPts val="500"/>
              </a:spcAft>
            </a:pPr>
            <a:r>
              <a:rPr sz="1050" b="0" i="0">
                <a:solidFill>
                  <a:srgbClr val="333333"/>
                </a:solidFill>
                <a:latin typeface="Calibri"/>
              </a:rPr>
              <a:t>• Documents entities and their relationships</a:t>
            </a:r>
          </a:p>
          <a:p>
            <a:pPr algn="l">
              <a:spcAft>
                <a:spcPts val="500"/>
              </a:spcAft>
            </a:pPr>
            <a:r>
              <a:rPr sz="1050" b="0" i="0">
                <a:solidFill>
                  <a:srgbClr val="333333"/>
                </a:solidFill>
                <a:latin typeface="Calibri"/>
              </a:rPr>
              <a:t>• Built once — the dimensional view sits on top of it</a:t>
            </a:r>
          </a:p>
          <a:p>
            <a:pPr algn="l"/>
            <a:r>
              <a:rPr sz="1050" b="0" i="0">
                <a:solidFill>
                  <a:srgbClr val="333333"/>
                </a:solidFill>
                <a:latin typeface="Calibri"/>
              </a:rPr>
              <a:t>• Feeds the enterprise CDM</a:t>
            </a:r>
          </a:p>
        </p:txBody>
      </p:sp>
      <p:cxnSp>
        <p:nvCxnSpPr>
          <p:cNvPr id="13" name="Connector 12"/>
          <p:cNvCxnSpPr/>
          <p:nvPr/>
        </p:nvCxnSpPr>
        <p:spPr>
          <a:xfrm>
            <a:off x="4059936" y="3246120.0"/>
            <a:ext cx="182880" cy="0.0"/>
          </a:xfrm>
          <a:prstGeom prst="line">
            <a:avLst/>
          </a:prstGeom>
          <a:ln w="38100">
            <a:solidFill>
              <a:srgbClr val="176B2C"/>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019288" y="3246120.0"/>
            <a:ext cx="182880" cy="0.0"/>
          </a:xfrm>
          <a:prstGeom prst="line">
            <a:avLst/>
          </a:prstGeom>
          <a:ln w="38100">
            <a:solidFill>
              <a:srgbClr val="176B2C"/>
            </a:solidFill>
            <a:tailEnd type="triangle" w="med" h="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931920" y="2788920"/>
            <a:ext cx="438912" cy="274320"/>
          </a:xfrm>
          <a:prstGeom prst="rect">
            <a:avLst/>
          </a:prstGeom>
          <a:noFill/>
        </p:spPr>
        <p:txBody>
          <a:bodyPr wrap="square" lIns="45720" rIns="45720" tIns="18288" bIns="18288" anchor="t">
            <a:spAutoFit/>
          </a:bodyPr>
          <a:lstStyle/>
          <a:p>
            <a:pPr algn="ctr"/>
            <a:r>
              <a:rPr sz="850" b="0" i="1">
                <a:solidFill>
                  <a:srgbClr val="595959"/>
                </a:solidFill>
                <a:latin typeface="Calibri"/>
              </a:rPr>
              <a:t>promote</a:t>
            </a:r>
          </a:p>
        </p:txBody>
      </p:sp>
      <p:sp>
        <p:nvSpPr>
          <p:cNvPr id="16" name="TextBox 15"/>
          <p:cNvSpPr txBox="1"/>
          <p:nvPr/>
        </p:nvSpPr>
        <p:spPr>
          <a:xfrm>
            <a:off x="7891272" y="2788920"/>
            <a:ext cx="438912" cy="274320"/>
          </a:xfrm>
          <a:prstGeom prst="rect">
            <a:avLst/>
          </a:prstGeom>
          <a:noFill/>
        </p:spPr>
        <p:txBody>
          <a:bodyPr wrap="square" lIns="45720" rIns="45720" tIns="18288" bIns="18288" anchor="t">
            <a:spAutoFit/>
          </a:bodyPr>
          <a:lstStyle/>
          <a:p>
            <a:pPr algn="ctr"/>
            <a:r>
              <a:rPr sz="850" b="0" i="1">
                <a:solidFill>
                  <a:srgbClr val="595959"/>
                </a:solidFill>
                <a:latin typeface="Calibri"/>
              </a:rPr>
              <a:t>open up</a:t>
            </a:r>
          </a:p>
        </p:txBody>
      </p:sp>
      <p:sp>
        <p:nvSpPr>
          <p:cNvPr id="17" name="Rectangle 16"/>
          <p:cNvSpPr/>
          <p:nvPr/>
        </p:nvSpPr>
        <p:spPr>
          <a:xfrm>
            <a:off x="320040" y="5486400"/>
            <a:ext cx="11521440" cy="777240"/>
          </a:xfrm>
          <a:prstGeom prst="rect">
            <a:avLst/>
          </a:prstGeom>
          <a:solidFill>
            <a:srgbClr val="176B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559552"/>
            <a:ext cx="11064240" cy="640080"/>
          </a:xfrm>
          <a:prstGeom prst="rect">
            <a:avLst/>
          </a:prstGeom>
          <a:noFill/>
        </p:spPr>
        <p:txBody>
          <a:bodyPr wrap="square" lIns="45720" rIns="45720" tIns="18288" bIns="18288">
            <a:spAutoFit/>
          </a:bodyPr>
          <a:lstStyle/>
          <a:p>
            <a:pPr algn="ctr">
              <a:spcAft>
                <a:spcPts val="200"/>
              </a:spcAft>
            </a:pPr>
            <a:r>
              <a:rPr sz="1150" b="1" i="0">
                <a:solidFill>
                  <a:srgbClr val="FFFFFF"/>
                </a:solidFill>
                <a:latin typeface="Calibri"/>
              </a:rPr>
              <a:t>Both models are built from data the applications already produce — the reports and the extract.</a:t>
            </a:r>
          </a:p>
          <a:p>
            <a:pPr algn="ctr"/>
            <a:r>
              <a:rPr sz="1050" b="0" i="1">
                <a:solidFill>
                  <a:srgbClr val="E5F0DD"/>
                </a:solidFill>
                <a:latin typeface="Calibri"/>
              </a:rPr>
              <a:t>The dimensional model serves analytics. The canonical model feeds the CDM. Neither is a rebuild.</a:t>
            </a:r>
          </a:p>
        </p:txBody>
      </p:sp>
      <p:sp>
        <p:nvSpPr>
          <p:cNvPr id="19" name="TextBox 18"/>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i="1">
                <a:solidFill>
                  <a:srgbClr val="595959"/>
                </a:solidFill>
                <a:latin typeface="Calibri"/>
              </a:rPr>
              <a:t>Data Modeling for Risk — a practical guide</a:t>
            </a:r>
          </a:p>
        </p:txBody>
      </p:sp>
      <p:sp>
        <p:nvSpPr>
          <p:cNvPr id="20" name="TextBox 19"/>
          <p:cNvSpPr txBox="1"/>
          <p:nvPr/>
        </p:nvSpPr>
        <p:spPr>
          <a:xfrm>
            <a:off x="11338560" y="6537960"/>
            <a:ext cx="731520" cy="274320"/>
          </a:xfrm>
          <a:prstGeom prst="rect">
            <a:avLst/>
          </a:prstGeom>
          <a:noFill/>
        </p:spPr>
        <p:txBody>
          <a:bodyPr wrap="square" lIns="45720" rIns="45720" tIns="18288" bIns="18288" anchor="t">
            <a:spAutoFit/>
          </a:bodyPr>
          <a:lstStyle/>
          <a:p>
            <a:pPr algn="r"/>
            <a:r>
              <a:rPr sz="900" b="0" i="0">
                <a:solidFill>
                  <a:srgbClr val="595959"/>
                </a:solidFill>
                <a:latin typeface="Calibri"/>
              </a:rPr>
              <a:t>9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76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bIns="137160"/>
          <a:lstStyle/>
          <a:p>
            <a:pPr algn="l"/>
            <a:r>
              <a:rPr sz="2100" b="1" i="0">
                <a:solidFill>
                  <a:srgbClr val="FFFFFF"/>
                </a:solidFill>
                <a:latin typeface="Calibri"/>
              </a:rPr>
              <a:t>How the data contract ties it together</a:t>
            </a:r>
          </a:p>
        </p:txBody>
      </p:sp>
      <p:sp>
        <p:nvSpPr>
          <p:cNvPr id="3" name="TextBox 2"/>
          <p:cNvSpPr txBox="1"/>
          <p:nvPr/>
        </p:nvSpPr>
        <p:spPr>
          <a:xfrm>
            <a:off x="274320" y="603504"/>
            <a:ext cx="11612880" cy="292608"/>
          </a:xfrm>
          <a:prstGeom prst="rect">
            <a:avLst/>
          </a:prstGeom>
          <a:noFill/>
        </p:spPr>
        <p:txBody>
          <a:bodyPr wrap="square" lIns="45720" rIns="45720" tIns="18288" bIns="18288" anchor="t">
            <a:spAutoFit/>
          </a:bodyPr>
          <a:lstStyle/>
          <a:p>
            <a:pPr algn="l"/>
            <a:r>
              <a:rPr sz="1200" b="0" i="1">
                <a:solidFill>
                  <a:srgbClr val="595959"/>
                </a:solidFill>
                <a:latin typeface="Calibri"/>
              </a:rPr>
              <a:t>The contract is composed from artifacts that already exist — not authored from scratch</a:t>
            </a:r>
          </a:p>
        </p:txBody>
      </p:sp>
      <p:sp>
        <p:nvSpPr>
          <p:cNvPr id="4" name="TextBox 3"/>
          <p:cNvSpPr txBox="1"/>
          <p:nvPr/>
        </p:nvSpPr>
        <p:spPr>
          <a:xfrm>
            <a:off x="320040" y="1005840"/>
            <a:ext cx="11521440" cy="457200"/>
          </a:xfrm>
          <a:prstGeom prst="rect">
            <a:avLst/>
          </a:prstGeom>
          <a:noFill/>
        </p:spPr>
        <p:txBody>
          <a:bodyPr wrap="square" lIns="45720" rIns="45720" tIns="18288" bIns="18288" anchor="t">
            <a:spAutoFit/>
          </a:bodyPr>
          <a:lstStyle/>
          <a:p>
            <a:pPr algn="l"/>
            <a:r>
              <a:rPr sz="1200" b="0" i="0">
                <a:solidFill>
                  <a:srgbClr val="333333"/>
                </a:solidFill>
                <a:latin typeface="Calibri"/>
              </a:rPr>
              <a:t>Every artifact in this deck feeds the data contract. The contract is where they all come together into one governed description of the data product.</a:t>
            </a:r>
          </a:p>
        </p:txBody>
      </p:sp>
      <p:sp>
        <p:nvSpPr>
          <p:cNvPr id="5" name="TextBox 4"/>
          <p:cNvSpPr txBox="1"/>
          <p:nvPr/>
        </p:nvSpPr>
        <p:spPr>
          <a:xfrm>
            <a:off x="365760" y="1554480"/>
            <a:ext cx="4023360" cy="365760"/>
          </a:xfrm>
          <a:prstGeom prst="rect">
            <a:avLst/>
          </a:prstGeom>
          <a:noFill/>
        </p:spPr>
        <p:txBody>
          <a:bodyPr wrap="square" lIns="45720" rIns="45720" tIns="18288" bIns="18288" anchor="t">
            <a:spAutoFit/>
          </a:bodyPr>
          <a:lstStyle/>
          <a:p>
            <a:pPr algn="l"/>
            <a:r>
              <a:rPr sz="1300" b="1" i="0">
                <a:solidFill>
                  <a:srgbClr val="176B2C"/>
                </a:solidFill>
                <a:latin typeface="Calibri"/>
              </a:rPr>
              <a:t>Artifacts already in place</a:t>
            </a:r>
          </a:p>
        </p:txBody>
      </p:sp>
      <p:sp>
        <p:nvSpPr>
          <p:cNvPr id="6" name="Rounded Rectangle 5"/>
          <p:cNvSpPr/>
          <p:nvPr/>
        </p:nvSpPr>
        <p:spPr>
          <a:xfrm>
            <a:off x="365760" y="1965960"/>
            <a:ext cx="4572000" cy="457200"/>
          </a:xfrm>
          <a:prstGeom prst="roundRect">
            <a:avLst/>
          </a:prstGeom>
          <a:solidFill>
            <a:srgbClr val="E5F0DD"/>
          </a:solidFill>
          <a:ln w="9525">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950" b="0" i="0">
                <a:solidFill>
                  <a:srgbClr val="333333"/>
                </a:solidFill>
                <a:latin typeface="Calibri"/>
              </a:rPr>
              <a:t>Dimensional model — grain, dimensions, measures</a:t>
            </a:r>
          </a:p>
        </p:txBody>
      </p:sp>
      <p:sp>
        <p:nvSpPr>
          <p:cNvPr id="7" name="Rounded Rectangle 6"/>
          <p:cNvSpPr/>
          <p:nvPr/>
        </p:nvSpPr>
        <p:spPr>
          <a:xfrm>
            <a:off x="365760" y="2496312"/>
            <a:ext cx="4572000" cy="457200"/>
          </a:xfrm>
          <a:prstGeom prst="roundRect">
            <a:avLst/>
          </a:prstGeom>
          <a:solidFill>
            <a:srgbClr val="E5F0DD"/>
          </a:solidFill>
          <a:ln w="9525">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950" b="0" i="0">
                <a:solidFill>
                  <a:srgbClr val="333333"/>
                </a:solidFill>
                <a:latin typeface="Calibri"/>
              </a:rPr>
              <a:t>Conformed entities — the shared definitions</a:t>
            </a:r>
          </a:p>
        </p:txBody>
      </p:sp>
      <p:sp>
        <p:nvSpPr>
          <p:cNvPr id="8" name="Rounded Rectangle 7"/>
          <p:cNvSpPr/>
          <p:nvPr/>
        </p:nvSpPr>
        <p:spPr>
          <a:xfrm>
            <a:off x="365760" y="3026664"/>
            <a:ext cx="4572000" cy="457200"/>
          </a:xfrm>
          <a:prstGeom prst="roundRect">
            <a:avLst/>
          </a:prstGeom>
          <a:solidFill>
            <a:srgbClr val="E5F0DD"/>
          </a:solidFill>
          <a:ln w="9525">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950" b="0" i="0">
                <a:solidFill>
                  <a:srgbClr val="333333"/>
                </a:solidFill>
                <a:latin typeface="Calibri"/>
              </a:rPr>
              <a:t>Canonical model — entities and relationships</a:t>
            </a:r>
          </a:p>
        </p:txBody>
      </p:sp>
      <p:sp>
        <p:nvSpPr>
          <p:cNvPr id="9" name="Rounded Rectangle 8"/>
          <p:cNvSpPr/>
          <p:nvPr/>
        </p:nvSpPr>
        <p:spPr>
          <a:xfrm>
            <a:off x="365760" y="3557016"/>
            <a:ext cx="4572000" cy="457200"/>
          </a:xfrm>
          <a:prstGeom prst="roundRect">
            <a:avLst/>
          </a:prstGeom>
          <a:solidFill>
            <a:srgbClr val="E5F0DD"/>
          </a:solidFill>
          <a:ln w="9525">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950" b="0" i="0">
                <a:solidFill>
                  <a:srgbClr val="333333"/>
                </a:solidFill>
                <a:latin typeface="Calibri"/>
              </a:rPr>
              <a:t>Naming convention — the agreed names</a:t>
            </a:r>
          </a:p>
        </p:txBody>
      </p:sp>
      <p:sp>
        <p:nvSpPr>
          <p:cNvPr id="10" name="Rounded Rectangle 9"/>
          <p:cNvSpPr/>
          <p:nvPr/>
        </p:nvSpPr>
        <p:spPr>
          <a:xfrm>
            <a:off x="365760" y="4087368"/>
            <a:ext cx="4572000" cy="457200"/>
          </a:xfrm>
          <a:prstGeom prst="roundRect">
            <a:avLst/>
          </a:prstGeom>
          <a:solidFill>
            <a:srgbClr val="E5F0DD"/>
          </a:solidFill>
          <a:ln w="9525">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950" b="0" i="0">
                <a:solidFill>
                  <a:srgbClr val="333333"/>
                </a:solidFill>
                <a:latin typeface="Calibri"/>
              </a:rPr>
              <a:t>Unity Catalog tags — classification, ownership</a:t>
            </a:r>
          </a:p>
        </p:txBody>
      </p:sp>
      <p:sp>
        <p:nvSpPr>
          <p:cNvPr id="11" name="Rounded Rectangle 10"/>
          <p:cNvSpPr/>
          <p:nvPr/>
        </p:nvSpPr>
        <p:spPr>
          <a:xfrm>
            <a:off x="365760" y="4617720"/>
            <a:ext cx="4572000" cy="457200"/>
          </a:xfrm>
          <a:prstGeom prst="roundRect">
            <a:avLst/>
          </a:prstGeom>
          <a:solidFill>
            <a:srgbClr val="E5F0DD"/>
          </a:solidFill>
          <a:ln w="9525">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950" b="0" i="0">
                <a:solidFill>
                  <a:srgbClr val="333333"/>
                </a:solidFill>
                <a:latin typeface="Calibri"/>
              </a:rPr>
              <a:t>Observed lineage — what feeds what</a:t>
            </a:r>
          </a:p>
        </p:txBody>
      </p:sp>
      <p:sp>
        <p:nvSpPr>
          <p:cNvPr id="12" name="Rounded Rectangle 11"/>
          <p:cNvSpPr/>
          <p:nvPr/>
        </p:nvSpPr>
        <p:spPr>
          <a:xfrm>
            <a:off x="365760" y="5148072"/>
            <a:ext cx="4572000" cy="457200"/>
          </a:xfrm>
          <a:prstGeom prst="roundRect">
            <a:avLst/>
          </a:prstGeom>
          <a:solidFill>
            <a:srgbClr val="E5F0DD"/>
          </a:solidFill>
          <a:ln w="9525">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950" b="0" i="0">
                <a:solidFill>
                  <a:srgbClr val="333333"/>
                </a:solidFill>
                <a:latin typeface="Calibri"/>
              </a:rPr>
              <a:t>Consumer registry — who consumes it</a:t>
            </a:r>
          </a:p>
        </p:txBody>
      </p:sp>
      <p:cxnSp>
        <p:nvCxnSpPr>
          <p:cNvPr id="13" name="Connector 12"/>
          <p:cNvCxnSpPr/>
          <p:nvPr/>
        </p:nvCxnSpPr>
        <p:spPr>
          <a:xfrm>
            <a:off x="5120640" y="3520440"/>
            <a:ext cx="822960" cy="0"/>
          </a:xfrm>
          <a:prstGeom prst="line">
            <a:avLst/>
          </a:prstGeom>
          <a:ln w="38100">
            <a:solidFill>
              <a:srgbClr val="176B2C"/>
            </a:solidFill>
            <a:tailEnd type="triangle" w="med" h="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29200" y="3108960"/>
            <a:ext cx="1005840" cy="320040"/>
          </a:xfrm>
          <a:prstGeom prst="rect">
            <a:avLst/>
          </a:prstGeom>
          <a:noFill/>
        </p:spPr>
        <p:txBody>
          <a:bodyPr wrap="square" lIns="45720" rIns="45720" tIns="18288" bIns="18288" anchor="t">
            <a:spAutoFit/>
          </a:bodyPr>
          <a:lstStyle/>
          <a:p>
            <a:pPr algn="ctr"/>
            <a:r>
              <a:rPr sz="900" b="1" i="1">
                <a:solidFill>
                  <a:srgbClr val="176B2C"/>
                </a:solidFill>
                <a:latin typeface="Calibri"/>
              </a:rPr>
              <a:t>compose</a:t>
            </a:r>
          </a:p>
        </p:txBody>
      </p:sp>
      <p:sp>
        <p:nvSpPr>
          <p:cNvPr id="15" name="Rounded Rectangle 14"/>
          <p:cNvSpPr/>
          <p:nvPr/>
        </p:nvSpPr>
        <p:spPr>
          <a:xfrm>
            <a:off x="6126480" y="1783080"/>
            <a:ext cx="5669280" cy="3566160"/>
          </a:xfrm>
          <a:prstGeom prst="roundRect">
            <a:avLst/>
          </a:prstGeom>
          <a:solidFill>
            <a:srgbClr val="FFE9C2"/>
          </a:solidFill>
          <a:ln w="19050">
            <a:solidFill>
              <a:srgbClr val="B46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920240"/>
            <a:ext cx="5212080" cy="365760"/>
          </a:xfrm>
          <a:prstGeom prst="rect">
            <a:avLst/>
          </a:prstGeom>
          <a:noFill/>
        </p:spPr>
        <p:txBody>
          <a:bodyPr wrap="square" lIns="45720" rIns="45720" tIns="18288" bIns="18288" anchor="t">
            <a:spAutoFit/>
          </a:bodyPr>
          <a:lstStyle/>
          <a:p>
            <a:pPr algn="l"/>
            <a:r>
              <a:rPr sz="1400" b="1" i="0">
                <a:solidFill>
                  <a:srgbClr val="B46F18"/>
                </a:solidFill>
                <a:latin typeface="Calibri"/>
              </a:rPr>
              <a:t>The data contract</a:t>
            </a:r>
          </a:p>
        </p:txBody>
      </p:sp>
      <p:sp>
        <p:nvSpPr>
          <p:cNvPr id="17" name="TextBox 16"/>
          <p:cNvSpPr txBox="1"/>
          <p:nvPr/>
        </p:nvSpPr>
        <p:spPr>
          <a:xfrm>
            <a:off x="6355080" y="2331720"/>
            <a:ext cx="5212080" cy="2834640"/>
          </a:xfrm>
          <a:prstGeom prst="rect">
            <a:avLst/>
          </a:prstGeom>
          <a:noFill/>
        </p:spPr>
        <p:txBody>
          <a:bodyPr wrap="square" lIns="45720" rIns="45720" tIns="18288" bIns="18288">
            <a:spAutoFit/>
          </a:bodyPr>
          <a:lstStyle/>
          <a:p>
            <a:pPr algn="l">
              <a:spcAft>
                <a:spcPts val="700"/>
              </a:spcAft>
            </a:pPr>
            <a:r>
              <a:rPr sz="1050" b="0" i="0">
                <a:solidFill>
                  <a:srgbClr val="333333"/>
                </a:solidFill>
                <a:latin typeface="Calibri"/>
              </a:rPr>
              <a:t>One governed description of the data product. Most of it is composed automatically from the artifacts on the left:</a:t>
            </a:r>
          </a:p>
          <a:p>
            <a:pPr algn="l">
              <a:spcAft>
                <a:spcPts val="500"/>
              </a:spcAft>
            </a:pPr>
            <a:r>
              <a:rPr sz="1000" b="0" i="0">
                <a:solidFill>
                  <a:srgbClr val="333333"/>
                </a:solidFill>
                <a:latin typeface="Calibri"/>
              </a:rPr>
              <a:t>• identity &amp; naming   ← naming convention</a:t>
            </a:r>
          </a:p>
          <a:p>
            <a:pPr algn="l">
              <a:spcAft>
                <a:spcPts val="500"/>
              </a:spcAft>
            </a:pPr>
            <a:r>
              <a:rPr sz="1000" b="0" i="0">
                <a:solidFill>
                  <a:srgbClr val="333333"/>
                </a:solidFill>
                <a:latin typeface="Calibri"/>
              </a:rPr>
              <a:t>• grain, dimensions, measures   ← dimensional model</a:t>
            </a:r>
          </a:p>
          <a:p>
            <a:pPr algn="l">
              <a:spcAft>
                <a:spcPts val="500"/>
              </a:spcAft>
            </a:pPr>
            <a:r>
              <a:rPr sz="1000" b="0" i="0">
                <a:solidFill>
                  <a:srgbClr val="333333"/>
                </a:solidFill>
                <a:latin typeface="Calibri"/>
              </a:rPr>
              <a:t>• classification &amp; ownership   ← Unity Catalog tags</a:t>
            </a:r>
          </a:p>
          <a:p>
            <a:pPr algn="l">
              <a:spcAft>
                <a:spcPts val="500"/>
              </a:spcAft>
            </a:pPr>
            <a:r>
              <a:rPr sz="1000" b="0" i="0">
                <a:solidFill>
                  <a:srgbClr val="333333"/>
                </a:solidFill>
                <a:latin typeface="Calibri"/>
              </a:rPr>
              <a:t>• upstream lineage   ← observed lineage</a:t>
            </a:r>
          </a:p>
          <a:p>
            <a:pPr algn="l">
              <a:spcAft>
                <a:spcPts val="500"/>
              </a:spcAft>
            </a:pPr>
            <a:r>
              <a:rPr sz="1000" b="0" i="0">
                <a:solidFill>
                  <a:srgbClr val="333333"/>
                </a:solidFill>
                <a:latin typeface="Calibri"/>
              </a:rPr>
              <a:t>• consumers   ← consumer registry</a:t>
            </a:r>
          </a:p>
          <a:p>
            <a:pPr algn="l">
              <a:spcAft>
                <a:spcPts val="700"/>
              </a:spcAft>
            </a:pPr>
            <a:r>
              <a:rPr sz="1000" b="0" i="0">
                <a:solidFill>
                  <a:srgbClr val="333333"/>
                </a:solidFill>
                <a:latin typeface="Calibri"/>
              </a:rPr>
              <a:t>• entity definitions &amp; rules   ← conformed / canonical model</a:t>
            </a:r>
          </a:p>
          <a:p>
            <a:pPr algn="l"/>
            <a:r>
              <a:rPr sz="1000" b="1" i="0">
                <a:solidFill>
                  <a:srgbClr val="B46F18"/>
                </a:solidFill>
                <a:latin typeface="Calibri"/>
              </a:rPr>
              <a:t>Only the business description and intake context are authored by hand.</a:t>
            </a:r>
          </a:p>
        </p:txBody>
      </p:sp>
      <p:sp>
        <p:nvSpPr>
          <p:cNvPr id="18" name="Rectangle 17"/>
          <p:cNvSpPr/>
          <p:nvPr/>
        </p:nvSpPr>
        <p:spPr>
          <a:xfrm>
            <a:off x="320040" y="5532120"/>
            <a:ext cx="11521440" cy="731520"/>
          </a:xfrm>
          <a:prstGeom prst="rect">
            <a:avLst/>
          </a:prstGeom>
          <a:solidFill>
            <a:srgbClr val="176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50" b="1" i="0">
                <a:solidFill>
                  <a:srgbClr val="FFFFFF"/>
                </a:solidFill>
                <a:latin typeface="Calibri"/>
              </a:rPr>
              <a:t>The contract is an honest reflection of what is already known — not a fresh re-authoring. Build the artifacts well, and the contract mostly writes itself.</a:t>
            </a:r>
          </a:p>
        </p:txBody>
      </p:sp>
      <p:sp>
        <p:nvSpPr>
          <p:cNvPr id="19" name="TextBox 18"/>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i="1">
                <a:solidFill>
                  <a:srgbClr val="595959"/>
                </a:solidFill>
                <a:latin typeface="Calibri"/>
              </a:rPr>
              <a:t>Data Modeling for Risk — a practical guide</a:t>
            </a:r>
          </a:p>
        </p:txBody>
      </p:sp>
      <p:sp>
        <p:nvSpPr>
          <p:cNvPr id="20" name="TextBox 19"/>
          <p:cNvSpPr txBox="1"/>
          <p:nvPr/>
        </p:nvSpPr>
        <p:spPr>
          <a:xfrm>
            <a:off x="11338560" y="6537960"/>
            <a:ext cx="731520" cy="274320"/>
          </a:xfrm>
          <a:prstGeom prst="rect">
            <a:avLst/>
          </a:prstGeom>
          <a:noFill/>
        </p:spPr>
        <p:txBody>
          <a:bodyPr wrap="square" lIns="45720" rIns="45720" tIns="18288" bIns="18288" anchor="t">
            <a:spAutoFit/>
          </a:bodyPr>
          <a:lstStyle/>
          <a:p>
            <a:pPr algn="r"/>
            <a:r>
              <a:rPr sz="900" b="0" i="0">
                <a:solidFill>
                  <a:srgbClr val="595959"/>
                </a:solidFill>
                <a:latin typeface="Calibri"/>
              </a:rPr>
              <a:t>10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76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bIns="137160"/>
          <a:lstStyle/>
          <a:p>
            <a:pPr algn="l"/>
            <a:r>
              <a:rPr sz="2100" b="1" i="0">
                <a:solidFill>
                  <a:srgbClr val="FFFFFF"/>
                </a:solidFill>
                <a:latin typeface="Calibri"/>
              </a:rPr>
              <a:t>North Star — the four threads</a:t>
            </a:r>
          </a:p>
        </p:txBody>
      </p:sp>
      <p:sp>
        <p:nvSpPr>
          <p:cNvPr id="3" name="TextBox 2"/>
          <p:cNvSpPr txBox="1"/>
          <p:nvPr/>
        </p:nvSpPr>
        <p:spPr>
          <a:xfrm>
            <a:off x="274320" y="603504"/>
            <a:ext cx="11612880" cy="292608"/>
          </a:xfrm>
          <a:prstGeom prst="rect">
            <a:avLst/>
          </a:prstGeom>
          <a:noFill/>
        </p:spPr>
        <p:txBody>
          <a:bodyPr wrap="square" lIns="45720" rIns="45720" tIns="18288" bIns="18288" anchor="t">
            <a:spAutoFit/>
          </a:bodyPr>
          <a:lstStyle/>
          <a:p>
            <a:pPr algn="l"/>
            <a:r>
              <a:rPr sz="1200" b="0" i="1">
                <a:solidFill>
                  <a:srgbClr val="595959"/>
                </a:solidFill>
                <a:latin typeface="Calibri"/>
              </a:rPr>
              <a:t>Everything in this deck is part of one of four parallel threads of work</a:t>
            </a:r>
          </a:p>
        </p:txBody>
      </p:sp>
      <p:sp>
        <p:nvSpPr>
          <p:cNvPr id="4" name="Rectangle 3"/>
          <p:cNvSpPr/>
          <p:nvPr/>
        </p:nvSpPr>
        <p:spPr>
          <a:xfrm>
            <a:off x="320040" y="1188720"/>
            <a:ext cx="2788920" cy="4572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59436" bIns="59436"/>
          <a:lstStyle/>
          <a:p>
            <a:pPr algn="l"/>
            <a:r>
              <a:rPr sz="1250" b="1" i="0">
                <a:solidFill>
                  <a:srgbClr val="FFFFFF"/>
                </a:solidFill>
                <a:latin typeface="Calibri"/>
              </a:rPr>
              <a:t>1.  Physical integration</a:t>
            </a:r>
          </a:p>
        </p:txBody>
      </p:sp>
      <p:sp>
        <p:nvSpPr>
          <p:cNvPr id="5" name="Rectangle 4"/>
          <p:cNvSpPr/>
          <p:nvPr/>
        </p:nvSpPr>
        <p:spPr>
          <a:xfrm>
            <a:off x="320040" y="1645920"/>
            <a:ext cx="2788920" cy="365760"/>
          </a:xfrm>
          <a:prstGeom prst="rect">
            <a:avLst/>
          </a:prstGeom>
          <a:solidFill>
            <a:srgbClr val="D9E8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59436" bIns="59436"/>
          <a:lstStyle/>
          <a:p>
            <a:pPr algn="ctr"/>
            <a:r>
              <a:rPr sz="1000" b="0" i="1">
                <a:solidFill>
                  <a:srgbClr val="333333"/>
                </a:solidFill>
                <a:latin typeface="Calibri"/>
              </a:rPr>
              <a:t>Bringing the data together</a:t>
            </a:r>
          </a:p>
        </p:txBody>
      </p:sp>
      <p:sp>
        <p:nvSpPr>
          <p:cNvPr id="6" name="Rectangle 5"/>
          <p:cNvSpPr/>
          <p:nvPr/>
        </p:nvSpPr>
        <p:spPr>
          <a:xfrm>
            <a:off x="320040" y="2011680"/>
            <a:ext cx="2788920" cy="3291840"/>
          </a:xfrm>
          <a:prstGeom prst="rect">
            <a:avLst/>
          </a:prstGeom>
          <a:solidFill>
            <a:srgbClr val="FFFFFF"/>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48840"/>
            <a:ext cx="2514600" cy="1920240"/>
          </a:xfrm>
          <a:prstGeom prst="rect">
            <a:avLst/>
          </a:prstGeom>
          <a:noFill/>
        </p:spPr>
        <p:txBody>
          <a:bodyPr wrap="square" lIns="45720" rIns="45720" tIns="18288" bIns="18288" anchor="t">
            <a:spAutoFit/>
          </a:bodyPr>
          <a:lstStyle/>
          <a:p>
            <a:pPr algn="l"/>
            <a:r>
              <a:rPr sz="1000" b="0" i="0">
                <a:solidFill>
                  <a:srgbClr val="333333"/>
                </a:solidFill>
                <a:latin typeface="Calibri"/>
              </a:rPr>
              <a:t>Risk applications generate data into many stores and formats. Consolidate all of it into one governed analytics platform.</a:t>
            </a:r>
          </a:p>
        </p:txBody>
      </p:sp>
      <p:sp>
        <p:nvSpPr>
          <p:cNvPr id="8" name="Rectangle 7"/>
          <p:cNvSpPr/>
          <p:nvPr/>
        </p:nvSpPr>
        <p:spPr>
          <a:xfrm>
            <a:off x="457200" y="3931920"/>
            <a:ext cx="2514600" cy="1234440"/>
          </a:xfrm>
          <a:prstGeom prst="rect">
            <a:avLst/>
          </a:prstGeom>
          <a:solidFill>
            <a:srgbClr val="D9E8F5"/>
          </a:solidFill>
          <a:ln w="9525">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023360"/>
            <a:ext cx="2295144" cy="1051560"/>
          </a:xfrm>
          <a:prstGeom prst="rect">
            <a:avLst/>
          </a:prstGeom>
          <a:noFill/>
        </p:spPr>
        <p:txBody>
          <a:bodyPr wrap="square" lIns="45720" rIns="45720" tIns="18288" bIns="18288" anchor="t">
            <a:spAutoFit/>
          </a:bodyPr>
          <a:lstStyle/>
          <a:p>
            <a:pPr algn="l"/>
            <a:r>
              <a:rPr sz="950" b="0" i="1">
                <a:solidFill>
                  <a:srgbClr val="333333"/>
                </a:solidFill>
                <a:latin typeface="Calibri"/>
              </a:rPr>
              <a:t>Today: scattered, hard to discover.   Tomorrow: one searchable platform.</a:t>
            </a:r>
          </a:p>
        </p:txBody>
      </p:sp>
      <p:sp>
        <p:nvSpPr>
          <p:cNvPr id="10" name="Rectangle 9"/>
          <p:cNvSpPr/>
          <p:nvPr/>
        </p:nvSpPr>
        <p:spPr>
          <a:xfrm>
            <a:off x="3227832" y="1188720"/>
            <a:ext cx="2788920" cy="457200"/>
          </a:xfrm>
          <a:prstGeom prst="rect">
            <a:avLst/>
          </a:prstGeom>
          <a:solidFill>
            <a:srgbClr val="B46F18"/>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59436" bIns="59436"/>
          <a:lstStyle/>
          <a:p>
            <a:pPr algn="l"/>
            <a:r>
              <a:rPr sz="1250" b="1" i="0">
                <a:solidFill>
                  <a:srgbClr val="FFFFFF"/>
                </a:solidFill>
                <a:latin typeface="Calibri"/>
              </a:rPr>
              <a:t>2.  Structural conformance</a:t>
            </a:r>
          </a:p>
        </p:txBody>
      </p:sp>
      <p:sp>
        <p:nvSpPr>
          <p:cNvPr id="11" name="Rectangle 10"/>
          <p:cNvSpPr/>
          <p:nvPr/>
        </p:nvSpPr>
        <p:spPr>
          <a:xfrm>
            <a:off x="3227832" y="1645920"/>
            <a:ext cx="2788920" cy="365760"/>
          </a:xfrm>
          <a:prstGeom prst="rect">
            <a:avLst/>
          </a:prstGeom>
          <a:solidFill>
            <a:srgbClr val="FFE9C2"/>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59436" bIns="59436"/>
          <a:lstStyle/>
          <a:p>
            <a:pPr algn="ctr"/>
            <a:r>
              <a:rPr sz="1000" b="0" i="1">
                <a:solidFill>
                  <a:srgbClr val="333333"/>
                </a:solidFill>
                <a:latin typeface="Calibri"/>
              </a:rPr>
              <a:t>Making entities consistent</a:t>
            </a:r>
          </a:p>
        </p:txBody>
      </p:sp>
      <p:sp>
        <p:nvSpPr>
          <p:cNvPr id="12" name="Rectangle 11"/>
          <p:cNvSpPr/>
          <p:nvPr/>
        </p:nvSpPr>
        <p:spPr>
          <a:xfrm>
            <a:off x="3227832" y="2011680"/>
            <a:ext cx="2788920" cy="3291840"/>
          </a:xfrm>
          <a:prstGeom prst="rect">
            <a:avLst/>
          </a:prstGeom>
          <a:solidFill>
            <a:srgbClr val="FFFFFF"/>
          </a:solidFill>
          <a:ln w="12700">
            <a:solidFill>
              <a:srgbClr val="B46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64992" y="2148840"/>
            <a:ext cx="2514600" cy="1920240"/>
          </a:xfrm>
          <a:prstGeom prst="rect">
            <a:avLst/>
          </a:prstGeom>
          <a:noFill/>
        </p:spPr>
        <p:txBody>
          <a:bodyPr wrap="square" lIns="45720" rIns="45720" tIns="18288" bIns="18288" anchor="t">
            <a:spAutoFit/>
          </a:bodyPr>
          <a:lstStyle/>
          <a:p>
            <a:pPr algn="l"/>
            <a:r>
              <a:rPr sz="1000" b="0" i="0">
                <a:solidFill>
                  <a:srgbClr val="333333"/>
                </a:solidFill>
                <a:latin typeface="Calibri"/>
              </a:rPr>
              <a:t>Resolve how entities are represented. Different systems classify asset class differently, key counterparties differently. Conformance reconciles it.</a:t>
            </a:r>
          </a:p>
        </p:txBody>
      </p:sp>
      <p:sp>
        <p:nvSpPr>
          <p:cNvPr id="14" name="Rectangle 13"/>
          <p:cNvSpPr/>
          <p:nvPr/>
        </p:nvSpPr>
        <p:spPr>
          <a:xfrm>
            <a:off x="3364992" y="3931920"/>
            <a:ext cx="2514600" cy="1234440"/>
          </a:xfrm>
          <a:prstGeom prst="rect">
            <a:avLst/>
          </a:prstGeom>
          <a:solidFill>
            <a:srgbClr val="FFE9C2"/>
          </a:solidFill>
          <a:ln w="9525">
            <a:solidFill>
              <a:srgbClr val="B46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4023360"/>
            <a:ext cx="2295144" cy="1051560"/>
          </a:xfrm>
          <a:prstGeom prst="rect">
            <a:avLst/>
          </a:prstGeom>
          <a:noFill/>
        </p:spPr>
        <p:txBody>
          <a:bodyPr wrap="square" lIns="45720" rIns="45720" tIns="18288" bIns="18288" anchor="t">
            <a:spAutoFit/>
          </a:bodyPr>
          <a:lstStyle/>
          <a:p>
            <a:pPr algn="l"/>
            <a:r>
              <a:rPr sz="950" b="0" i="1">
                <a:solidFill>
                  <a:srgbClr val="333333"/>
                </a:solidFill>
                <a:latin typeface="Calibri"/>
              </a:rPr>
              <a:t>Today: each system its own way.   Tomorrow: conformed entities, explicit rules.</a:t>
            </a:r>
          </a:p>
        </p:txBody>
      </p:sp>
      <p:sp>
        <p:nvSpPr>
          <p:cNvPr id="16" name="Rectangle 15"/>
          <p:cNvSpPr/>
          <p:nvPr/>
        </p:nvSpPr>
        <p:spPr>
          <a:xfrm>
            <a:off x="6135624" y="1188720"/>
            <a:ext cx="2788920" cy="457200"/>
          </a:xfrm>
          <a:prstGeom prst="rect">
            <a:avLst/>
          </a:prstGeom>
          <a:solidFill>
            <a:srgbClr val="176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59436" bIns="59436"/>
          <a:lstStyle/>
          <a:p>
            <a:pPr algn="l"/>
            <a:r>
              <a:rPr sz="1250" b="1" i="0">
                <a:solidFill>
                  <a:srgbClr val="FFFFFF"/>
                </a:solidFill>
                <a:latin typeface="Calibri"/>
              </a:rPr>
              <a:t>3.  Modeling work</a:t>
            </a:r>
          </a:p>
        </p:txBody>
      </p:sp>
      <p:sp>
        <p:nvSpPr>
          <p:cNvPr id="17" name="Rectangle 16"/>
          <p:cNvSpPr/>
          <p:nvPr/>
        </p:nvSpPr>
        <p:spPr>
          <a:xfrm>
            <a:off x="6135624" y="1645920"/>
            <a:ext cx="2788920" cy="365760"/>
          </a:xfrm>
          <a:prstGeom prst="rect">
            <a:avLst/>
          </a:prstGeom>
          <a:solidFill>
            <a:srgbClr val="E5F0DD"/>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59436" bIns="59436"/>
          <a:lstStyle/>
          <a:p>
            <a:pPr algn="ctr"/>
            <a:r>
              <a:rPr sz="1000" b="0" i="1">
                <a:solidFill>
                  <a:srgbClr val="333333"/>
                </a:solidFill>
                <a:latin typeface="Calibri"/>
              </a:rPr>
              <a:t>Documenting how data fits together</a:t>
            </a:r>
          </a:p>
        </p:txBody>
      </p:sp>
      <p:sp>
        <p:nvSpPr>
          <p:cNvPr id="18" name="Rectangle 17"/>
          <p:cNvSpPr/>
          <p:nvPr/>
        </p:nvSpPr>
        <p:spPr>
          <a:xfrm>
            <a:off x="6135624" y="2011680"/>
            <a:ext cx="2788920" cy="3291840"/>
          </a:xfrm>
          <a:prstGeom prst="rect">
            <a:avLst/>
          </a:prstGeom>
          <a:solidFill>
            <a:srgbClr val="FFFFFF"/>
          </a:solidFill>
          <a:ln w="1270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72784" y="2148840"/>
            <a:ext cx="2514600" cy="1920240"/>
          </a:xfrm>
          <a:prstGeom prst="rect">
            <a:avLst/>
          </a:prstGeom>
          <a:noFill/>
        </p:spPr>
        <p:txBody>
          <a:bodyPr wrap="square" lIns="45720" rIns="45720" tIns="18288" bIns="18288" anchor="t">
            <a:spAutoFit/>
          </a:bodyPr>
          <a:lstStyle/>
          <a:p>
            <a:pPr algn="l"/>
            <a:r>
              <a:rPr sz="1000" b="0" i="0">
                <a:solidFill>
                  <a:srgbClr val="333333"/>
                </a:solidFill>
                <a:latin typeface="Calibri"/>
              </a:rPr>
              <a:t>The dimensional model and the canonical model. Entities and relationships, documented — not left implicit in reports and code.</a:t>
            </a:r>
          </a:p>
        </p:txBody>
      </p:sp>
      <p:sp>
        <p:nvSpPr>
          <p:cNvPr id="20" name="Rectangle 19"/>
          <p:cNvSpPr/>
          <p:nvPr/>
        </p:nvSpPr>
        <p:spPr>
          <a:xfrm>
            <a:off x="6272784" y="3931920"/>
            <a:ext cx="2514600" cy="1234440"/>
          </a:xfrm>
          <a:prstGeom prst="rect">
            <a:avLst/>
          </a:prstGeom>
          <a:solidFill>
            <a:srgbClr val="E5F0DD"/>
          </a:solidFill>
          <a:ln w="9525">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2512" y="4023360"/>
            <a:ext cx="2295144" cy="1051560"/>
          </a:xfrm>
          <a:prstGeom prst="rect">
            <a:avLst/>
          </a:prstGeom>
          <a:noFill/>
        </p:spPr>
        <p:txBody>
          <a:bodyPr wrap="square" lIns="45720" rIns="45720" tIns="18288" bIns="18288" anchor="t">
            <a:spAutoFit/>
          </a:bodyPr>
          <a:lstStyle/>
          <a:p>
            <a:pPr algn="l"/>
            <a:r>
              <a:rPr sz="950" b="0" i="1">
                <a:solidFill>
                  <a:srgbClr val="333333"/>
                </a:solidFill>
                <a:latin typeface="Calibri"/>
              </a:rPr>
              <a:t>Today: data exists but is not modeled.   Tomorrow: a documented, queryable model.</a:t>
            </a:r>
          </a:p>
        </p:txBody>
      </p:sp>
      <p:sp>
        <p:nvSpPr>
          <p:cNvPr id="22" name="Rectangle 21"/>
          <p:cNvSpPr/>
          <p:nvPr/>
        </p:nvSpPr>
        <p:spPr>
          <a:xfrm>
            <a:off x="9043416" y="1188720"/>
            <a:ext cx="2788920" cy="457200"/>
          </a:xfrm>
          <a:prstGeom prst="rect">
            <a:avLst/>
          </a:prstGeom>
          <a:solidFill>
            <a:srgbClr val="176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59436" bIns="59436"/>
          <a:lstStyle/>
          <a:p>
            <a:pPr algn="l"/>
            <a:r>
              <a:rPr sz="1250" b="1" i="0">
                <a:solidFill>
                  <a:srgbClr val="FFFFFF"/>
                </a:solidFill>
                <a:latin typeface="Calibri"/>
              </a:rPr>
              <a:t>4.  From query to model</a:t>
            </a:r>
          </a:p>
        </p:txBody>
      </p:sp>
      <p:sp>
        <p:nvSpPr>
          <p:cNvPr id="23" name="Rectangle 22"/>
          <p:cNvSpPr/>
          <p:nvPr/>
        </p:nvSpPr>
        <p:spPr>
          <a:xfrm>
            <a:off x="9043416" y="1645920"/>
            <a:ext cx="2788920" cy="365760"/>
          </a:xfrm>
          <a:prstGeom prst="rect">
            <a:avLst/>
          </a:prstGeom>
          <a:solidFill>
            <a:srgbClr val="D8E5DD"/>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59436" bIns="59436"/>
          <a:lstStyle/>
          <a:p>
            <a:pPr algn="ctr"/>
            <a:r>
              <a:rPr sz="1000" b="0" i="1">
                <a:solidFill>
                  <a:srgbClr val="333333"/>
                </a:solidFill>
                <a:latin typeface="Calibri"/>
              </a:rPr>
              <a:t>How the business gets answers</a:t>
            </a:r>
          </a:p>
        </p:txBody>
      </p:sp>
      <p:sp>
        <p:nvSpPr>
          <p:cNvPr id="24" name="Rectangle 23"/>
          <p:cNvSpPr/>
          <p:nvPr/>
        </p:nvSpPr>
        <p:spPr>
          <a:xfrm>
            <a:off x="9043416" y="2011680"/>
            <a:ext cx="2788920" cy="3291840"/>
          </a:xfrm>
          <a:prstGeom prst="rect">
            <a:avLst/>
          </a:prstGeom>
          <a:solidFill>
            <a:srgbClr val="FFFFFF"/>
          </a:solidFill>
          <a:ln w="1270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80576" y="2148840"/>
            <a:ext cx="2514600" cy="1920240"/>
          </a:xfrm>
          <a:prstGeom prst="rect">
            <a:avLst/>
          </a:prstGeom>
          <a:noFill/>
        </p:spPr>
        <p:txBody>
          <a:bodyPr wrap="square" lIns="45720" rIns="45720" tIns="18288" bIns="18288" anchor="t">
            <a:spAutoFit/>
          </a:bodyPr>
          <a:lstStyle/>
          <a:p>
            <a:pPr algn="l"/>
            <a:r>
              <a:rPr sz="1000" b="0" i="0">
                <a:solidFill>
                  <a:srgbClr val="333333"/>
                </a:solidFill>
                <a:latin typeface="Calibri"/>
              </a:rPr>
              <a:t>Replace the one-off-query pattern with a model the business queries directly. Developer time goes into the model, not into each question.</a:t>
            </a:r>
          </a:p>
        </p:txBody>
      </p:sp>
      <p:sp>
        <p:nvSpPr>
          <p:cNvPr id="26" name="Rectangle 25"/>
          <p:cNvSpPr/>
          <p:nvPr/>
        </p:nvSpPr>
        <p:spPr>
          <a:xfrm>
            <a:off x="9180576" y="3931920"/>
            <a:ext cx="2514600" cy="1234440"/>
          </a:xfrm>
          <a:prstGeom prst="rect">
            <a:avLst/>
          </a:prstGeom>
          <a:solidFill>
            <a:srgbClr val="D8E5DD"/>
          </a:solidFill>
          <a:ln w="9525">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90304" y="4023360"/>
            <a:ext cx="2295144" cy="1051560"/>
          </a:xfrm>
          <a:prstGeom prst="rect">
            <a:avLst/>
          </a:prstGeom>
          <a:noFill/>
        </p:spPr>
        <p:txBody>
          <a:bodyPr wrap="square" lIns="45720" rIns="45720" tIns="18288" bIns="18288" anchor="t">
            <a:spAutoFit/>
          </a:bodyPr>
          <a:lstStyle/>
          <a:p>
            <a:pPr algn="l"/>
            <a:r>
              <a:rPr sz="950" b="0" i="1">
                <a:solidFill>
                  <a:srgbClr val="333333"/>
                </a:solidFill>
                <a:latin typeface="Calibri"/>
              </a:rPr>
              <a:t>Today: every question waits on a developer.   Tomorrow: the business self-serves.</a:t>
            </a:r>
          </a:p>
        </p:txBody>
      </p:sp>
      <p:sp>
        <p:nvSpPr>
          <p:cNvPr id="28" name="Rectangle 27"/>
          <p:cNvSpPr/>
          <p:nvPr/>
        </p:nvSpPr>
        <p:spPr>
          <a:xfrm>
            <a:off x="320040" y="5486400"/>
            <a:ext cx="11521440" cy="731520"/>
          </a:xfrm>
          <a:prstGeom prst="rect">
            <a:avLst/>
          </a:prstGeom>
          <a:solidFill>
            <a:srgbClr val="176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Calibri"/>
              </a:rPr>
              <a:t>All four threads converge on the same target — trustworthy risk data that is discoverable, consistent, and self-servable.</a:t>
            </a:r>
          </a:p>
        </p:txBody>
      </p:sp>
      <p:sp>
        <p:nvSpPr>
          <p:cNvPr id="29" name="TextBox 28"/>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i="1">
                <a:solidFill>
                  <a:srgbClr val="595959"/>
                </a:solidFill>
                <a:latin typeface="Calibri"/>
              </a:rPr>
              <a:t>Data Modeling for Risk — a practical guide</a:t>
            </a:r>
          </a:p>
        </p:txBody>
      </p:sp>
      <p:sp>
        <p:nvSpPr>
          <p:cNvPr id="30" name="TextBox 29"/>
          <p:cNvSpPr txBox="1"/>
          <p:nvPr/>
        </p:nvSpPr>
        <p:spPr>
          <a:xfrm>
            <a:off x="11338560" y="6537960"/>
            <a:ext cx="731520" cy="274320"/>
          </a:xfrm>
          <a:prstGeom prst="rect">
            <a:avLst/>
          </a:prstGeom>
          <a:noFill/>
        </p:spPr>
        <p:txBody>
          <a:bodyPr wrap="square" lIns="45720" rIns="45720" tIns="18288" bIns="18288" anchor="t">
            <a:spAutoFit/>
          </a:bodyPr>
          <a:lstStyle/>
          <a:p>
            <a:pPr algn="r"/>
            <a:r>
              <a:rPr sz="900" b="0" i="0">
                <a:solidFill>
                  <a:srgbClr val="595959"/>
                </a:solidFill>
                <a:latin typeface="Calibri"/>
              </a:rPr>
              <a:t>11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76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bIns="137160"/>
          <a:lstStyle/>
          <a:p>
            <a:pPr algn="l"/>
            <a:r>
              <a:rPr sz="2100" b="1" i="0">
                <a:solidFill>
                  <a:srgbClr val="FFFFFF"/>
                </a:solidFill>
                <a:latin typeface="Calibri"/>
              </a:rPr>
              <a:t>Appendix — a report with its columns</a:t>
            </a:r>
          </a:p>
        </p:txBody>
      </p:sp>
      <p:sp>
        <p:nvSpPr>
          <p:cNvPr id="3" name="TextBox 2"/>
          <p:cNvSpPr txBox="1"/>
          <p:nvPr/>
        </p:nvSpPr>
        <p:spPr>
          <a:xfrm>
            <a:off x="274320" y="603504"/>
            <a:ext cx="11612880" cy="292608"/>
          </a:xfrm>
          <a:prstGeom prst="rect">
            <a:avLst/>
          </a:prstGeom>
          <a:noFill/>
        </p:spPr>
        <p:txBody>
          <a:bodyPr wrap="square" lIns="45720" rIns="45720" tIns="18288" bIns="18288" anchor="t">
            <a:spAutoFit/>
          </a:bodyPr>
          <a:lstStyle/>
          <a:p>
            <a:pPr algn="l"/>
            <a:r>
              <a:rPr sz="1200" b="0" i="1">
                <a:solidFill>
                  <a:srgbClr val="595959"/>
                </a:solidFill>
                <a:latin typeface="Calibri"/>
              </a:rPr>
              <a:t>Reference: the Daily Exposure file as delivered today</a:t>
            </a:r>
          </a:p>
        </p:txBody>
      </p:sp>
      <p:sp>
        <p:nvSpPr>
          <p:cNvPr id="4" name="TextBox 3"/>
          <p:cNvSpPr txBox="1"/>
          <p:nvPr/>
        </p:nvSpPr>
        <p:spPr>
          <a:xfrm>
            <a:off x="320040" y="1005840"/>
            <a:ext cx="11521440" cy="457200"/>
          </a:xfrm>
          <a:prstGeom prst="rect">
            <a:avLst/>
          </a:prstGeom>
          <a:noFill/>
        </p:spPr>
        <p:txBody>
          <a:bodyPr wrap="square" lIns="45720" rIns="45720" tIns="18288" bIns="18288" anchor="t">
            <a:spAutoFit/>
          </a:bodyPr>
          <a:lstStyle/>
          <a:p>
            <a:pPr algn="l"/>
            <a:r>
              <a:rPr sz="1200" b="0" i="1">
                <a:solidFill>
                  <a:srgbClr val="595959"/>
                </a:solidFill>
                <a:latin typeface="Calibri"/>
              </a:rPr>
              <a:t>This is what one report looks like in full — a wide flat file. It is kept here for reference; the main deck uses a trimmed version to keep the focus on the modeling story.</a:t>
            </a:r>
          </a:p>
        </p:txBody>
      </p:sp>
      <p:sp>
        <p:nvSpPr>
          <p:cNvPr id="5" name="Rectangle 4"/>
          <p:cNvSpPr/>
          <p:nvPr/>
        </p:nvSpPr>
        <p:spPr>
          <a:xfrm>
            <a:off x="457200" y="1691640"/>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Agreement Id</a:t>
            </a:r>
          </a:p>
        </p:txBody>
      </p:sp>
      <p:sp>
        <p:nvSpPr>
          <p:cNvPr id="6" name="Rectangle 5"/>
          <p:cNvSpPr/>
          <p:nvPr/>
        </p:nvSpPr>
        <p:spPr>
          <a:xfrm>
            <a:off x="457200" y="2075688"/>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Event Id</a:t>
            </a:r>
          </a:p>
        </p:txBody>
      </p:sp>
      <p:sp>
        <p:nvSpPr>
          <p:cNvPr id="7" name="Rectangle 6"/>
          <p:cNvSpPr/>
          <p:nvPr/>
        </p:nvSpPr>
        <p:spPr>
          <a:xfrm>
            <a:off x="457200" y="2459736"/>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Event Date</a:t>
            </a:r>
          </a:p>
        </p:txBody>
      </p:sp>
      <p:sp>
        <p:nvSpPr>
          <p:cNvPr id="8" name="Rectangle 7"/>
          <p:cNvSpPr/>
          <p:nvPr/>
        </p:nvSpPr>
        <p:spPr>
          <a:xfrm>
            <a:off x="457200" y="2843784"/>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Counterparty</a:t>
            </a:r>
          </a:p>
        </p:txBody>
      </p:sp>
      <p:sp>
        <p:nvSpPr>
          <p:cNvPr id="9" name="Rectangle 8"/>
          <p:cNvSpPr/>
          <p:nvPr/>
        </p:nvSpPr>
        <p:spPr>
          <a:xfrm>
            <a:off x="457200" y="3227832"/>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Agreement Description</a:t>
            </a:r>
          </a:p>
        </p:txBody>
      </p:sp>
      <p:sp>
        <p:nvSpPr>
          <p:cNvPr id="10" name="Rectangle 9"/>
          <p:cNvSpPr/>
          <p:nvPr/>
        </p:nvSpPr>
        <p:spPr>
          <a:xfrm>
            <a:off x="457200" y="3611880"/>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Base Total Exposure Amount</a:t>
            </a:r>
          </a:p>
        </p:txBody>
      </p:sp>
      <p:sp>
        <p:nvSpPr>
          <p:cNvPr id="11" name="Rectangle 10"/>
          <p:cNvSpPr/>
          <p:nvPr/>
        </p:nvSpPr>
        <p:spPr>
          <a:xfrm>
            <a:off x="457200" y="3995928"/>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OTM Exposure</a:t>
            </a:r>
          </a:p>
        </p:txBody>
      </p:sp>
      <p:sp>
        <p:nvSpPr>
          <p:cNvPr id="12" name="Rectangle 11"/>
          <p:cNvSpPr/>
          <p:nvPr/>
        </p:nvSpPr>
        <p:spPr>
          <a:xfrm>
            <a:off x="457200" y="4379976"/>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Base Call Amount</a:t>
            </a:r>
          </a:p>
        </p:txBody>
      </p:sp>
      <p:sp>
        <p:nvSpPr>
          <p:cNvPr id="13" name="Rectangle 12"/>
          <p:cNvSpPr/>
          <p:nvPr/>
        </p:nvSpPr>
        <p:spPr>
          <a:xfrm>
            <a:off x="4206239" y="1691640"/>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Agreed Amount</a:t>
            </a:r>
          </a:p>
        </p:txBody>
      </p:sp>
      <p:sp>
        <p:nvSpPr>
          <p:cNvPr id="14" name="Rectangle 13"/>
          <p:cNvSpPr/>
          <p:nvPr/>
        </p:nvSpPr>
        <p:spPr>
          <a:xfrm>
            <a:off x="4206239" y="2075688"/>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Call Status</a:t>
            </a:r>
          </a:p>
        </p:txBody>
      </p:sp>
      <p:sp>
        <p:nvSpPr>
          <p:cNvPr id="15" name="Rectangle 14"/>
          <p:cNvSpPr/>
          <p:nvPr/>
        </p:nvSpPr>
        <p:spPr>
          <a:xfrm>
            <a:off x="4206239" y="2459736"/>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Action</a:t>
            </a:r>
          </a:p>
        </p:txBody>
      </p:sp>
      <p:sp>
        <p:nvSpPr>
          <p:cNvPr id="16" name="Rectangle 15"/>
          <p:cNvSpPr/>
          <p:nvPr/>
        </p:nvSpPr>
        <p:spPr>
          <a:xfrm>
            <a:off x="4206239" y="2843784"/>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Margin Type</a:t>
            </a:r>
          </a:p>
        </p:txBody>
      </p:sp>
      <p:sp>
        <p:nvSpPr>
          <p:cNvPr id="17" name="Rectangle 16"/>
          <p:cNvSpPr/>
          <p:nvPr/>
        </p:nvSpPr>
        <p:spPr>
          <a:xfrm>
            <a:off x="4206239" y="3227832"/>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Reporting Currency</a:t>
            </a:r>
          </a:p>
        </p:txBody>
      </p:sp>
      <p:sp>
        <p:nvSpPr>
          <p:cNvPr id="18" name="Rectangle 17"/>
          <p:cNvSpPr/>
          <p:nvPr/>
        </p:nvSpPr>
        <p:spPr>
          <a:xfrm>
            <a:off x="4206239" y="3611880"/>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Reporting Call Amount</a:t>
            </a:r>
          </a:p>
        </p:txBody>
      </p:sp>
      <p:sp>
        <p:nvSpPr>
          <p:cNvPr id="19" name="Rectangle 18"/>
          <p:cNvSpPr/>
          <p:nvPr/>
        </p:nvSpPr>
        <p:spPr>
          <a:xfrm>
            <a:off x="4206239" y="3995928"/>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Base Min Transfer Principal</a:t>
            </a:r>
          </a:p>
        </p:txBody>
      </p:sp>
      <p:sp>
        <p:nvSpPr>
          <p:cNvPr id="20" name="Rectangle 19"/>
          <p:cNvSpPr/>
          <p:nvPr/>
        </p:nvSpPr>
        <p:spPr>
          <a:xfrm>
            <a:off x="4206239" y="4379976"/>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Base Min Transfer Counterparty</a:t>
            </a:r>
          </a:p>
        </p:txBody>
      </p:sp>
      <p:sp>
        <p:nvSpPr>
          <p:cNvPr id="21" name="Rectangle 20"/>
          <p:cNvSpPr/>
          <p:nvPr/>
        </p:nvSpPr>
        <p:spPr>
          <a:xfrm>
            <a:off x="7955278" y="1691640"/>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Counterparty Rounding</a:t>
            </a:r>
          </a:p>
        </p:txBody>
      </p:sp>
      <p:sp>
        <p:nvSpPr>
          <p:cNvPr id="22" name="Rectangle 21"/>
          <p:cNvSpPr/>
          <p:nvPr/>
        </p:nvSpPr>
        <p:spPr>
          <a:xfrm>
            <a:off x="7955278" y="2075688"/>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Principal Rounding</a:t>
            </a:r>
          </a:p>
        </p:txBody>
      </p:sp>
      <p:sp>
        <p:nvSpPr>
          <p:cNvPr id="23" name="Rectangle 22"/>
          <p:cNvSpPr/>
          <p:nvPr/>
        </p:nvSpPr>
        <p:spPr>
          <a:xfrm>
            <a:off x="7955278" y="2459736"/>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Dispute Age</a:t>
            </a:r>
          </a:p>
        </p:txBody>
      </p:sp>
      <p:sp>
        <p:nvSpPr>
          <p:cNvPr id="24" name="Rectangle 23"/>
          <p:cNvSpPr/>
          <p:nvPr/>
        </p:nvSpPr>
        <p:spPr>
          <a:xfrm>
            <a:off x="7955278" y="2843784"/>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IM Requirement</a:t>
            </a:r>
          </a:p>
        </p:txBody>
      </p:sp>
      <p:sp>
        <p:nvSpPr>
          <p:cNvPr id="25" name="Rectangle 24"/>
          <p:cNvSpPr/>
          <p:nvPr/>
        </p:nvSpPr>
        <p:spPr>
          <a:xfrm>
            <a:off x="7955278" y="3227832"/>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Instrument ID</a:t>
            </a:r>
          </a:p>
        </p:txBody>
      </p:sp>
      <p:sp>
        <p:nvSpPr>
          <p:cNvPr id="26" name="Rectangle 25"/>
          <p:cNvSpPr/>
          <p:nvPr/>
        </p:nvSpPr>
        <p:spPr>
          <a:xfrm>
            <a:off x="7955278" y="3611880"/>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Model</a:t>
            </a:r>
          </a:p>
        </p:txBody>
      </p:sp>
      <p:sp>
        <p:nvSpPr>
          <p:cNvPr id="27" name="Rectangle 26"/>
          <p:cNvSpPr/>
          <p:nvPr/>
        </p:nvSpPr>
        <p:spPr>
          <a:xfrm>
            <a:off x="7955278" y="3995928"/>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Booked Amount First Leg</a:t>
            </a:r>
          </a:p>
        </p:txBody>
      </p:sp>
      <p:sp>
        <p:nvSpPr>
          <p:cNvPr id="28" name="Rectangle 27"/>
          <p:cNvSpPr/>
          <p:nvPr/>
        </p:nvSpPr>
        <p:spPr>
          <a:xfrm>
            <a:off x="7955278" y="4379976"/>
            <a:ext cx="3566160" cy="310896"/>
          </a:xfrm>
          <a:prstGeom prst="rect">
            <a:avLst/>
          </a:prstGeom>
          <a:solidFill>
            <a:srgbClr val="D8E5DD"/>
          </a:solidFill>
          <a:ln w="635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0">
                <a:solidFill>
                  <a:srgbClr val="333333"/>
                </a:solidFill>
                <a:latin typeface="Calibri"/>
              </a:rPr>
              <a:t>Booked Amount Second Leg</a:t>
            </a:r>
          </a:p>
        </p:txBody>
      </p:sp>
      <p:sp>
        <p:nvSpPr>
          <p:cNvPr id="29" name="Rectangle 28"/>
          <p:cNvSpPr/>
          <p:nvPr/>
        </p:nvSpPr>
        <p:spPr>
          <a:xfrm>
            <a:off x="457200" y="4983480"/>
            <a:ext cx="11247120" cy="1097280"/>
          </a:xfrm>
          <a:prstGeom prst="rect">
            <a:avLst/>
          </a:prstGeom>
          <a:solidFill>
            <a:srgbClr val="FFE9C2"/>
          </a:solidFill>
          <a:ln w="12700">
            <a:solidFill>
              <a:srgbClr val="B46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5074920"/>
            <a:ext cx="10881360" cy="914400"/>
          </a:xfrm>
          <a:prstGeom prst="rect">
            <a:avLst/>
          </a:prstGeom>
          <a:noFill/>
        </p:spPr>
        <p:txBody>
          <a:bodyPr wrap="square" lIns="45720" rIns="45720" tIns="18288" bIns="18288">
            <a:spAutoFit/>
          </a:bodyPr>
          <a:lstStyle/>
          <a:p>
            <a:pPr algn="l">
              <a:spcAft>
                <a:spcPts val="400"/>
              </a:spcAft>
            </a:pPr>
            <a:r>
              <a:rPr sz="1100" b="1" i="0">
                <a:solidFill>
                  <a:srgbClr val="B46F18"/>
                </a:solidFill>
                <a:latin typeface="Calibri"/>
              </a:rPr>
              <a:t>Around 40 columns in one file — and this is only one of several reports.</a:t>
            </a:r>
          </a:p>
          <a:p>
            <a:pPr algn="l"/>
            <a:r>
              <a:rPr sz="1050" b="0" i="0">
                <a:solidFill>
                  <a:srgbClr val="333333"/>
                </a:solidFill>
                <a:latin typeface="Calibri"/>
              </a:rPr>
              <a:t>A wide flat file is readable, but it carries no schema, no definitions, and no indication of which columns are descriptors, which are calculated numbers, or at what level those numbers were produced. That is the gap the modeling work closes.</a:t>
            </a:r>
          </a:p>
        </p:txBody>
      </p:sp>
      <p:sp>
        <p:nvSpPr>
          <p:cNvPr id="31" name="TextBox 30"/>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i="1">
                <a:solidFill>
                  <a:srgbClr val="595959"/>
                </a:solidFill>
                <a:latin typeface="Calibri"/>
              </a:rPr>
              <a:t>Data Modeling for Risk — a practical guide</a:t>
            </a:r>
          </a:p>
        </p:txBody>
      </p:sp>
      <p:sp>
        <p:nvSpPr>
          <p:cNvPr id="32" name="TextBox 31"/>
          <p:cNvSpPr txBox="1"/>
          <p:nvPr/>
        </p:nvSpPr>
        <p:spPr>
          <a:xfrm>
            <a:off x="11338560" y="6537960"/>
            <a:ext cx="731520" cy="274320"/>
          </a:xfrm>
          <a:prstGeom prst="rect">
            <a:avLst/>
          </a:prstGeom>
          <a:noFill/>
        </p:spPr>
        <p:txBody>
          <a:bodyPr wrap="square" lIns="45720" rIns="45720" tIns="18288" bIns="18288" anchor="t">
            <a:spAutoFit/>
          </a:bodyPr>
          <a:lstStyle/>
          <a:p>
            <a:pPr algn="r"/>
            <a:r>
              <a:rPr sz="900" b="0" i="0">
                <a:solidFill>
                  <a:srgbClr val="595959"/>
                </a:solidFill>
                <a:latin typeface="Calibri"/>
              </a:rPr>
              <a:t>Appendix A1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76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bIns="137160"/>
          <a:lstStyle/>
          <a:p>
            <a:pPr algn="l"/>
            <a:r>
              <a:rPr sz="2100" b="1" i="0">
                <a:solidFill>
                  <a:srgbClr val="FFFFFF"/>
                </a:solidFill>
                <a:latin typeface="Calibri"/>
              </a:rPr>
              <a:t>Appendix — the DDL — one definition</a:t>
            </a:r>
          </a:p>
        </p:txBody>
      </p:sp>
      <p:sp>
        <p:nvSpPr>
          <p:cNvPr id="3" name="TextBox 2"/>
          <p:cNvSpPr txBox="1"/>
          <p:nvPr/>
        </p:nvSpPr>
        <p:spPr>
          <a:xfrm>
            <a:off x="274320" y="603504"/>
            <a:ext cx="11612880" cy="292608"/>
          </a:xfrm>
          <a:prstGeom prst="rect">
            <a:avLst/>
          </a:prstGeom>
          <a:noFill/>
        </p:spPr>
        <p:txBody>
          <a:bodyPr wrap="square" lIns="45720" rIns="45720" tIns="18288" bIns="18288" anchor="t">
            <a:spAutoFit/>
          </a:bodyPr>
          <a:lstStyle/>
          <a:p>
            <a:pPr algn="l"/>
            <a:r>
              <a:rPr sz="1200" b="0" i="1">
                <a:solidFill>
                  <a:srgbClr val="595959"/>
                </a:solidFill>
                <a:latin typeface="Calibri"/>
              </a:rPr>
              <a:t>Reference: the model expressed as a creatable table definition</a:t>
            </a:r>
          </a:p>
        </p:txBody>
      </p:sp>
      <p:sp>
        <p:nvSpPr>
          <p:cNvPr id="4" name="TextBox 3"/>
          <p:cNvSpPr txBox="1"/>
          <p:nvPr/>
        </p:nvSpPr>
        <p:spPr>
          <a:xfrm>
            <a:off x="320040" y="1005840"/>
            <a:ext cx="11521440" cy="502920"/>
          </a:xfrm>
          <a:prstGeom prst="rect">
            <a:avLst/>
          </a:prstGeom>
          <a:noFill/>
        </p:spPr>
        <p:txBody>
          <a:bodyPr wrap="square" lIns="45720" rIns="45720" tIns="18288" bIns="18288" anchor="t">
            <a:spAutoFit/>
          </a:bodyPr>
          <a:lstStyle/>
          <a:p>
            <a:pPr algn="l"/>
            <a:r>
              <a:rPr sz="1200" b="0" i="0">
                <a:solidFill>
                  <a:srgbClr val="333333"/>
                </a:solidFill>
                <a:latin typeface="Calibri"/>
              </a:rPr>
              <a:t>When the modeling work is done, the result is an ordinary table definition (DDL). This one definition is what gets created in the platform — and the same definition is what any modeling tool (PowerDesigner, Erwin) renders as a diagram.</a:t>
            </a:r>
          </a:p>
        </p:txBody>
      </p:sp>
      <p:sp>
        <p:nvSpPr>
          <p:cNvPr id="5" name="Rectangle 4"/>
          <p:cNvSpPr/>
          <p:nvPr/>
        </p:nvSpPr>
        <p:spPr>
          <a:xfrm>
            <a:off x="457200" y="1691640"/>
            <a:ext cx="6766560" cy="4206240"/>
          </a:xfrm>
          <a:prstGeom prst="rect">
            <a:avLst/>
          </a:prstGeom>
          <a:solidFill>
            <a:srgbClr val="F4F4F4"/>
          </a:solidFill>
          <a:ln w="1270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6400800" cy="3931920"/>
          </a:xfrm>
          <a:prstGeom prst="rect">
            <a:avLst/>
          </a:prstGeom>
          <a:noFill/>
        </p:spPr>
        <p:txBody>
          <a:bodyPr wrap="square" lIns="45720" rIns="45720" tIns="18288" bIns="18288">
            <a:spAutoFit/>
          </a:bodyPr>
          <a:lstStyle/>
          <a:p>
            <a:pPr algn="l"/>
            <a:r>
              <a:rPr sz="1050" b="0" i="0">
                <a:solidFill>
                  <a:srgbClr val="176B2C"/>
                </a:solidFill>
                <a:latin typeface="Consolas"/>
              </a:rPr>
              <a:t>CREATE TABLE collateral.f_exposure (</a:t>
            </a:r>
          </a:p>
          <a:p>
            <a:pPr algn="l"/>
            <a:r>
              <a:rPr sz="1050" b="0" i="0">
                <a:solidFill>
                  <a:srgbClr val="176B2C"/>
                </a:solidFill>
                <a:latin typeface="Consolas"/>
              </a:rPr>
              <a:t>  counterparty_id     STRING   NOT NULL,</a:t>
            </a:r>
          </a:p>
          <a:p>
            <a:pPr algn="l"/>
            <a:r>
              <a:rPr sz="1050" b="0" i="0">
                <a:solidFill>
                  <a:srgbClr val="176B2C"/>
                </a:solidFill>
                <a:latin typeface="Consolas"/>
              </a:rPr>
              <a:t>  agreement_id        STRING   NOT NULL,</a:t>
            </a:r>
          </a:p>
          <a:p>
            <a:pPr algn="l"/>
            <a:r>
              <a:rPr sz="1050" b="0" i="0">
                <a:solidFill>
                  <a:srgbClr val="176B2C"/>
                </a:solidFill>
                <a:latin typeface="Consolas"/>
              </a:rPr>
              <a:t>  asset_class_id      STRING   NOT NULL,</a:t>
            </a:r>
          </a:p>
          <a:p>
            <a:pPr algn="l"/>
            <a:r>
              <a:rPr sz="1050" b="0" i="0">
                <a:solidFill>
                  <a:srgbClr val="176B2C"/>
                </a:solidFill>
                <a:latin typeface="Consolas"/>
              </a:rPr>
              <a:t>  business_date       DATE     NOT NULL,</a:t>
            </a:r>
          </a:p>
          <a:p>
            <a:pPr algn="l"/>
            <a:r>
              <a:rPr sz="1050" b="0" i="0">
                <a:solidFill>
                  <a:srgbClr val="176B2C"/>
                </a:solidFill>
                <a:latin typeface="Consolas"/>
              </a:rPr>
              <a:t>  call_status         STRING,</a:t>
            </a:r>
          </a:p>
          <a:p>
            <a:pPr algn="l"/>
            <a:r>
              <a:rPr sz="1050" b="0" i="0">
                <a:solidFill>
                  <a:srgbClr val="176B2C"/>
                </a:solidFill>
                <a:latin typeface="Consolas"/>
              </a:rPr>
              <a:t>  base_exposure_amt   DECIMAL(18,2) NOT NULL,</a:t>
            </a:r>
          </a:p>
          <a:p>
            <a:pPr algn="l"/>
            <a:r>
              <a:rPr sz="1050" b="0" i="0">
                <a:solidFill>
                  <a:srgbClr val="176B2C"/>
                </a:solidFill>
                <a:latin typeface="Consolas"/>
              </a:rPr>
              <a:t>  reporting_currency  STRING   NOT NULL,</a:t>
            </a:r>
          </a:p>
          <a:p>
            <a:pPr algn="l"/>
            <a:r>
              <a:rPr sz="1050" b="0" i="0">
                <a:solidFill>
                  <a:srgbClr val="176B2C"/>
                </a:solidFill>
                <a:latin typeface="Consolas"/>
              </a:rPr>
              <a:t> </a:t>
            </a:r>
          </a:p>
          <a:p>
            <a:pPr algn="l"/>
            <a:r>
              <a:rPr sz="1050" b="0" i="0">
                <a:solidFill>
                  <a:srgbClr val="176B2C"/>
                </a:solidFill>
                <a:latin typeface="Consolas"/>
              </a:rPr>
              <a:t>  PRIMARY KEY (counterparty_id, agreement_id,</a:t>
            </a:r>
          </a:p>
          <a:p>
            <a:pPr algn="l"/>
            <a:r>
              <a:rPr sz="1050" b="0" i="0">
                <a:solidFill>
                  <a:srgbClr val="176B2C"/>
                </a:solidFill>
                <a:latin typeface="Consolas"/>
              </a:rPr>
              <a:t>               asset_class_id, business_date),</a:t>
            </a:r>
          </a:p>
          <a:p>
            <a:pPr algn="l"/>
            <a:r>
              <a:rPr sz="1050" b="0" i="0">
                <a:solidFill>
                  <a:srgbClr val="176B2C"/>
                </a:solidFill>
                <a:latin typeface="Consolas"/>
              </a:rPr>
              <a:t> </a:t>
            </a:r>
          </a:p>
          <a:p>
            <a:pPr algn="l"/>
            <a:r>
              <a:rPr sz="1050" b="0" i="0">
                <a:solidFill>
                  <a:srgbClr val="176B2C"/>
                </a:solidFill>
                <a:latin typeface="Consolas"/>
              </a:rPr>
              <a:t>  FOREIGN KEY (counterparty_id)</a:t>
            </a:r>
          </a:p>
          <a:p>
            <a:pPr algn="l"/>
            <a:r>
              <a:rPr sz="1050" b="0" i="0">
                <a:solidFill>
                  <a:srgbClr val="176B2C"/>
                </a:solidFill>
                <a:latin typeface="Consolas"/>
              </a:rPr>
              <a:t>    REFERENCES core.counterparty(counterparty_id),</a:t>
            </a:r>
          </a:p>
          <a:p>
            <a:pPr algn="l"/>
            <a:r>
              <a:rPr sz="1050" b="0" i="0">
                <a:solidFill>
                  <a:srgbClr val="176B2C"/>
                </a:solidFill>
                <a:latin typeface="Consolas"/>
              </a:rPr>
              <a:t>  FOREIGN KEY (asset_class_id)</a:t>
            </a:r>
          </a:p>
          <a:p>
            <a:pPr algn="l"/>
            <a:r>
              <a:rPr sz="1050" b="0" i="0">
                <a:solidFill>
                  <a:srgbClr val="176B2C"/>
                </a:solidFill>
                <a:latin typeface="Consolas"/>
              </a:rPr>
              <a:t>    REFERENCES core.asset_class(asset_class_id),</a:t>
            </a:r>
          </a:p>
          <a:p>
            <a:pPr algn="l"/>
            <a:r>
              <a:rPr sz="1050" b="0" i="0">
                <a:solidFill>
                  <a:srgbClr val="176B2C"/>
                </a:solidFill>
                <a:latin typeface="Consolas"/>
              </a:rPr>
              <a:t> </a:t>
            </a:r>
          </a:p>
          <a:p>
            <a:pPr algn="l"/>
            <a:r>
              <a:rPr sz="1050" b="0" i="0">
                <a:solidFill>
                  <a:srgbClr val="176B2C"/>
                </a:solidFill>
                <a:latin typeface="Consolas"/>
              </a:rPr>
              <a:t>  CONSTRAINT exposure_amt_set</a:t>
            </a:r>
          </a:p>
          <a:p>
            <a:pPr algn="l"/>
            <a:r>
              <a:rPr sz="1050" b="0" i="0">
                <a:solidFill>
                  <a:srgbClr val="176B2C"/>
                </a:solidFill>
                <a:latin typeface="Consolas"/>
              </a:rPr>
              <a:t>    CHECK (base_exposure_amt IS NOT NULL)</a:t>
            </a:r>
          </a:p>
          <a:p>
            <a:pPr algn="l"/>
            <a:r>
              <a:rPr sz="1050" b="0" i="0">
                <a:solidFill>
                  <a:srgbClr val="176B2C"/>
                </a:solidFill>
                <a:latin typeface="Consolas"/>
              </a:rPr>
              <a:t>);</a:t>
            </a:r>
          </a:p>
        </p:txBody>
      </p:sp>
      <p:sp>
        <p:nvSpPr>
          <p:cNvPr id="7" name="TextBox 6"/>
          <p:cNvSpPr txBox="1"/>
          <p:nvPr/>
        </p:nvSpPr>
        <p:spPr>
          <a:xfrm>
            <a:off x="7498079" y="1691640"/>
            <a:ext cx="4297680" cy="365760"/>
          </a:xfrm>
          <a:prstGeom prst="rect">
            <a:avLst/>
          </a:prstGeom>
          <a:noFill/>
        </p:spPr>
        <p:txBody>
          <a:bodyPr wrap="square" lIns="45720" rIns="45720" tIns="18288" bIns="18288" anchor="t">
            <a:spAutoFit/>
          </a:bodyPr>
          <a:lstStyle/>
          <a:p>
            <a:pPr algn="l"/>
            <a:r>
              <a:rPr sz="1300" b="1" i="0">
                <a:solidFill>
                  <a:srgbClr val="176B2C"/>
                </a:solidFill>
                <a:latin typeface="Calibri"/>
              </a:rPr>
              <a:t>One definition, many renderings</a:t>
            </a:r>
          </a:p>
        </p:txBody>
      </p:sp>
      <p:sp>
        <p:nvSpPr>
          <p:cNvPr id="8" name="TextBox 7"/>
          <p:cNvSpPr txBox="1"/>
          <p:nvPr/>
        </p:nvSpPr>
        <p:spPr>
          <a:xfrm>
            <a:off x="7498079" y="2057400"/>
            <a:ext cx="4297680" cy="2377440"/>
          </a:xfrm>
          <a:prstGeom prst="rect">
            <a:avLst/>
          </a:prstGeom>
          <a:noFill/>
        </p:spPr>
        <p:txBody>
          <a:bodyPr wrap="square" lIns="45720" rIns="45720" tIns="18288" bIns="18288">
            <a:spAutoFit/>
          </a:bodyPr>
          <a:lstStyle/>
          <a:p>
            <a:pPr algn="l">
              <a:spcAft>
                <a:spcPts val="600"/>
              </a:spcAft>
            </a:pPr>
            <a:r>
              <a:rPr sz="1050" b="0" i="0">
                <a:solidFill>
                  <a:srgbClr val="333333"/>
                </a:solidFill>
                <a:latin typeface="Calibri"/>
              </a:rPr>
              <a:t>The DDL is the single source of truth for the table's structure:</a:t>
            </a:r>
          </a:p>
          <a:p>
            <a:pPr algn="l">
              <a:spcAft>
                <a:spcPts val="400"/>
              </a:spcAft>
            </a:pPr>
            <a:r>
              <a:rPr sz="1000" b="0" i="0">
                <a:solidFill>
                  <a:srgbClr val="333333"/>
                </a:solidFill>
                <a:latin typeface="Calibri"/>
              </a:rPr>
              <a:t>• Columns and their data types</a:t>
            </a:r>
          </a:p>
          <a:p>
            <a:pPr algn="l">
              <a:spcAft>
                <a:spcPts val="400"/>
              </a:spcAft>
            </a:pPr>
            <a:r>
              <a:rPr sz="1000" b="0" i="0">
                <a:solidFill>
                  <a:srgbClr val="333333"/>
                </a:solidFill>
                <a:latin typeface="Calibri"/>
              </a:rPr>
              <a:t>• What must be present (NOT NULL)</a:t>
            </a:r>
          </a:p>
          <a:p>
            <a:pPr algn="l">
              <a:spcAft>
                <a:spcPts val="400"/>
              </a:spcAft>
            </a:pPr>
            <a:r>
              <a:rPr sz="1000" b="0" i="0">
                <a:solidFill>
                  <a:srgbClr val="333333"/>
                </a:solidFill>
                <a:latin typeface="Calibri"/>
              </a:rPr>
              <a:t>• The primary key — the grain</a:t>
            </a:r>
          </a:p>
          <a:p>
            <a:pPr algn="l">
              <a:spcAft>
                <a:spcPts val="400"/>
              </a:spcAft>
            </a:pPr>
            <a:r>
              <a:rPr sz="1000" b="0" i="0">
                <a:solidFill>
                  <a:srgbClr val="333333"/>
                </a:solidFill>
                <a:latin typeface="Calibri"/>
              </a:rPr>
              <a:t>• Foreign keys — the joins to conformed entities</a:t>
            </a:r>
          </a:p>
          <a:p>
            <a:pPr algn="l">
              <a:spcAft>
                <a:spcPts val="400"/>
              </a:spcAft>
            </a:pPr>
            <a:r>
              <a:rPr sz="1000" b="0" i="0">
                <a:solidFill>
                  <a:srgbClr val="333333"/>
                </a:solidFill>
                <a:latin typeface="Calibri"/>
              </a:rPr>
              <a:t>• Constraints — the rules the data must hold to</a:t>
            </a:r>
          </a:p>
        </p:txBody>
      </p:sp>
      <p:sp>
        <p:nvSpPr>
          <p:cNvPr id="9" name="Rectangle 8"/>
          <p:cNvSpPr/>
          <p:nvPr/>
        </p:nvSpPr>
        <p:spPr>
          <a:xfrm>
            <a:off x="7498079" y="4572000"/>
            <a:ext cx="4297680" cy="1371600"/>
          </a:xfrm>
          <a:prstGeom prst="rect">
            <a:avLst/>
          </a:prstGeom>
          <a:solidFill>
            <a:srgbClr val="E5F0DD"/>
          </a:solidFill>
          <a:ln w="12700">
            <a:solidFill>
              <a:srgbClr val="176B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0" y="4681728"/>
            <a:ext cx="3931920" cy="1188720"/>
          </a:xfrm>
          <a:prstGeom prst="rect">
            <a:avLst/>
          </a:prstGeom>
          <a:noFill/>
        </p:spPr>
        <p:txBody>
          <a:bodyPr wrap="square" lIns="45720" rIns="45720" tIns="18288" bIns="18288">
            <a:spAutoFit/>
          </a:bodyPr>
          <a:lstStyle/>
          <a:p>
            <a:pPr algn="l">
              <a:spcAft>
                <a:spcPts val="400"/>
              </a:spcAft>
            </a:pPr>
            <a:r>
              <a:rPr sz="1050" b="1" i="0">
                <a:solidFill>
                  <a:srgbClr val="176B2C"/>
                </a:solidFill>
                <a:latin typeface="Calibri"/>
              </a:rPr>
              <a:t>The same DDL, three renderings:</a:t>
            </a:r>
          </a:p>
          <a:p>
            <a:pPr algn="l"/>
            <a:r>
              <a:rPr sz="1000" b="0" i="0">
                <a:solidFill>
                  <a:srgbClr val="333333"/>
                </a:solidFill>
                <a:latin typeface="Calibri"/>
              </a:rPr>
              <a:t>PowerDesigner / Erwin render it as a diagram. The platform creates it as a table. The contract references it. One definition underneath all three.</a:t>
            </a:r>
          </a:p>
        </p:txBody>
      </p:sp>
      <p:sp>
        <p:nvSpPr>
          <p:cNvPr id="11" name="TextBox 10"/>
          <p:cNvSpPr txBox="1"/>
          <p:nvPr/>
        </p:nvSpPr>
        <p:spPr>
          <a:xfrm>
            <a:off x="274320" y="6537960"/>
            <a:ext cx="7315200" cy="274320"/>
          </a:xfrm>
          <a:prstGeom prst="rect">
            <a:avLst/>
          </a:prstGeom>
          <a:noFill/>
        </p:spPr>
        <p:txBody>
          <a:bodyPr wrap="square" lIns="45720" rIns="45720" tIns="18288" bIns="18288" anchor="t">
            <a:spAutoFit/>
          </a:bodyPr>
          <a:lstStyle/>
          <a:p>
            <a:pPr algn="l"/>
            <a:r>
              <a:rPr sz="900" b="0" i="1">
                <a:solidFill>
                  <a:srgbClr val="595959"/>
                </a:solidFill>
                <a:latin typeface="Calibri"/>
              </a:rPr>
              <a:t>Data Modeling for Risk — a practical guide</a:t>
            </a:r>
          </a:p>
        </p:txBody>
      </p:sp>
      <p:sp>
        <p:nvSpPr>
          <p:cNvPr id="12" name="TextBox 11"/>
          <p:cNvSpPr txBox="1"/>
          <p:nvPr/>
        </p:nvSpPr>
        <p:spPr>
          <a:xfrm>
            <a:off x="11338560" y="6537960"/>
            <a:ext cx="731520" cy="274320"/>
          </a:xfrm>
          <a:prstGeom prst="rect">
            <a:avLst/>
          </a:prstGeom>
          <a:noFill/>
        </p:spPr>
        <p:txBody>
          <a:bodyPr wrap="square" lIns="45720" rIns="45720" tIns="18288" bIns="18288" anchor="t">
            <a:spAutoFit/>
          </a:bodyPr>
          <a:lstStyle/>
          <a:p>
            <a:pPr algn="r"/>
            <a:r>
              <a:rPr sz="900" b="0" i="0">
                <a:solidFill>
                  <a:srgbClr val="595959"/>
                </a:solidFill>
                <a:latin typeface="Calibri"/>
              </a:rPr>
              <a:t>Appendix A2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