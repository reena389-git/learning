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3474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E5F0DD"/>
                </a:solidFill>
                <a:latin typeface="Calibri"/>
              </a:rPr>
              <a:t>Risk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347472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Data Modeling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for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347472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>
                <a:solidFill>
                  <a:srgbClr val="E5F0DD"/>
                </a:solidFill>
                <a:latin typeface="Calibri"/>
              </a:rPr>
              <a:t>A practical guide —</a:t>
            </a:r>
          </a:p>
          <a:p>
            <a:pPr algn="l"/>
            <a:r>
              <a:rPr sz="1600" b="0" i="1">
                <a:solidFill>
                  <a:srgbClr val="E5F0DD"/>
                </a:solidFill>
                <a:latin typeface="Calibri"/>
              </a:rPr>
              <a:t>from application reports</a:t>
            </a:r>
          </a:p>
          <a:p>
            <a:pPr algn="l"/>
            <a:r>
              <a:rPr sz="1600" b="0" i="1">
                <a:solidFill>
                  <a:srgbClr val="E5F0DD"/>
                </a:solidFill>
                <a:latin typeface="Calibri"/>
              </a:rPr>
              <a:t>to conformed 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71323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176B2C"/>
                </a:solidFill>
                <a:latin typeface="Calibri"/>
              </a:rPr>
              <a:t>What this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23160"/>
            <a:ext cx="7132320" cy="228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This is a friendly walkthrough of how risk data gets from where it lives today — flat application reports — to a shared model of the risk domain with conformed entities and trustworthy data products.</a:t>
            </a:r>
          </a:p>
          <a:p>
            <a:pPr algn="l"/>
            <a:endParaRPr sz="13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The good news: you already have most of what you need. The job is to give structure to what's already there.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754880"/>
            <a:ext cx="7132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76B2C"/>
                </a:solidFill>
                <a:latin typeface="Calibri"/>
              </a:rPr>
              <a:t>Who this is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074920"/>
            <a:ext cx="713232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Application teams in risk — anyone whose code produces data that lands somewhere downstream. No prior data modeling experience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Where you are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Honest starting point — application reports, distributed downstream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612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Pick collateral as our example. Today CMOS produces four reports: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468880" cy="1463040"/>
          </a:xfrm>
          <a:prstGeom prst="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Collateral Position</a:t>
            </a:r>
          </a:p>
          <a:p>
            <a:pPr algn="ctr"/>
            <a:endParaRPr sz="12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Daily positions by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counterparty, CSA, asset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Collateral 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554480"/>
            <a:ext cx="2468880" cy="1463040"/>
          </a:xfrm>
          <a:prstGeom prst="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Collateral Exposure</a:t>
            </a:r>
          </a:p>
          <a:p>
            <a:pPr algn="ctr"/>
            <a:endParaRPr sz="12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Exposure by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counterparty + CSA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69164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Collateral Exposure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554480"/>
            <a:ext cx="2468880" cy="1463040"/>
          </a:xfrm>
          <a:prstGeom prst="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Settlements</a:t>
            </a:r>
          </a:p>
          <a:p>
            <a:pPr algn="ctr"/>
            <a:endParaRPr sz="12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Settlement activity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by counterparty +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69164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Settlements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554480"/>
            <a:ext cx="2468880" cy="1463040"/>
          </a:xfrm>
          <a:prstGeom prst="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Disputes</a:t>
            </a:r>
          </a:p>
          <a:p>
            <a:pPr algn="ctr"/>
            <a:endParaRPr sz="12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Open and resolved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disputes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69164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Disputes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solidFill>
            <a:srgbClr val="FFE9C2"/>
          </a:solidFill>
          <a:ln w="1270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 i="1">
                <a:solidFill>
                  <a:srgbClr val="B46F18"/>
                </a:solidFill>
                <a:latin typeface="Calibri"/>
              </a:rPr>
              <a:t>These are REPORTS, not data products yet.  (For the path that turns reports into governed products, see → 'From Risk Reports to Governed Data Products')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23360"/>
            <a:ext cx="1161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76B2C"/>
                </a:solidFill>
                <a:latin typeface="Calibri"/>
              </a:rPr>
              <a:t>Each report is distributed: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3200400" cy="1188720"/>
          </a:xfrm>
          <a:prstGeom prst="rect">
            <a:avLst/>
          </a:prstGeom>
          <a:solidFill>
            <a:srgbClr val="E5F0DD"/>
          </a:solidFill>
          <a:ln w="12700">
            <a:solidFill>
              <a:srgbClr val="2E8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Downstream consumers</a:t>
            </a:r>
          </a:p>
          <a:p>
            <a:pPr algn="ctr"/>
            <a:endParaRPr sz="11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Credit Ops, Risk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Reporting, Treasury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176B2C"/>
                </a:solidFill>
                <a:latin typeface="Calibri"/>
              </a:rPr>
              <a:t>Downstream consumers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434840"/>
            <a:ext cx="3200400" cy="1188720"/>
          </a:xfrm>
          <a:prstGeom prst="rect">
            <a:avLst/>
          </a:prstGeom>
          <a:solidFill>
            <a:srgbClr val="E5F0DD"/>
          </a:solidFill>
          <a:ln w="12700">
            <a:solidFill>
              <a:srgbClr val="2E8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Upstream partners</a:t>
            </a:r>
          </a:p>
          <a:p>
            <a:pPr algn="ctr"/>
            <a:endParaRPr sz="11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Limits engine,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Counterparty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7200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176B2C"/>
                </a:solidFill>
                <a:latin typeface="Calibri"/>
              </a:rPr>
              <a:t>Upstream partners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434840"/>
            <a:ext cx="3200400" cy="1188720"/>
          </a:xfrm>
          <a:prstGeom prst="rect">
            <a:avLst/>
          </a:prstGeom>
          <a:solidFill>
            <a:srgbClr val="E5F0DD"/>
          </a:solidFill>
          <a:ln w="12700">
            <a:solidFill>
              <a:srgbClr val="2E8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Regulatory feeds</a:t>
            </a:r>
          </a:p>
          <a:p>
            <a:pPr algn="ctr"/>
            <a:endParaRPr sz="11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CCR, BCBS,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LCR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57200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176B2C"/>
                </a:solidFill>
                <a:latin typeface="Calibri"/>
              </a:rPr>
              <a:t>Regulatory feeds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The data exists — it's just not modeled yet. That's what we'll do in the next few slides.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Where we're heading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Conformed entities, a shared risk domain model, governed data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8760" y="4754880"/>
            <a:ext cx="9144000" cy="777240"/>
          </a:xfrm>
          <a:prstGeom prst="rect">
            <a:avLst/>
          </a:prstGeom>
          <a:solidFill>
            <a:srgbClr val="FCE7E6"/>
          </a:solidFill>
          <a:ln w="1270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91640" y="480060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882C1F"/>
                </a:solidFill>
                <a:latin typeface="Calibri"/>
              </a:rPr>
              <a:t>App level — where you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5047488"/>
            <a:ext cx="87782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Flat reports. Each app names entities its own way. CMOS counterparty ≠ ALFA counterparty (yet). FX from MIDAS in CMOS, LAMP in ALFA.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0" y="4389120"/>
            <a:ext cx="0" cy="365760"/>
          </a:xfrm>
          <a:prstGeom prst="line">
            <a:avLst/>
          </a:prstGeom>
          <a:ln w="25400">
            <a:solidFill>
              <a:srgbClr val="176B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508760" y="3291840"/>
            <a:ext cx="9144000" cy="1097280"/>
          </a:xfrm>
          <a:prstGeom prst="rect">
            <a:avLst/>
          </a:prstGeom>
          <a:solidFill>
            <a:srgbClr val="FFE9C2"/>
          </a:solidFill>
          <a:ln w="190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91640" y="33375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B46F18"/>
                </a:solidFill>
                <a:latin typeface="Calibri"/>
              </a:rPr>
              <a:t>Conformed layer — where modeling happens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611880"/>
            <a:ext cx="877824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Entities identified across apps and resolved into one shared form. CMOS's counterparty and ALFA's counterparty become ONE conformed Counterparty. FX standardized to a single risk-wide source. Asset class/type taxonomy reconciled with documented mapping rules.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0" y="2926080"/>
            <a:ext cx="0" cy="365760"/>
          </a:xfrm>
          <a:prstGeom prst="line">
            <a:avLst/>
          </a:prstGeom>
          <a:ln w="25400">
            <a:solidFill>
              <a:srgbClr val="176B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508760" y="1371600"/>
            <a:ext cx="9144000" cy="1508760"/>
          </a:xfrm>
          <a:prstGeom prst="rect">
            <a:avLst/>
          </a:prstGeom>
          <a:solidFill>
            <a:srgbClr val="E5F0DD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91640" y="14173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Risk Domain Model + Governed Data Products — the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737360"/>
            <a:ext cx="877824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 connected model of Risk entities with documented relationships (the ERD). Foundational and derived data products built on conformed entities. Cross-product joins reconcile cleanly. This is Risk's contribution to the enterprise CDM (Domain #5 — Derived Data and Metrics).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Calibri"/>
              </a:rPr>
              <a:t>Already covered on Architecture &amp; Design (Databricks landscape, A→B→C resolution path, Three Views).  This deck is about the practical work of getting from the bottom layer to the middle layer.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1 — See the entities hiding in your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A flat row is several entities and a measurement bundled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1161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One row from CMOS's Collateral Exposure report — looks flat: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counterparty_id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CP000123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csa_id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CSA-4421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asset_class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Fixed Income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asset_type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Corp Bond IG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currency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exposure_amount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1,250,000.00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212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pledged_amount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212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950,000.00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514600"/>
            <a:ext cx="11612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76B2C"/>
                </a:solidFill>
                <a:latin typeface="Calibri"/>
              </a:rPr>
              <a:t>What's actually here — entities hiding in the columns: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108960"/>
            <a:ext cx="1600200" cy="1371600"/>
          </a:xfrm>
          <a:prstGeom prst="roundRect">
            <a:avLst/>
          </a:prstGeom>
          <a:solidFill>
            <a:srgbClr val="C5DAB1"/>
          </a:solidFill>
          <a:ln w="1524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Counterparty</a:t>
            </a:r>
          </a:p>
          <a:p>
            <a:pPr algn="ctr"/>
            <a:endParaRPr sz="10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counterparty_id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200400"/>
            <a:ext cx="1600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176B2C"/>
                </a:solidFill>
                <a:latin typeface="Calibri"/>
              </a:rPr>
              <a:t>Counterparty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2121408"/>
            <a:ext cx="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011680" y="3108960"/>
            <a:ext cx="1600200" cy="1371600"/>
          </a:xfrm>
          <a:prstGeom prst="roundRect">
            <a:avLst/>
          </a:prstGeom>
          <a:solidFill>
            <a:srgbClr val="C5DAB1"/>
          </a:solidFill>
          <a:ln w="1524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CSA</a:t>
            </a:r>
          </a:p>
          <a:p>
            <a:pPr algn="ctr"/>
            <a:endParaRPr sz="10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csa_id, counterparty_id (FK)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200400"/>
            <a:ext cx="1600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176B2C"/>
                </a:solidFill>
                <a:latin typeface="Calibri"/>
              </a:rPr>
              <a:t>CSA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0" y="2121408"/>
            <a:ext cx="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160520" y="3108960"/>
            <a:ext cx="1600200" cy="1371600"/>
          </a:xfrm>
          <a:prstGeom prst="roundRect">
            <a:avLst/>
          </a:prstGeom>
          <a:solidFill>
            <a:srgbClr val="C5DAB1"/>
          </a:solidFill>
          <a:ln w="1524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Asset</a:t>
            </a:r>
          </a:p>
          <a:p>
            <a:pPr algn="ctr"/>
            <a:endParaRPr sz="10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asset_class, asset_type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200400"/>
            <a:ext cx="1600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176B2C"/>
                </a:solidFill>
                <a:latin typeface="Calibri"/>
              </a:rPr>
              <a:t>Asset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0" y="2121408"/>
            <a:ext cx="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0" y="2121408"/>
            <a:ext cx="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675120" y="3108960"/>
            <a:ext cx="1600200" cy="1371600"/>
          </a:xfrm>
          <a:prstGeom prst="roundRect">
            <a:avLst/>
          </a:prstGeom>
          <a:solidFill>
            <a:srgbClr val="C5DAB1"/>
          </a:solidFill>
          <a:ln w="1524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Currency</a:t>
            </a:r>
          </a:p>
          <a:p>
            <a:pPr algn="ctr"/>
            <a:endParaRPr sz="10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200400"/>
            <a:ext cx="1600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176B2C"/>
                </a:solidFill>
                <a:latin typeface="Calibri"/>
              </a:rPr>
              <a:t>Currency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0" y="2121408"/>
            <a:ext cx="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503920" y="3108960"/>
            <a:ext cx="3200400" cy="1371600"/>
          </a:xfrm>
          <a:prstGeom prst="roundRect">
            <a:avLst/>
          </a:prstGeom>
          <a:solidFill>
            <a:srgbClr val="E5F0DD"/>
          </a:solidFill>
          <a:ln w="1524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Exposure (fact)</a:t>
            </a:r>
          </a:p>
          <a:p>
            <a:pPr algn="ctr"/>
            <a:endParaRPr sz="10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exposure_amount, pledged_amount (measures)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at grain: CP × CSA × Currency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20040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176B2C"/>
                </a:solidFill>
                <a:latin typeface="Calibri"/>
              </a:rPr>
              <a:t>Exposure (fact)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0" y="2121408"/>
            <a:ext cx="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0" y="2121408"/>
            <a:ext cx="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937760"/>
            <a:ext cx="1088136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The exercise: look at every column in your generated data and ask 'is this a real-world thing, or a property of one?'</a:t>
            </a:r>
          </a:p>
          <a:p>
            <a:pPr algn="l"/>
            <a:endParaRPr sz="11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Identifiers (counterparty_id, csa_id) → name an entity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Categorizations (asset_class, asset_type) → describe an entity, but the entity is Asset, not Asset Class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Codes referencing standards (currency = ISO code) → reference data entity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Numbers being measured (amounts, counts, percentages) → measures, belong on a fact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2 — Sketch your application's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Entities as boxes, relationships as lines — your app-level ERD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11612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Same five entities — now connected. This is what CMOS's app-level model looks like: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286000" cy="1280160"/>
          </a:xfrm>
          <a:prstGeom prst="roundRect">
            <a:avLst/>
          </a:prstGeom>
          <a:solidFill>
            <a:srgbClr val="C5DAB1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Counterparty</a:t>
            </a:r>
          </a:p>
          <a:p>
            <a:pPr algn="ctr"/>
            <a:endParaRPr sz="10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PK: counterparty_id</a:t>
            </a:r>
          </a:p>
          <a:p>
            <a:pPr algn="ctr"/>
            <a:endParaRPr sz="10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name, legal_entity_id,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jurisdiction, parent_id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2286000" cy="1280160"/>
          </a:xfrm>
          <a:prstGeom prst="roundRect">
            <a:avLst/>
          </a:prstGeom>
          <a:solidFill>
            <a:srgbClr val="C5DAB1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CSA</a:t>
            </a:r>
          </a:p>
          <a:p>
            <a:pPr algn="ctr"/>
            <a:endParaRPr sz="10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PK: csa_id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FK: counterparty_id</a:t>
            </a:r>
          </a:p>
          <a:p>
            <a:pPr algn="ctr"/>
            <a:endParaRPr sz="10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threshold, mta, 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2286000" cy="1280160"/>
          </a:xfrm>
          <a:prstGeom prst="roundRect">
            <a:avLst/>
          </a:prstGeom>
          <a:solidFill>
            <a:srgbClr val="C5DAB1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Asset</a:t>
            </a:r>
          </a:p>
          <a:p>
            <a:pPr algn="ctr"/>
            <a:endParaRPr sz="10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PK: asset_id</a:t>
            </a:r>
          </a:p>
          <a:p>
            <a:pPr algn="ctr"/>
            <a:endParaRPr sz="10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asset_class, asset_type,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issuer, isin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828800"/>
            <a:ext cx="2286000" cy="1280160"/>
          </a:xfrm>
          <a:prstGeom prst="roundRect">
            <a:avLst/>
          </a:prstGeom>
          <a:solidFill>
            <a:srgbClr val="D8E5DD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Currency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(reference data)</a:t>
            </a:r>
          </a:p>
          <a:p>
            <a:pPr algn="ctr"/>
            <a:endParaRPr sz="10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PK: iso_code</a:t>
            </a:r>
          </a:p>
          <a:p>
            <a:pPr algn="ctr"/>
            <a:endParaRPr sz="10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name, decimals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023360"/>
            <a:ext cx="5029200" cy="1280160"/>
          </a:xfrm>
          <a:prstGeom prst="roundRect">
            <a:avLst/>
          </a:prstGeom>
          <a:solidFill>
            <a:srgbClr val="E5F0DD"/>
          </a:solidFill>
          <a:ln w="254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Collateral Exposure  (fact)</a:t>
            </a:r>
          </a:p>
          <a:p>
            <a:pPr algn="ctr"/>
            <a:endParaRPr sz="10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FKs: counterparty_id, csa_id, asset_id, currency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Grain: counterparty + csa + asset + currency + date</a:t>
            </a:r>
          </a:p>
          <a:p>
            <a:pPr algn="ctr"/>
            <a:endParaRPr sz="1000" b="0" i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Measures: exposure_amount, pledged_amount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0" y="3108960"/>
            <a:ext cx="0" cy="914400"/>
          </a:xfrm>
          <a:prstGeom prst="line">
            <a:avLst/>
          </a:prstGeom>
          <a:ln w="15875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0" y="3108960"/>
            <a:ext cx="0" cy="914400"/>
          </a:xfrm>
          <a:prstGeom prst="line">
            <a:avLst/>
          </a:prstGeom>
          <a:ln w="15875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0" y="3108960"/>
            <a:ext cx="0" cy="914400"/>
          </a:xfrm>
          <a:prstGeom prst="line">
            <a:avLst/>
          </a:prstGeom>
          <a:ln w="15875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0" y="3108960"/>
            <a:ext cx="0" cy="914400"/>
          </a:xfrm>
          <a:prstGeom prst="line">
            <a:avLst/>
          </a:prstGeom>
          <a:ln w="15875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926080" y="0"/>
            <a:ext cx="731520" cy="0"/>
          </a:xfrm>
          <a:prstGeom prst="line">
            <a:avLst/>
          </a:prstGeom>
          <a:ln w="15875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00" y="5577840"/>
            <a:ext cx="11247120" cy="86868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176B2C"/>
                </a:solidFill>
                <a:latin typeface="Calibri"/>
              </a:rPr>
              <a:t>This is the 'App data footprint' level in the Artifact Types table on Architecture &amp; Design.</a:t>
            </a:r>
          </a:p>
          <a:p>
            <a:pPr algn="l"/>
            <a:r>
              <a:rPr sz="1100" b="0" i="1">
                <a:solidFill>
                  <a:srgbClr val="176B2C"/>
                </a:solidFill>
                <a:latin typeface="Calibri"/>
              </a:rPr>
              <a:t>What you've just sketched is the foundation of everything else.  Every application in risk does this exercise for its own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3 — Classify your entities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Three categories tell you where each entity lives and who owns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794760" cy="64008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Enterprise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011680"/>
            <a:ext cx="3794760" cy="365760"/>
          </a:xfrm>
          <a:prstGeom prst="rect">
            <a:avLst/>
          </a:prstGeom>
          <a:solidFill>
            <a:srgbClr val="D8E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Sourced upstream · conformed bank-wide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3794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2514600"/>
            <a:ext cx="3429000" cy="502920"/>
          </a:xfrm>
          <a:prstGeom prst="round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0672"/>
            <a:ext cx="3429000" cy="502920"/>
          </a:xfrm>
          <a:prstGeom prst="round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66744"/>
            <a:ext cx="3429000" cy="502920"/>
          </a:xfrm>
          <a:prstGeom prst="round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Counterparty Master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(from enterprise CRM)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42816"/>
            <a:ext cx="3429000" cy="502920"/>
          </a:xfrm>
          <a:prstGeom prst="round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Calendar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18888"/>
            <a:ext cx="3429000" cy="502920"/>
          </a:xfrm>
          <a:prstGeom prst="round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ISO codes,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LEI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71781"/>
            <a:ext cx="3429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 dirty="0">
                <a:solidFill>
                  <a:srgbClr val="595959"/>
                </a:solidFill>
                <a:latin typeface="Calibri"/>
              </a:rPr>
              <a:t>You don't own these. You reference them. Lives in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core.reference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3794760" cy="640080"/>
          </a:xfrm>
          <a:prstGeom prst="rect">
            <a:avLst/>
          </a:prstGeom>
          <a:solidFill>
            <a:srgbClr val="B46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Risk-internal conformed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011680"/>
            <a:ext cx="3794760" cy="365760"/>
          </a:xfrm>
          <a:prstGeom prst="rect">
            <a:avLst/>
          </a:prstGeom>
          <a:solidFill>
            <a:srgbClr val="FFE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Risk owns · conformed across risk apps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377440"/>
            <a:ext cx="3794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89120" y="2514600"/>
            <a:ext cx="3429000" cy="50292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Counterparty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(enriched with risk attrs)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090672"/>
            <a:ext cx="3429000" cy="50292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CSA / Netting 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666744"/>
            <a:ext cx="3429000" cy="50292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Asset taxonomy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(risk's mapping)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242816"/>
            <a:ext cx="3429000" cy="50292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FX Rate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(canonical for risk)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818888"/>
            <a:ext cx="3429000" cy="50292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Trade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371781"/>
            <a:ext cx="3429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 dirty="0">
                <a:solidFill>
                  <a:srgbClr val="595959"/>
                </a:solidFill>
                <a:latin typeface="Calibri"/>
              </a:rPr>
              <a:t>Risk Data owns. Built once, used by all risk apps. Lives in core.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3794760" cy="640080"/>
          </a:xfrm>
          <a:prstGeom prst="rect">
            <a:avLst/>
          </a:prstGeom>
          <a:solidFill>
            <a:srgbClr val="C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App-specific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011680"/>
            <a:ext cx="3794760" cy="365760"/>
          </a:xfrm>
          <a:prstGeom prst="rect">
            <a:avLst/>
          </a:prstGeom>
          <a:solidFill>
            <a:srgbClr val="FCE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Stays in the malcode schema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377440"/>
            <a:ext cx="3794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21040" y="2514600"/>
            <a:ext cx="3429000" cy="502920"/>
          </a:xfrm>
          <a:prstGeom prst="roundRect">
            <a:avLst/>
          </a:prstGeom>
          <a:solidFill>
            <a:srgbClr val="FCE7E6"/>
          </a:solidFill>
          <a:ln w="63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App-internal codes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090672"/>
            <a:ext cx="3429000" cy="502920"/>
          </a:xfrm>
          <a:prstGeom prst="roundRect">
            <a:avLst/>
          </a:prstGeom>
          <a:solidFill>
            <a:srgbClr val="FCE7E6"/>
          </a:solidFill>
          <a:ln w="63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App processing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flags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666744"/>
            <a:ext cx="3429000" cy="502920"/>
          </a:xfrm>
          <a:prstGeom prst="roundRect">
            <a:avLst/>
          </a:prstGeom>
          <a:solidFill>
            <a:srgbClr val="FCE7E6"/>
          </a:solidFill>
          <a:ln w="63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App audit/lineage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structures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4242816"/>
            <a:ext cx="3429000" cy="502920"/>
          </a:xfrm>
          <a:prstGeom prst="roundRect">
            <a:avLst/>
          </a:prstGeom>
          <a:solidFill>
            <a:srgbClr val="FCE7E6"/>
          </a:solidFill>
          <a:ln w="63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App-specific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intermediate calcs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40096"/>
            <a:ext cx="3429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 dirty="0">
                <a:solidFill>
                  <a:srgbClr val="595959"/>
                </a:solidFill>
                <a:latin typeface="Calibri"/>
              </a:rPr>
              <a:t>App team owns. Not shared. Lives in &lt;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pg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&gt;.&lt;app&gt; schema.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852160"/>
            <a:ext cx="11612880" cy="64008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Look at every entity on your app sketch and ask: where does this belong?  Most apps have a mix of all three — that's normal.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4 — Conform across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When CMOS's Counterparty and ALFA's Counterparty become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931920"/>
            <a:ext cx="4754880" cy="1828800"/>
          </a:xfrm>
          <a:prstGeom prst="round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977640"/>
            <a:ext cx="4389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CMOS — Collateral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4389120" cy="1325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Counterparty       PK: cp_id_cmos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Asset                  asset_class, asset_type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                        (CMOS native taxonomy)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Currency             ISO code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FX Rate              from MIDAS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3931920"/>
            <a:ext cx="4754880" cy="1828800"/>
          </a:xfrm>
          <a:prstGeom prst="round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8040" y="3977640"/>
            <a:ext cx="4389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ALFA — Liquidity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4389120"/>
            <a:ext cx="4389120" cy="1325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Counterparty       PK: cp_id_alfa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Asset                  asset_class, asset_type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                        (ALFA native taxonomy)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Currency             ISO code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FX Rate              from LAMP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188720"/>
            <a:ext cx="7589520" cy="1828800"/>
          </a:xfrm>
          <a:prstGeom prst="roundRect">
            <a:avLst/>
          </a:prstGeom>
          <a:solidFill>
            <a:srgbClr val="FFE9C2"/>
          </a:solidFill>
          <a:ln w="2540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1234440"/>
            <a:ext cx="7223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B46F18"/>
                </a:solidFill>
                <a:latin typeface="Calibri"/>
              </a:rPr>
              <a:t>Conformed entities — core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645920"/>
            <a:ext cx="7040880" cy="1325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core.counterparty       resolves cp_id_cmos AND cp_id_alfa to one cp_id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core.asset_type          one risk taxonomy + mapping rules from CMOS-native and ALFA-native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core.fx_rate              one canonical risk FX source + documented precedence rules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0" y="3017520"/>
            <a:ext cx="0" cy="914400"/>
          </a:xfrm>
          <a:prstGeom prst="line">
            <a:avLst/>
          </a:prstGeom>
          <a:ln w="25400">
            <a:solidFill>
              <a:srgbClr val="176B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8046720" y="3017520"/>
            <a:ext cx="0" cy="914400"/>
          </a:xfrm>
          <a:prstGeom prst="line">
            <a:avLst/>
          </a:prstGeom>
          <a:ln w="25400">
            <a:solidFill>
              <a:srgbClr val="176B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00" y="3154680"/>
            <a:ext cx="5486400" cy="64008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0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Example 1 — FX 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47288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CMOS uses MIDAS, ALFA uses LAMP → conformed entity picks ONE source for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154680"/>
            <a:ext cx="5486400" cy="64008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200400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Example 2 — Asset class/type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47288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Different naming/granularity → conformed entity holds the mapping rules in its definition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989320"/>
            <a:ext cx="11612880" cy="54864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Conformance is not deleting one source in favor of another — it's making the rules explicit so cross-app joins are trustworthy.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Two representations of the same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Visual for documentation · technical for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11612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The same model has two faces. Both come from the same logical model — they just describe it for different audiences.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Visual representation — ERD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84048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606040"/>
            <a:ext cx="1554480" cy="640080"/>
          </a:xfrm>
          <a:prstGeom prst="roundRect">
            <a:avLst/>
          </a:prstGeom>
          <a:solidFill>
            <a:srgbClr val="C5DAB1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Counterparty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5152" y="2606040"/>
            <a:ext cx="1554480" cy="640080"/>
          </a:xfrm>
          <a:prstGeom prst="roundRect">
            <a:avLst/>
          </a:prstGeom>
          <a:solidFill>
            <a:srgbClr val="C5DAB1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06040"/>
            <a:ext cx="1554480" cy="640080"/>
          </a:xfrm>
          <a:prstGeom prst="roundRect">
            <a:avLst/>
          </a:prstGeom>
          <a:solidFill>
            <a:srgbClr val="C5DAB1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Asset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4160520"/>
            <a:ext cx="3200400" cy="640080"/>
          </a:xfrm>
          <a:prstGeom prst="roundRect">
            <a:avLst/>
          </a:prstGeom>
          <a:solidFill>
            <a:srgbClr val="E5F0DD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Collateral Exposure (fact)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3246120"/>
            <a:ext cx="0" cy="914400"/>
          </a:xfrm>
          <a:prstGeom prst="line">
            <a:avLst/>
          </a:prstGeom>
          <a:ln w="12700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291840" y="3246120"/>
            <a:ext cx="0" cy="914400"/>
          </a:xfrm>
          <a:prstGeom prst="line">
            <a:avLst/>
          </a:prstGeom>
          <a:ln w="12700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</p:cNvCxnSpPr>
          <p:nvPr/>
        </p:nvCxnSpPr>
        <p:spPr>
          <a:xfrm>
            <a:off x="4480560" y="3246120"/>
            <a:ext cx="0" cy="914400"/>
          </a:xfrm>
          <a:prstGeom prst="line">
            <a:avLst/>
          </a:prstGeom>
          <a:ln w="12700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257800"/>
            <a:ext cx="4937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>
                <a:solidFill>
                  <a:srgbClr val="176B2C"/>
                </a:solidFill>
                <a:latin typeface="Calibri"/>
              </a:rPr>
              <a:t>Lives in Collibra and erwin / PowerDesigner. For business analysts, stewards, architects.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5486400" cy="45720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Technical representation — DDL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48840"/>
            <a:ext cx="5486400" cy="3840480"/>
          </a:xfrm>
          <a:prstGeom prst="rect">
            <a:avLst/>
          </a:prstGeom>
          <a:solidFill>
            <a:srgbClr val="F4F4F4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5120640" cy="3383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CREATE TABLE core.collateral_exposure (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counterparty_id  STRING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csa_id           STRING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asset_id         STRING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currency         STRING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business_date    DATE  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exposure_amount  DECIMAL(18,2)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pledged_amount   DECIMAL(18,2),</a:t>
            </a:r>
          </a:p>
          <a:p>
            <a:pPr algn="l"/>
            <a:endParaRPr sz="900" b="0" i="0">
              <a:solidFill>
                <a:srgbClr val="176B2C"/>
              </a:solidFill>
              <a:latin typeface="Consolas"/>
            </a:endParaRP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PRIMARY KEY (counterparty_id, csa_id,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             asset_id, currency, business_date),</a:t>
            </a:r>
          </a:p>
          <a:p>
            <a:pPr algn="l"/>
            <a:endParaRPr sz="900" b="0" i="0">
              <a:solidFill>
                <a:srgbClr val="176B2C"/>
              </a:solidFill>
              <a:latin typeface="Consolas"/>
            </a:endParaRP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FOREIGN KEY (counterparty_id)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  REFERENCES core.counterparty(counterparty_id),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FOREIGN KEY (csa_id) REFERENCES core.csa(csa_id),</a:t>
            </a:r>
          </a:p>
          <a:p>
            <a:pPr algn="l"/>
            <a:endParaRPr sz="900" b="0" i="0">
              <a:solidFill>
                <a:srgbClr val="176B2C"/>
              </a:solidFill>
              <a:latin typeface="Consolas"/>
            </a:endParaRP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CONSTRAINT amounts_non_neg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  CHECK (exposure_amount &gt;= 0)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257800"/>
            <a:ext cx="4937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>
                <a:solidFill>
                  <a:srgbClr val="176B2C"/>
                </a:solidFill>
                <a:latin typeface="Calibri"/>
              </a:rPr>
              <a:t>Lives in Unity Catalog. For engineers, analysts writing SQL, the platform itself.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126480"/>
            <a:ext cx="11612880" cy="457200"/>
          </a:xfrm>
          <a:prstGeom prst="rect">
            <a:avLst/>
          </a:prstGeom>
          <a:solidFill>
            <a:srgbClr val="FFE9C2"/>
          </a:solidFill>
          <a:ln w="1270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i="1">
                <a:solidFill>
                  <a:srgbClr val="B46F18"/>
                </a:solidFill>
                <a:latin typeface="Calibri"/>
              </a:rPr>
              <a:t>Both faces stay in sync because they're generated from the same source — the contract and the modeling tool together.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this looks like in the modeling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Erwin · PowerDesigner — screenshot to be added by the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183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595959"/>
                </a:solidFill>
                <a:latin typeface="Calibri"/>
              </a:rPr>
              <a:t>[ Erwin / PowerDesigner screenshot to be inserted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1832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This is where the formal documented model from the modeling tool sits.</a:t>
            </a:r>
          </a:p>
          <a:p>
            <a:pPr algn="ctr"/>
            <a:endParaRPr sz="1200" b="0" i="1">
              <a:solidFill>
                <a:srgbClr val="595959"/>
              </a:solidFill>
              <a:latin typeface="Calibri"/>
            </a:endParaRPr>
          </a:p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Same model — same entities, same relationships, same attributes — just rendered in the tool the team uses for documentation and governance.</a:t>
            </a:r>
          </a:p>
          <a:p>
            <a:pPr algn="ctr"/>
            <a:endParaRPr sz="1200" b="0" i="1">
              <a:solidFill>
                <a:srgbClr val="595959"/>
              </a:solidFill>
              <a:latin typeface="Calibri"/>
            </a:endParaRPr>
          </a:p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Owner: [insert tool admin]   ·   Repository: [insert link]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989320"/>
            <a:ext cx="11612880" cy="54864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176B2C"/>
                </a:solidFill>
                <a:latin typeface="Calibri"/>
              </a:rPr>
              <a:t>The visual ERD in the previous slide is the sketch. The Erwin/PowerDesigner view is the formally documented version.  Both describe the same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Where this leads — back to data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Conformed entities make trustworthy data products possible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383280" cy="2743200"/>
          </a:xfrm>
          <a:prstGeom prst="round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882C1F"/>
                </a:solidFill>
                <a:latin typeface="Calibri"/>
              </a:rPr>
              <a:t>Application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2926080" cy="2194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Each app produces data in its own shape and naming.</a:t>
            </a:r>
          </a:p>
          <a:p>
            <a:pPr algn="l"/>
            <a:endParaRPr sz="11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Schemas attached, entities identified, app-level model documented.</a:t>
            </a:r>
          </a:p>
          <a:p>
            <a:pPr algn="l"/>
            <a:endParaRPr sz="11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Foundational data products built directly from the app footprint — useful, but cross-app joins need care.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86200" y="0"/>
            <a:ext cx="457200" cy="0"/>
          </a:xfrm>
          <a:prstGeom prst="line">
            <a:avLst/>
          </a:prstGeom>
          <a:ln w="38100">
            <a:solidFill>
              <a:srgbClr val="176B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34840" y="1828800"/>
            <a:ext cx="3383280" cy="2743200"/>
          </a:xfrm>
          <a:prstGeom prst="roundRect">
            <a:avLst/>
          </a:prstGeom>
          <a:solidFill>
            <a:srgbClr val="FFE9C2"/>
          </a:solidFill>
          <a:ln w="190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965960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B46F18"/>
                </a:solidFill>
                <a:latin typeface="Calibri"/>
              </a:rPr>
              <a:t>Conformed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926080" cy="2194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core.counterparty, core.asset_type, core.fx_rate — resolved across all risk apps.</a:t>
            </a:r>
          </a:p>
          <a:p>
            <a:pPr algn="l"/>
            <a:endParaRPr sz="11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Rules documented in the entity definitions (which FX source for risk, how asset taxonomies map).</a:t>
            </a:r>
          </a:p>
          <a:p>
            <a:pPr algn="l"/>
            <a:endParaRPr sz="11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Foundational products can now reference these — no more guessing.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63840" y="0"/>
            <a:ext cx="457200" cy="0"/>
          </a:xfrm>
          <a:prstGeom prst="line">
            <a:avLst/>
          </a:prstGeom>
          <a:ln w="38100">
            <a:solidFill>
              <a:srgbClr val="176B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12480" y="1828800"/>
            <a:ext cx="3383280" cy="2743200"/>
          </a:xfrm>
          <a:prstGeom prst="roundRect">
            <a:avLst/>
          </a:prstGeom>
          <a:solidFill>
            <a:srgbClr val="E5F0DD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0" y="1965960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176B2C"/>
                </a:solidFill>
                <a:latin typeface="Calibri"/>
              </a:rPr>
              <a:t>Governed data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377440"/>
            <a:ext cx="2926080" cy="2194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Foundational products on conformed entities — trustworthy by construction.</a:t>
            </a:r>
          </a:p>
          <a:p>
            <a:pPr algn="l"/>
            <a:endParaRPr sz="11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Derived products (cross-app views) reconcile cleanly because the upstream FX and taxonomy issues are resolved in the conformed layer.</a:t>
            </a:r>
          </a:p>
          <a:p>
            <a:pPr algn="l"/>
            <a:endParaRPr sz="11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Star schemas surface through BI.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846320"/>
            <a:ext cx="1161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76B2C"/>
                </a:solidFill>
                <a:latin typeface="Calibri"/>
              </a:rPr>
              <a:t>Where to go from here: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→  Architecture &amp;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212080"/>
            <a:ext cx="6858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The A→B→C resolution path and three views of the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→  Worked Example — Counterparty 360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486400"/>
            <a:ext cx="6858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How a real product is built from these foundations.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→  Risk Marketplace landing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760720"/>
            <a:ext cx="6858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How products are discovered and consumed once they're built.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→  From Risk Reports to Governed Data 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6035040"/>
            <a:ext cx="6858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How existing reports get promoted into the journey.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1896</Words>
  <Application>Microsoft Macintosh PowerPoint</Application>
  <PresentationFormat>Widescreen</PresentationFormat>
  <Paragraphs>288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Reena Cheema</cp:lastModifiedBy>
  <cp:revision>2</cp:revision>
  <dcterms:created xsi:type="dcterms:W3CDTF">2013-01-27T09:14:16Z</dcterms:created>
  <dcterms:modified xsi:type="dcterms:W3CDTF">2026-05-15T12:04:58Z</dcterms:modified>
  <cp:category/>
</cp:coreProperties>
</file>