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0" r:id="rId2"/>
    <p:sldId id="275" r:id="rId3"/>
    <p:sldId id="257" r:id="rId4"/>
    <p:sldId id="258" r:id="rId5"/>
    <p:sldId id="259" r:id="rId6"/>
    <p:sldId id="261" r:id="rId7"/>
    <p:sldId id="276" r:id="rId8"/>
    <p:sldId id="274" r:id="rId9"/>
    <p:sldId id="278" r:id="rId10"/>
    <p:sldId id="277" r:id="rId11"/>
    <p:sldId id="263" r:id="rId12"/>
    <p:sldId id="256" r:id="rId13"/>
    <p:sldId id="272" r:id="rId14"/>
    <p:sldId id="262" r:id="rId15"/>
    <p:sldId id="264" r:id="rId16"/>
    <p:sldId id="270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3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76920-C383-ECDF-F0E5-458ED666AAC6}"/>
              </a:ext>
            </a:extLst>
          </p:cNvPr>
          <p:cNvSpPr txBox="1"/>
          <p:nvPr/>
        </p:nvSpPr>
        <p:spPr>
          <a:xfrm>
            <a:off x="3563815" y="1570892"/>
            <a:ext cx="174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Risk Data Visuals</a:t>
            </a:r>
          </a:p>
        </p:txBody>
      </p:sp>
    </p:spTree>
    <p:extLst>
      <p:ext uri="{BB962C8B-B14F-4D97-AF65-F5344CB8AC3E}">
        <p14:creationId xmlns:p14="http://schemas.microsoft.com/office/powerpoint/2010/main" val="334940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Journey</a:t>
            </a: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app to trusted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traced through 6 canonical stages · counterparty exposure for ABC Bank · what changed at each stage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3703320" cy="2606040"/>
          </a:xfrm>
          <a:prstGeom prst="rect">
            <a:avLst/>
          </a:prstGeom>
          <a:solidFill>
            <a:srgbClr val="FCE7E6"/>
          </a:solidFill>
          <a:ln w="15875">
            <a:solidFill>
              <a:srgbClr val="9C2A2A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RAW / LANDED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writes to creditrisk.xvala.exposure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cp_name       ns      bucket  scn   ee     pfe</a:t>
            </a:r>
            <a:endParaRPr lang="en-US" sz="12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D0D7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  ──────  ──────  ───  ─────  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 BANK NA   NS001   1Y     Base  8.2    22.4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 BANK NA   NS001   5Y     Base 15.1    42.1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schema-typed at ingestion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app-specific naming ("ABC BANK NA")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app-specific keys (NS001 only meaningful in XVALA)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joinable to CMOS / REGDS data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87952" y="1188720"/>
            <a:ext cx="3703320" cy="2606040"/>
          </a:xfrm>
          <a:prstGeom prst="rect">
            <a:avLst/>
          </a:prstGeom>
          <a:solidFill>
            <a:srgbClr val="FFE9C2"/>
          </a:solidFill>
          <a:ln w="15875">
            <a:solidFill>
              <a:srgbClr val="C8801A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CONFORMED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resolved across apps; shared definitions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cp_id    lei         bucket  scn   ee     pfe</a:t>
            </a:r>
            <a:endParaRPr lang="en-US" sz="12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D0D7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  ──────────  ──────  ───  ─────  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CP00123  549300XYZ…  1Y     Base  8.2    22.4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CP00123  549300XYZ…  5Y     Base 15.1    42.1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XVALA's "ABC BANK NA" → CP00123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CMOS's "ABC Bank N.A." → CP00123 (same)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REGDS's "X-1023" → CP00123 (same)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exposure now joinable to CMOS collateral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10144" y="1188720"/>
            <a:ext cx="3703320" cy="2606040"/>
          </a:xfrm>
          <a:prstGeom prst="rect">
            <a:avLst/>
          </a:prstGeom>
          <a:solidFill>
            <a:srgbClr val="C5DAB1"/>
          </a:solidFill>
          <a:ln w="15875">
            <a:solidFill>
              <a:srgbClr val="2E8B47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CURATED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per the CCR domain model — counterparty grain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cp_id    val_dt       pfe_max  limit  breach</a:t>
            </a:r>
            <a:endParaRPr lang="en-US" sz="12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D0D7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  ──────────   ───────  ─────  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CP00123  2026-05-04   42.1M    50M    false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CP00456  2026-05-04   28.7M    25M    true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PFE = MAX across buckets (correct math)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row per counterparty per date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breach flag derived from limit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still no contract; no SLA; no enforcement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931920"/>
            <a:ext cx="3703320" cy="2606040"/>
          </a:xfrm>
          <a:prstGeom prst="rect">
            <a:avLst/>
          </a:prstGeom>
          <a:solidFill>
            <a:srgbClr val="176B2C"/>
          </a:solidFill>
          <a:ln w="15875">
            <a:solidFill>
              <a:srgbClr val="176B2C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DATA PRODUCT (Governed)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curated table + a contract wrapped around it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attached: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grain          = cp_id + val_dt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pfe rule       = non_additive_percentile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refresh sla    = daily by 06:00 EST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business owner = PG Credit Risk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UC tags applied to table &amp; columns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registered in Collibra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versioned + change policy locked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87952" y="3931920"/>
            <a:ext cx="3703320" cy="260604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SEMANTIC LAYER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Contract's rules enforced at query time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queries refused at runtime: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SUM(pfe)            → blocked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SUM(pfe) BY cp_id   → blocked</a:t>
            </a:r>
            <a:endParaRPr lang="en-US" sz="1200" dirty="0"/>
          </a:p>
          <a:p>
            <a:pPr marL="0" indent="0" algn="l">
              <a:buNone/>
            </a:pPr>
            <a:r>
              <a:rPr lang="en-US" sz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queries allowed: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E8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MAX(pfe) BY cp_id   → allowed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E8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pfe BY cp_id+val_dt → allowed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drag-and-drop self-service in BI tool</a:t>
            </a:r>
            <a:endParaRPr lang="en-US" sz="12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guardrails baked in; consistent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10144" y="3931920"/>
            <a:ext cx="3703320" cy="260604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ANALYTICS</a:t>
            </a:r>
            <a:endParaRPr lang="en-US" sz="120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consumer sees ABC Bank exposure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Bank — at a glance</a:t>
            </a:r>
            <a:endParaRPr lang="en-US" sz="12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PFE:    $42.1M</a:t>
            </a:r>
            <a:endParaRPr lang="en-US" sz="12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Limit:  $50M</a:t>
            </a:r>
            <a:endParaRPr lang="en-US" sz="120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2E8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OK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of:  2026-05-04 06:00 EST</a:t>
            </a:r>
            <a:endParaRPr lang="en-US" sz="12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CCR dashboard       ▣  MicroStrategy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Ad-hoc exploration  ▣  Reg feeds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900" b="1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answers · safely · repeatably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2491740"/>
            <a:ext cx="100584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69080" y="5234940"/>
            <a:ext cx="100584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91272" y="2491740"/>
            <a:ext cx="100584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91272" y="5234940"/>
            <a:ext cx="100584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667744" y="3794760"/>
            <a:ext cx="0" cy="91440"/>
          </a:xfrm>
          <a:prstGeom prst="line">
            <a:avLst/>
          </a:prstGeom>
          <a:noFill/>
          <a:ln w="12700">
            <a:solidFill>
              <a:srgbClr val="8B968F"/>
            </a:solidFill>
            <a:prstDash val="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667744" y="3840480"/>
            <a:ext cx="0" cy="0"/>
          </a:xfrm>
          <a:prstGeom prst="line">
            <a:avLst/>
          </a:prstGeom>
          <a:noFill/>
          <a:ln w="12700">
            <a:solidFill>
              <a:srgbClr val="8B968F"/>
            </a:solidFill>
            <a:prstDash val="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and Certified are </a:t>
            </a: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Data Product (stage ④) can have, not separate stages. Authoritative = formally designated as canonical for a class of decisions. Certified = validated for regulated use.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Types</a:t>
            </a:r>
            <a:r>
              <a:rPr lang="en-US" sz="24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encounter in the analytics layer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of artifact · each contributes independently to analytics · plain language definitions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76B2C"/>
          </a:solidFill>
          <a:ln w="1905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thing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Counterparty (ABC Bank)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Trade (T-1024)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Agreement (CSA #997)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like: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row per real thing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attributes describe it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Source app (raw)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CDO (canonical)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analytics by: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being the foundation that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facts attach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27832" y="1325880"/>
            <a:ext cx="2743200" cy="507492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14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contracted dataset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cp_risk_summary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fact_exposure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fact_collateral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like: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table or view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a contract (YAML)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UC tags + Collibra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PG Leader (business)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DD (technical)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analytics by: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being directly consumed —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closed shape, stable contract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89904" y="1325880"/>
            <a:ext cx="2743200" cy="5074920"/>
          </a:xfrm>
          <a:prstGeom prst="rect">
            <a:avLst/>
          </a:prstGeom>
          <a:solidFill>
            <a:srgbClr val="D8E5DD"/>
          </a:solidFill>
          <a:ln w="19050">
            <a:solidFill>
              <a:srgbClr val="3A7058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of how entities relate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Counterparty → Agreement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Counterparty → Trade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Trade → Risk Sensitivity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like: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ERD diagram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conformed dimensions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lookup tables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Risk: PG Leader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Upstream: CDO modellers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analytics by: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being the structural rules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products are built 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51976" y="1325880"/>
            <a:ext cx="2743200" cy="5074920"/>
          </a:xfrm>
          <a:prstGeom prst="rect">
            <a:avLst/>
          </a:prstGeom>
          <a:solidFill>
            <a:srgbClr val="C5DAB1"/>
          </a:solidFill>
          <a:ln w="19050">
            <a:solidFill>
              <a:srgbClr val="2E8B47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4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shape for self-service queries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fact_exposure (centre)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dim_counterparty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dim_netting_set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dim_date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like: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 at the centre</a:t>
            </a:r>
            <a:endParaRPr lang="en-US" sz="14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dimensions around it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DD (curated for BI use)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analytics by: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letting users compose their</a:t>
            </a:r>
            <a:endParaRPr lang="en-US" sz="14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own queries — open shape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independent. A data product can rest on a domain model. A star schema is one way to shape data products. Entities are the foundation under all of them.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Update Behaviours</a:t>
            </a:r>
            <a:r>
              <a:rPr lang="en-US" sz="24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code lives · how often data refreshes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parts: where the code/SQL is stored, and how each artifact updates over time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Where the code lives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27632"/>
            <a:ext cx="5212080" cy="1783080"/>
          </a:xfrm>
          <a:prstGeom prst="rect">
            <a:avLst/>
          </a:prstGeom>
          <a:solidFill>
            <a:srgbClr val="176B2C"/>
          </a:solidFill>
          <a:ln w="15875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SIDE — App Team's Git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app-zone repos (one per app)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app code (the engine that generates metrics)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app schema DDLs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app-internal dashboards (their discovery work)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to: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App PROD environment (the engine running)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Databricks app schema (the raw output landing)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627632"/>
            <a:ext cx="6035040" cy="1783080"/>
          </a:xfrm>
          <a:prstGeom prst="rect">
            <a:avLst/>
          </a:prstGeom>
          <a:solidFill>
            <a:srgbClr val="2E8B47"/>
          </a:solidFill>
          <a:ln w="15875">
            <a:solidFill>
              <a:srgbClr val="2E8B47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SIDE — Risk Warehouse Git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risk-warehouse (single repo, owned by DD)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data product DDLs (riskwh.gold.* tables)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contracts (YAML), UC tag definitions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semantic layer (dbt / Metric Views)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analytics dashboards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to: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Databricks analytics catalog (riskwh)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520440"/>
            <a:ext cx="11430000" cy="411480"/>
          </a:xfrm>
          <a:prstGeom prst="rect">
            <a:avLst/>
          </a:prstGeom>
          <a:solidFill>
            <a:srgbClr val="E5F0DD"/>
          </a:solidFill>
          <a:ln w="9525">
            <a:solidFill>
              <a:srgbClr val="176B2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repos · two separate deployment paths · two separate ownership boundaries. App refactors freely on its side; analytics has stable contracts on the other side.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How each artifact updates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462272"/>
            <a:ext cx="3703320" cy="1874520"/>
          </a:xfrm>
          <a:prstGeom prst="rect">
            <a:avLst/>
          </a:prstGeom>
          <a:solidFill>
            <a:srgbClr val="C5DAB1"/>
          </a:solidFill>
          <a:ln w="15875">
            <a:solidFill>
              <a:srgbClr val="2E8B47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VIEWS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(linked to app schemas)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REAL-TIME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over app schema tables.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 data changes, the view shows new data immediately.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 of data; pass-through query.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4462272"/>
            <a:ext cx="3703320" cy="187452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(materialised in riskwh.gold)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SCHEDULED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schedule per the contract (e.g., daily by 06:00).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see the data as of the last build.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copy; SLA-controlled.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462272"/>
            <a:ext cx="3840480" cy="1874520"/>
          </a:xfrm>
          <a:prstGeom prst="rect">
            <a:avLst/>
          </a:prstGeom>
          <a:solidFill>
            <a:srgbClr val="D8E5DD"/>
          </a:solidFill>
          <a:ln w="15875">
            <a:solidFill>
              <a:srgbClr val="3A7058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(facts + dimensions for self-service)</a:t>
            </a:r>
            <a:endParaRPr lang="en-US" sz="11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7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MIXED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two flavours together: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yesterday's snapshot (stable)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today's live view (current)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chooses which to use.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583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360-style Analytics Product</a:t>
            </a:r>
            <a:r>
              <a:rPr lang="en-US" sz="24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pattern for cross-product views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wide table · summary product on top · atomic drill-down products underneath · BI tool orchestrates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Summary 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counterparty + valuation_date  ·  one row per counterparty per date  ·  pre-aggregated headlines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0515600" cy="640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total_mtm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pfe (max)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ia_total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8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Hedge Fund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97180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Selecting a counterparty filters atomic drill-down products to its native grain  ↓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3375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Atomic Drill-down Products  (each at its native grain · linked by counterparty)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611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fact_trade  ·  grain: trade + valuation_date</a:t>
            </a:r>
            <a:endParaRPr lang="en-US" sz="95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58768"/>
          <a:ext cx="5669280" cy="853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 5Y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Fwd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LON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trades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126480" y="361188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fact_exposure  ·  grain: counterparty + netting_set + bucket + scenario</a:t>
            </a:r>
            <a:endParaRPr lang="en-US" sz="9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858768"/>
          <a:ext cx="5760720" cy="853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netting_set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NS-001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365760" y="5486400"/>
            <a:ext cx="11430000" cy="960120"/>
          </a:xfrm>
          <a:prstGeom prst="rect">
            <a:avLst/>
          </a:prstGeom>
          <a:solidFill>
            <a:srgbClr val="176B2C"/>
          </a:solidFill>
          <a:ln w="15875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BI Orchestration</a:t>
            </a:r>
            <a:endParaRPr lang="en-US" sz="11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 tool ties Layer 1 and Layer 2 together as one user experience.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panel loads from Layer 1 (instant). Drill-down tabs load from Layer 2 on demand, filtered by counterparty.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Layer 2 products available: fact_mtm · fact_sensitivities · fact_collateral (IA/VM/IM) · fact_stress · fact_limits · fact_cva.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 facts live at different grains. Wide tables either Cartesian-multiply (wrong numbers) or lose detail. Layered architecture preserves grain end-to-end.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FD2C-5930-C4FA-7FB7-1035D668D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320644-3D11-9005-4F02-D699AE0634E4}"/>
              </a:ext>
            </a:extLst>
          </p:cNvPr>
          <p:cNvSpPr txBox="1"/>
          <p:nvPr/>
        </p:nvSpPr>
        <p:spPr>
          <a:xfrm>
            <a:off x="3563815" y="1570892"/>
            <a:ext cx="115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North Star</a:t>
            </a:r>
          </a:p>
        </p:txBody>
      </p:sp>
    </p:spTree>
    <p:extLst>
      <p:ext uri="{BB962C8B-B14F-4D97-AF65-F5344CB8AC3E}">
        <p14:creationId xmlns:p14="http://schemas.microsoft.com/office/powerpoint/2010/main" val="379570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Journey</a:t>
            </a: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application output to trusted business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· evolving maturity · six stages from raw landing to confident self-service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783080"/>
            <a:ext cx="1828800" cy="2423160"/>
          </a:xfrm>
          <a:prstGeom prst="rect">
            <a:avLst/>
          </a:prstGeom>
          <a:solidFill>
            <a:srgbClr val="FCE7E6"/>
          </a:solidFill>
          <a:ln w="19050">
            <a:solidFill>
              <a:srgbClr val="9C2A2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LANDED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the app team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means."</a:t>
            </a:r>
            <a:endParaRPr lang="en-US" sz="11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 of one specific app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 the app's own naming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yet aligned with how other apps describe the same thing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28700" y="1417320"/>
            <a:ext cx="502920" cy="502920"/>
          </a:xfrm>
          <a:prstGeom prst="ellipse">
            <a:avLst/>
          </a:prstGeom>
          <a:solidFill>
            <a:srgbClr val="9C2A2A"/>
          </a:solidFill>
          <a:ln w="25400">
            <a:solidFill>
              <a:srgbClr val="9C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87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9132" y="2994660"/>
            <a:ext cx="64008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67712" y="1783080"/>
            <a:ext cx="1828800" cy="2423160"/>
          </a:xfrm>
          <a:prstGeom prst="rect">
            <a:avLst/>
          </a:prstGeom>
          <a:solidFill>
            <a:srgbClr val="FFE9C2"/>
          </a:solidFill>
          <a:ln w="19050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"Counterparty means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now."</a:t>
            </a:r>
            <a:endParaRPr lang="en-US" sz="11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Identity resolved across apps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definitions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Cross-app joins now work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30652" y="1417320"/>
            <a:ext cx="502920" cy="502920"/>
          </a:xfrm>
          <a:prstGeom prst="ellipse">
            <a:avLst/>
          </a:prstGeom>
          <a:solidFill>
            <a:srgbClr val="C8801A"/>
          </a:solidFill>
          <a:ln w="25400">
            <a:solidFill>
              <a:srgbClr val="C88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3065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01084" y="2994660"/>
            <a:ext cx="64008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169664" y="1783080"/>
            <a:ext cx="1828800" cy="2423160"/>
          </a:xfrm>
          <a:prstGeom prst="rect">
            <a:avLst/>
          </a:prstGeom>
          <a:solidFill>
            <a:srgbClr val="C5DAB1"/>
          </a:solidFill>
          <a:ln w="19050">
            <a:solidFill>
              <a:srgbClr val="2E8B47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"Already shaped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my analytical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question."</a:t>
            </a:r>
            <a:endParaRPr lang="en-US" sz="11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row per real-world thing (e.g., per counterparty per day)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Joined and aggregated correctly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Ready to read, no rework needed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32604" y="1417320"/>
            <a:ext cx="502920" cy="502920"/>
          </a:xfrm>
          <a:prstGeom prst="ellipse">
            <a:avLst/>
          </a:prstGeom>
          <a:solidFill>
            <a:srgbClr val="2E8B47"/>
          </a:solidFill>
          <a:ln w="25400">
            <a:solidFill>
              <a:srgbClr val="2E8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260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03036" y="2994660"/>
            <a:ext cx="64008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071616" y="1783080"/>
            <a:ext cx="1828800" cy="242316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safely consume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analytics."</a:t>
            </a:r>
            <a:endParaRPr lang="en-US" sz="11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 a published contract — what it means, when it refreshes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Owner is named; rules of use are documented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Versioned; changes are managed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34556" y="1417320"/>
            <a:ext cx="502920" cy="502920"/>
          </a:xfrm>
          <a:prstGeom prst="ellipse">
            <a:avLst/>
          </a:prstGeom>
          <a:solidFill>
            <a:srgbClr val="176B2C"/>
          </a:solidFill>
          <a:ln w="254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455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04988" y="2994660"/>
            <a:ext cx="64008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973568" y="1783080"/>
            <a:ext cx="1828800" cy="2423160"/>
          </a:xfrm>
          <a:prstGeom prst="rect">
            <a:avLst/>
          </a:prstGeom>
          <a:solidFill>
            <a:srgbClr val="E5F0DD"/>
          </a:solidFill>
          <a:ln w="1905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self-serve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confidently."</a:t>
            </a:r>
            <a:endParaRPr lang="en-US" sz="11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Rules of correct use are enforced at query time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Wrong queries are refused (e.g., adding numbers that shouldn't be added)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 to use in dashboards and BI tools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36508" y="1417320"/>
            <a:ext cx="502920" cy="502920"/>
          </a:xfrm>
          <a:prstGeom prst="ellipse">
            <a:avLst/>
          </a:prstGeom>
          <a:solidFill>
            <a:srgbClr val="176B2C"/>
          </a:solidFill>
          <a:ln w="254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3650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06940" y="2994660"/>
            <a:ext cx="64008" cy="0"/>
          </a:xfrm>
          <a:prstGeom prst="line">
            <a:avLst/>
          </a:prstGeom>
          <a:noFill/>
          <a:ln w="1905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875520" y="1783080"/>
            <a:ext cx="1828800" cy="2423160"/>
          </a:xfrm>
          <a:prstGeom prst="rect">
            <a:avLst/>
          </a:prstGeom>
          <a:solidFill>
            <a:srgbClr val="176B2C"/>
          </a:solidFill>
          <a:ln w="1905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ANALYTICS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act on these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confidence."</a:t>
            </a:r>
            <a:endParaRPr lang="en-US" sz="11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Self-service dashboards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Regulatory feeds, model inputs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Decision-ready</a:t>
            </a:r>
            <a:endParaRPr lang="en-US" sz="1100" dirty="0"/>
          </a:p>
          <a:p>
            <a:pPr marL="0" indent="0" algn="l">
              <a:buNone/>
            </a:pPr>
            <a:r>
              <a:rPr lang="en-US" sz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38460" y="1417320"/>
            <a:ext cx="502920" cy="502920"/>
          </a:xfrm>
          <a:prstGeom prst="ellipse">
            <a:avLst/>
          </a:prstGeom>
          <a:solidFill>
            <a:srgbClr val="176B2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384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4572000"/>
            <a:ext cx="11430000" cy="118872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PROGRESSION MATTERS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stage delivers a separate kind of value. Skip a stage and you don't deliver that stage's value.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Skip Conformed → consumers reconcile data manually across apps.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Skip the Data Product contract → consumers can't trust what they're getting.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Skip the Semantic Layer → consumers get wrong answers without realising it.</a:t>
            </a:r>
            <a:endParaRPr lang="en-US" sz="1100" dirty="0"/>
          </a:p>
          <a:p>
            <a:pPr marL="0" indent="0" algn="l">
              <a:buNone/>
            </a:pPr>
            <a:r>
              <a:rPr lang="en-US" sz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and Certified are attributes a Data Product can have, not separate stages on the journey.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risk analytics industrialises meaning.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generate calculations. Analytics products turn calculations into trusted, reusable insight.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 Future State</a:t>
            </a:r>
            <a:r>
              <a:rPr lang="en-US" sz="24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 question · two consumer experiences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total exposure, collateral, stress exposure, and breaches for ABC Bank."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417320"/>
            <a:ext cx="5212080" cy="4937760"/>
          </a:xfrm>
          <a:prstGeom prst="rect">
            <a:avLst/>
          </a:prstGeom>
          <a:solidFill>
            <a:srgbClr val="FCE7E6"/>
          </a:solidFill>
          <a:ln w="19050">
            <a:solidFill>
              <a:srgbClr val="9C2A2A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—  APPLICATION-CENTRIC WORLD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consumer does: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Request multiple reports from different applications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reconcile counterparty identifiers across apps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Merge spreadsheets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Determine which PFE number is official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stress and base exposure manually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 data through email chains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in front of them: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CSV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Collateral XLS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Report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Joins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Spreadsheet Logic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9C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Conflicting Numbers</a:t>
            </a:r>
            <a:endParaRPr lang="en-US" sz="12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50" b="1" i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insight: days. Confidence: 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2356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  MEANING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23560" y="4114800"/>
            <a:ext cx="1188720" cy="0"/>
          </a:xfrm>
          <a:prstGeom prst="line">
            <a:avLst/>
          </a:prstGeom>
          <a:noFill/>
          <a:ln w="44450">
            <a:solidFill>
              <a:srgbClr val="176B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0" y="1417320"/>
            <a:ext cx="4937760" cy="4937760"/>
          </a:xfrm>
          <a:prstGeom prst="rect">
            <a:avLst/>
          </a:prstGeom>
          <a:solidFill>
            <a:srgbClr val="176B2C"/>
          </a:solidFill>
          <a:ln w="19050">
            <a:solidFill>
              <a:srgbClr val="176B2C"/>
            </a:solidFill>
          </a:ln>
        </p:spPr>
        <p:txBody>
          <a:bodyPr wrap="square" lIns="177800" tIns="177800" rIns="177800" bIns="17780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—  ANALYTICS-CENTRIC WORLD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consumer does: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Opens trusted Counterparty 360 product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Official metrics already governed by the contract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Stress and base scenarios consistently tagged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Semantic rules apply correct aggregation automatically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Self-serves safely via BI tool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reconciliation, no email chains</a:t>
            </a:r>
            <a:endParaRPr lang="en-US" sz="12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in front of them:</a:t>
            </a:r>
            <a:endParaRPr lang="en-US" sz="12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 360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Governed Exposure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 PFE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Trusted Metrics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Guardrails</a:t>
            </a:r>
            <a:endParaRPr lang="en-US" sz="12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E5F0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Self-Service Analytics</a:t>
            </a:r>
            <a:endParaRPr lang="en-US" sz="12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050" b="1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insight: minutes. Confidence: high.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E4D6-6AC9-6185-F71F-432DFB150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F93B9B-24B9-8433-2A3E-DBB38DFED093}"/>
              </a:ext>
            </a:extLst>
          </p:cNvPr>
          <p:cNvSpPr txBox="1"/>
          <p:nvPr/>
        </p:nvSpPr>
        <p:spPr>
          <a:xfrm>
            <a:off x="3563815" y="1570892"/>
            <a:ext cx="147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Industry Gaps</a:t>
            </a:r>
          </a:p>
        </p:txBody>
      </p:sp>
    </p:spTree>
    <p:extLst>
      <p:ext uri="{BB962C8B-B14F-4D97-AF65-F5344CB8AC3E}">
        <p14:creationId xmlns:p14="http://schemas.microsoft.com/office/powerpoint/2010/main" val="290368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vs Industry Standard</a:t>
            </a: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TDS Risk Data is aligned · where it differs · the gap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comparison across operating model, data progression, artifact types, and code/update behaviours · gaps are work in flight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TDS 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Federation: app teams own raw, generate to app schema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teams own raw outputs; generate to app schema in Databricks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— apps generate to a landing zone they 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connection 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 sometimes connect directly to app schemas (e.g. discovery dashboards built on raw)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 connect only to the analytics layer; never to app schemas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IN FLIGHT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organisational 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is a single IC with no team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typically has a small team (3–5) supporting analytics products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of conformed Risk-domain models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Leader (Product Owner) owns conformed dimensions; publishes to CDM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— Product Owner pattern is standard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Raw / Landed (schema-typed at ingestion)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 pattern emerging in Databricks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medallion bronze 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Conformed (cross-app identity resolution)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apps still use different counterparty representations across XVALA, CMOS, REGDS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canonical entities + mapping tables across all apps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IN FLIGHT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Data Product (with contract)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 not yet in place; analytics outputs lack machine-readable specifications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analytics asset has a machine-readable contract (YAML in Git)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Semantic 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 — semantics live in BI tool, in dashboards, or nowhere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semantic layer (dbt Metrics / Cube / Databricks Metric Views) — single source of truth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Product (curated + contract)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layer not yet in place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practice in mature data orgs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C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Model (ERD + conformed dimensions)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Exists in some PGs; not enterprise-wide; CDM still maturing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at enterprise level — canonical entity models for Trade, Account, Security, Party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with semantic enforcement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schemas exist; semantic enforcement is ad hoc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schemas always paired with a semantic layer that enforces grain &amp; aggregation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&amp;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App-zone Git separate from analytics Git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emerging — app teams use their own repos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— clear deployment boundary between app code and analytics 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8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Warehouse Git (DD-owned)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place — DD has no team or repo today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— central repo for analytics products, contracts, semantic 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IN FLIGHT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behaviours (real-time / scheduled / mixed)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— pattern not standardised across products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pattern: views = real-time, materialised products = scheduled, star schemas = mixed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</a:t>
            </a:r>
            <a:r>
              <a:rPr lang="en-US" sz="9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TDS matches industry standard.   </a:t>
            </a:r>
            <a:r>
              <a:rPr lang="en-US" sz="9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FLIGHT</a:t>
            </a: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gap is being closed; activity underway.   </a:t>
            </a:r>
            <a:r>
              <a:rPr lang="en-US" sz="9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/ MAJOR GAP / STRUCTURAL GAP</a:t>
            </a: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identified gap; closure plan needed.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B00D-37FC-D8CC-AF24-F7578CB3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4A07EB-59EE-AF82-3A4F-2E1085C21F07}"/>
              </a:ext>
            </a:extLst>
          </p:cNvPr>
          <p:cNvSpPr txBox="1"/>
          <p:nvPr/>
        </p:nvSpPr>
        <p:spPr>
          <a:xfrm>
            <a:off x="3563815" y="1570892"/>
            <a:ext cx="173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Dd persona </a:t>
            </a:r>
            <a:r>
              <a:rPr lang="en-US" dirty="0" err="1"/>
              <a:t>rasci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0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— Personas &amp; Scope</a:t>
            </a: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across the existing organisation today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· Risk Data Director scope is emerging · ★ marks a coordination point with DD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7680960" cy="3200400"/>
          </a:xfrm>
          <a:prstGeom prst="rect">
            <a:avLst/>
          </a:prstGeom>
          <a:solidFill>
            <a:srgbClr val="F4F6F4"/>
          </a:solidFill>
          <a:ln w="6350">
            <a:solidFill>
              <a:srgbClr val="D0D7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(the domain)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783080" cy="2788920"/>
          </a:xfrm>
          <a:prstGeom prst="rect">
            <a:avLst/>
          </a:prstGeom>
          <a:solidFill>
            <a:srgbClr val="D8E5DD"/>
          </a:solidFill>
          <a:ln w="19050">
            <a:solidFill>
              <a:srgbClr val="2E8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6093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DIRECTOR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role. IC, global. Emerging.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2194560"/>
            <a:ext cx="163677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Authors Risk analytics architecture &amp; design principles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Develops templates and standards (onboarding, contracts, semantic, UC tags, catalog design)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Convenes architecture sessions with PG Leaders, Risk leadership, app directors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Shares Risk data strategy with stakeholders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Maintains roster of Risk analytics initiatives in flight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554480"/>
            <a:ext cx="17830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9152" y="16093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TECH 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59152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engineering owner.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59152" y="2194560"/>
            <a:ext cx="163677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Owns Risk data engineering — ingestion, pipelines, catalog plumbing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Interfaces with TDVIP / Infra for service principals, AD groups, catalog &amp; schema provisioning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Maintains tracker of what data is uploaded into Databricks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Implements catalog and schema layout for Risk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Operates the Risk data platform alongside Infra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DevOps function reports here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0" y="1554480"/>
            <a:ext cx="17830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87952" y="16093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GROUP LEADER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87952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Risk product group (Credit Risk, Liquidity, Market Risk, Funding).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87952" y="2194560"/>
            <a:ext cx="163677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Owns app teams and engineering capacity within the PG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Funds and prioritises app and analytics work for the PG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point of contact between business consumers and apps in the PG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Sponsors the PG's domain model — entities, relationships, rules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Drives data conformance across apps within the PG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Approves data products at PG level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Escalation point for cross-app conflicts within the PG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1554480"/>
            <a:ext cx="17830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16752" y="16093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16752" y="19019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 + engineering team (XVALA, CMOS, REGDS, etc.).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16752" y="2194560"/>
            <a:ext cx="163677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Builds and operates the application that generates risk metrics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Owns business logic and computational models within the app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Lands generated data into the Risk landing zone in Databricks</a:t>
            </a:r>
            <a:endParaRPr lang="en-US" sz="850" dirty="0"/>
          </a:p>
          <a:p>
            <a:pPr marL="0" indent="0">
              <a:buNone/>
            </a:pPr>
            <a:r>
              <a:rPr lang="en-US" sz="850" b="1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App schemas (where defined)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Generated reports / data — aligned with business and downstream users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Owns correctness and quality of generated metrics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83880" y="1188720"/>
            <a:ext cx="3657600" cy="3200400"/>
          </a:xfrm>
          <a:prstGeom prst="rect">
            <a:avLst/>
          </a:prstGeom>
          <a:solidFill>
            <a:srgbClr val="F4F6F4"/>
          </a:solidFill>
          <a:ln w="6350">
            <a:solidFill>
              <a:srgbClr val="D0D7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753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(consumers + their data team)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75320" y="1554480"/>
            <a:ext cx="34747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48472" y="160934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CREDIT 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48472" y="19019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consumers + data resolution function within Business.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48472" y="2194560"/>
            <a:ext cx="332841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Defines analytical requirements for Risk products (CCR ask, liquidity dashboards, etc.)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Manages business-side data resolution — counterparty matching, industry rollups, reference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Holds historical resolved datasets used for reporting and analytics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 of resolved datasets for fast-track analytics work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Requirements partner for Risk analytics products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Consumes analytics via dashboards and BI tools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7680960" cy="1874520"/>
          </a:xfrm>
          <a:prstGeom prst="rect">
            <a:avLst/>
          </a:prstGeom>
          <a:solidFill>
            <a:srgbClr val="F4F6F4"/>
          </a:solidFill>
          <a:ln w="6350">
            <a:solidFill>
              <a:srgbClr val="D0D7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CENTRAL  (sets standards · models canonical entities)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3703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4901184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 — STANDARDS · POLICIES · CDM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519379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governance authority.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" y="5486400"/>
            <a:ext cx="3557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Authors enterprise data standards and data policies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Defines UC tag taxonomy, classification framework, governance framework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Approves cross-domain canonical entity models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Operates the central domain modelling team — authors canonical models for Trade, Account, Security, Party, etc.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implements enterprise standards and contributes back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51960" y="4846320"/>
            <a:ext cx="3703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25112" y="4901184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25112" y="519379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architecture and standards function.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25112" y="5486400"/>
            <a:ext cx="3557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Authors enterprise technology standards and reference architectures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Approves choice of enterprise tooling and platforms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Reviews cross-domain data security and data flow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Cross-domain architecture review board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83880" y="4480560"/>
            <a:ext cx="3657600" cy="1874520"/>
          </a:xfrm>
          <a:prstGeom prst="rect">
            <a:avLst/>
          </a:prstGeom>
          <a:solidFill>
            <a:srgbClr val="F4F6F4"/>
          </a:solidFill>
          <a:ln w="6350">
            <a:solidFill>
              <a:srgbClr val="D0D7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7532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(platform plumbing)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75320" y="484632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48472" y="4901184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 TDVIP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48472" y="51937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/ Unity Catalog platform team for TD Securities.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48472" y="5486400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Provisions catalogs, schemas, workspaces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Manages service principals, AD groups, access controls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Operates the Databricks and Unity Catalog platform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 Lead is the primary day-to-day interface; DD engages on architecture, capacity, federation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6446520"/>
            <a:ext cx="11430000" cy="292608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64465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 layer (MicroStrategy / Databricks Metric Views / dbt) — sits on top of analytics products.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RASCI by Workstream</a:t>
            </a:r>
            <a:r>
              <a:rPr lang="en-US" sz="26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across the seven core analytics activities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· A = Accountable · S = Supports · C = Consulted · I = Informed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365760" y="1280160"/>
          <a:ext cx="10515600" cy="20243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Leader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 Data Mgmt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Std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Analytics architecture &amp; design principles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Schema / catalog physical 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Path 1 — Business-driven data 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Path 2 — App-driven data 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Path 3 — Canonical model contribution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Unity Catalog tags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Semantic layer definitions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5720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 Team authors UC tags on raw app data; DD authors UC tags on analytics products. DD reviews app-zone tags for compliance with enterprise standards.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983480"/>
            <a:ext cx="3703320" cy="137160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 — Federation, not centralisation</a:t>
            </a:r>
            <a:endParaRPr lang="en-US" sz="10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governs the analytics layer. Apps govern raw outputs. Central governs canonical models. Three federated zones; one owner per zone.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160520" y="4983480"/>
            <a:ext cx="3703320" cy="137160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 — DD = Architect, Curator, Convener</a:t>
            </a:r>
            <a:endParaRPr lang="en-US" sz="10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authors what's analytics-specific. DD curates inputs from apps. DD convenes business + apps + central. DD does NOT build pipelines or operate apps.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4983480"/>
            <a:ext cx="3931920" cy="137160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3 — DD and Tech Lead are peers</a:t>
            </a:r>
            <a:endParaRPr lang="en-US" sz="10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= what it means (semantics, products, architecture). Tech Lead = how it runs (infra, pipelines, schemas). Neither reports to the other; collaborate on every product.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6446520"/>
            <a:ext cx="11521440" cy="365760"/>
          </a:xfrm>
          <a:prstGeom prst="rect">
            <a:avLst/>
          </a:prstGeom>
          <a:solidFill>
            <a:srgbClr val="176B2C"/>
          </a:solidFill>
          <a:ln w="12700">
            <a:solidFill>
              <a:srgbClr val="176B2C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pattern: based on observed practice at JPM (CDO model), Goldman (Risk Data org), Morgan Stanley (data product structure). Friction reduction via clear product ownership + federated governance + peer relationship between DD and Tech Lead.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612880" y="6583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ABAAE-69D0-70CA-B4A2-0CA2F75D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5FCDD-7AEF-91C8-8F04-D6FF7A87F57C}"/>
              </a:ext>
            </a:extLst>
          </p:cNvPr>
          <p:cNvSpPr txBox="1"/>
          <p:nvPr/>
        </p:nvSpPr>
        <p:spPr>
          <a:xfrm>
            <a:off x="3563815" y="1570892"/>
            <a:ext cx="1769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222657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Working Relationships</a:t>
            </a:r>
            <a:r>
              <a:rPr lang="en-US" sz="26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Cadence &amp; Subjects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DD talks to · how often · about what — based on observed friction points; designed to keep DD out of the vacuum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2588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4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CENTRAL (CDO)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· canonical models · governance framework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2588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4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architecture review · standards alignment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32588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8B968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TDVIP / INFRASTRUCTURE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plumbing · catalogs, schemas, service principals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3108960"/>
            <a:ext cx="2743200" cy="1508760"/>
          </a:xfrm>
          <a:prstGeom prst="rect">
            <a:avLst/>
          </a:prstGeom>
          <a:solidFill>
            <a:srgbClr val="176B2C"/>
          </a:solidFill>
          <a:ln w="19050">
            <a:solidFill>
              <a:srgbClr val="176B2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DIRECTOR</a:t>
            </a:r>
            <a:endParaRPr lang="en-US" sz="12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and owns artifacts based on need</a:t>
            </a:r>
            <a:endParaRPr lang="en-US" sz="12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Standards · Templates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 · Semantic layer · UC tags</a:t>
            </a:r>
            <a:endParaRPr lang="en-US" sz="1200" dirty="0"/>
          </a:p>
          <a:p>
            <a:pPr marL="0" indent="0" algn="ctr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E5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Convener — not in a vacuum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788920"/>
            <a:ext cx="21945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6B2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GROUP LEADER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need · communicates with DD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leads, contribution, timelines, DD ask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4069080"/>
            <a:ext cx="1371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76B2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infra interface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4069080"/>
            <a:ext cx="13716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76B2C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DDLs, FKs, SKs, grain, raw 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0" y="3108960"/>
            <a:ext cx="160020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3A7058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+ business team</a:t>
            </a:r>
            <a:endParaRPr lang="en-US" sz="1100" dirty="0"/>
          </a:p>
          <a:p>
            <a:pPr marL="0" indent="0" algn="ctr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own data mgmt function</a:t>
            </a:r>
            <a:endParaRPr lang="en-US" sz="1100" dirty="0"/>
          </a:p>
          <a:p>
            <a:pPr marL="0" indent="0" algn="ctr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3A7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partner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3108960"/>
            <a:ext cx="0" cy="0"/>
          </a:xfrm>
          <a:prstGeom prst="line">
            <a:avLst/>
          </a:prstGeom>
          <a:noFill/>
          <a:ln w="15875">
            <a:solidFill>
              <a:srgbClr val="2E8B4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8288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· templates · enterprise news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3108960"/>
            <a:ext cx="0" cy="0"/>
          </a:xfrm>
          <a:prstGeom prst="line">
            <a:avLst/>
          </a:prstGeom>
          <a:noFill/>
          <a:ln w="15875">
            <a:solidFill>
              <a:srgbClr val="2E8B4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2423160"/>
            <a:ext cx="1600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· sharing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0" y="3108960"/>
            <a:ext cx="1920240" cy="0"/>
          </a:xfrm>
          <a:prstGeom prst="line">
            <a:avLst/>
          </a:prstGeom>
          <a:noFill/>
          <a:ln w="15875">
            <a:solidFill>
              <a:srgbClr val="8B968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2331720"/>
            <a:ext cx="18288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AS-NEEDED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capacity · federation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46520" y="3383280"/>
            <a:ext cx="1600200" cy="0"/>
          </a:xfrm>
          <a:prstGeom prst="line">
            <a:avLst/>
          </a:prstGeom>
          <a:noFill/>
          <a:ln w="19050">
            <a:solidFill>
              <a:srgbClr val="176B2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3017520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· roster · DD ask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686800" y="3703320"/>
            <a:ext cx="0" cy="365760"/>
          </a:xfrm>
          <a:prstGeom prst="line">
            <a:avLst/>
          </a:prstGeom>
          <a:noFill/>
          <a:ln w="1270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418320" y="3703320"/>
            <a:ext cx="91440" cy="365760"/>
          </a:xfrm>
          <a:prstGeom prst="line">
            <a:avLst/>
          </a:prstGeom>
          <a:noFill/>
          <a:ln w="12700">
            <a:solidFill>
              <a:srgbClr val="8B968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4069080"/>
            <a:ext cx="822960" cy="365760"/>
          </a:xfrm>
          <a:prstGeom prst="line">
            <a:avLst/>
          </a:prstGeom>
          <a:noFill/>
          <a:ln w="12700">
            <a:solidFill>
              <a:srgbClr val="176B2C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0" y="4617720"/>
            <a:ext cx="15544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AS-NEEDED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spec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241280" y="3246120"/>
            <a:ext cx="137160" cy="274320"/>
          </a:xfrm>
          <a:prstGeom prst="line">
            <a:avLst/>
          </a:prstGeom>
          <a:noFill/>
          <a:ln w="15875">
            <a:solidFill>
              <a:srgbClr val="3A705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95360" y="2743200"/>
            <a:ext cx="169164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7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path 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3840480"/>
            <a:ext cx="3977640" cy="457200"/>
          </a:xfrm>
          <a:prstGeom prst="line">
            <a:avLst/>
          </a:prstGeom>
          <a:noFill/>
          <a:ln w="12700">
            <a:solidFill>
              <a:srgbClr val="3A7058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4846320"/>
            <a:ext cx="21031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7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AS-NEEDED</a:t>
            </a: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· semantic alignment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50749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CADENCE</a:t>
            </a:r>
            <a:endParaRPr lang="en-US" sz="105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DD ↔ Product Group Leaders — WEEKLY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DD ↔ CDO / Enterprise Architecture — BI-WEEKLY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DD ↔ TDVIP / Infra — DAILY working contact, weekly strategic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Strategy alignment (Vendor / TDVIP-Infra) — DD contributes when involved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DD ↔ Tech Lead / Apps — AS-NEEDED on specific products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DD ↔ Business — AS-NEEDED for Path 1 + semantic alignment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5074920"/>
            <a:ext cx="6446520" cy="1280160"/>
          </a:xfrm>
          <a:prstGeom prst="rect">
            <a:avLst/>
          </a:prstGeom>
          <a:solidFill>
            <a:srgbClr val="E5F0DD"/>
          </a:solidFill>
          <a:ln w="12700">
            <a:solidFill>
              <a:srgbClr val="176B2C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MAINTAINS A PROJECT ROSTER</a:t>
            </a:r>
            <a:endParaRPr lang="en-US" sz="105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ask: requesting team, artifact, data product status, dependencies, target date.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rework and duplication. Surfaces priorities to Risk leadership and PG Leaders.</a:t>
            </a:r>
            <a:endParaRPr lang="en-US" sz="105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shared across Risk leadership and PG Leaders — </a:t>
            </a:r>
            <a:endParaRPr lang="en-US" sz="1050" dirty="0"/>
          </a:p>
          <a:p>
            <a:pPr marL="0" indent="0" algn="l">
              <a:buNone/>
            </a:pPr>
            <a:r>
              <a:rPr lang="en-US" sz="900" b="1" i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is not in a vacuum.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6583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DE0A0-43A9-997F-FF9A-5B3072305302}"/>
              </a:ext>
            </a:extLst>
          </p:cNvPr>
          <p:cNvSpPr txBox="1"/>
          <p:nvPr/>
        </p:nvSpPr>
        <p:spPr>
          <a:xfrm>
            <a:off x="4149969" y="2708031"/>
            <a:ext cx="207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Tracks to Analytics</a:t>
            </a:r>
          </a:p>
        </p:txBody>
      </p:sp>
    </p:spTree>
    <p:extLst>
      <p:ext uri="{BB962C8B-B14F-4D97-AF65-F5344CB8AC3E}">
        <p14:creationId xmlns:p14="http://schemas.microsoft.com/office/powerpoint/2010/main" val="933606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Tracks to Analytics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CE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Risk data flows from apps to analytics — and which path is fastest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657600" cy="1463040"/>
          </a:xfrm>
          <a:prstGeom prst="rect">
            <a:avLst/>
          </a:prstGeom>
          <a:solidFill>
            <a:srgbClr val="1A5A38"/>
          </a:solidFill>
          <a:ln w="19050">
            <a:solidFill>
              <a:srgbClr val="97BC62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TRACK 1 — FASTEST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has resolved data manually.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metadata, ship as data product.</a:t>
            </a:r>
            <a:endParaRPr lang="en-US" sz="12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months to George's analytics.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3657600"/>
            <a:ext cx="3657600" cy="1463040"/>
          </a:xfrm>
          <a:prstGeom prst="rect">
            <a:avLst/>
          </a:prstGeom>
          <a:solidFill>
            <a:srgbClr val="1A5A38"/>
          </a:solidFill>
          <a:ln w="19050">
            <a:solidFill>
              <a:srgbClr val="97BC62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TRACK 2 — MEDIUM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lands in Databricks.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and conform, then add metadata.</a:t>
            </a:r>
            <a:endParaRPr lang="en-US" sz="12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months.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3657600"/>
            <a:ext cx="3657600" cy="1463040"/>
          </a:xfrm>
          <a:prstGeom prst="rect">
            <a:avLst/>
          </a:prstGeom>
          <a:solidFill>
            <a:srgbClr val="1A5A38"/>
          </a:solidFill>
          <a:ln w="19050">
            <a:solidFill>
              <a:srgbClr val="97BC62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TRACK 3 — STRATEGIC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data modelling end-to-end.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DM → PG DM → CDM.</a:t>
            </a:r>
            <a:endParaRPr lang="en-US" sz="12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Multi-year. Runs in parallel.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Director  ·  Working Draft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Tracks to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 · three paths · same destination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1280160" cy="1828800"/>
          </a:xfrm>
          <a:prstGeom prst="rect">
            <a:avLst/>
          </a:prstGeom>
          <a:solidFill>
            <a:srgbClr val="3D4A52"/>
          </a:solidFill>
          <a:ln w="15875">
            <a:solidFill>
              <a:srgbClr val="3D4A52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· CMOS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REGDS · TCC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· RCAPS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 · IHMS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SENTOR · REDS-GRS</a:t>
            </a:r>
            <a:endParaRPr lang="en-US" sz="1100" dirty="0"/>
          </a:p>
          <a:p>
            <a:pPr marL="0" indent="0" algn="ctr">
              <a:buNone/>
            </a:pPr>
            <a:r>
              <a:rPr lang="en-US" sz="5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outside Databricks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94560"/>
            <a:ext cx="1371600" cy="1097280"/>
          </a:xfrm>
          <a:prstGeom prst="rect">
            <a:avLst/>
          </a:prstGeom>
          <a:solidFill>
            <a:srgbClr val="FCE7E6"/>
          </a:solidFill>
          <a:ln w="15875">
            <a:solidFill>
              <a:srgbClr val="9C2A2A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Data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metrics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</a:t>
            </a:r>
            <a:endParaRPr lang="en-US" sz="11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"datasets, not products"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2743200"/>
            <a:ext cx="137160" cy="0"/>
          </a:xfrm>
          <a:prstGeom prst="line">
            <a:avLst/>
          </a:prstGeom>
          <a:noFill/>
          <a:ln w="22225">
            <a:solidFill>
              <a:srgbClr val="0F2A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54680" y="2423160"/>
            <a:ext cx="868680" cy="0"/>
          </a:xfrm>
          <a:prstGeom prst="line">
            <a:avLst/>
          </a:prstGeom>
          <a:noFill/>
          <a:ln w="22225">
            <a:solidFill>
              <a:srgbClr val="1F6B4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874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2743200"/>
            <a:ext cx="868680" cy="868680"/>
          </a:xfrm>
          <a:prstGeom prst="line">
            <a:avLst/>
          </a:prstGeom>
          <a:noFill/>
          <a:ln w="22225">
            <a:solidFill>
              <a:srgbClr val="2D599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32461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3063240"/>
            <a:ext cx="868680" cy="868680"/>
          </a:xfrm>
          <a:prstGeom prst="line">
            <a:avLst/>
          </a:prstGeom>
          <a:noFill/>
          <a:ln w="22225">
            <a:solidFill>
              <a:srgbClr val="2D599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3703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0" y="1481328"/>
            <a:ext cx="3520440" cy="960120"/>
          </a:xfrm>
          <a:prstGeom prst="rect">
            <a:avLst/>
          </a:prstGeom>
          <a:solidFill>
            <a:srgbClr val="DCE9C4">
              <a:alpha val="40000"/>
            </a:srgbClr>
          </a:solidFill>
          <a:ln w="19050">
            <a:solidFill>
              <a:srgbClr val="1F6B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0" y="15270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TRACK 1 — FASTEST PATH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1755648"/>
            <a:ext cx="155448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+ Reports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George; manual correlations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1755648"/>
            <a:ext cx="169164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Business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+ rollups done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057400"/>
            <a:ext cx="137160" cy="0"/>
          </a:xfrm>
          <a:prstGeom prst="line">
            <a:avLst/>
          </a:prstGeom>
          <a:noFill/>
          <a:ln w="22225">
            <a:solidFill>
              <a:srgbClr val="1F6B4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2057400"/>
            <a:ext cx="594360" cy="1143000"/>
          </a:xfrm>
          <a:prstGeom prst="line">
            <a:avLst/>
          </a:prstGeom>
          <a:noFill/>
          <a:ln w="19050">
            <a:solidFill>
              <a:srgbClr val="1F6B4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2468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resolved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0" y="3383280"/>
            <a:ext cx="3520440" cy="960120"/>
          </a:xfrm>
          <a:prstGeom prst="rect">
            <a:avLst/>
          </a:prstGeom>
          <a:solidFill>
            <a:srgbClr val="DBE6F5">
              <a:alpha val="40000"/>
            </a:srgbClr>
          </a:solidFill>
          <a:ln w="19050">
            <a:solidFill>
              <a:srgbClr val="2D59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34290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TRACK 2 — APP-SIDE RESOLUTION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657600"/>
            <a:ext cx="155448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996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Schemas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creditrisk.xvala / .cmos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3657600"/>
            <a:ext cx="169164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D5996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+ Conform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counterparties, align hierarchies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3950208"/>
            <a:ext cx="137160" cy="0"/>
          </a:xfrm>
          <a:prstGeom prst="line">
            <a:avLst/>
          </a:prstGeom>
          <a:noFill/>
          <a:ln w="22225">
            <a:solidFill>
              <a:srgbClr val="2D599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0" y="3950208"/>
            <a:ext cx="594360" cy="0"/>
          </a:xfrm>
          <a:prstGeom prst="line">
            <a:avLst/>
          </a:prstGeom>
          <a:noFill/>
          <a:ln w="19050">
            <a:solidFill>
              <a:srgbClr val="2D599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60920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metadata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0" y="4983480"/>
            <a:ext cx="7178040" cy="1005840"/>
          </a:xfrm>
          <a:prstGeom prst="rect">
            <a:avLst/>
          </a:prstGeom>
          <a:solidFill>
            <a:srgbClr val="FFE9C2">
              <a:alpha val="40000"/>
            </a:srgbClr>
          </a:solidFill>
          <a:ln w="19050">
            <a:solidFill>
              <a:srgbClr val="C8801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0" y="5029200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TRACK 3 — STRATEGIC MODELLING (multi-year, runs in parallel)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5330952"/>
            <a:ext cx="141732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Model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· App authors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5330952"/>
            <a:ext cx="224028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Domain Model + Lookup Tables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conformed · DD authors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5330952"/>
            <a:ext cx="18288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</a:t>
            </a:r>
            <a:endParaRPr lang="en-US" sz="95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canonical · 12 domains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5623560"/>
            <a:ext cx="137160" cy="0"/>
          </a:xfrm>
          <a:prstGeom prst="line">
            <a:avLst/>
          </a:prstGeom>
          <a:noFill/>
          <a:ln w="15875">
            <a:solidFill>
              <a:srgbClr val="C8801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909560" y="5623560"/>
            <a:ext cx="137160" cy="0"/>
          </a:xfrm>
          <a:prstGeom prst="line">
            <a:avLst/>
          </a:prstGeom>
          <a:noFill/>
          <a:ln w="15875">
            <a:solidFill>
              <a:srgbClr val="C8801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0" y="54498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92040" y="4251960"/>
            <a:ext cx="0" cy="1078992"/>
          </a:xfrm>
          <a:prstGeom prst="line">
            <a:avLst/>
          </a:prstGeom>
          <a:noFill/>
          <a:ln w="12700">
            <a:solidFill>
              <a:srgbClr val="C8801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092440" y="2788920"/>
            <a:ext cx="1280160" cy="1280160"/>
          </a:xfrm>
          <a:prstGeom prst="rect">
            <a:avLst/>
          </a:prstGeom>
          <a:solidFill>
            <a:srgbClr val="FFE9C2"/>
          </a:solidFill>
          <a:ln w="19050">
            <a:solidFill>
              <a:srgbClr val="C8801A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METADATA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agreement</a:t>
            </a:r>
            <a:endParaRPr lang="en-US" sz="11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types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· lineage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ownership</a:t>
            </a:r>
            <a:endParaRPr lang="en-US" sz="1100" dirty="0"/>
          </a:p>
          <a:p>
            <a:pPr marL="0" indent="0" algn="ctr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step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72600" y="3108960"/>
            <a:ext cx="274320" cy="0"/>
          </a:xfrm>
          <a:prstGeom prst="line">
            <a:avLst/>
          </a:prstGeom>
          <a:noFill/>
          <a:ln w="22225">
            <a:solidFill>
              <a:srgbClr val="0F2A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372600" y="3749040"/>
            <a:ext cx="274320" cy="457200"/>
          </a:xfrm>
          <a:prstGeom prst="line">
            <a:avLst/>
          </a:prstGeom>
          <a:noFill/>
          <a:ln w="22225">
            <a:solidFill>
              <a:srgbClr val="0F2A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9646920" y="2194560"/>
            <a:ext cx="1417320" cy="868680"/>
          </a:xfrm>
          <a:prstGeom prst="rect">
            <a:avLst/>
          </a:prstGeom>
          <a:solidFill>
            <a:srgbClr val="0F4A2E"/>
          </a:solidFill>
          <a:ln w="15875">
            <a:solidFill>
              <a:srgbClr val="0F4A2E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shape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contracted</a:t>
            </a:r>
            <a:endParaRPr lang="en-US" sz="10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· regulatory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646920" y="4160520"/>
            <a:ext cx="1417320" cy="868680"/>
          </a:xfrm>
          <a:prstGeom prst="rect">
            <a:avLst/>
          </a:prstGeom>
          <a:solidFill>
            <a:srgbClr val="1F6B43"/>
          </a:solidFill>
          <a:ln w="15875">
            <a:solidFill>
              <a:srgbClr val="1F6B43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shape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composition</a:t>
            </a:r>
            <a:endParaRPr lang="en-US" sz="10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guardrails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064240" y="2651760"/>
            <a:ext cx="274320" cy="548640"/>
          </a:xfrm>
          <a:prstGeom prst="line">
            <a:avLst/>
          </a:prstGeom>
          <a:noFill/>
          <a:ln w="22225">
            <a:solidFill>
              <a:srgbClr val="0F2A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064240" y="4572000"/>
            <a:ext cx="274320" cy="0"/>
          </a:xfrm>
          <a:prstGeom prst="line">
            <a:avLst/>
          </a:prstGeom>
          <a:noFill/>
          <a:ln w="22225">
            <a:solidFill>
              <a:srgbClr val="0F2A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1201400" y="3154680"/>
            <a:ext cx="914400" cy="914400"/>
          </a:xfrm>
          <a:prstGeom prst="rect">
            <a:avLst/>
          </a:prstGeom>
          <a:solidFill>
            <a:srgbClr val="FFE9C2"/>
          </a:solidFill>
          <a:ln w="19050">
            <a:solidFill>
              <a:srgbClr val="C8801A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900" dirty="0"/>
          </a:p>
          <a:p>
            <a:pPr marL="0" indent="0" algn="ctr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grain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aggregation</a:t>
            </a:r>
            <a:endParaRPr lang="en-US" sz="900" dirty="0"/>
          </a:p>
          <a:p>
            <a:pPr marL="0" indent="0" algn="ctr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</a:t>
            </a:r>
            <a:endParaRPr lang="en-US" sz="9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646920" y="1417320"/>
            <a:ext cx="1417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B43"/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9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business discovery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351008" y="2194560"/>
            <a:ext cx="0" cy="0"/>
          </a:xfrm>
          <a:prstGeom prst="line">
            <a:avLst/>
          </a:prstGeom>
          <a:noFill/>
          <a:ln w="12700">
            <a:solidFill>
              <a:srgbClr val="1F6B4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424160" y="19933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0F4A2E"/>
          </a:solidFill>
          <a:ln w="15875">
            <a:solidFill>
              <a:srgbClr val="0F4A2E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 ·  Counterparty Risk dashboards  ·  MicroStrategy  ·  ad-hoc exploration  ·  regulatory feeds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658600" y="4069080"/>
            <a:ext cx="0" cy="2057400"/>
          </a:xfrm>
          <a:prstGeom prst="line">
            <a:avLst/>
          </a:prstGeom>
          <a:noFill/>
          <a:ln w="19050">
            <a:solidFill>
              <a:srgbClr val="0F4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Safe Self-Service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stages — same data, evolving status. Each stage adds something specific. Skip a stage at your peril.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71600"/>
            <a:ext cx="2788920" cy="1874520"/>
          </a:xfrm>
          <a:prstGeom prst="rect">
            <a:avLst/>
          </a:prstGeom>
          <a:solidFill>
            <a:srgbClr val="FCE7E6"/>
          </a:solidFill>
          <a:ln w="19050">
            <a:solidFill>
              <a:srgbClr val="9C2A2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C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RAW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exists.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and rows. No meaning, no rules.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71600"/>
            <a:ext cx="2788920" cy="1874520"/>
          </a:xfrm>
          <a:prstGeom prst="rect">
            <a:avLst/>
          </a:prstGeom>
          <a:solidFill>
            <a:srgbClr val="FFE9C2"/>
          </a:solidFill>
          <a:ln w="19050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CLEANSED + STANDARDISED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format integrity.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fixed; values aligned to ISO codes &amp; taxonomies.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71600"/>
            <a:ext cx="2788920" cy="1874520"/>
          </a:xfrm>
          <a:prstGeom prst="rect">
            <a:avLst/>
          </a:prstGeom>
          <a:solidFill>
            <a:srgbClr val="FFE9C2"/>
          </a:solidFill>
          <a:ln w="19050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CONFORMED + ENRICHED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Cross-context alignment + augmentation.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XVALA's counterparty = CMOS's = REGDS's. LEI, industry classification added.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371600"/>
            <a:ext cx="2788920" cy="1874520"/>
          </a:xfrm>
          <a:prstGeom prst="rect">
            <a:avLst/>
          </a:prstGeom>
          <a:solidFill>
            <a:srgbClr val="DCE9C4"/>
          </a:solidFill>
          <a:ln w="19050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CURATED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for consumption.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Joined, aggregated, denormalised — star schemas, OBT, Counterparty 360 views.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474720"/>
            <a:ext cx="2788920" cy="1874520"/>
          </a:xfrm>
          <a:prstGeom prst="rect">
            <a:avLst/>
          </a:prstGeom>
          <a:solidFill>
            <a:srgbClr val="DCE9C4"/>
          </a:solidFill>
          <a:ln w="19050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DATA PRODUCT (Governed)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 UC + Collibra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stability via the contract.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Grain, allowed/blocked dims, SLA, change policy, version. Tagged in UC; registered in Collibra.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474720"/>
            <a:ext cx="2788920" cy="1874520"/>
          </a:xfrm>
          <a:prstGeom prst="rect">
            <a:avLst/>
          </a:prstGeom>
          <a:solidFill>
            <a:srgbClr val="DCE9C4"/>
          </a:solidFill>
          <a:ln w="19050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TRUSTED / AUTHORITATIVE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3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+ designation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designation for use.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source for regulatory submissions, model inputs, board reporting.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474720"/>
            <a:ext cx="2788920" cy="1874520"/>
          </a:xfrm>
          <a:prstGeom prst="rect">
            <a:avLst/>
          </a:prstGeom>
          <a:solidFill>
            <a:srgbClr val="1F6B43"/>
          </a:solidFill>
          <a:ln w="19050">
            <a:solidFill>
              <a:srgbClr val="0F4A2E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 SEMANTIC LAYER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Gold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self-service.</a:t>
            </a:r>
            <a:endParaRPr lang="en-US" sz="11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 enforced in code (dbt / Databricks Metric Views / Strategy mirror). Wrong queries become impossible.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3474720"/>
            <a:ext cx="2788920" cy="1874520"/>
          </a:xfrm>
          <a:prstGeom prst="rect">
            <a:avLst/>
          </a:prstGeom>
          <a:solidFill>
            <a:srgbClr val="FFE9C2"/>
          </a:solidFill>
          <a:ln w="19050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SEQUENCE MATTERS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delivers a separate value: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①→② quality   ②→③ alignment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③→④ shape   ④→⑤ trust</a:t>
            </a:r>
            <a:endParaRPr lang="en-US" sz="11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⑤→⑥ designation   ⑥→⑦ safety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DD's role is to drive the progression — not just deliver one stage.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5989320"/>
            <a:ext cx="11521440" cy="502920"/>
          </a:xfrm>
          <a:prstGeom prst="rect">
            <a:avLst/>
          </a:prstGeom>
          <a:solidFill>
            <a:srgbClr val="0F4A2E"/>
          </a:solidFill>
          <a:ln w="15875">
            <a:solidFill>
              <a:srgbClr val="0F4A2E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separate piece of work and delivers a separate kind of value. Don't confuse "governed" with "curated" with "conformed" — they're three distinct things. A data product fit for analytics needs all three, plus a semantic layer.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Product vs Star Schema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consumption shapes — closed and contracted, vs open and composed. Both flow to analytics. Both need semantics.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71600"/>
            <a:ext cx="5669280" cy="2286000"/>
          </a:xfrm>
          <a:prstGeom prst="rect">
            <a:avLst/>
          </a:prstGeom>
          <a:solidFill>
            <a:srgbClr val="0F4A2E"/>
          </a:solidFill>
          <a:ln w="15875">
            <a:solidFill>
              <a:srgbClr val="0F4A2E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— Closed Shape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contracted, opinionated.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pre-bakes the semantics. Grain, aggregation rules, allowed slicings — all enforced in the dataset itself. Consumer reads what's published; can't change the shape.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ops dashboards, regulatory submissions, scheduled feeds, ML pipelines.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371600"/>
            <a:ext cx="5669280" cy="2286000"/>
          </a:xfrm>
          <a:prstGeom prst="rect">
            <a:avLst/>
          </a:prstGeom>
          <a:solidFill>
            <a:srgbClr val="1F6B43"/>
          </a:solidFill>
          <a:ln w="15875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Open Shape (Composition)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composition over curated facts and dimensions.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composes the analysis they need by joining facts to conformed dimensions. Powerful — but only safe if a semantic layer enforces grain and aggregation rules. Without guardrails, it's the path to wrong answers.</a:t>
            </a:r>
            <a:endParaRPr lang="en-US" sz="1400" dirty="0"/>
          </a:p>
          <a:p>
            <a:pPr marL="0" indent="0" algn="l">
              <a:buNone/>
            </a:pPr>
            <a:r>
              <a:rPr lang="en-US" sz="4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DCE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exploration, ad-hoc BI, MicroStrategy dossiers, drill-down analysis.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794760"/>
            <a:ext cx="5669280" cy="2194560"/>
          </a:xfrm>
          <a:prstGeom prst="rect">
            <a:avLst/>
          </a:prstGeom>
          <a:solidFill>
            <a:srgbClr val="DCE9C4"/>
          </a:solidFill>
          <a:ln w="15875">
            <a:solidFill>
              <a:srgbClr val="1F6B43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Counterparty Risk 360 (data product)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Pre-baked at counterparty + valuation_date grain.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= MAX across time buckets — encoded in the table.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query: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counterparty_name, pfe FROM cp_risk_360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counterparty_id = 'ABC';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Safe. Limited (one grain, one aggregation choice).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794760"/>
            <a:ext cx="5669280" cy="2194560"/>
          </a:xfrm>
          <a:prstGeom prst="rect">
            <a:avLst/>
          </a:prstGeom>
          <a:solidFill>
            <a:srgbClr val="FFE9C2"/>
          </a:solidFill>
          <a:ln w="15875">
            <a:solidFill>
              <a:srgbClr val="C8801A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Star Schema Composition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facts at native grain (exposure, MtM, sensitivities).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composes — but semantic layer enforces MAX(pfe) not SUM, blocks PFE-by-product.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query (via semantic layer):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counterparty, pfe, mtm, cs01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exposure JOIN mtm JOIN sensitivities  -- aggregated first</a:t>
            </a:r>
            <a:endParaRPr lang="en-US" sz="1100" dirty="0"/>
          </a:p>
          <a:p>
            <a:pPr marL="0" indent="0" algn="l">
              <a:buNone/>
            </a:pPr>
            <a:r>
              <a:rPr lang="en-US" sz="3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C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Flexible. Many grains possible. Only safe if semantics enforced.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080760"/>
            <a:ext cx="11521440" cy="411480"/>
          </a:xfrm>
          <a:prstGeom prst="rect">
            <a:avLst/>
          </a:prstGeom>
          <a:solidFill>
            <a:srgbClr val="0F4A2E"/>
          </a:solidFill>
          <a:ln w="15875">
            <a:solidFill>
              <a:srgbClr val="0F4A2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 are pre-coded — semantics live in the dataset. Star schemas require a semantic layer (dbt Metrics, Databricks Metric Views, or MicroStrategy level metrics) — without it, composition becomes the path to wrong answers.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Contract → Unity Catalog Tags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4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contract gets expressed in tooling so it's machine-enforceable.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→ UC mapping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645920"/>
          <a:ext cx="5943600" cy="26847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section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Catalog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/ business 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&amp; column comments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'grain'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dimensions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'allowed_dims'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dimensions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'blocked_dims'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'aggregation_*' (referenced by semantic layer)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checks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CONSTRAINT + scheduled DQ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'refresh_sla' +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TO + tag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'change_policy'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Tag: 'contract_version', 'last_changed'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registration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technical + Collibra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Exposure product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45920"/>
            <a:ext cx="539496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6B7C72"/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Make the table recognised as a data product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riskwh.gold.fact_exposure SET TAGS 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'data_product'     = 'true',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'product_name'     = 'CCR Exposure',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'product_type'     = 'atomic_primary',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'contract_version' = '1.2.0',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'owner_team'       = 'risk_data_platform',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'grain'            = 'cp+netting_set+bucket+scn+date',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'allowed_dims'     = 'cp,netting_set,bucket,scn,date',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'blocked_dims'     = 'product,trade',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'aggregation_pfe'  = 'non_additive_percentile',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'refresh_sla'      = 'daily_by_06:00_EST',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'change_policy'    = 'breaking_60d_additive_14d',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'collibra_ref'     = 'CCR-EXP-001'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900" dirty="0"/>
          </a:p>
          <a:p>
            <a:pPr marL="0" indent="0" algn="l">
              <a:buNone/>
            </a:pPr>
            <a:r>
              <a:rPr lang="en-US" sz="5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Business meaning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TABLE riskwh.gold.fact_exposure IS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'CCR exposure metrics at counterparty + netting set...';</a:t>
            </a:r>
            <a:endParaRPr lang="en-US" sz="900" dirty="0"/>
          </a:p>
          <a:p>
            <a:pPr marL="0" indent="0" algn="l">
              <a:buNone/>
            </a:pPr>
            <a:r>
              <a:rPr lang="en-US" sz="5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Quality constraint enforced by Databricks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riskwh.gold.fact_exposure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CONSTRAINT pfe_non_negative CHECK (pfe &gt;= 0);</a:t>
            </a:r>
            <a:endParaRPr lang="en-US" sz="900" dirty="0"/>
          </a:p>
          <a:p>
            <a:pPr marL="0" indent="0" algn="l">
              <a:buNone/>
            </a:pPr>
            <a:r>
              <a:rPr lang="en-US" sz="5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Ownership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riskwh.gold.fact_exposure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OWNER TO `risk_data_platform`;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6355080"/>
            <a:ext cx="11521440" cy="365760"/>
          </a:xfrm>
          <a:prstGeom prst="rect">
            <a:avLst/>
          </a:prstGeom>
          <a:solidFill>
            <a:srgbClr val="0F4A2E"/>
          </a:solidFill>
          <a:ln w="15875">
            <a:solidFill>
              <a:srgbClr val="0F4A2E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 sits in Collibra (business catalog).  ·  UC tags carry the rules in the technical catalog.  ·  Lineage stays in Databricks.  ·  Three systems, one contract.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5264</Words>
  <Application>Microsoft Macintosh PowerPoint</Application>
  <PresentationFormat>Widescreen</PresentationFormat>
  <Paragraphs>954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Data — Visuals for Confluence</dc:title>
  <dc:subject>PptxGenJS Presentation</dc:subject>
  <dc:creator>PptxGenJS</dc:creator>
  <cp:lastModifiedBy>Reena Cheema</cp:lastModifiedBy>
  <cp:revision>3</cp:revision>
  <dcterms:created xsi:type="dcterms:W3CDTF">2026-05-07T18:22:23Z</dcterms:created>
  <dcterms:modified xsi:type="dcterms:W3CDTF">2026-05-08T14:45:54Z</dcterms:modified>
</cp:coreProperties>
</file>