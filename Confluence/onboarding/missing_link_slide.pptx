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36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Link – Three Models Behind Every Report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Facing 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artifact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Contract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Link 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960120"/>
            <a:ext cx="8778240" cy="59436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96012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number mean?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1488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Domain Model defines what these entities are and how they relate. Without it, two systems calling the same thing 'counterparty' may mean different things.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combine this with another – safely?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1488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Dimensional Model declares grain and aggregation rules. Without it, summing two numbers risks silent double-counting.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 rely on from this feed?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21488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Data Contract makes the publishing promise explicit and enforceable. Without it, you depend on whatever the producer happened to publish today.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3291840"/>
            <a:ext cx="8778240" cy="1325880"/>
          </a:xfrm>
          <a:prstGeom prst="rect">
            <a:avLst/>
          </a:prstGeom>
          <a:solidFill>
            <a:srgbClr val="EAF1F8"/>
          </a:solidFill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33649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Contract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63931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in Git · machine-readable · versioned · governed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88920" y="38587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entities,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upstream conformed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lists products it can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join with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38587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grain,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measures, the safe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rules,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drill paths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41080" y="38587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schedule, change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schema, classification,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quality tests,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4370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link to actual contract YAML in Git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4983480"/>
            <a:ext cx="2194560" cy="777240"/>
          </a:xfrm>
          <a:prstGeom prst="rect">
            <a:avLst/>
          </a:prstGeom>
          <a:solidFill>
            <a:srgbClr val="FAF6D6"/>
          </a:solidFill>
          <a:ln w="19050">
            <a:solidFill>
              <a:srgbClr val="C9B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4983480"/>
            <a:ext cx="2194560" cy="777240"/>
          </a:xfrm>
          <a:prstGeom prst="rect">
            <a:avLst/>
          </a:prstGeom>
          <a:solidFill>
            <a:srgbClr val="FAF6D6"/>
          </a:solidFill>
          <a:ln w="19050">
            <a:solidFill>
              <a:srgbClr val="C9B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61120" y="4983480"/>
            <a:ext cx="2194560" cy="777240"/>
          </a:xfrm>
          <a:prstGeom prst="rect">
            <a:avLst/>
          </a:prstGeom>
          <a:solidFill>
            <a:srgbClr val="FAF6D6"/>
          </a:solidFill>
          <a:ln w="19050">
            <a:solidFill>
              <a:srgbClr val="C9B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6112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06240" y="4754880"/>
            <a:ext cx="0" cy="228600"/>
          </a:xfrm>
          <a:prstGeom prst="line">
            <a:avLst/>
          </a:prstGeom>
          <a:noFill/>
          <a:ln w="19050">
            <a:solidFill>
              <a:srgbClr val="2E5C8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06240" y="1572768"/>
            <a:ext cx="0" cy="1691640"/>
          </a:xfrm>
          <a:prstGeom prst="line">
            <a:avLst/>
          </a:prstGeom>
          <a:noFill/>
          <a:ln w="19050">
            <a:solidFill>
              <a:srgbClr val="2E5C8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132320" y="4754880"/>
            <a:ext cx="0" cy="228600"/>
          </a:xfrm>
          <a:prstGeom prst="line">
            <a:avLst/>
          </a:prstGeom>
          <a:noFill/>
          <a:ln w="19050">
            <a:solidFill>
              <a:srgbClr val="2E5C8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32320" y="1572768"/>
            <a:ext cx="0" cy="1691640"/>
          </a:xfrm>
          <a:prstGeom prst="line">
            <a:avLst/>
          </a:prstGeom>
          <a:noFill/>
          <a:ln w="19050">
            <a:solidFill>
              <a:srgbClr val="2E5C8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058400" y="4754880"/>
            <a:ext cx="0" cy="228600"/>
          </a:xfrm>
          <a:prstGeom prst="line">
            <a:avLst/>
          </a:prstGeom>
          <a:noFill/>
          <a:ln w="19050">
            <a:solidFill>
              <a:srgbClr val="2E5C8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8400" y="1572768"/>
            <a:ext cx="0" cy="1691640"/>
          </a:xfrm>
          <a:prstGeom prst="line">
            <a:avLst/>
          </a:prstGeom>
          <a:noFill/>
          <a:ln w="19050">
            <a:solidFill>
              <a:srgbClr val="2E5C8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08960" y="5989320"/>
            <a:ext cx="274320" cy="0"/>
          </a:xfrm>
          <a:prstGeom prst="line">
            <a:avLst/>
          </a:prstGeom>
          <a:noFill/>
          <a:ln w="15240">
            <a:solidFill>
              <a:srgbClr val="0F4A23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91840" y="5989320"/>
            <a:ext cx="7315200" cy="0"/>
          </a:xfrm>
          <a:prstGeom prst="line">
            <a:avLst/>
          </a:prstGeom>
          <a:noFill/>
          <a:ln w="15240">
            <a:solidFill>
              <a:srgbClr val="0F4A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881360" y="5989320"/>
            <a:ext cx="274320" cy="0"/>
          </a:xfrm>
          <a:prstGeom prst="line">
            <a:avLst/>
          </a:prstGeom>
          <a:noFill/>
          <a:ln w="15240">
            <a:solidFill>
              <a:srgbClr val="0F4A2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0" y="571500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– published as one governed artefact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Product Contract carries the context whether the three models exist or not — self-declared today, model-derived as the models get built.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industry data-product practice — data mesh, ODCS, data contracts  ·  See next slide for the composition architecture  ·  Appendix for term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Contract Gets Built – The Composition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C0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models once. Compose contracts from them many times.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example: Exposure by Counterparty (Counterparty Credit Risk reporting). One contract, composed from three upstream facts, backed by a reusable CDM.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the consumer)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8686800" cy="868680"/>
          </a:xfrm>
          <a:prstGeom prst="roundRect">
            <a:avLst>
              <a:gd name="adj" fmla="val 5263"/>
            </a:avLst>
          </a:prstGeom>
          <a:solidFill>
            <a:srgbClr val="FAF6D6"/>
          </a:solidFill>
          <a:ln w="19050">
            <a:solidFill>
              <a:srgbClr val="C9B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exposure by counterparty — including direct, indirect (via guarantees), and CCR line (PFE at x% confidence)."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1488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by: Counterparty Credit Risk reporting need.   Consumers: risk management, limit oversight, concentration analysis.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DOMAIN MODEL / CDM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(reusable — built once)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788920"/>
            <a:ext cx="8686800" cy="868680"/>
          </a:xfrm>
          <a:prstGeom prst="roundRect">
            <a:avLst>
              <a:gd name="adj" fmla="val 5263"/>
            </a:avLst>
          </a:prstGeom>
          <a:solidFill>
            <a:srgbClr val="E7F4EC"/>
          </a:solidFill>
          <a:ln w="190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2880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Counterparty (with hierarchy)  ·  Agreement  ·  Position  ·  Guarantee  ·  Derivative Trade  ·  Netting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154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Counterparty has Agreements has Positions  ·  Guarantee links one Counterparty to another  ·  Derivative Trades net within a Netting 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3383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products: any future product that touches Counterparty / Agreement / Position inherits this model — no re-modelling needed.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DIMENSIONAL MODEL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(grain + measures)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3886200"/>
            <a:ext cx="8686800" cy="868680"/>
          </a:xfrm>
          <a:prstGeom prst="roundRect">
            <a:avLst>
              <a:gd name="adj" fmla="val 5263"/>
            </a:avLst>
          </a:prstGeom>
          <a:solidFill>
            <a:srgbClr val="E7F4EC"/>
          </a:solidFill>
          <a:ln w="190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39593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upstream facts (each its own data product):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4206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fact_direct_exposure  (grain: counterparty + agreement + date)        •  fact_indirect_exposure  (counterparty + guarantor + date)        •  fact_ccr_line_exposure  (counterparty + netting_set + date)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4453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consumer-facing view that composes them: fact_exposure_by_counterparty  (grain: counterparty + date,  measure: total_exposure_amount, semi-additive)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9834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CONTRACT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C0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(composed, published)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4983480"/>
            <a:ext cx="8686800" cy="868680"/>
          </a:xfrm>
          <a:prstGeom prst="roundRect">
            <a:avLst>
              <a:gd name="adj" fmla="val 5263"/>
            </a:avLst>
          </a:prstGeom>
          <a:solidFill>
            <a:srgbClr val="EAF1F8"/>
          </a:solidFill>
          <a:ln w="317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0" y="50566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exposure_by_counterparty.yaml — the data contract for the consumer-facing 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531266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grain, measures, aggregation rules: COMPOSED by CI from the Dimensional Model above (layer 3).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549554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entities, reference dependencies: COMPOSED by CI from the CDM above (layer 2).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567842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intended use, SLA, ownership: AUTHORED by the Data Product Owner (the small consumer-facing layer).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4754880"/>
            <a:ext cx="0" cy="22860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88920" y="3657600"/>
            <a:ext cx="0" cy="228600"/>
          </a:xfrm>
          <a:prstGeom prst="line">
            <a:avLst/>
          </a:prstGeom>
          <a:noFill/>
          <a:ln w="25400">
            <a:solidFill>
              <a:srgbClr val="2F8F5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88920" y="2560320"/>
            <a:ext cx="0" cy="228600"/>
          </a:xfrm>
          <a:prstGeom prst="line">
            <a:avLst/>
          </a:prstGeom>
          <a:noFill/>
          <a:ln w="25400">
            <a:solidFill>
              <a:srgbClr val="C9B742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783080" y="477316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from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83080" y="36758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from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83080" y="25786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C9B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60350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product that touches Counterparty / Agreement / Position inherits the CDM. The next dimensional fact reuses conformed dimensions. The contract follows.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B — build the model once, reuse it many times. The contract is the end of the chain, not the start.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Terms Used in the Missing Link Slide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definitions for each term used on the previous slide. Grouped by which column it appears in.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column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657600" cy="36576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519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 column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188720"/>
            <a:ext cx="3657600" cy="36576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 column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8928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things the data is about — Counterparty, Agreement, Trade, Collateral Position. The contract names which entities this product covers.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reference dependencies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reference data (FX rates, asset taxonomy, calendar) that is agreed and governed across applications. "Conformed" means everyone uses the same definition.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301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other data products this one can be joined with safely, and on what key. Declared so consumers don't have to discover it.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51960" y="1691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18928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row in the data represents (e.g. "one row per counterparty per date"). The single most important property for safe aggregation.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51960" y="2560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with safe aggregation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27614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columns and the rules for adding them up. A measure may be additive across dates but not across counterparties — the contract states this.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51960" y="3429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paths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36301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dimensions consumers can slice and group by — counterparty, date, currency, agreement, etc.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1691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1892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agreement. When the data refreshes, by when, and the alert threshold if it doesn't.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2350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policy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2551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notice consumers get before breaking changes (typically 60 days) and additive changes (typically 14 days).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30083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32095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structure being published — names, types, nullability.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3666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38679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sensitivity tier (e.g. confidential) and whether PII is present. Drives access control.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325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526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upstream products and tables this product is built from. Audit trail.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4983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tests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5184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rules the data is checked against — non-negative amounts, referential integrity, row-count bands.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5641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58430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log. Every change to the contract, who approved it, when it took effect.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terms align with industry data-product practice (data mesh, Open Data Contract Standard, data-contracts.com).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Data Product Contract – Starting Point and Full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solidFill>
            <a:srgbClr val="1A5D2C"/>
          </a:solidFill>
          <a:ln w="12700">
            <a:solidFill>
              <a:srgbClr val="1A5D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for first certification: 5 of 9 sections (highlighted in red). The other 4 follow as the practice matures.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74920" y="31089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A5D2C"/>
          </a:solidFill>
          <a:ln w="25400">
            <a:solidFill>
              <a:srgbClr val="0F4A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74920" y="3063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4920" y="3995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in Git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23444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17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307592"/>
            <a:ext cx="411480" cy="219456"/>
          </a:xfrm>
          <a:prstGeom prst="roundRect">
            <a:avLst>
              <a:gd name="adj" fmla="val 125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30759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12893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Ownership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1600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display_name, owner, steward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23444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E7F4EC"/>
          </a:solidFill>
          <a:ln w="317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280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Intake form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App-layer UC tags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V="1">
            <a:off x="5074920" y="1668780"/>
            <a:ext cx="45720" cy="2034540"/>
          </a:xfrm>
          <a:prstGeom prst="line">
            <a:avLst/>
          </a:prstGeom>
          <a:noFill/>
          <a:ln w="2286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31720" y="1668780"/>
            <a:ext cx="365760" cy="0"/>
          </a:xfrm>
          <a:prstGeom prst="line">
            <a:avLst/>
          </a:prstGeom>
          <a:noFill/>
          <a:ln w="19050">
            <a:solidFill>
              <a:srgbClr val="2F8F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97480" y="224028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17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313432"/>
            <a:ext cx="411480" cy="219456"/>
          </a:xfrm>
          <a:prstGeom prst="roundRect">
            <a:avLst>
              <a:gd name="adj" fmla="val 125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23134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88920" y="22951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2606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description, column comments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24028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EAF1F8"/>
          </a:solidFill>
          <a:ln w="317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286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Product Owner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5074920" y="2674620"/>
            <a:ext cx="45720" cy="1028700"/>
          </a:xfrm>
          <a:prstGeom prst="line">
            <a:avLst/>
          </a:prstGeom>
          <a:noFill/>
          <a:ln w="2286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331720" y="2674620"/>
            <a:ext cx="365760" cy="0"/>
          </a:xfrm>
          <a:prstGeom prst="line">
            <a:avLst/>
          </a:prstGeom>
          <a:noFill/>
          <a:ln w="19050">
            <a:solidFill>
              <a:srgbClr val="2E5C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97480" y="324612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3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88920" y="33009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8892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canonical entities this product is about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24612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CFAEC"/>
          </a:solidFill>
          <a:ln w="12700">
            <a:solidFill>
              <a:srgbClr val="DDD3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291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 flipV="1">
            <a:off x="5074920" y="3680460"/>
            <a:ext cx="45720" cy="22860"/>
          </a:xfrm>
          <a:prstGeom prst="line">
            <a:avLst/>
          </a:prstGeom>
          <a:noFill/>
          <a:ln w="10160">
            <a:solidFill>
              <a:srgbClr val="DDD3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331720" y="3680460"/>
            <a:ext cx="365760" cy="0"/>
          </a:xfrm>
          <a:prstGeom prst="line">
            <a:avLst/>
          </a:prstGeom>
          <a:noFill/>
          <a:ln w="10160">
            <a:solidFill>
              <a:srgbClr val="DDD3A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97480" y="425196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17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17720" y="4325112"/>
            <a:ext cx="411480" cy="219456"/>
          </a:xfrm>
          <a:prstGeom prst="roundRect">
            <a:avLst>
              <a:gd name="adj" fmla="val 125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43251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88920" y="43068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Grain, Dimensions &amp; Measures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788920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shape, aggregation rules per measure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25196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E7F4EC"/>
          </a:solidFill>
          <a:ln w="317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 View)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74920" y="3703320"/>
            <a:ext cx="45720" cy="982980"/>
          </a:xfrm>
          <a:prstGeom prst="line">
            <a:avLst/>
          </a:prstGeom>
          <a:noFill/>
          <a:ln w="2286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331720" y="4686300"/>
            <a:ext cx="365760" cy="0"/>
          </a:xfrm>
          <a:prstGeom prst="line">
            <a:avLst/>
          </a:prstGeom>
          <a:noFill/>
          <a:ln w="19050">
            <a:solidFill>
              <a:srgbClr val="2F8F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97480" y="525780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B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88920" y="531266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Exploration &amp; Change History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788920" y="5623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products, metric view link, version log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525780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4FAF6"/>
          </a:solidFill>
          <a:ln w="12700">
            <a:solidFill>
              <a:srgbClr val="9B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53035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observed lineage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 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Jira / Git history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74920" y="3703320"/>
            <a:ext cx="45720" cy="1988820"/>
          </a:xfrm>
          <a:prstGeom prst="line">
            <a:avLst/>
          </a:prstGeom>
          <a:noFill/>
          <a:ln w="10160">
            <a:solidFill>
              <a:srgbClr val="9B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331720" y="5692140"/>
            <a:ext cx="365760" cy="0"/>
          </a:xfrm>
          <a:prstGeom prst="line">
            <a:avLst/>
          </a:prstGeom>
          <a:noFill/>
          <a:ln w="10160">
            <a:solidFill>
              <a:srgbClr val="9BBF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040880" y="141732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A8BA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32320" y="14721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132320" y="1783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&amp; disallowed uses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829800" y="141732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 w="12700">
            <a:solidFill>
              <a:srgbClr val="A8BA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875520" y="1463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Owner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Intake conversation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H="1" flipV="1">
            <a:off x="7040880" y="1851660"/>
            <a:ext cx="45720" cy="1851660"/>
          </a:xfrm>
          <a:prstGeom prst="line">
            <a:avLst/>
          </a:prstGeom>
          <a:noFill/>
          <a:ln w="10160">
            <a:solidFill>
              <a:srgbClr val="A8BA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464040" y="1851660"/>
            <a:ext cx="365760" cy="0"/>
          </a:xfrm>
          <a:prstGeom prst="line">
            <a:avLst/>
          </a:prstGeom>
          <a:noFill/>
          <a:ln w="10160">
            <a:solidFill>
              <a:srgbClr val="A8BA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040880" y="269748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A8BA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32320" y="27523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&amp; Composability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13232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deps (conformed), joinable products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829800" y="269748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4F7FB"/>
          </a:solidFill>
          <a:ln w="12700">
            <a:solidFill>
              <a:srgbClr val="A8BA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87552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Cross-product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 flipH="1" flipV="1">
            <a:off x="7040880" y="3131820"/>
            <a:ext cx="45720" cy="571500"/>
          </a:xfrm>
          <a:prstGeom prst="line">
            <a:avLst/>
          </a:prstGeom>
          <a:noFill/>
          <a:ln w="10160">
            <a:solidFill>
              <a:srgbClr val="A8BA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464040" y="3131820"/>
            <a:ext cx="365760" cy="0"/>
          </a:xfrm>
          <a:prstGeom prst="line">
            <a:avLst/>
          </a:prstGeom>
          <a:noFill/>
          <a:ln w="10160">
            <a:solidFill>
              <a:srgbClr val="A8BA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040880" y="397764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17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961120" y="4050792"/>
            <a:ext cx="411480" cy="219456"/>
          </a:xfrm>
          <a:prstGeom prst="roundRect">
            <a:avLst>
              <a:gd name="adj" fmla="val 125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961120" y="405079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132320" y="40325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Change Policy &amp; Semver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7132320" y="4343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promise, change rules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829800" y="397764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EAF1F8"/>
          </a:solidFill>
          <a:ln w="317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875520" y="40233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Owner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Org-wide standard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 flipH="1">
            <a:off x="7040880" y="3703320"/>
            <a:ext cx="45720" cy="708660"/>
          </a:xfrm>
          <a:prstGeom prst="line">
            <a:avLst/>
          </a:prstGeom>
          <a:noFill/>
          <a:ln w="2286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64040" y="4411980"/>
            <a:ext cx="365760" cy="0"/>
          </a:xfrm>
          <a:prstGeom prst="line">
            <a:avLst/>
          </a:prstGeom>
          <a:noFill/>
          <a:ln w="19050">
            <a:solidFill>
              <a:srgbClr val="2E5C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040880" y="5257800"/>
            <a:ext cx="24231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17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961120" y="5330952"/>
            <a:ext cx="411480" cy="219456"/>
          </a:xfrm>
          <a:prstGeom prst="roundRect">
            <a:avLst>
              <a:gd name="adj" fmla="val 125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961120" y="533095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132320" y="53126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Classification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7132320" y="5623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tests, sensitivity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829800" y="525780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E7F4EC"/>
          </a:solidFill>
          <a:ln w="3175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875520" y="53035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Erwin / PowerDesigner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Lakehouse Monitoring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 UC tags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 flipH="1">
            <a:off x="7040880" y="3703320"/>
            <a:ext cx="45720" cy="1988820"/>
          </a:xfrm>
          <a:prstGeom prst="line">
            <a:avLst/>
          </a:prstGeom>
          <a:noFill/>
          <a:ln w="2286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9464040" y="5692140"/>
            <a:ext cx="365760" cy="0"/>
          </a:xfrm>
          <a:prstGeom prst="line">
            <a:avLst/>
          </a:prstGeom>
          <a:noFill/>
          <a:ln w="19050">
            <a:solidFill>
              <a:srgbClr val="2F8F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286000" y="6492240"/>
            <a:ext cx="411480" cy="219456"/>
          </a:xfrm>
          <a:prstGeom prst="roundRect">
            <a:avLst>
              <a:gd name="adj" fmla="val 125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286000" y="649224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788920" y="6473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required for first certification (5 sections, bold borders)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040880" y="6492240"/>
            <a:ext cx="4114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A95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040880" y="647395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543800" y="6473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follows as the practice matures (4 sections, faded)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1267</Words>
  <Application>Microsoft Macintosh PowerPoint</Application>
  <PresentationFormat>Widescreen</PresentationFormat>
  <Paragraphs>160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Reena Cheema</cp:lastModifiedBy>
  <cp:revision>2</cp:revision>
  <dcterms:created xsi:type="dcterms:W3CDTF">2026-05-25T11:53:54Z</dcterms:created>
  <dcterms:modified xsi:type="dcterms:W3CDTF">2026-05-26T19:24:41Z</dcterms:modified>
</cp:coreProperties>
</file>