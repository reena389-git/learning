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22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9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22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0"/>
            <a:ext cx="841248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5087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Operating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331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Conformity  →  Risk Confirmed Entity  →  CDM Adoption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—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Central CDM Team  ·  Risk Stakeholders  ·  Risk Team Leads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" cy="11704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069848"/>
            <a:ext cx="256032" cy="256032"/>
          </a:xfrm>
          <a:prstGeom prst="lin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069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362456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shared Risk data model matters. The opportunity to build conformity, shared entities, and governed analytics from the data Risk applications already generate.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73168" y="960120"/>
            <a:ext cx="45720" cy="1170432"/>
          </a:xfrm>
          <a:prstGeom prst="rect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82896" y="1069848"/>
            <a:ext cx="256032" cy="256032"/>
          </a:xfrm>
          <a:prstGeom prst="line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82896" y="1069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069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Progression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0328" y="1362456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phases: Risk Generated Data into Databricks → Risk Warehouse Confirmed Entities → App Consumption of RCE → Risk Warehouse Analytics.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221992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221992"/>
            <a:ext cx="45720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2331720"/>
            <a:ext cx="256032" cy="256032"/>
          </a:xfrm>
          <a:prstGeom prst="lin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2331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— The Linking Mechanism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62432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Contract IDs connect ingested data to confirmed entities, CDM alignment, frequency, and lineage across every layer.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73168" y="2221992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73168" y="2221992"/>
            <a:ext cx="45720" cy="11704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82896" y="2331720"/>
            <a:ext cx="256032" cy="256032"/>
          </a:xfrm>
          <a:prstGeom prst="lin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82896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2331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Three-Artifact Model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10328" y="262432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Contract · Risk Data Catalog · Resolution Table. Operational mechanics kept separate from semantic conformance.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483864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483864"/>
            <a:ext cx="457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" y="3593592"/>
            <a:ext cx="256032" cy="256032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3593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Storage Layer Map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388620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sits where across app catalog and risk warehouse catalog. Clear ownership at every layer from bronze through to gold.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73168" y="3483864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73168" y="3483864"/>
            <a:ext cx="45720" cy="117043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82896" y="3593592"/>
            <a:ext cx="256032" cy="256032"/>
          </a:xfrm>
          <a:prstGeom prst="lin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82896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3593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Layer Map + Migration Pattern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10328" y="388620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ERD · Risk ERD · Risk CDM contribution · Star schema · Semantic model. Populate-forward migrate-backward.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48920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778240" y="4892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760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applications generate valuable data. The opportunity is to structure it into a shared, governed analytics layer.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3977640" cy="400507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8961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3794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ingestion per application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sources counterparty, issuer, and legal entity from upstream systems using its own conventions and timing.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3794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values vary across apps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real-world concept appears with different names and formats across CMOS, ALFA, XVALA, and other applications.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3794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to be established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8529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systems, frequencies, and authoritative sources are known at the app level but not recorded in a shared catalog.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3794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CDM engagement to define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54787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for Risk to align with the enterprise CDM as a domain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3986784"/>
            <a:ext cx="3794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0416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effort across apps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424281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Cross-application questions require manual alignment of reports from separate systems.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70832" y="246888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800600" y="841248"/>
            <a:ext cx="4023360" cy="4005072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89611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1207008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83480" y="1261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Confirmed Entity (RCE)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1463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canonical entity layer for Risk. CDM-aligned base attributes plus Risk-owned enrichments (netting set, CSA terms).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92040" y="1901952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1956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entity definitions across apps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21579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Counterparty, issuer, legal entity, and product type mean the same thing across every Risk application and report.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92040" y="2596896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83480" y="2651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lineage via Risk Data Catalog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2852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linked to its source system, ingestion frequency, CDM alignment status, and contributing applications.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92040" y="3291840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33467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CDM alignment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83480" y="35478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presents a consolidated entity position to CDM — one governed conversation per entity, with clear adoption path.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3986784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83480" y="4041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analytics layer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42428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Cross-application views, star schema, and semantic model built on confirmed entities. Trusted, reusable, scalable.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778240" y="4892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Progression: Risk Generated Data → Risk Conformed Entity + CDM → Analytics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6032" y="566928"/>
            <a:ext cx="2084832" cy="2743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6035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22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Generated Data into Databricks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36576" cy="9875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9184" y="960120"/>
            <a:ext cx="155448" cy="155448"/>
          </a:xfrm>
          <a:prstGeom prst="lin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" y="9601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21208" y="96012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Risk Generated Data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29184" y="114300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/ Data Extracts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schema · bronze zone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56032" y="1700784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1700784"/>
            <a:ext cx="2084832" cy="182880"/>
          </a:xfrm>
          <a:prstGeom prst="rect">
            <a:avLst/>
          </a:prstGeom>
          <a:solidFill>
            <a:srgbClr val="DBEAFE"/>
          </a:solidFill>
          <a:ln w="508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7007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App schema · bronze zone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56032" y="1933956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1933956"/>
            <a:ext cx="36576" cy="9875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" y="1997964"/>
            <a:ext cx="155448" cy="155448"/>
          </a:xfrm>
          <a:prstGeom prst="lin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" y="199796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21208" y="199796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entities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29184" y="2180844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 across reports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conformed entities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Data Source to Risk Data Catalog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6032" y="2738628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738628"/>
            <a:ext cx="2084832" cy="182880"/>
          </a:xfrm>
          <a:prstGeom prst="rect">
            <a:avLst/>
          </a:prstGeom>
          <a:solidFill>
            <a:srgbClr val="DBEAFE"/>
          </a:solidFill>
          <a:ln w="508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27386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App schema · silver zone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56032" y="2971800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2971800"/>
            <a:ext cx="36576" cy="9875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" y="3035808"/>
            <a:ext cx="155448" cy="155448"/>
          </a:xfrm>
          <a:prstGeom prst="lin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" y="303580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21208" y="30358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reports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29184" y="321868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 &amp; data adjusted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columns &amp; types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 conformed entities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6032" y="3776472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6032" y="3776472"/>
            <a:ext cx="2084832" cy="182880"/>
          </a:xfrm>
          <a:prstGeom prst="rect">
            <a:avLst/>
          </a:prstGeom>
          <a:solidFill>
            <a:srgbClr val="DBEAFE"/>
          </a:solidFill>
          <a:ln w="508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37764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App schema · silver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345436" y="2011680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04872" y="566928"/>
            <a:ext cx="2084832" cy="274320"/>
          </a:xfrm>
          <a:prstGeom prst="rect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468880" y="6035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718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 Conformed Entities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404872" y="896112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04872" y="896112"/>
            <a:ext cx="36576" cy="987552"/>
          </a:xfrm>
          <a:prstGeom prst="rect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478024" y="960120"/>
            <a:ext cx="155448" cy="155448"/>
          </a:xfrm>
          <a:prstGeom prst="line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78024" y="9601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670048" y="96012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review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478024" y="114300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conformed entities shared in RW sandbox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resolved at Risk level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404872" y="1700784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404872" y="1700784"/>
            <a:ext cx="2084832" cy="182880"/>
          </a:xfrm>
          <a:prstGeom prst="rect">
            <a:avLst/>
          </a:prstGeom>
          <a:solidFill>
            <a:srgbClr val="EDE9FE"/>
          </a:solidFill>
          <a:ln w="508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468880" y="17007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Risk WH · sandbox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404872" y="1933956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404872" y="1933956"/>
            <a:ext cx="36576" cy="987552"/>
          </a:xfrm>
          <a:prstGeom prst="rect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478024" y="1997964"/>
            <a:ext cx="155448" cy="155448"/>
          </a:xfrm>
          <a:prstGeom prst="line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478024" y="199796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70048" y="199796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conversation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2478024" y="2180844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Risk position to CDM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match → adopt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gap → flag &amp; source independently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404872" y="2738628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404872" y="2738628"/>
            <a:ext cx="2084832" cy="182880"/>
          </a:xfrm>
          <a:prstGeom prst="rect">
            <a:avLst/>
          </a:prstGeom>
          <a:solidFill>
            <a:srgbClr val="EDE9FE"/>
          </a:solidFill>
          <a:ln w="508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468880" y="27386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CDM alignment record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404872" y="2971800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404872" y="2971800"/>
            <a:ext cx="36576" cy="987552"/>
          </a:xfrm>
          <a:prstGeom prst="rect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478024" y="3035808"/>
            <a:ext cx="155448" cy="155448"/>
          </a:xfrm>
          <a:prstGeom prst="line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478024" y="303580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670048" y="30358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Conformed Entity Created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2478024" y="321868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from App Entity to RCE created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owned by Ingestion team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Owner sign-off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404872" y="3776472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404872" y="3776472"/>
            <a:ext cx="2084832" cy="182880"/>
          </a:xfrm>
          <a:prstGeom prst="rect">
            <a:avLst/>
          </a:prstGeom>
          <a:solidFill>
            <a:srgbClr val="EDE9FE"/>
          </a:solidFill>
          <a:ln w="508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468880" y="37764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riskwh.confirmed metadata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494276" y="2011680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53712" y="566928"/>
            <a:ext cx="2084832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617720" y="6035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1206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Consumes from RCE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553712" y="896112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553712" y="896112"/>
            <a:ext cx="36576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626864" y="960120"/>
            <a:ext cx="155448" cy="155448"/>
          </a:xfrm>
          <a:prstGeom prst="lin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626864" y="9601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818888" y="96012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Ingestion team maintains RCE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4626864" y="114300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team populates RCE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= CDM or superset of CDM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maintained throughout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553712" y="1700784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553712" y="1700784"/>
            <a:ext cx="2084832" cy="182880"/>
          </a:xfrm>
          <a:prstGeom prst="rect">
            <a:avLst/>
          </a:prstGeom>
          <a:solidFill>
            <a:srgbClr val="CCFBF1"/>
          </a:solidFill>
          <a:ln w="50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617720" y="17007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Resolution table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4553712" y="1933956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553712" y="1933956"/>
            <a:ext cx="36576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626864" y="1997964"/>
            <a:ext cx="155448" cy="155448"/>
          </a:xfrm>
          <a:prstGeom prst="lin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626864" y="199796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4818888" y="199796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 consumes from RCE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4626864" y="2180844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naming → app-internal naming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bridge per app · app team owned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internals unchanged permanently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553712" y="2738628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553712" y="2738628"/>
            <a:ext cx="2084832" cy="182880"/>
          </a:xfrm>
          <a:prstGeom prst="rect">
            <a:avLst/>
          </a:prstGeom>
          <a:solidFill>
            <a:srgbClr val="CCFBF1"/>
          </a:solidFill>
          <a:ln w="50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617720" y="27386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App schema · bridge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4553712" y="2971800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553712" y="2971800"/>
            <a:ext cx="36576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626864" y="3035808"/>
            <a:ext cx="155448" cy="155448"/>
          </a:xfrm>
          <a:prstGeom prst="lin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626864" y="303580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4818888" y="30358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 generated data</a:t>
            </a:r>
            <a:endParaRPr lang="en-US" sz="780" dirty="0"/>
          </a:p>
        </p:txBody>
      </p:sp>
      <p:sp>
        <p:nvSpPr>
          <p:cNvPr id="91" name="Text 89"/>
          <p:cNvSpPr/>
          <p:nvPr/>
        </p:nvSpPr>
        <p:spPr>
          <a:xfrm>
            <a:off x="4626864" y="321868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Entities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Reports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553712" y="3776472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553712" y="3776472"/>
            <a:ext cx="2084832" cy="182880"/>
          </a:xfrm>
          <a:prstGeom prst="rect">
            <a:avLst/>
          </a:prstGeom>
          <a:solidFill>
            <a:srgbClr val="CCFBF1"/>
          </a:solidFill>
          <a:ln w="50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617720" y="37764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Consumption contract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6643116" y="2011680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702552" y="566928"/>
            <a:ext cx="208483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766560" y="60350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7269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WH Analytics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6702552" y="896112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6702552" y="896112"/>
            <a:ext cx="36576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775704" y="960120"/>
            <a:ext cx="155448" cy="155448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775704" y="9601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6967728" y="960120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Cross-application joins</a:t>
            </a:r>
            <a:endParaRPr lang="en-US" sz="780" dirty="0"/>
          </a:p>
        </p:txBody>
      </p:sp>
      <p:sp>
        <p:nvSpPr>
          <p:cNvPr id="104" name="Text 102"/>
          <p:cNvSpPr/>
          <p:nvPr/>
        </p:nvSpPr>
        <p:spPr>
          <a:xfrm>
            <a:off x="6775704" y="114300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to join data across apps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tables where needed for performance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tracks lineage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702552" y="1700784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6702552" y="1700784"/>
            <a:ext cx="2084832" cy="182880"/>
          </a:xfrm>
          <a:prstGeom prst="rect">
            <a:avLst/>
          </a:prstGeom>
          <a:solidFill>
            <a:srgbClr val="DCFCE7"/>
          </a:solidFill>
          <a:ln w="508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766560" y="17007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Risk WH · gold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6702552" y="1933956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6702552" y="1933956"/>
            <a:ext cx="36576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6775704" y="1997964"/>
            <a:ext cx="155448" cy="155448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775704" y="199796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6967728" y="1997964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80" dirty="0"/>
          </a:p>
        </p:txBody>
      </p:sp>
      <p:sp>
        <p:nvSpPr>
          <p:cNvPr id="113" name="Text 111"/>
          <p:cNvSpPr/>
          <p:nvPr/>
        </p:nvSpPr>
        <p:spPr>
          <a:xfrm>
            <a:off x="6775704" y="2180844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conformed entities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(cross-app joins) entities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6702552" y="2738628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702552" y="2738628"/>
            <a:ext cx="2084832" cy="182880"/>
          </a:xfrm>
          <a:prstGeom prst="rect">
            <a:avLst/>
          </a:prstGeom>
          <a:solidFill>
            <a:srgbClr val="DCFCE7"/>
          </a:solidFill>
          <a:ln w="508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6766560" y="27386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Risk WH · conformed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6702552" y="2971800"/>
            <a:ext cx="2084832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6702552" y="2971800"/>
            <a:ext cx="36576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775704" y="3035808"/>
            <a:ext cx="155448" cy="155448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6775704" y="303580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6967728" y="303580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BI</a:t>
            </a:r>
            <a:endParaRPr lang="en-US" sz="780" dirty="0"/>
          </a:p>
        </p:txBody>
      </p:sp>
      <p:sp>
        <p:nvSpPr>
          <p:cNvPr id="122" name="Text 120"/>
          <p:cNvSpPr/>
          <p:nvPr/>
        </p:nvSpPr>
        <p:spPr>
          <a:xfrm>
            <a:off x="6775704" y="321868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on riskwh.gold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in Strategy (BI tool)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6702552" y="3776472"/>
            <a:ext cx="2084832" cy="182880"/>
          </a:xfrm>
          <a:prstGeom prst="rect">
            <a:avLst/>
          </a:prstGeom>
          <a:solidFill>
            <a:srgbClr val="000000"/>
          </a:solidFill>
          <a:ln w="508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702552" y="3776472"/>
            <a:ext cx="2084832" cy="182880"/>
          </a:xfrm>
          <a:prstGeom prst="rect">
            <a:avLst/>
          </a:prstGeom>
          <a:solidFill>
            <a:srgbClr val="DCFCE7"/>
          </a:solidFill>
          <a:ln w="508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6766560" y="377647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Risk WH · gold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256032" y="4224528"/>
            <a:ext cx="8796528" cy="347472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29184" y="4315968"/>
            <a:ext cx="109728" cy="1645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475488" y="429768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Owned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2542032" y="4315968"/>
            <a:ext cx="109728" cy="164592"/>
          </a:xfrm>
          <a:prstGeom prst="rect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2688336" y="429768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Product + CDM Owned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4690872" y="4315968"/>
            <a:ext cx="109728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4837176" y="429768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Ingestion Owned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6858000" y="4315968"/>
            <a:ext cx="109728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7004304" y="4297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Platform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274320" y="46451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RW — Risk Warehouse · RCE — Risk Conformed Entity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365760" y="48920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8778240" y="4892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Contract ID — The Linking Mechanism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ID is the thread connecting ingested data to conformed entities, CDM alignment, and downstream consumption across every layer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8483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84832" cy="329184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978408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Contract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" y="1193877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>
              <a:solidFill>
                <a:srgbClr val="1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850" dirty="0">
              <a:solidFill>
                <a:srgbClr val="1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apps have captured Data Sources, SLA, and Frequency in the Risk Data Contract.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Each unique row – </a:t>
            </a:r>
            <a:r>
              <a:rPr lang="en-US" sz="850" dirty="0" err="1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App+dataSource+domain+frequency+datatype+distPlatform</a:t>
            </a:r>
            <a:r>
              <a:rPr lang="en-US" sz="850" dirty="0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  is a  contract between the application and the Source.</a:t>
            </a:r>
            <a:endParaRPr lang="en-US" sz="85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B4E51CF-8F8E-74C0-6A1E-30FE6E30306C}"/>
              </a:ext>
            </a:extLst>
          </p:cNvPr>
          <p:cNvGrpSpPr/>
          <p:nvPr/>
        </p:nvGrpSpPr>
        <p:grpSpPr>
          <a:xfrm>
            <a:off x="310896" y="2921508"/>
            <a:ext cx="1938528" cy="329184"/>
            <a:chOff x="365760" y="3730752"/>
            <a:chExt cx="1938528" cy="329184"/>
          </a:xfrm>
        </p:grpSpPr>
        <p:sp>
          <p:nvSpPr>
            <p:cNvPr id="9" name="Shape 7"/>
            <p:cNvSpPr/>
            <p:nvPr/>
          </p:nvSpPr>
          <p:spPr>
            <a:xfrm>
              <a:off x="365760" y="3730752"/>
              <a:ext cx="1938528" cy="329184"/>
            </a:xfrm>
            <a:prstGeom prst="rect">
              <a:avLst/>
            </a:prstGeom>
            <a:solidFill>
              <a:srgbClr val="DBEAFE"/>
            </a:solidFill>
            <a:ln w="5080">
              <a:solidFill>
                <a:srgbClr val="1D6FA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402336" y="3749040"/>
              <a:ext cx="188366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1D6FA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Owned: App team + Ingestion team</a:t>
              </a:r>
              <a:endParaRPr lang="en-US" sz="75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2377440" y="233172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87168" y="822960"/>
            <a:ext cx="208483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87168" y="822960"/>
            <a:ext cx="2084832" cy="329184"/>
          </a:xfrm>
          <a:prstGeom prst="rect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78608" y="859536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with entity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78608" y="978408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Conformed Entity (silver)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42032" y="1213104"/>
            <a:ext cx="20482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>
              <a:solidFill>
                <a:srgbClr val="1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850" dirty="0">
              <a:solidFill>
                <a:srgbClr val="1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conformed entities in the silver layer to carry the Contract ID.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links the entity to its current sourcing contract.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conformance to honor the existing contract.</a:t>
            </a:r>
            <a:endParaRPr lang="en-US" sz="85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12A04EA-19C0-FB5A-A162-4676EDA64657}"/>
              </a:ext>
            </a:extLst>
          </p:cNvPr>
          <p:cNvGrpSpPr/>
          <p:nvPr/>
        </p:nvGrpSpPr>
        <p:grpSpPr>
          <a:xfrm>
            <a:off x="2560320" y="2929949"/>
            <a:ext cx="1938528" cy="329184"/>
            <a:chOff x="2578608" y="3730752"/>
            <a:chExt cx="1938528" cy="329184"/>
          </a:xfrm>
        </p:grpSpPr>
        <p:sp>
          <p:nvSpPr>
            <p:cNvPr id="17" name="Shape 15"/>
            <p:cNvSpPr/>
            <p:nvPr/>
          </p:nvSpPr>
          <p:spPr>
            <a:xfrm>
              <a:off x="2578608" y="3730752"/>
              <a:ext cx="1938528" cy="329184"/>
            </a:xfrm>
            <a:prstGeom prst="rect">
              <a:avLst/>
            </a:prstGeom>
            <a:solidFill>
              <a:srgbClr val="EDE9FE"/>
            </a:solidFill>
            <a:ln w="5080">
              <a:solidFill>
                <a:srgbClr val="6941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2615184" y="3749040"/>
              <a:ext cx="188366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6941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Owned: App team</a:t>
              </a:r>
              <a:endParaRPr lang="en-US" sz="75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4590288" y="23317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0016" y="822960"/>
            <a:ext cx="208483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00016" y="822960"/>
            <a:ext cx="2084832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91456" y="859536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through ingestion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791456" y="978408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Conformed Entity (RCE)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91456" y="1225296"/>
            <a:ext cx="19385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>
              <a:solidFill>
                <a:srgbClr val="1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850" dirty="0">
              <a:solidFill>
                <a:srgbClr val="1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9607CF7-EFA0-1DDD-D742-55AB8B92E196}"/>
              </a:ext>
            </a:extLst>
          </p:cNvPr>
          <p:cNvGrpSpPr/>
          <p:nvPr/>
        </p:nvGrpSpPr>
        <p:grpSpPr>
          <a:xfrm>
            <a:off x="4791456" y="2948237"/>
            <a:ext cx="1938528" cy="329184"/>
            <a:chOff x="4791456" y="3730752"/>
            <a:chExt cx="1938528" cy="329184"/>
          </a:xfrm>
        </p:grpSpPr>
        <p:sp>
          <p:nvSpPr>
            <p:cNvPr id="25" name="Shape 23"/>
            <p:cNvSpPr/>
            <p:nvPr/>
          </p:nvSpPr>
          <p:spPr>
            <a:xfrm>
              <a:off x="4791456" y="3730752"/>
              <a:ext cx="1938528" cy="329184"/>
            </a:xfrm>
            <a:prstGeom prst="rect">
              <a:avLst/>
            </a:prstGeom>
            <a:solidFill>
              <a:srgbClr val="CCFBF1"/>
            </a:solidFill>
            <a:ln w="5080">
              <a:solidFill>
                <a:srgbClr val="0F766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4828032" y="3749040"/>
              <a:ext cx="188366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0F76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Owned: Ingestion team</a:t>
              </a:r>
              <a:endParaRPr lang="en-US" sz="750" dirty="0"/>
            </a:p>
          </p:txBody>
        </p:sp>
      </p:grpSp>
      <p:sp>
        <p:nvSpPr>
          <p:cNvPr id="27" name="Text 25"/>
          <p:cNvSpPr/>
          <p:nvPr/>
        </p:nvSpPr>
        <p:spPr>
          <a:xfrm rot="10800000">
            <a:off x="6803136" y="23317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12864" y="822960"/>
            <a:ext cx="2084832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12864" y="822960"/>
            <a:ext cx="2084832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04304" y="859536"/>
            <a:ext cx="1947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upward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04304" y="978408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67728" y="1184342"/>
            <a:ext cx="19385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>
              <a:solidFill>
                <a:srgbClr val="1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850" dirty="0">
              <a:solidFill>
                <a:srgbClr val="1A35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holds the Contract ID for the data it ingests and provisions to downstream consumers.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provides end-to-end lineage from source through Risk Confirmed Entity to enterprise CDM.</a:t>
            </a:r>
            <a:endParaRPr lang="en-US" sz="85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106367-1402-1E86-1B00-0435042B9EB2}"/>
              </a:ext>
            </a:extLst>
          </p:cNvPr>
          <p:cNvGrpSpPr/>
          <p:nvPr/>
        </p:nvGrpSpPr>
        <p:grpSpPr>
          <a:xfrm>
            <a:off x="6931152" y="2940421"/>
            <a:ext cx="1938528" cy="329184"/>
            <a:chOff x="7004304" y="3730752"/>
            <a:chExt cx="1938528" cy="329184"/>
          </a:xfrm>
        </p:grpSpPr>
        <p:sp>
          <p:nvSpPr>
            <p:cNvPr id="33" name="Shape 31"/>
            <p:cNvSpPr/>
            <p:nvPr/>
          </p:nvSpPr>
          <p:spPr>
            <a:xfrm>
              <a:off x="7004304" y="3730752"/>
              <a:ext cx="1938528" cy="329184"/>
            </a:xfrm>
            <a:prstGeom prst="rect">
              <a:avLst/>
            </a:prstGeom>
            <a:solidFill>
              <a:srgbClr val="DCFCE7"/>
            </a:solidFill>
            <a:ln w="508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7040880" y="3749040"/>
              <a:ext cx="188366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Owned: CDM team</a:t>
              </a:r>
              <a:endParaRPr lang="en-US" sz="75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59B0DF-AAF3-5A5B-E744-161EEE3543ED}"/>
              </a:ext>
            </a:extLst>
          </p:cNvPr>
          <p:cNvGrpSpPr/>
          <p:nvPr/>
        </p:nvGrpSpPr>
        <p:grpSpPr>
          <a:xfrm>
            <a:off x="301752" y="3913632"/>
            <a:ext cx="8641080" cy="585216"/>
            <a:chOff x="274320" y="4224528"/>
            <a:chExt cx="8641080" cy="585216"/>
          </a:xfrm>
        </p:grpSpPr>
        <p:sp>
          <p:nvSpPr>
            <p:cNvPr id="35" name="Shape 33"/>
            <p:cNvSpPr/>
            <p:nvPr/>
          </p:nvSpPr>
          <p:spPr>
            <a:xfrm>
              <a:off x="274320" y="4224528"/>
              <a:ext cx="8641080" cy="585216"/>
            </a:xfrm>
            <a:prstGeom prst="rect">
              <a:avLst/>
            </a:prstGeom>
            <a:solidFill>
              <a:srgbClr val="DCFCE7"/>
            </a:solidFill>
            <a:ln w="9525">
              <a:solidFill>
                <a:srgbClr val="86EFA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384048" y="4261104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Principle</a:t>
              </a:r>
              <a:endParaRPr lang="en-US" sz="8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384048" y="4453128"/>
              <a:ext cx="84673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buSzPct val="100000"/>
                <a:buChar char="•"/>
              </a:pPr>
              <a:r>
                <a:rPr lang="en-US" sz="800" dirty="0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Contract ID is the persistent identifier linking data sourcing (ingestion contract) to entity semantics (Risk Data Catalog) across every layer.</a:t>
              </a:r>
              <a:endParaRPr lang="en-US" sz="800" dirty="0"/>
            </a:p>
            <a:p>
              <a:pPr marL="342900" indent="-342900">
                <a:buSzPct val="100000"/>
                <a:buChar char="•"/>
              </a:pPr>
              <a:r>
                <a:rPr lang="en-US" sz="800" dirty="0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When sourcing switches from a current feed to CDM, only the Contract ID reference in the Resolution Table changes — the entity definition and app consumption are unchanged.</a:t>
              </a:r>
              <a:endParaRPr lang="en-US" sz="800" dirty="0"/>
            </a:p>
            <a:p>
              <a:pPr marL="342900" indent="-342900">
                <a:buSzPct val="100000"/>
                <a:buChar char="•"/>
              </a:pPr>
              <a:r>
                <a:rPr lang="en-US" sz="800" dirty="0">
                  <a:solidFill>
                    <a:srgbClr val="16653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Risk-owned enrichments (netting set, CSA terms) carry their own Contract ID permanently — these never migrate to CDM.</a:t>
              </a:r>
              <a:endParaRPr lang="en-US" sz="800" dirty="0"/>
            </a:p>
          </p:txBody>
        </p:sp>
      </p:grpSp>
      <p:sp>
        <p:nvSpPr>
          <p:cNvPr id="38" name="Text 36"/>
          <p:cNvSpPr/>
          <p:nvPr/>
        </p:nvSpPr>
        <p:spPr>
          <a:xfrm>
            <a:off x="365760" y="48920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778240" y="4892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1C99EC-9BFC-B320-DBCA-1AB5D444793A}"/>
              </a:ext>
            </a:extLst>
          </p:cNvPr>
          <p:cNvSpPr txBox="1"/>
          <p:nvPr/>
        </p:nvSpPr>
        <p:spPr>
          <a:xfrm>
            <a:off x="4654296" y="1346152"/>
            <a:ext cx="222199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dirty="0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Multiple Source Contracts for RCE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CDM Contract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Alternate Data Source Contract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CDM does not have data or SLA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CDM time to market</a:t>
            </a:r>
          </a:p>
          <a:p>
            <a:r>
              <a:rPr lang="en-US" sz="850" dirty="0">
                <a:solidFill>
                  <a:srgbClr val="1A3530"/>
                </a:solidFill>
                <a:latin typeface="Calibri" pitchFamily="34" charset="0"/>
                <a:cs typeface="Calibri" pitchFamily="34" charset="-120"/>
              </a:rPr>
              <a:t>RCE maintains contract lineage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Storage Layer 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sits where, who owns it, and why — across app catalog and risk warehouse catalog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24528" cy="237744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CATALOG  (CMOS · ALFA · XVALA · CRS · TAMS · LRM)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42416"/>
            <a:ext cx="4224528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566928" cy="493776"/>
          </a:xfrm>
          <a:prstGeom prst="rect">
            <a:avLst/>
          </a:prstGeom>
          <a:solidFill>
            <a:srgbClr val="000000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042416"/>
            <a:ext cx="566928" cy="493776"/>
          </a:xfrm>
          <a:prstGeom prst="rect">
            <a:avLst/>
          </a:prstGeom>
          <a:solidFill>
            <a:srgbClr val="E2E8F0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" y="1088136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32688" y="1088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reports · Data extracts · as-is landing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340864" y="108813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73552" y="1088136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evidence layer. No transformation. Starting point for all processing.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1536192"/>
            <a:ext cx="4224528" cy="694944"/>
          </a:xfrm>
          <a:prstGeom prst="rect">
            <a:avLst/>
          </a:prstGeom>
          <a:solidFill>
            <a:srgbClr val="EFF6FF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1536192"/>
            <a:ext cx="566928" cy="694944"/>
          </a:xfrm>
          <a:prstGeom prst="rect">
            <a:avLst/>
          </a:prstGeom>
          <a:solidFill>
            <a:srgbClr val="000000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536192"/>
            <a:ext cx="566928" cy="694944"/>
          </a:xfrm>
          <a:prstGeom prst="rect">
            <a:avLst/>
          </a:prstGeom>
          <a:solidFill>
            <a:srgbClr val="DBEAFE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" y="1581912"/>
            <a:ext cx="512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/ core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32688" y="1581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entities (app-local + Contract ID ref) · Conformed reports using app-local entity values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40864" y="1581912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73552" y="1581912"/>
            <a:ext cx="1207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conformity. Feeds sandbox for cross-app entity review. Not yet RCE-dimensioned.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2231136"/>
            <a:ext cx="4224528" cy="566928"/>
          </a:xfrm>
          <a:prstGeom prst="rect">
            <a:avLst/>
          </a:prstGeom>
          <a:solidFill>
            <a:srgbClr val="F0FDFA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231136"/>
            <a:ext cx="566928" cy="566928"/>
          </a:xfrm>
          <a:prstGeom prst="rect">
            <a:avLst/>
          </a:prstGeom>
          <a:solidFill>
            <a:srgbClr val="000000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231136"/>
            <a:ext cx="566928" cy="566928"/>
          </a:xfrm>
          <a:prstGeom prst="rect">
            <a:avLst/>
          </a:prstGeom>
          <a:solidFill>
            <a:srgbClr val="CCFBF1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6616" y="2276856"/>
            <a:ext cx="512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(per app)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32688" y="22768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naming → app-internal naming. View or mapping table. One per app.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340864" y="227685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73552" y="2276856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anti-corruption layer. App internals unchanged. Absorbs all naming differences at boundary.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0040" y="2798064"/>
            <a:ext cx="4224528" cy="493776"/>
          </a:xfrm>
          <a:prstGeom prst="rect">
            <a:avLst/>
          </a:prstGeom>
          <a:solidFill>
            <a:srgbClr val="F0FDF8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2798064"/>
            <a:ext cx="566928" cy="493776"/>
          </a:xfrm>
          <a:prstGeom prst="rect">
            <a:avLst/>
          </a:prstGeom>
          <a:solidFill>
            <a:srgbClr val="000000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2798064"/>
            <a:ext cx="566928" cy="493776"/>
          </a:xfrm>
          <a:prstGeom prst="rect">
            <a:avLst/>
          </a:prstGeom>
          <a:solidFill>
            <a:srgbClr val="CCFBF1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6616" y="2843784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32688" y="28437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reports joined to RCE via bridge · fully RCE-dimensioned · business-ready outputs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340864" y="28437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73552" y="2843784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app report home. Referenced by riskwh.gold via views. No physical data movement.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90288" y="15727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→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45152" y="1719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90288" y="2834640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views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645152" y="29809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66360" y="777240"/>
            <a:ext cx="3657600" cy="237744"/>
          </a:xfrm>
          <a:prstGeom prst="rect">
            <a:avLst/>
          </a:prstGeom>
          <a:solidFill>
            <a:srgbClr val="6941A8"/>
          </a:solidFill>
          <a:ln w="12700">
            <a:solidFill>
              <a:srgbClr val="694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57800" y="777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WAREHOUSE CATALOG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66360" y="1042416"/>
            <a:ext cx="3657600" cy="493776"/>
          </a:xfrm>
          <a:prstGeom prst="rect">
            <a:avLst/>
          </a:prstGeom>
          <a:solidFill>
            <a:srgbClr val="FAF8FF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166360" y="1042416"/>
            <a:ext cx="658368" cy="493776"/>
          </a:xfrm>
          <a:prstGeom prst="rect">
            <a:avLst/>
          </a:prstGeom>
          <a:solidFill>
            <a:srgbClr val="EDE9FE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02936" y="1088136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852160" y="1088136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entity comparison · CDM conversation working tables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287768" y="1088136"/>
            <a:ext cx="804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Platform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119872" y="108813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space only. Not permanent. Cleared after promotion to confirmed.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166360" y="1536192"/>
            <a:ext cx="3657600" cy="1060704"/>
          </a:xfrm>
          <a:prstGeom prst="rect">
            <a:avLst/>
          </a:prstGeom>
          <a:solidFill>
            <a:srgbClr val="F0FDFA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166360" y="1536192"/>
            <a:ext cx="658368" cy="1060704"/>
          </a:xfrm>
          <a:prstGeom prst="rect">
            <a:avLst/>
          </a:prstGeom>
          <a:solidFill>
            <a:srgbClr val="CCFBF1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202936" y="1581912"/>
            <a:ext cx="603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/ confirmed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852160" y="1581912"/>
            <a:ext cx="14081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Confirmed Entity (CDM-aligned base + Risk enrichments) · Resolution table · Risk Data Contract/Catalog · Cross-app derived dimensions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287768" y="1581912"/>
            <a:ext cx="80467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team + Risk Data Platform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19872" y="1581912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dimension layer. Stable semantic interface. All Risk apps consume shared entities from here.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166360" y="2596896"/>
            <a:ext cx="3657600" cy="749808"/>
          </a:xfrm>
          <a:prstGeom prst="rect">
            <a:avLst/>
          </a:prstGeom>
          <a:solidFill>
            <a:srgbClr val="F0FDF4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166360" y="2596896"/>
            <a:ext cx="658368" cy="749808"/>
          </a:xfrm>
          <a:prstGeom prst="rect">
            <a:avLst/>
          </a:prstGeom>
          <a:solidFill>
            <a:srgbClr val="DCFCE7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02936" y="2642616"/>
            <a:ext cx="603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52160" y="2642616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3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over app gold: Exposure · XVA · Collateral · Limits · Liquidity · Star schema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287768" y="2642616"/>
            <a:ext cx="804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Platform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119872" y="2642616"/>
            <a:ext cx="640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only — no physical data movement. Unity Catalog tracks full lineage.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166360" y="3401568"/>
            <a:ext cx="1737360" cy="457200"/>
          </a:xfrm>
          <a:prstGeom prst="rect">
            <a:avLst/>
          </a:prstGeom>
          <a:solidFill>
            <a:srgbClr val="FEF3C7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257800" y="34381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CDM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257800" y="36027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CDM-aligned RCE subset published upward. Ingestion team manages.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995160" y="3401568"/>
            <a:ext cx="1828800" cy="45720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86600" y="34381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 (Strategy)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086600" y="36027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→ riskwh.gold via SQL warehouse endpoint. Not stored in Databricks.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65760" y="48920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778240" y="4892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Layer Map  &amp;  Populate Forward · Migrate Backward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94360"/>
            <a:ext cx="8503920" cy="23774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773936" y="5943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Home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19856" y="5943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18304" y="594360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/ Feeds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59536"/>
            <a:ext cx="8503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859536"/>
            <a:ext cx="1371600" cy="420624"/>
          </a:xfrm>
          <a:prstGeom prst="rect">
            <a:avLst/>
          </a:prstGeom>
          <a:solidFill>
            <a:srgbClr val="DBEAFE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90525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App-specific ERD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764792" y="90525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Unity Catalog metadata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10712" y="9052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PowerDesigner / ERD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09160" y="90525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app bronze→silver→gold structure. Physical manifestation is app schema. Unity Catalog tracks lineage.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1280160"/>
            <a:ext cx="850392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280160"/>
            <a:ext cx="1371600" cy="420624"/>
          </a:xfrm>
          <a:prstGeom prst="rect">
            <a:avLst/>
          </a:prstGeom>
          <a:solidFill>
            <a:srgbClr val="EDE9FE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132588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694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model / cross-app ERD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764792" y="132588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Unity Catalog metadata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10712" y="1325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PowerDesigner / ERD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09160" y="132588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all RCE dimension relationships. Physical manifestation is riskwh.confirmed. Feeds star schema design.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1700784"/>
            <a:ext cx="8503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1700784"/>
            <a:ext cx="1371600" cy="420624"/>
          </a:xfrm>
          <a:prstGeom prst="rect">
            <a:avLst/>
          </a:prstGeom>
          <a:solidFill>
            <a:srgbClr val="CCFBF1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174650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CDM contribution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764792" y="174650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riskwh.confirmed (tagged) + CDM catalog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10712" y="17465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Delta + CDM registry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09160" y="174650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CDM-aligned RCE attributes published to enterprise CDM (Domain #5). Risk Data Catalog records CDM alignment status.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040" y="2121408"/>
            <a:ext cx="850392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2121408"/>
            <a:ext cx="1371600" cy="420624"/>
          </a:xfrm>
          <a:prstGeom prst="rect">
            <a:avLst/>
          </a:prstGeom>
          <a:solidFill>
            <a:srgbClr val="DCFCE7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216712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/ analytical model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764792" y="21671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riskwh.gold · Databricks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10712" y="21671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dimension Delta tables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09160" y="21671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RCE dimensions and views over app gold. Consumed by BI semantic model and ad-hoc SQL queries.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0040" y="2542032"/>
            <a:ext cx="8503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" y="2542032"/>
            <a:ext cx="1371600" cy="420624"/>
          </a:xfrm>
          <a:prstGeom prst="rect">
            <a:avLst/>
          </a:prstGeom>
          <a:solidFill>
            <a:srgbClr val="FEF3C7"/>
          </a:solidFill>
          <a:ln w="5080">
            <a:solidFill>
              <a:srgbClr val="C8D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258775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764792" y="258775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 · Strategy (Power BI / AtScale)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10712" y="2587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semantic layer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09160" y="258775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riskwh.gold via Databricks SQL warehouse. Measures, hierarchies, business-friendly naming. Not stored in Databricks.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" y="2999232"/>
            <a:ext cx="8503920" cy="237744"/>
          </a:xfrm>
          <a:prstGeom prst="rect">
            <a:avLst/>
          </a:prstGeom>
          <a:solidFill>
            <a:srgbClr val="EEF2FF"/>
          </a:solidFill>
          <a:ln w="9525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2999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444752" y="29992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governance &amp; lineage thread across all layers — lineage, tagging, access control, discovery. Risk Data Catalog surfaced here.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5760" y="332841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Forward · Migrate Backward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3602736"/>
            <a:ext cx="27889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" y="3602736"/>
            <a:ext cx="36576" cy="67665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1480" y="364845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Now · Bootstrap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1480" y="3849624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populated from current best sources. Resolution table + Risk Data Catalog built. Apps consume via bridge after parallel test.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18688" y="3602736"/>
            <a:ext cx="27889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18688" y="3602736"/>
            <a:ext cx="36576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10128" y="364845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Short term · Switch sourcing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310128" y="3849624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ratified with CDM. Resolution table updated: old contract → CDM contract. Apps and RCE definition unchanged.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17336" y="3602736"/>
            <a:ext cx="27889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117336" y="3602736"/>
            <a:ext cx="36576" cy="67665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08776" y="364845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Medium term · Deprecate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08776" y="3849624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feeds deprecated. Bridges remain as permanent anti-corruption layers. Resolution table + Risk Data Catalog are the complete migration audit trail.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65760" y="48920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778240" y="4892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4224528" cy="1005840"/>
          </a:xfrm>
          <a:prstGeom prst="rect">
            <a:avLst/>
          </a:prstGeom>
          <a:solidFill>
            <a:srgbClr val="1F4E38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29768" y="950976"/>
            <a:ext cx="256032" cy="256032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950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950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Risk position to CDM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presents a consolidated entity definition per entity — a governed, structured engagement with CDM as a domain contributor.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24528" cy="1005840"/>
          </a:xfrm>
          <a:prstGeom prst="rect">
            <a:avLst/>
          </a:prstGeom>
          <a:solidFill>
            <a:srgbClr val="1F4E38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64608" y="950976"/>
            <a:ext cx="256032" cy="256032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950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0" y="950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artifacts keep mechanics separate from semantics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124358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Contract (how data moves). Risk Data Catalog (what it means + lineage). Resolution Table (migrate-backward ledger).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4224528" cy="1005840"/>
          </a:xfrm>
          <a:prstGeom prst="rect">
            <a:avLst/>
          </a:prstGeom>
          <a:solidFill>
            <a:srgbClr val="1F4E38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" y="2093976"/>
            <a:ext cx="256032" cy="256032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093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internals never change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38658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bridges are permanent anti-corruption layers. Each app has its own. App teams own them. No internal refactoring required.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1984248"/>
            <a:ext cx="4224528" cy="1005840"/>
          </a:xfrm>
          <a:prstGeom prst="rect">
            <a:avLst/>
          </a:prstGeom>
          <a:solidFill>
            <a:srgbClr val="1F4E38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64608" y="2093976"/>
            <a:ext cx="256032" cy="256032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2093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forward — deliver value now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38658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populated from current best sources immediately. CDM sourcing migrated gradually via resolution table as entities are ratified.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127248"/>
            <a:ext cx="4224528" cy="1005840"/>
          </a:xfrm>
          <a:prstGeom prst="rect">
            <a:avLst/>
          </a:prstGeom>
          <a:solidFill>
            <a:srgbClr val="1F4E38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9768" y="3236976"/>
            <a:ext cx="256032" cy="256032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236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promotion — three gates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52958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tests → app team sign-off → Risk Product Owner approval. Required for any entity promoted to riskwh.confirmed.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3127248"/>
            <a:ext cx="4224528" cy="1005840"/>
          </a:xfrm>
          <a:prstGeom prst="rect">
            <a:avLst/>
          </a:prstGeom>
          <a:solidFill>
            <a:srgbClr val="1F4E38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64608" y="3236976"/>
            <a:ext cx="256032" cy="256032"/>
          </a:xfrm>
          <a:prstGeom prst="lin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3236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as the persistent lineage thread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529584"/>
            <a:ext cx="3950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 travels with data from source through app silver, RCE, consumption, and into CDM. Full end-to-end lineage.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462272"/>
            <a:ext cx="85039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4622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 App teams begin Phase 1 entity identification   ·   Ingestion team formalises contract catalog   ·   Risk Data Platform builds sandbox   ·   CDM alignment conversation scheduled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89204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· Risk Data Platform · Working Draft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778240" y="4892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1983</Words>
  <Application>Microsoft Macintosh PowerPoint</Application>
  <PresentationFormat>On-screen Show (16:9)</PresentationFormat>
  <Paragraphs>291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Reena Cheema</cp:lastModifiedBy>
  <cp:revision>2</cp:revision>
  <dcterms:created xsi:type="dcterms:W3CDTF">2026-05-31T00:55:20Z</dcterms:created>
  <dcterms:modified xsi:type="dcterms:W3CDTF">2026-05-31T11:51:47Z</dcterms:modified>
</cp:coreProperties>
</file>