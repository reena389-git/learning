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19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" y="365760"/>
            <a:ext cx="566928" cy="566928"/>
          </a:xfrm>
          <a:prstGeom prst="ellipse">
            <a:avLst/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864" y="310896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vs Metadata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97864" y="786384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EXAMPLE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48056" y="11338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 the book. </a:t>
            </a: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is the library catalog.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48056" y="1664208"/>
            <a:ext cx="5463540" cy="3584448"/>
          </a:xfrm>
          <a:prstGeom prst="roundRect">
            <a:avLst>
              <a:gd name="adj" fmla="val 2296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8056" y="1664208"/>
            <a:ext cx="5463540" cy="548640"/>
          </a:xfrm>
          <a:prstGeom prst="roundRect">
            <a:avLst>
              <a:gd name="adj" fmla="val 15000"/>
            </a:avLst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8056" y="1956816"/>
            <a:ext cx="5463540" cy="256032"/>
          </a:xfrm>
          <a:prstGeom prst="rect">
            <a:avLst/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8288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" y="1664208"/>
            <a:ext cx="4823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—  a room full of books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" y="2340864"/>
            <a:ext cx="4443984" cy="2468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" y="4773168"/>
            <a:ext cx="5061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metadata, it's just a pile — how do you find the one you need?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77356" y="1664208"/>
            <a:ext cx="5463540" cy="3584448"/>
          </a:xfrm>
          <a:prstGeom prst="roundRect">
            <a:avLst>
              <a:gd name="adj" fmla="val 2296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277356" y="1664208"/>
            <a:ext cx="5463540" cy="548640"/>
          </a:xfrm>
          <a:prstGeom prst="roundRect">
            <a:avLst>
              <a:gd name="adj" fmla="val 15000"/>
            </a:avLst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277356" y="1956816"/>
            <a:ext cx="5463540" cy="256032"/>
          </a:xfrm>
          <a:prstGeom prst="rect">
            <a:avLst/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18288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7708" y="1664208"/>
            <a:ext cx="4823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—  catalog record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533388" y="2340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060436" y="234086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Fundamentals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87084" y="2706624"/>
            <a:ext cx="524408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533388" y="2706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060436" y="270662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Smith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533388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060436" y="307238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387084" y="3438144"/>
            <a:ext cx="524408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533388" y="3438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060436" y="343814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533388" y="38039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060436" y="380390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387084" y="4169664"/>
            <a:ext cx="524408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533388" y="4169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060436" y="4169664"/>
            <a:ext cx="3451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B-12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478524" y="4773168"/>
            <a:ext cx="5061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which book is on data engineering? which are in English? published after 2020?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48056" y="5989320"/>
            <a:ext cx="11292840" cy="566928"/>
          </a:xfrm>
          <a:prstGeom prst="roundRect">
            <a:avLst>
              <a:gd name="adj" fmla="val 11290"/>
            </a:avLst>
          </a:prstGeom>
          <a:solidFill>
            <a:srgbClr val="1B5E3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22376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content. Metadata is the context that makes data findable, understandable, and trustworthy.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" y="365760"/>
            <a:ext cx="566928" cy="566928"/>
          </a:xfrm>
          <a:prstGeom prst="ellipse">
            <a:avLst/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864" y="310896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vs Metadata, side by side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97864" y="786384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DATASET, SEEN BY DIFFERENT ROLES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40521"/>
              </p:ext>
            </p:extLst>
          </p:nvPr>
        </p:nvGraphicFramePr>
        <p:xfrm>
          <a:off x="448056" y="1298448"/>
          <a:ext cx="10313729" cy="3259483"/>
        </p:xfrm>
        <a:graphic>
          <a:graphicData uri="http://schemas.openxmlformats.org/drawingml/2006/table">
            <a:tbl>
              <a:tblPr/>
              <a:tblGrid>
                <a:gridCol w="2380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6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6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Tells you what happened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Tells you what it means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5E3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5E3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Feeds the model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Guides the model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5E3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Gives answers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Makes answers trustworthy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5E3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Exists in systems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Makes data reusable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5E3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55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Answers a question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Lets the question be asked correctly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48056" y="5925312"/>
            <a:ext cx="11292840" cy="566928"/>
          </a:xfrm>
          <a:prstGeom prst="roundRect">
            <a:avLst>
              <a:gd name="adj" fmla="val 11290"/>
            </a:avLst>
          </a:prstGeom>
          <a:solidFill>
            <a:srgbClr val="1B5E3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73252" y="592531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2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answer a question. Metadata lets the question be asked — correctly.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" y="365760"/>
            <a:ext cx="566928" cy="566928"/>
          </a:xfrm>
          <a:prstGeom prst="ellipse">
            <a:avLst/>
          </a:prstGeom>
          <a:solidFill>
            <a:srgbClr val="1B5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864" y="310896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 ≠ Accurate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97864" y="786384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6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METADATA TOO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48056" y="1207008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to be helpful, complete, conversational, and contextual. None of those are the same as correct.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8056" y="1892808"/>
            <a:ext cx="2617470" cy="1402551"/>
          </a:xfrm>
          <a:prstGeom prst="roundRect">
            <a:avLst>
              <a:gd name="adj" fmla="val 3144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48056" y="1878039"/>
            <a:ext cx="2215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48056" y="2221642"/>
            <a:ext cx="221513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answer the question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" y="2702052"/>
            <a:ext cx="2215134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verified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9846" y="1878039"/>
            <a:ext cx="2617470" cy="1417320"/>
          </a:xfrm>
          <a:prstGeom prst="roundRect">
            <a:avLst>
              <a:gd name="adj" fmla="val 3144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541014" y="1814383"/>
            <a:ext cx="2215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541014" y="2161855"/>
            <a:ext cx="2215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end-to-end answer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41014" y="2618703"/>
            <a:ext cx="2215134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41014" y="2618703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proven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31636" y="1809985"/>
            <a:ext cx="2617470" cy="1485373"/>
          </a:xfrm>
          <a:prstGeom prst="roundRect">
            <a:avLst>
              <a:gd name="adj" fmla="val 3144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32804" y="1809986"/>
            <a:ext cx="2215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32804" y="2143215"/>
            <a:ext cx="2215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 a natural, human style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32804" y="2618703"/>
            <a:ext cx="2215134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32804" y="2618703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authoritative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23426" y="1809985"/>
            <a:ext cx="2617470" cy="1485374"/>
          </a:xfrm>
          <a:prstGeom prst="roundRect">
            <a:avLst>
              <a:gd name="adj" fmla="val 3144"/>
            </a:avLst>
          </a:prstGeom>
          <a:solidFill>
            <a:srgbClr val="EFF6F1"/>
          </a:solidFill>
          <a:ln w="12700">
            <a:solidFill>
              <a:srgbClr val="DCE7E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324594" y="1778508"/>
            <a:ext cx="2215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324594" y="2093275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surrounding patterns to fill gaps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324594" y="2618703"/>
            <a:ext cx="2215134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24594" y="2618703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factual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89788" y="5559231"/>
            <a:ext cx="52474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LLM optimizes for plausible answers. With no grounding, it guesses — and a confident guess is a hallucination.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28EBEC-9059-D7A2-B810-B2928DA788EE}"/>
              </a:ext>
            </a:extLst>
          </p:cNvPr>
          <p:cNvSpPr txBox="1"/>
          <p:nvPr/>
        </p:nvSpPr>
        <p:spPr>
          <a:xfrm>
            <a:off x="9988062" y="9052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18A256-E9D8-356A-0850-D00D4B68675D}"/>
              </a:ext>
            </a:extLst>
          </p:cNvPr>
          <p:cNvSpPr txBox="1"/>
          <p:nvPr/>
        </p:nvSpPr>
        <p:spPr>
          <a:xfrm>
            <a:off x="9978655" y="903470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\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29CFB1C4-C9D0-778C-1955-FAAC986A18AF}"/>
              </a:ext>
            </a:extLst>
          </p:cNvPr>
          <p:cNvSpPr/>
          <p:nvPr/>
        </p:nvSpPr>
        <p:spPr>
          <a:xfrm>
            <a:off x="448056" y="3588699"/>
            <a:ext cx="5463540" cy="1874520"/>
          </a:xfrm>
          <a:prstGeom prst="roundRect">
            <a:avLst>
              <a:gd name="adj" fmla="val 4390"/>
            </a:avLst>
          </a:prstGeom>
          <a:solidFill>
            <a:srgbClr val="F2F4F3"/>
          </a:solidFill>
          <a:ln w="12700">
            <a:solidFill>
              <a:srgbClr val="D9DEDB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77713910-68A7-08D2-51EC-C4518AB2C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26443"/>
            <a:ext cx="310896" cy="310896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576B5668-3F05-7020-85E9-0A9C739887EC}"/>
              </a:ext>
            </a:extLst>
          </p:cNvPr>
          <p:cNvSpPr/>
          <p:nvPr/>
        </p:nvSpPr>
        <p:spPr>
          <a:xfrm>
            <a:off x="1124712" y="3808155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6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METADATA</a:t>
            </a:r>
            <a:endParaRPr lang="en-US" sz="13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575787DC-9A75-1F99-859E-0538519BD79F}"/>
              </a:ext>
            </a:extLst>
          </p:cNvPr>
          <p:cNvSpPr/>
          <p:nvPr/>
        </p:nvSpPr>
        <p:spPr>
          <a:xfrm>
            <a:off x="1124712" y="4265355"/>
            <a:ext cx="4640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i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me”</a:t>
            </a:r>
            <a:endParaRPr lang="en-US" sz="140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E78F7731-0B08-E288-E09A-2456BC7BBB56}"/>
              </a:ext>
            </a:extLst>
          </p:cNvPr>
          <p:cNvSpPr/>
          <p:nvPr/>
        </p:nvSpPr>
        <p:spPr>
          <a:xfrm>
            <a:off x="6277356" y="3588699"/>
            <a:ext cx="5463540" cy="1874520"/>
          </a:xfrm>
          <a:prstGeom prst="roundRect">
            <a:avLst>
              <a:gd name="adj" fmla="val 4390"/>
            </a:avLst>
          </a:prstGeom>
          <a:solidFill>
            <a:srgbClr val="1B5E3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1D035706-4360-E1DB-7DC1-004F77F30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826443"/>
            <a:ext cx="310896" cy="310896"/>
          </a:xfrm>
          <a:prstGeom prst="rect">
            <a:avLst/>
          </a:prstGeom>
        </p:spPr>
      </p:pic>
      <p:sp>
        <p:nvSpPr>
          <p:cNvPr id="39" name="Text 7">
            <a:extLst>
              <a:ext uri="{FF2B5EF4-FFF2-40B4-BE49-F238E27FC236}">
                <a16:creationId xmlns:a16="http://schemas.microsoft.com/office/drawing/2014/main" id="{51045C4A-6E69-144C-3467-510C3A66F7B1}"/>
              </a:ext>
            </a:extLst>
          </p:cNvPr>
          <p:cNvSpPr/>
          <p:nvPr/>
        </p:nvSpPr>
        <p:spPr>
          <a:xfrm>
            <a:off x="6954012" y="3808155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METADATA</a:t>
            </a:r>
            <a:endParaRPr lang="en-US" sz="13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6A51F54-6EC4-7C32-632B-D9FED787F6C5}"/>
              </a:ext>
            </a:extLst>
          </p:cNvPr>
          <p:cNvSpPr/>
          <p:nvPr/>
        </p:nvSpPr>
        <p:spPr>
          <a:xfrm>
            <a:off x="6954012" y="4265355"/>
            <a:ext cx="4640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me”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957EE-DED0-CDCC-C516-1235AA3FA09D}"/>
              </a:ext>
            </a:extLst>
          </p:cNvPr>
          <p:cNvSpPr txBox="1"/>
          <p:nvPr/>
        </p:nvSpPr>
        <p:spPr>
          <a:xfrm>
            <a:off x="6225130" y="551429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Metadata doesn't make AI smarter — it makes AI explainable, auditable, and trustworthy.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298</Words>
  <Application>Microsoft Macintosh PowerPoint</Application>
  <PresentationFormat>Widescreen</PresentationFormat>
  <Paragraphs>75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vs Metadata</dc:title>
  <dc:subject>PptxGenJS Presentation</dc:subject>
  <dc:creator>Risk Data Platform</dc:creator>
  <cp:lastModifiedBy>Reena Cheema</cp:lastModifiedBy>
  <cp:revision>2</cp:revision>
  <dcterms:created xsi:type="dcterms:W3CDTF">2026-06-12T13:31:46Z</dcterms:created>
  <dcterms:modified xsi:type="dcterms:W3CDTF">2026-06-12T13:48:34Z</dcterms:modified>
</cp:coreProperties>
</file>