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4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2E7D32"/>
                </a:solidFill>
              </a:defRPr>
            </a:pPr>
            <a:r>
              <a:rPr dirty="0"/>
              <a:t>Data vs Metadata – The Library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667" y="141763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000" dirty="0"/>
          </a:p>
          <a:p>
            <a:endParaRPr lang="en-US" sz="1000" dirty="0"/>
          </a:p>
          <a:p>
            <a:r>
              <a:rPr lang="en-US" sz="1200" dirty="0"/>
              <a:t>Data :     Book</a:t>
            </a:r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r>
              <a:rPr sz="1000" dirty="0"/>
              <a:t>Metadata </a:t>
            </a:r>
            <a:r>
              <a:rPr lang="en-US" sz="1000" dirty="0"/>
              <a:t>:  </a:t>
            </a:r>
            <a:r>
              <a:rPr sz="1000" dirty="0"/>
              <a:t>The Library Catalog</a:t>
            </a:r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sz="1000" dirty="0"/>
          </a:p>
          <a:p>
            <a:endParaRPr sz="1000" dirty="0"/>
          </a:p>
          <a:p>
            <a:r>
              <a:rPr sz="1000" dirty="0"/>
              <a:t>Without metadata: </a:t>
            </a:r>
            <a:r>
              <a:rPr lang="en-US" sz="1000" dirty="0"/>
              <a:t>		</a:t>
            </a:r>
            <a:r>
              <a:rPr sz="1000" dirty="0"/>
              <a:t>a collection of books.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/>
              <a:t>				How do I discover or find a book ? </a:t>
            </a:r>
            <a:endParaRPr sz="1000" dirty="0"/>
          </a:p>
          <a:p>
            <a:r>
              <a:rPr sz="1000" dirty="0"/>
              <a:t>With metadata: </a:t>
            </a:r>
            <a:endParaRPr lang="en-US" sz="1000" dirty="0"/>
          </a:p>
          <a:p>
            <a:pPr marL="0" indent="0">
              <a:buNone/>
            </a:pPr>
            <a:r>
              <a:rPr lang="en-US" sz="1000" dirty="0"/>
              <a:t>				Books are discoverable</a:t>
            </a:r>
          </a:p>
          <a:p>
            <a:pPr marL="0" indent="0">
              <a:buNone/>
            </a:pPr>
            <a:r>
              <a:rPr lang="en-US" sz="1000" dirty="0"/>
              <a:t>				Do not need access to actual books .</a:t>
            </a:r>
          </a:p>
          <a:p>
            <a:pPr marL="0" indent="0">
              <a:buNone/>
            </a:pPr>
            <a:endParaRPr sz="1000" dirty="0"/>
          </a:p>
          <a:p>
            <a:r>
              <a:rPr sz="1000" dirty="0"/>
              <a:t>Questions metadata answers:</a:t>
            </a:r>
          </a:p>
          <a:p>
            <a:pPr marL="400050" lvl="1" indent="0">
              <a:buNone/>
            </a:pPr>
            <a:r>
              <a:rPr lang="en-US" sz="1000" dirty="0"/>
              <a:t>				</a:t>
            </a:r>
            <a:r>
              <a:rPr sz="1000" dirty="0"/>
              <a:t>Which book is about Data Engineering?</a:t>
            </a:r>
          </a:p>
          <a:p>
            <a:pPr marL="400050" lvl="1" indent="0">
              <a:buNone/>
            </a:pPr>
            <a:r>
              <a:rPr lang="en-US" sz="1000" dirty="0"/>
              <a:t>				</a:t>
            </a:r>
            <a:r>
              <a:rPr sz="1000" dirty="0"/>
              <a:t>Which books are in English?</a:t>
            </a:r>
          </a:p>
          <a:p>
            <a:pPr marL="400050" lvl="1" indent="0">
              <a:buNone/>
            </a:pPr>
            <a:r>
              <a:rPr lang="en-US" sz="1000" dirty="0"/>
              <a:t>				</a:t>
            </a:r>
            <a:r>
              <a:rPr sz="1000" dirty="0"/>
              <a:t>Which books were published after 2020?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804832"/>
              </p:ext>
            </p:extLst>
          </p:nvPr>
        </p:nvGraphicFramePr>
        <p:xfrm>
          <a:off x="4807692" y="2547561"/>
          <a:ext cx="2548268" cy="1493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00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3286">
                <a:tc>
                  <a:txBody>
                    <a:bodyPr/>
                    <a:lstStyle/>
                    <a:p>
                      <a:r>
                        <a:rPr sz="800" dirty="0"/>
                        <a:t>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286">
                <a:tc>
                  <a:txBody>
                    <a:bodyPr/>
                    <a:lstStyle/>
                    <a:p>
                      <a:r>
                        <a:rPr sz="80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Data Engineering Fundamentals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286">
                <a:tc>
                  <a:txBody>
                    <a:bodyPr/>
                    <a:lstStyle/>
                    <a:p>
                      <a:r>
                        <a:rPr sz="80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Jane Smith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286">
                <a:tc>
                  <a:txBody>
                    <a:bodyPr/>
                    <a:lstStyle/>
                    <a:p>
                      <a:r>
                        <a:rPr sz="800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Technology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286">
                <a:tc>
                  <a:txBody>
                    <a:bodyPr/>
                    <a:lstStyle/>
                    <a:p>
                      <a:r>
                        <a:rPr sz="800"/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English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286">
                <a:tc>
                  <a:txBody>
                    <a:bodyPr/>
                    <a:lstStyle/>
                    <a:p>
                      <a:r>
                        <a:rPr sz="800"/>
                        <a:t>Published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286">
                <a:tc>
                  <a:txBody>
                    <a:bodyPr/>
                    <a:lstStyle/>
                    <a:p>
                      <a:r>
                        <a:rPr sz="800"/>
                        <a:t>Shelf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B-12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Graphic 5" descr="Books outline">
            <a:extLst>
              <a:ext uri="{FF2B5EF4-FFF2-40B4-BE49-F238E27FC236}">
                <a16:creationId xmlns:a16="http://schemas.microsoft.com/office/drawing/2014/main" id="{0D1FB3D5-9C94-DF95-B776-ACE5FFA143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05600" y="1588819"/>
            <a:ext cx="691116" cy="749600"/>
          </a:xfrm>
          <a:prstGeom prst="rect">
            <a:avLst/>
          </a:prstGeom>
        </p:spPr>
      </p:pic>
      <p:pic>
        <p:nvPicPr>
          <p:cNvPr id="7" name="Graphic 6" descr="Books outline">
            <a:extLst>
              <a:ext uri="{FF2B5EF4-FFF2-40B4-BE49-F238E27FC236}">
                <a16:creationId xmlns:a16="http://schemas.microsoft.com/office/drawing/2014/main" id="{B947AC05-0159-3F09-D9E2-C98175AF87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36268" y="1626780"/>
            <a:ext cx="691116" cy="749600"/>
          </a:xfrm>
          <a:prstGeom prst="rect">
            <a:avLst/>
          </a:prstGeom>
        </p:spPr>
      </p:pic>
      <p:pic>
        <p:nvPicPr>
          <p:cNvPr id="8" name="Graphic 7" descr="Books outline">
            <a:extLst>
              <a:ext uri="{FF2B5EF4-FFF2-40B4-BE49-F238E27FC236}">
                <a16:creationId xmlns:a16="http://schemas.microsoft.com/office/drawing/2014/main" id="{8A7A2C10-4025-5F81-F4F4-4A05410B8A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20934" y="1353679"/>
            <a:ext cx="691116" cy="749600"/>
          </a:xfrm>
          <a:prstGeom prst="rect">
            <a:avLst/>
          </a:prstGeom>
        </p:spPr>
      </p:pic>
      <p:pic>
        <p:nvPicPr>
          <p:cNvPr id="9" name="Graphic 8" descr="Books outline">
            <a:extLst>
              <a:ext uri="{FF2B5EF4-FFF2-40B4-BE49-F238E27FC236}">
                <a16:creationId xmlns:a16="http://schemas.microsoft.com/office/drawing/2014/main" id="{0702E50C-5F5D-8F2B-B979-549BD301AC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7692" y="1588819"/>
            <a:ext cx="691116" cy="74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E7D32"/>
                </a:solidFill>
              </a:defRPr>
            </a:pPr>
            <a:r>
              <a:t>Why Metadata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75767"/>
            <a:ext cx="8229600" cy="650396"/>
          </a:xfrm>
        </p:spPr>
        <p:txBody>
          <a:bodyPr>
            <a:normAutofit/>
          </a:bodyPr>
          <a:lstStyle/>
          <a:p>
            <a:r>
              <a:rPr sz="1200" dirty="0"/>
              <a:t>Key Takeaway</a:t>
            </a:r>
          </a:p>
          <a:p>
            <a:r>
              <a:rPr sz="1200" dirty="0"/>
              <a:t>Data can answer a question. Metadata allows machines to ask the question correctly.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771713"/>
              </p:ext>
            </p:extLst>
          </p:nvPr>
        </p:nvGraphicFramePr>
        <p:xfrm>
          <a:off x="685800" y="1348526"/>
          <a:ext cx="7772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dirty="0"/>
                        <a:t>Audience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Metadata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dirty="0"/>
                        <a:t>General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Tells you what happened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Tells you what it means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dirty="0"/>
                        <a:t>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Feeds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Guides 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dirty="0"/>
                        <a:t>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Gives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Makes answers trustworthy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Exists in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Makes data reusable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dirty="0"/>
                        <a:t>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Answers a 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Enables questions to be asked correctly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90B29F-3D96-3B05-1B09-B05289C82747}"/>
              </a:ext>
            </a:extLst>
          </p:cNvPr>
          <p:cNvSpPr txBox="1"/>
          <p:nvPr/>
        </p:nvSpPr>
        <p:spPr>
          <a:xfrm>
            <a:off x="733646" y="1081611"/>
            <a:ext cx="63271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LLMs are optimized to produce plausible answers.</a:t>
            </a:r>
            <a:endParaRPr lang="en-US" dirty="0"/>
          </a:p>
          <a:p>
            <a:r>
              <a:rPr lang="en-US" b="1" dirty="0"/>
              <a:t>Metadata helps determine whether those answers are provable.</a:t>
            </a:r>
            <a:endParaRPr lang="en-US" dirty="0"/>
          </a:p>
          <a:p>
            <a:r>
              <a:rPr lang="en-US" dirty="0"/>
              <a:t>Or even:</a:t>
            </a:r>
          </a:p>
          <a:p>
            <a:r>
              <a:rPr lang="en-US" b="1" dirty="0"/>
              <a:t>AI can generate an answer.</a:t>
            </a:r>
            <a:endParaRPr lang="en-US" dirty="0"/>
          </a:p>
          <a:p>
            <a:r>
              <a:rPr lang="en-US" b="1" dirty="0"/>
              <a:t>Metadata provides the evidence behind the answer.</a:t>
            </a:r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13A6BD3-1732-436B-75A2-CDC00428155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948781"/>
          <a:ext cx="8229600" cy="18288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18821174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5711154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Without Metadata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With Metadata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63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Plausible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156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Assumed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Documented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039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Likely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Verified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383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Trust 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Show 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28788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D0E03D1-F1CB-6699-5817-CDFF435CD7AF}"/>
              </a:ext>
            </a:extLst>
          </p:cNvPr>
          <p:cNvSpPr txBox="1"/>
          <p:nvPr/>
        </p:nvSpPr>
        <p:spPr>
          <a:xfrm>
            <a:off x="1244009" y="5167423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goal of metadata is not to make AI smarter.</a:t>
            </a:r>
            <a:endParaRPr lang="en-US" dirty="0"/>
          </a:p>
          <a:p>
            <a:pPr>
              <a:buNone/>
            </a:pPr>
            <a:r>
              <a:rPr lang="en-US" b="1" dirty="0"/>
              <a:t>The goal of metadata is to make AI explainable, auditable, and trustworthy.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67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904BF7-C8C4-CA50-BA9F-FE1CD37B4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71838"/>
              </p:ext>
            </p:extLst>
          </p:nvPr>
        </p:nvGraphicFramePr>
        <p:xfrm>
          <a:off x="457200" y="1325880"/>
          <a:ext cx="8229600" cy="21031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72019589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5154065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Characteristic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What it means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470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Helpful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Attempts to answer the question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4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Complete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Tries to provide an end-to-end answer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1140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Conversational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Responds in a natural human style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506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Contextual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Uses surrounding information and patterns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00082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29C6A46-E40D-EBC9-B944-E37882875F52}"/>
              </a:ext>
            </a:extLst>
          </p:cNvPr>
          <p:cNvSpPr txBox="1"/>
          <p:nvPr/>
        </p:nvSpPr>
        <p:spPr>
          <a:xfrm>
            <a:off x="637954" y="882502"/>
            <a:ext cx="2387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LLM’s are trained to be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C52068-A5A7-327A-22CF-F0F127834A09}"/>
              </a:ext>
            </a:extLst>
          </p:cNvPr>
          <p:cNvSpPr txBox="1"/>
          <p:nvPr/>
        </p:nvSpPr>
        <p:spPr>
          <a:xfrm>
            <a:off x="839972" y="4126008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Helpful does not mean verified.</a:t>
            </a:r>
            <a:endParaRPr lang="en-US" dirty="0"/>
          </a:p>
          <a:p>
            <a:pPr>
              <a:buNone/>
            </a:pPr>
            <a:r>
              <a:rPr lang="en-US" b="1" dirty="0"/>
              <a:t>Complete does not mean proven.</a:t>
            </a:r>
            <a:endParaRPr lang="en-US" dirty="0"/>
          </a:p>
          <a:p>
            <a:pPr>
              <a:buNone/>
            </a:pPr>
            <a:r>
              <a:rPr lang="en-US" b="1" dirty="0"/>
              <a:t>Conversational does not mean authoritative.</a:t>
            </a:r>
            <a:endParaRPr lang="en-US" dirty="0"/>
          </a:p>
          <a:p>
            <a:pPr>
              <a:buNone/>
            </a:pPr>
            <a:r>
              <a:rPr lang="en-US" b="1" dirty="0"/>
              <a:t>Contextual does not mean factual.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512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310</Words>
  <Application>Microsoft Macintosh PowerPoint</Application>
  <PresentationFormat>On-screen Show (4:3)</PresentationFormat>
  <Paragraphs>94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Data vs Metadata – The Library Example</vt:lpstr>
      <vt:lpstr>Why Metadata Matters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Reena Cheema</cp:lastModifiedBy>
  <cp:revision>2</cp:revision>
  <dcterms:created xsi:type="dcterms:W3CDTF">2013-01-27T09:14:16Z</dcterms:created>
  <dcterms:modified xsi:type="dcterms:W3CDTF">2026-06-12T13:18:15Z</dcterms:modified>
  <cp:category/>
</cp:coreProperties>
</file>