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8"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FFEC"/>
    <a:srgbClr val="E8FAE6"/>
    <a:srgbClr val="E9F9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p:restoredTop sz="94610"/>
  </p:normalViewPr>
  <p:slideViewPr>
    <p:cSldViewPr snapToGrid="0" snapToObjects="1">
      <p:cViewPr varScale="1">
        <p:scale>
          <a:sx n="120" d="100"/>
          <a:sy n="120" d="100"/>
        </p:scale>
        <p:origin x="192"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7736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3DBE0-502B-49FB-B316-A96F4BDFC1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2B2D3C-E852-C88B-5E64-45EBB4B62C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138BAD-A247-44DC-D841-9F55E0160D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627A4D-D72B-63D8-5E9E-1BC367E2007D}"/>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0518076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548640" y="2468880"/>
            <a:ext cx="731520" cy="36576"/>
          </a:xfrm>
          <a:prstGeom prst="rect">
            <a:avLst/>
          </a:prstGeom>
          <a:solidFill>
            <a:srgbClr val="2E8B57"/>
          </a:solidFill>
          <a:ln/>
        </p:spPr>
        <p:txBody>
          <a:bodyPr lIns="0" tIns="0" rIns="0" bIns="0"/>
          <a:lstStyle/>
          <a:p>
            <a:endParaRPr lang="en-US"/>
          </a:p>
        </p:txBody>
      </p:sp>
      <p:sp>
        <p:nvSpPr>
          <p:cNvPr id="3" name="Text 1"/>
          <p:cNvSpPr/>
          <p:nvPr/>
        </p:nvSpPr>
        <p:spPr>
          <a:xfrm>
            <a:off x="548640" y="2606040"/>
            <a:ext cx="10972800" cy="914400"/>
          </a:xfrm>
          <a:prstGeom prst="rect">
            <a:avLst/>
          </a:prstGeom>
          <a:noFill/>
          <a:ln/>
        </p:spPr>
        <p:txBody>
          <a:bodyPr wrap="square" lIns="0" tIns="0" rIns="0" bIns="0" rtlCol="0" anchor="ctr"/>
          <a:lstStyle/>
          <a:p>
            <a:pPr marL="0" indent="0">
              <a:buNone/>
            </a:pPr>
            <a:r>
              <a:rPr lang="en-US" sz="4400" b="1" dirty="0">
                <a:solidFill>
                  <a:srgbClr val="1A5C38"/>
                </a:solidFill>
                <a:latin typeface="Calibri" pitchFamily="34" charset="0"/>
                <a:ea typeface="Calibri" pitchFamily="34" charset="-122"/>
                <a:cs typeface="Calibri" pitchFamily="34" charset="-120"/>
              </a:rPr>
              <a:t>Risk Data Operating Model</a:t>
            </a:r>
            <a:endParaRPr lang="en-US" sz="4400" dirty="0"/>
          </a:p>
        </p:txBody>
      </p:sp>
      <p:sp>
        <p:nvSpPr>
          <p:cNvPr id="4" name="Text 2"/>
          <p:cNvSpPr/>
          <p:nvPr/>
        </p:nvSpPr>
        <p:spPr>
          <a:xfrm>
            <a:off x="548640" y="3520440"/>
            <a:ext cx="10972800" cy="457200"/>
          </a:xfrm>
          <a:prstGeom prst="rect">
            <a:avLst/>
          </a:prstGeom>
          <a:noFill/>
          <a:ln/>
        </p:spPr>
        <p:txBody>
          <a:bodyPr wrap="square" lIns="0" tIns="0" rIns="0" bIns="0" rtlCol="0" anchor="ctr"/>
          <a:lstStyle/>
          <a:p>
            <a:pPr marL="0" indent="0">
              <a:buNone/>
            </a:pPr>
            <a:r>
              <a:rPr lang="en-US" sz="1800" dirty="0">
                <a:solidFill>
                  <a:srgbClr val="2E8B57"/>
                </a:solidFill>
                <a:latin typeface="Calibri" pitchFamily="34" charset="0"/>
                <a:ea typeface="Calibri" pitchFamily="34" charset="-122"/>
                <a:cs typeface="Calibri" pitchFamily="34" charset="-120"/>
              </a:rPr>
              <a:t>App conformity  →  Product group  →  Risk  →  CDM</a:t>
            </a:r>
            <a:endParaRPr lang="en-US" sz="1800" dirty="0"/>
          </a:p>
        </p:txBody>
      </p:sp>
      <p:sp>
        <p:nvSpPr>
          <p:cNvPr id="5" name="Text 3"/>
          <p:cNvSpPr/>
          <p:nvPr/>
        </p:nvSpPr>
        <p:spPr>
          <a:xfrm>
            <a:off x="548640" y="4160520"/>
            <a:ext cx="10972800" cy="320040"/>
          </a:xfrm>
          <a:prstGeom prst="rect">
            <a:avLst/>
          </a:prstGeom>
          <a:noFill/>
          <a:ln/>
        </p:spPr>
        <p:txBody>
          <a:bodyPr wrap="square" lIns="0" tIns="0" rIns="0" bIns="0" rtlCol="0" anchor="ctr"/>
          <a:lstStyle/>
          <a:p>
            <a:pPr marL="0" indent="0">
              <a:buNone/>
            </a:pPr>
            <a:r>
              <a:rPr lang="en-US" sz="1300" dirty="0">
                <a:solidFill>
                  <a:srgbClr val="3D5247"/>
                </a:solidFill>
                <a:latin typeface="Calibri" pitchFamily="34" charset="0"/>
                <a:ea typeface="Calibri" pitchFamily="34" charset="-122"/>
                <a:cs typeface="Calibri" pitchFamily="34" charset="-120"/>
              </a:rPr>
              <a:t>TD Securities · Risk Data Platform</a:t>
            </a:r>
            <a:endParaRPr lang="en-US" sz="1300" dirty="0"/>
          </a:p>
        </p:txBody>
      </p:sp>
      <p:sp>
        <p:nvSpPr>
          <p:cNvPr id="6" name="Text 4"/>
          <p:cNvSpPr/>
          <p:nvPr/>
        </p:nvSpPr>
        <p:spPr>
          <a:xfrm>
            <a:off x="548640" y="4526280"/>
            <a:ext cx="10972800" cy="274320"/>
          </a:xfrm>
          <a:prstGeom prst="rect">
            <a:avLst/>
          </a:prstGeom>
          <a:noFill/>
          <a:ln/>
        </p:spPr>
        <p:txBody>
          <a:bodyPr wrap="square" lIns="0" tIns="0" rIns="0" bIns="0" rtlCol="0" anchor="ctr"/>
          <a:lstStyle/>
          <a:p>
            <a:pPr marL="0" indent="0">
              <a:buNone/>
            </a:pPr>
            <a:r>
              <a:rPr lang="en-US" sz="1100" i="1" dirty="0">
                <a:solidFill>
                  <a:srgbClr val="7F8C84"/>
                </a:solidFill>
                <a:latin typeface="Calibri" pitchFamily="34" charset="0"/>
                <a:ea typeface="Calibri" pitchFamily="34" charset="-122"/>
                <a:cs typeface="Calibri" pitchFamily="34" charset="-120"/>
              </a:rPr>
              <a:t>Working Draft — For Review</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7F0"/>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4552" cy="548640"/>
          </a:xfrm>
          <a:prstGeom prst="rect">
            <a:avLst/>
          </a:prstGeom>
          <a:noFill/>
          <a:ln/>
        </p:spPr>
        <p:txBody>
          <a:bodyPr wrap="square" lIns="0" tIns="0" rIns="0" bIns="0" rtlCol="0" anchor="ctr"/>
          <a:lstStyle/>
          <a:p>
            <a:pPr marL="0" indent="0">
              <a:buNone/>
            </a:pPr>
            <a:r>
              <a:rPr lang="en-US" sz="2800" b="1" dirty="0">
                <a:solidFill>
                  <a:srgbClr val="1A5C38"/>
                </a:solidFill>
                <a:latin typeface="Calibri" pitchFamily="34" charset="0"/>
                <a:ea typeface="Calibri" pitchFamily="34" charset="-122"/>
                <a:cs typeface="Calibri" pitchFamily="34" charset="-120"/>
              </a:rPr>
              <a:t>Context</a:t>
            </a:r>
            <a:endParaRPr lang="en-US" sz="2800" dirty="0"/>
          </a:p>
        </p:txBody>
      </p:sp>
      <p:sp>
        <p:nvSpPr>
          <p:cNvPr id="3" name="Text 1"/>
          <p:cNvSpPr/>
          <p:nvPr/>
        </p:nvSpPr>
        <p:spPr>
          <a:xfrm>
            <a:off x="457200" y="914400"/>
            <a:ext cx="11274552" cy="320040"/>
          </a:xfrm>
          <a:prstGeom prst="rect">
            <a:avLst/>
          </a:prstGeom>
          <a:noFill/>
          <a:ln/>
        </p:spPr>
        <p:txBody>
          <a:bodyPr wrap="square" lIns="0" tIns="0" rIns="0" bIns="0" rtlCol="0" anchor="ctr"/>
          <a:lstStyle/>
          <a:p>
            <a:pPr marL="0" indent="0">
              <a:buNone/>
            </a:pPr>
            <a:r>
              <a:rPr lang="en-US" sz="1300" i="1" dirty="0">
                <a:solidFill>
                  <a:srgbClr val="3D5247"/>
                </a:solidFill>
                <a:latin typeface="Calibri" pitchFamily="34" charset="0"/>
                <a:ea typeface="Calibri" pitchFamily="34" charset="-122"/>
                <a:cs typeface="Calibri" pitchFamily="34" charset="-120"/>
              </a:rPr>
              <a:t>Where Risk is, what we're building, how we start.</a:t>
            </a:r>
            <a:endParaRPr lang="en-US" sz="1300" dirty="0"/>
          </a:p>
        </p:txBody>
      </p:sp>
      <p:sp>
        <p:nvSpPr>
          <p:cNvPr id="4" name="Text 2"/>
          <p:cNvSpPr/>
          <p:nvPr/>
        </p:nvSpPr>
        <p:spPr>
          <a:xfrm>
            <a:off x="457200" y="1554480"/>
            <a:ext cx="4754880" cy="228600"/>
          </a:xfrm>
          <a:prstGeom prst="rect">
            <a:avLst/>
          </a:prstGeom>
          <a:noFill/>
          <a:ln/>
        </p:spPr>
        <p:txBody>
          <a:bodyPr wrap="square" lIns="0" tIns="0" rIns="0" bIns="0" rtlCol="0" anchor="ctr"/>
          <a:lstStyle/>
          <a:p>
            <a:pPr marL="0" indent="0">
              <a:buNone/>
            </a:pPr>
            <a:r>
              <a:rPr lang="en-US" sz="900" b="1" kern="0" spc="0" dirty="0">
                <a:solidFill>
                  <a:srgbClr val="2E8B57"/>
                </a:solidFill>
                <a:latin typeface="Calibri" pitchFamily="34" charset="0"/>
                <a:ea typeface="Calibri" pitchFamily="34" charset="-122"/>
                <a:cs typeface="Calibri" pitchFamily="34" charset="-120"/>
              </a:rPr>
              <a:t>RISK · APPLICATIONS BY PRODUCT GROUP</a:t>
            </a:r>
            <a:endParaRPr lang="en-US" sz="900" dirty="0"/>
          </a:p>
        </p:txBody>
      </p:sp>
      <p:sp>
        <p:nvSpPr>
          <p:cNvPr id="5" name="Shape 3"/>
          <p:cNvSpPr/>
          <p:nvPr/>
        </p:nvSpPr>
        <p:spPr>
          <a:xfrm>
            <a:off x="2011680" y="1920240"/>
            <a:ext cx="1645920" cy="329184"/>
          </a:xfrm>
          <a:prstGeom prst="rect">
            <a:avLst/>
          </a:prstGeom>
          <a:solidFill>
            <a:srgbClr val="FAF8F3"/>
          </a:solidFill>
          <a:ln w="15240">
            <a:solidFill>
              <a:srgbClr val="1A2B22"/>
            </a:solidFill>
            <a:prstDash val="solid"/>
          </a:ln>
        </p:spPr>
        <p:txBody>
          <a:bodyPr lIns="0" tIns="0" rIns="0" bIns="0"/>
          <a:lstStyle/>
          <a:p>
            <a:endParaRPr lang="en-US"/>
          </a:p>
        </p:txBody>
      </p:sp>
      <p:sp>
        <p:nvSpPr>
          <p:cNvPr id="6" name="Text 4"/>
          <p:cNvSpPr/>
          <p:nvPr/>
        </p:nvSpPr>
        <p:spPr>
          <a:xfrm>
            <a:off x="2148840" y="2011680"/>
            <a:ext cx="1371600" cy="146304"/>
          </a:xfrm>
          <a:prstGeom prst="rect">
            <a:avLst/>
          </a:prstGeom>
          <a:noFill/>
          <a:ln/>
        </p:spPr>
        <p:txBody>
          <a:bodyPr wrap="square" lIns="0" tIns="0" rIns="0" bIns="0" rtlCol="0" anchor="ctr"/>
          <a:lstStyle/>
          <a:p>
            <a:pPr marL="0" indent="0" algn="ctr">
              <a:buNone/>
            </a:pPr>
            <a:r>
              <a:rPr lang="en-US" sz="1300" b="1" dirty="0">
                <a:solidFill>
                  <a:srgbClr val="1A2B22"/>
                </a:solidFill>
                <a:latin typeface="Calibri" pitchFamily="34" charset="0"/>
                <a:ea typeface="Calibri" pitchFamily="34" charset="-122"/>
                <a:cs typeface="Calibri" pitchFamily="34" charset="-120"/>
              </a:rPr>
              <a:t>Risk</a:t>
            </a:r>
            <a:endParaRPr lang="en-US" sz="1300" dirty="0"/>
          </a:p>
        </p:txBody>
      </p:sp>
      <p:sp>
        <p:nvSpPr>
          <p:cNvPr id="7" name="Shape 5"/>
          <p:cNvSpPr/>
          <p:nvPr/>
        </p:nvSpPr>
        <p:spPr>
          <a:xfrm>
            <a:off x="2834640" y="2249424"/>
            <a:ext cx="0" cy="182880"/>
          </a:xfrm>
          <a:prstGeom prst="line">
            <a:avLst/>
          </a:prstGeom>
          <a:noFill/>
          <a:ln w="12700">
            <a:solidFill>
              <a:srgbClr val="3D5247"/>
            </a:solidFill>
            <a:prstDash val="solid"/>
          </a:ln>
        </p:spPr>
        <p:txBody>
          <a:bodyPr lIns="0" tIns="0" rIns="0" bIns="0"/>
          <a:lstStyle/>
          <a:p>
            <a:endParaRPr lang="en-US"/>
          </a:p>
        </p:txBody>
      </p:sp>
      <p:sp>
        <p:nvSpPr>
          <p:cNvPr id="8" name="Text 6"/>
          <p:cNvSpPr/>
          <p:nvPr/>
        </p:nvSpPr>
        <p:spPr>
          <a:xfrm>
            <a:off x="457200" y="2468880"/>
            <a:ext cx="4754880" cy="182880"/>
          </a:xfrm>
          <a:prstGeom prst="rect">
            <a:avLst/>
          </a:prstGeom>
          <a:noFill/>
          <a:ln/>
        </p:spPr>
        <p:txBody>
          <a:bodyPr wrap="square" lIns="0" tIns="0" rIns="0" bIns="0" rtlCol="0" anchor="ctr"/>
          <a:lstStyle/>
          <a:p>
            <a:pPr marL="0" indent="0">
              <a:buNone/>
            </a:pPr>
            <a:r>
              <a:rPr lang="en-US" sz="800" b="1" kern="0" spc="0" dirty="0">
                <a:solidFill>
                  <a:srgbClr val="7F8C84"/>
                </a:solidFill>
                <a:latin typeface="Calibri" pitchFamily="34" charset="0"/>
                <a:ea typeface="Calibri" pitchFamily="34" charset="-122"/>
                <a:cs typeface="Calibri" pitchFamily="34" charset="-120"/>
              </a:rPr>
              <a:t>PRODUCT GROUPS</a:t>
            </a:r>
            <a:endParaRPr lang="en-US" sz="800" dirty="0"/>
          </a:p>
        </p:txBody>
      </p:sp>
      <p:sp>
        <p:nvSpPr>
          <p:cNvPr id="9" name="Shape 7"/>
          <p:cNvSpPr/>
          <p:nvPr/>
        </p:nvSpPr>
        <p:spPr>
          <a:xfrm>
            <a:off x="457200" y="2697480"/>
            <a:ext cx="1133856" cy="310896"/>
          </a:xfrm>
          <a:prstGeom prst="rect">
            <a:avLst/>
          </a:prstGeom>
          <a:solidFill>
            <a:srgbClr val="FAF8F3"/>
          </a:solidFill>
          <a:ln w="12700">
            <a:solidFill>
              <a:srgbClr val="3D5247"/>
            </a:solidFill>
            <a:prstDash val="solid"/>
          </a:ln>
        </p:spPr>
        <p:txBody>
          <a:bodyPr lIns="0" tIns="0" rIns="0" bIns="0"/>
          <a:lstStyle/>
          <a:p>
            <a:endParaRPr lang="en-US"/>
          </a:p>
        </p:txBody>
      </p:sp>
      <p:sp>
        <p:nvSpPr>
          <p:cNvPr id="10" name="Text 8"/>
          <p:cNvSpPr/>
          <p:nvPr/>
        </p:nvSpPr>
        <p:spPr>
          <a:xfrm>
            <a:off x="502920" y="2743200"/>
            <a:ext cx="1042416" cy="219456"/>
          </a:xfrm>
          <a:prstGeom prst="rect">
            <a:avLst/>
          </a:prstGeom>
          <a:noFill/>
          <a:ln/>
        </p:spPr>
        <p:txBody>
          <a:bodyPr wrap="square" lIns="0" tIns="0" rIns="0" bIns="0" rtlCol="0" anchor="ctr"/>
          <a:lstStyle/>
          <a:p>
            <a:pPr marL="0" indent="0" algn="ctr">
              <a:buNone/>
            </a:pPr>
            <a:r>
              <a:rPr lang="en-US" sz="1050" dirty="0">
                <a:solidFill>
                  <a:srgbClr val="1A2B22"/>
                </a:solidFill>
                <a:latin typeface="Calibri" pitchFamily="34" charset="0"/>
                <a:ea typeface="Calibri" pitchFamily="34" charset="-122"/>
                <a:cs typeface="Calibri" pitchFamily="34" charset="-120"/>
              </a:rPr>
              <a:t>creditrisk</a:t>
            </a:r>
            <a:endParaRPr lang="en-US" sz="1050" dirty="0"/>
          </a:p>
        </p:txBody>
      </p:sp>
      <p:sp>
        <p:nvSpPr>
          <p:cNvPr id="11" name="Shape 9"/>
          <p:cNvSpPr/>
          <p:nvPr/>
        </p:nvSpPr>
        <p:spPr>
          <a:xfrm>
            <a:off x="1664208" y="2697480"/>
            <a:ext cx="1133856" cy="310896"/>
          </a:xfrm>
          <a:prstGeom prst="rect">
            <a:avLst/>
          </a:prstGeom>
          <a:solidFill>
            <a:srgbClr val="FAF8F3"/>
          </a:solidFill>
          <a:ln w="12700">
            <a:solidFill>
              <a:srgbClr val="3D5247"/>
            </a:solidFill>
            <a:prstDash val="solid"/>
          </a:ln>
        </p:spPr>
        <p:txBody>
          <a:bodyPr lIns="0" tIns="0" rIns="0" bIns="0"/>
          <a:lstStyle/>
          <a:p>
            <a:endParaRPr lang="en-US"/>
          </a:p>
        </p:txBody>
      </p:sp>
      <p:sp>
        <p:nvSpPr>
          <p:cNvPr id="12" name="Text 10"/>
          <p:cNvSpPr/>
          <p:nvPr/>
        </p:nvSpPr>
        <p:spPr>
          <a:xfrm>
            <a:off x="1709928" y="2743200"/>
            <a:ext cx="1042416" cy="219456"/>
          </a:xfrm>
          <a:prstGeom prst="rect">
            <a:avLst/>
          </a:prstGeom>
          <a:noFill/>
          <a:ln/>
        </p:spPr>
        <p:txBody>
          <a:bodyPr wrap="square" lIns="0" tIns="0" rIns="0" bIns="0" rtlCol="0" anchor="ctr"/>
          <a:lstStyle/>
          <a:p>
            <a:pPr marL="0" indent="0" algn="ctr">
              <a:buNone/>
            </a:pPr>
            <a:r>
              <a:rPr lang="en-US" sz="1050" dirty="0">
                <a:solidFill>
                  <a:srgbClr val="1A2B22"/>
                </a:solidFill>
                <a:latin typeface="Calibri" pitchFamily="34" charset="0"/>
                <a:ea typeface="Calibri" pitchFamily="34" charset="-122"/>
                <a:cs typeface="Calibri" pitchFamily="34" charset="-120"/>
              </a:rPr>
              <a:t>Market Risk</a:t>
            </a:r>
            <a:endParaRPr lang="en-US" sz="1050" dirty="0"/>
          </a:p>
        </p:txBody>
      </p:sp>
      <p:sp>
        <p:nvSpPr>
          <p:cNvPr id="13" name="Shape 11"/>
          <p:cNvSpPr/>
          <p:nvPr/>
        </p:nvSpPr>
        <p:spPr>
          <a:xfrm>
            <a:off x="2871216" y="2697480"/>
            <a:ext cx="1133856" cy="310896"/>
          </a:xfrm>
          <a:prstGeom prst="rect">
            <a:avLst/>
          </a:prstGeom>
          <a:solidFill>
            <a:srgbClr val="FAF8F3"/>
          </a:solidFill>
          <a:ln w="12700">
            <a:solidFill>
              <a:srgbClr val="3D5247"/>
            </a:solidFill>
            <a:prstDash val="solid"/>
          </a:ln>
        </p:spPr>
        <p:txBody>
          <a:bodyPr lIns="0" tIns="0" rIns="0" bIns="0"/>
          <a:lstStyle/>
          <a:p>
            <a:endParaRPr lang="en-US"/>
          </a:p>
        </p:txBody>
      </p:sp>
      <p:sp>
        <p:nvSpPr>
          <p:cNvPr id="14" name="Text 12"/>
          <p:cNvSpPr/>
          <p:nvPr/>
        </p:nvSpPr>
        <p:spPr>
          <a:xfrm>
            <a:off x="2916936" y="2743200"/>
            <a:ext cx="1042416" cy="219456"/>
          </a:xfrm>
          <a:prstGeom prst="rect">
            <a:avLst/>
          </a:prstGeom>
          <a:noFill/>
          <a:ln/>
        </p:spPr>
        <p:txBody>
          <a:bodyPr wrap="square" lIns="0" tIns="0" rIns="0" bIns="0" rtlCol="0" anchor="ctr"/>
          <a:lstStyle/>
          <a:p>
            <a:pPr marL="0" indent="0" algn="ctr">
              <a:buNone/>
            </a:pPr>
            <a:r>
              <a:rPr lang="en-US" sz="1050" dirty="0">
                <a:solidFill>
                  <a:srgbClr val="1A2B22"/>
                </a:solidFill>
                <a:latin typeface="Calibri" pitchFamily="34" charset="0"/>
                <a:ea typeface="Calibri" pitchFamily="34" charset="-122"/>
                <a:cs typeface="Calibri" pitchFamily="34" charset="-120"/>
              </a:rPr>
              <a:t>Liquidity</a:t>
            </a:r>
            <a:endParaRPr lang="en-US" sz="1050" dirty="0"/>
          </a:p>
        </p:txBody>
      </p:sp>
      <p:sp>
        <p:nvSpPr>
          <p:cNvPr id="15" name="Shape 13"/>
          <p:cNvSpPr/>
          <p:nvPr/>
        </p:nvSpPr>
        <p:spPr>
          <a:xfrm>
            <a:off x="4078224" y="2697480"/>
            <a:ext cx="1133856" cy="310896"/>
          </a:xfrm>
          <a:prstGeom prst="rect">
            <a:avLst/>
          </a:prstGeom>
          <a:solidFill>
            <a:srgbClr val="FAF8F3"/>
          </a:solidFill>
          <a:ln w="12700">
            <a:solidFill>
              <a:srgbClr val="3D5247"/>
            </a:solidFill>
            <a:prstDash val="solid"/>
          </a:ln>
        </p:spPr>
        <p:txBody>
          <a:bodyPr lIns="0" tIns="0" rIns="0" bIns="0"/>
          <a:lstStyle/>
          <a:p>
            <a:endParaRPr lang="en-US"/>
          </a:p>
        </p:txBody>
      </p:sp>
      <p:sp>
        <p:nvSpPr>
          <p:cNvPr id="16" name="Text 14"/>
          <p:cNvSpPr/>
          <p:nvPr/>
        </p:nvSpPr>
        <p:spPr>
          <a:xfrm>
            <a:off x="4123944" y="2743200"/>
            <a:ext cx="1042416" cy="219456"/>
          </a:xfrm>
          <a:prstGeom prst="rect">
            <a:avLst/>
          </a:prstGeom>
          <a:noFill/>
          <a:ln/>
        </p:spPr>
        <p:txBody>
          <a:bodyPr wrap="square" lIns="0" tIns="0" rIns="0" bIns="0" rtlCol="0" anchor="ctr"/>
          <a:lstStyle/>
          <a:p>
            <a:pPr marL="0" indent="0" algn="ctr">
              <a:buNone/>
            </a:pPr>
            <a:r>
              <a:rPr lang="en-US" sz="1050" dirty="0">
                <a:solidFill>
                  <a:srgbClr val="1A2B22"/>
                </a:solidFill>
                <a:latin typeface="Calibri" pitchFamily="34" charset="0"/>
                <a:ea typeface="Calibri" pitchFamily="34" charset="-122"/>
                <a:cs typeface="Calibri" pitchFamily="34" charset="-120"/>
              </a:rPr>
              <a:t>Finance</a:t>
            </a:r>
            <a:endParaRPr lang="en-US" sz="1050" dirty="0"/>
          </a:p>
        </p:txBody>
      </p:sp>
      <p:sp>
        <p:nvSpPr>
          <p:cNvPr id="17" name="Text 15"/>
          <p:cNvSpPr/>
          <p:nvPr/>
        </p:nvSpPr>
        <p:spPr>
          <a:xfrm>
            <a:off x="457200" y="3182112"/>
            <a:ext cx="4754880" cy="182880"/>
          </a:xfrm>
          <a:prstGeom prst="rect">
            <a:avLst/>
          </a:prstGeom>
          <a:noFill/>
          <a:ln/>
        </p:spPr>
        <p:txBody>
          <a:bodyPr wrap="square" lIns="0" tIns="0" rIns="0" bIns="0" rtlCol="0" anchor="ctr"/>
          <a:lstStyle/>
          <a:p>
            <a:pPr marL="0" indent="0">
              <a:buNone/>
            </a:pPr>
            <a:r>
              <a:rPr lang="en-US" sz="800" b="1" kern="0" spc="0" dirty="0">
                <a:solidFill>
                  <a:srgbClr val="7F8C84"/>
                </a:solidFill>
                <a:latin typeface="Calibri" pitchFamily="34" charset="0"/>
                <a:ea typeface="Calibri" pitchFamily="34" charset="-122"/>
                <a:cs typeface="Calibri" pitchFamily="34" charset="-120"/>
              </a:rPr>
              <a:t>APPLICATIONS</a:t>
            </a:r>
            <a:endParaRPr lang="en-US" sz="800" dirty="0"/>
          </a:p>
        </p:txBody>
      </p:sp>
      <p:sp>
        <p:nvSpPr>
          <p:cNvPr id="18" name="Shape 16"/>
          <p:cNvSpPr/>
          <p:nvPr/>
        </p:nvSpPr>
        <p:spPr>
          <a:xfrm>
            <a:off x="457200" y="3410712"/>
            <a:ext cx="548640" cy="292608"/>
          </a:xfrm>
          <a:prstGeom prst="rect">
            <a:avLst/>
          </a:prstGeom>
          <a:solidFill>
            <a:srgbClr val="FFFFFF"/>
          </a:solidFill>
          <a:ln w="9525">
            <a:solidFill>
              <a:srgbClr val="7F8C84"/>
            </a:solidFill>
            <a:prstDash val="solid"/>
          </a:ln>
        </p:spPr>
        <p:txBody>
          <a:bodyPr lIns="0" tIns="0" rIns="0" bIns="0"/>
          <a:lstStyle/>
          <a:p>
            <a:endParaRPr lang="en-US"/>
          </a:p>
        </p:txBody>
      </p:sp>
      <p:sp>
        <p:nvSpPr>
          <p:cNvPr id="19" name="Text 17"/>
          <p:cNvSpPr/>
          <p:nvPr/>
        </p:nvSpPr>
        <p:spPr>
          <a:xfrm>
            <a:off x="484632" y="3438144"/>
            <a:ext cx="493776" cy="237744"/>
          </a:xfrm>
          <a:prstGeom prst="rect">
            <a:avLst/>
          </a:prstGeom>
          <a:noFill/>
          <a:ln/>
        </p:spPr>
        <p:txBody>
          <a:bodyPr wrap="square" lIns="0" tIns="0" rIns="0" bIns="0" rtlCol="0" anchor="ctr"/>
          <a:lstStyle/>
          <a:p>
            <a:pPr marL="0" indent="0" algn="ctr">
              <a:buNone/>
            </a:pPr>
            <a:r>
              <a:rPr lang="en-US" sz="900" dirty="0">
                <a:solidFill>
                  <a:srgbClr val="1A2B22"/>
                </a:solidFill>
                <a:latin typeface="Calibri" pitchFamily="34" charset="0"/>
                <a:ea typeface="Calibri" pitchFamily="34" charset="-122"/>
                <a:cs typeface="Calibri" pitchFamily="34" charset="-120"/>
              </a:rPr>
              <a:t>App1</a:t>
            </a:r>
            <a:endParaRPr lang="en-US" sz="900" dirty="0"/>
          </a:p>
        </p:txBody>
      </p:sp>
      <p:sp>
        <p:nvSpPr>
          <p:cNvPr id="20" name="Shape 18"/>
          <p:cNvSpPr/>
          <p:nvPr/>
        </p:nvSpPr>
        <p:spPr>
          <a:xfrm>
            <a:off x="1042416" y="3410712"/>
            <a:ext cx="548640" cy="292608"/>
          </a:xfrm>
          <a:prstGeom prst="rect">
            <a:avLst/>
          </a:prstGeom>
          <a:solidFill>
            <a:srgbClr val="FFFFFF"/>
          </a:solidFill>
          <a:ln w="9525">
            <a:solidFill>
              <a:srgbClr val="7F8C84"/>
            </a:solidFill>
            <a:prstDash val="solid"/>
          </a:ln>
        </p:spPr>
        <p:txBody>
          <a:bodyPr lIns="0" tIns="0" rIns="0" bIns="0"/>
          <a:lstStyle/>
          <a:p>
            <a:endParaRPr lang="en-US"/>
          </a:p>
        </p:txBody>
      </p:sp>
      <p:sp>
        <p:nvSpPr>
          <p:cNvPr id="21" name="Text 19"/>
          <p:cNvSpPr/>
          <p:nvPr/>
        </p:nvSpPr>
        <p:spPr>
          <a:xfrm>
            <a:off x="1069848" y="3438144"/>
            <a:ext cx="493776" cy="237744"/>
          </a:xfrm>
          <a:prstGeom prst="rect">
            <a:avLst/>
          </a:prstGeom>
          <a:noFill/>
          <a:ln/>
        </p:spPr>
        <p:txBody>
          <a:bodyPr wrap="square" lIns="0" tIns="0" rIns="0" bIns="0" rtlCol="0" anchor="ctr"/>
          <a:lstStyle/>
          <a:p>
            <a:pPr marL="0" indent="0" algn="ctr">
              <a:buNone/>
            </a:pPr>
            <a:r>
              <a:rPr lang="en-US" sz="900" dirty="0">
                <a:solidFill>
                  <a:srgbClr val="1A2B22"/>
                </a:solidFill>
                <a:latin typeface="Calibri" pitchFamily="34" charset="0"/>
                <a:ea typeface="Calibri" pitchFamily="34" charset="-122"/>
                <a:cs typeface="Calibri" pitchFamily="34" charset="-120"/>
              </a:rPr>
              <a:t>App&lt;n&gt;</a:t>
            </a:r>
            <a:endParaRPr lang="en-US" sz="900" dirty="0"/>
          </a:p>
        </p:txBody>
      </p:sp>
      <p:sp>
        <p:nvSpPr>
          <p:cNvPr id="22" name="Shape 20"/>
          <p:cNvSpPr/>
          <p:nvPr/>
        </p:nvSpPr>
        <p:spPr>
          <a:xfrm>
            <a:off x="1664208" y="3410712"/>
            <a:ext cx="548640" cy="292608"/>
          </a:xfrm>
          <a:prstGeom prst="rect">
            <a:avLst/>
          </a:prstGeom>
          <a:solidFill>
            <a:srgbClr val="FFFFFF"/>
          </a:solidFill>
          <a:ln w="9525">
            <a:solidFill>
              <a:srgbClr val="7F8C84"/>
            </a:solidFill>
            <a:prstDash val="solid"/>
          </a:ln>
        </p:spPr>
        <p:txBody>
          <a:bodyPr lIns="0" tIns="0" rIns="0" bIns="0"/>
          <a:lstStyle/>
          <a:p>
            <a:endParaRPr lang="en-US"/>
          </a:p>
        </p:txBody>
      </p:sp>
      <p:sp>
        <p:nvSpPr>
          <p:cNvPr id="23" name="Text 21"/>
          <p:cNvSpPr/>
          <p:nvPr/>
        </p:nvSpPr>
        <p:spPr>
          <a:xfrm>
            <a:off x="1691640" y="3438144"/>
            <a:ext cx="493776" cy="237744"/>
          </a:xfrm>
          <a:prstGeom prst="rect">
            <a:avLst/>
          </a:prstGeom>
          <a:noFill/>
          <a:ln/>
        </p:spPr>
        <p:txBody>
          <a:bodyPr wrap="square" lIns="0" tIns="0" rIns="0" bIns="0" rtlCol="0" anchor="ctr"/>
          <a:lstStyle/>
          <a:p>
            <a:pPr marL="0" indent="0" algn="ctr">
              <a:buNone/>
            </a:pPr>
            <a:r>
              <a:rPr lang="en-US" sz="900" dirty="0">
                <a:solidFill>
                  <a:srgbClr val="1A2B22"/>
                </a:solidFill>
                <a:latin typeface="Calibri" pitchFamily="34" charset="0"/>
                <a:ea typeface="Calibri" pitchFamily="34" charset="-122"/>
                <a:cs typeface="Calibri" pitchFamily="34" charset="-120"/>
              </a:rPr>
              <a:t>App1</a:t>
            </a:r>
            <a:endParaRPr lang="en-US" sz="900" dirty="0"/>
          </a:p>
        </p:txBody>
      </p:sp>
      <p:sp>
        <p:nvSpPr>
          <p:cNvPr id="24" name="Shape 22"/>
          <p:cNvSpPr/>
          <p:nvPr/>
        </p:nvSpPr>
        <p:spPr>
          <a:xfrm>
            <a:off x="2249424" y="3410712"/>
            <a:ext cx="548640" cy="292608"/>
          </a:xfrm>
          <a:prstGeom prst="rect">
            <a:avLst/>
          </a:prstGeom>
          <a:solidFill>
            <a:srgbClr val="FFFFFF"/>
          </a:solidFill>
          <a:ln w="9525">
            <a:solidFill>
              <a:srgbClr val="7F8C84"/>
            </a:solidFill>
            <a:prstDash val="solid"/>
          </a:ln>
        </p:spPr>
        <p:txBody>
          <a:bodyPr lIns="0" tIns="0" rIns="0" bIns="0"/>
          <a:lstStyle/>
          <a:p>
            <a:endParaRPr lang="en-US"/>
          </a:p>
        </p:txBody>
      </p:sp>
      <p:sp>
        <p:nvSpPr>
          <p:cNvPr id="25" name="Text 23"/>
          <p:cNvSpPr/>
          <p:nvPr/>
        </p:nvSpPr>
        <p:spPr>
          <a:xfrm>
            <a:off x="2276856" y="3438144"/>
            <a:ext cx="493776" cy="237744"/>
          </a:xfrm>
          <a:prstGeom prst="rect">
            <a:avLst/>
          </a:prstGeom>
          <a:noFill/>
          <a:ln/>
        </p:spPr>
        <p:txBody>
          <a:bodyPr wrap="square" lIns="0" tIns="0" rIns="0" bIns="0" rtlCol="0" anchor="ctr"/>
          <a:lstStyle/>
          <a:p>
            <a:pPr marL="0" indent="0" algn="ctr">
              <a:buNone/>
            </a:pPr>
            <a:r>
              <a:rPr lang="en-US" sz="900" dirty="0">
                <a:solidFill>
                  <a:srgbClr val="1A2B22"/>
                </a:solidFill>
                <a:latin typeface="Calibri" pitchFamily="34" charset="0"/>
                <a:ea typeface="Calibri" pitchFamily="34" charset="-122"/>
                <a:cs typeface="Calibri" pitchFamily="34" charset="-120"/>
              </a:rPr>
              <a:t>App&lt;n&gt;</a:t>
            </a:r>
            <a:endParaRPr lang="en-US" sz="900" dirty="0"/>
          </a:p>
        </p:txBody>
      </p:sp>
      <p:sp>
        <p:nvSpPr>
          <p:cNvPr id="26" name="Shape 24"/>
          <p:cNvSpPr/>
          <p:nvPr/>
        </p:nvSpPr>
        <p:spPr>
          <a:xfrm>
            <a:off x="2871216" y="3410712"/>
            <a:ext cx="548640" cy="292608"/>
          </a:xfrm>
          <a:prstGeom prst="rect">
            <a:avLst/>
          </a:prstGeom>
          <a:solidFill>
            <a:srgbClr val="FFFFFF"/>
          </a:solidFill>
          <a:ln w="9525">
            <a:solidFill>
              <a:srgbClr val="7F8C84"/>
            </a:solidFill>
            <a:prstDash val="solid"/>
          </a:ln>
        </p:spPr>
        <p:txBody>
          <a:bodyPr lIns="0" tIns="0" rIns="0" bIns="0"/>
          <a:lstStyle/>
          <a:p>
            <a:endParaRPr lang="en-US"/>
          </a:p>
        </p:txBody>
      </p:sp>
      <p:sp>
        <p:nvSpPr>
          <p:cNvPr id="27" name="Text 25"/>
          <p:cNvSpPr/>
          <p:nvPr/>
        </p:nvSpPr>
        <p:spPr>
          <a:xfrm>
            <a:off x="2898648" y="3438144"/>
            <a:ext cx="493776" cy="237744"/>
          </a:xfrm>
          <a:prstGeom prst="rect">
            <a:avLst/>
          </a:prstGeom>
          <a:noFill/>
          <a:ln/>
        </p:spPr>
        <p:txBody>
          <a:bodyPr wrap="square" lIns="0" tIns="0" rIns="0" bIns="0" rtlCol="0" anchor="ctr"/>
          <a:lstStyle/>
          <a:p>
            <a:pPr marL="0" indent="0" algn="ctr">
              <a:buNone/>
            </a:pPr>
            <a:r>
              <a:rPr lang="en-US" sz="900" dirty="0">
                <a:solidFill>
                  <a:srgbClr val="1A2B22"/>
                </a:solidFill>
                <a:latin typeface="Calibri" pitchFamily="34" charset="0"/>
                <a:ea typeface="Calibri" pitchFamily="34" charset="-122"/>
                <a:cs typeface="Calibri" pitchFamily="34" charset="-120"/>
              </a:rPr>
              <a:t>App1</a:t>
            </a:r>
            <a:endParaRPr lang="en-US" sz="900" dirty="0"/>
          </a:p>
        </p:txBody>
      </p:sp>
      <p:sp>
        <p:nvSpPr>
          <p:cNvPr id="28" name="Shape 26"/>
          <p:cNvSpPr/>
          <p:nvPr/>
        </p:nvSpPr>
        <p:spPr>
          <a:xfrm>
            <a:off x="3456432" y="3410712"/>
            <a:ext cx="548640" cy="292608"/>
          </a:xfrm>
          <a:prstGeom prst="rect">
            <a:avLst/>
          </a:prstGeom>
          <a:solidFill>
            <a:srgbClr val="FFFFFF"/>
          </a:solidFill>
          <a:ln w="9525">
            <a:solidFill>
              <a:srgbClr val="7F8C84"/>
            </a:solidFill>
            <a:prstDash val="solid"/>
          </a:ln>
        </p:spPr>
        <p:txBody>
          <a:bodyPr lIns="0" tIns="0" rIns="0" bIns="0"/>
          <a:lstStyle/>
          <a:p>
            <a:endParaRPr lang="en-US"/>
          </a:p>
        </p:txBody>
      </p:sp>
      <p:sp>
        <p:nvSpPr>
          <p:cNvPr id="29" name="Text 27"/>
          <p:cNvSpPr/>
          <p:nvPr/>
        </p:nvSpPr>
        <p:spPr>
          <a:xfrm>
            <a:off x="3483864" y="3438144"/>
            <a:ext cx="493776" cy="237744"/>
          </a:xfrm>
          <a:prstGeom prst="rect">
            <a:avLst/>
          </a:prstGeom>
          <a:noFill/>
          <a:ln/>
        </p:spPr>
        <p:txBody>
          <a:bodyPr wrap="square" lIns="0" tIns="0" rIns="0" bIns="0" rtlCol="0" anchor="ctr"/>
          <a:lstStyle/>
          <a:p>
            <a:pPr marL="0" indent="0" algn="ctr">
              <a:buNone/>
            </a:pPr>
            <a:r>
              <a:rPr lang="en-US" sz="900" dirty="0">
                <a:solidFill>
                  <a:srgbClr val="1A2B22"/>
                </a:solidFill>
                <a:latin typeface="Calibri" pitchFamily="34" charset="0"/>
                <a:ea typeface="Calibri" pitchFamily="34" charset="-122"/>
                <a:cs typeface="Calibri" pitchFamily="34" charset="-120"/>
              </a:rPr>
              <a:t>App&lt;n&gt;</a:t>
            </a:r>
            <a:endParaRPr lang="en-US" sz="900" dirty="0"/>
          </a:p>
        </p:txBody>
      </p:sp>
      <p:sp>
        <p:nvSpPr>
          <p:cNvPr id="30" name="Shape 28"/>
          <p:cNvSpPr/>
          <p:nvPr/>
        </p:nvSpPr>
        <p:spPr>
          <a:xfrm>
            <a:off x="4078224" y="3410712"/>
            <a:ext cx="548640" cy="292608"/>
          </a:xfrm>
          <a:prstGeom prst="rect">
            <a:avLst/>
          </a:prstGeom>
          <a:solidFill>
            <a:srgbClr val="FFFFFF"/>
          </a:solidFill>
          <a:ln w="9525">
            <a:solidFill>
              <a:srgbClr val="7F8C84"/>
            </a:solidFill>
            <a:prstDash val="solid"/>
          </a:ln>
        </p:spPr>
        <p:txBody>
          <a:bodyPr lIns="0" tIns="0" rIns="0" bIns="0"/>
          <a:lstStyle/>
          <a:p>
            <a:endParaRPr lang="en-US"/>
          </a:p>
        </p:txBody>
      </p:sp>
      <p:sp>
        <p:nvSpPr>
          <p:cNvPr id="31" name="Text 29"/>
          <p:cNvSpPr/>
          <p:nvPr/>
        </p:nvSpPr>
        <p:spPr>
          <a:xfrm>
            <a:off x="4105656" y="3438144"/>
            <a:ext cx="493776" cy="237744"/>
          </a:xfrm>
          <a:prstGeom prst="rect">
            <a:avLst/>
          </a:prstGeom>
          <a:noFill/>
          <a:ln/>
        </p:spPr>
        <p:txBody>
          <a:bodyPr wrap="square" lIns="0" tIns="0" rIns="0" bIns="0" rtlCol="0" anchor="ctr"/>
          <a:lstStyle/>
          <a:p>
            <a:pPr marL="0" indent="0" algn="ctr">
              <a:buNone/>
            </a:pPr>
            <a:r>
              <a:rPr lang="en-US" sz="900" dirty="0">
                <a:solidFill>
                  <a:srgbClr val="1A2B22"/>
                </a:solidFill>
                <a:latin typeface="Calibri" pitchFamily="34" charset="0"/>
                <a:ea typeface="Calibri" pitchFamily="34" charset="-122"/>
                <a:cs typeface="Calibri" pitchFamily="34" charset="-120"/>
              </a:rPr>
              <a:t>App1</a:t>
            </a:r>
            <a:endParaRPr lang="en-US" sz="900" dirty="0"/>
          </a:p>
        </p:txBody>
      </p:sp>
      <p:sp>
        <p:nvSpPr>
          <p:cNvPr id="32" name="Shape 30"/>
          <p:cNvSpPr/>
          <p:nvPr/>
        </p:nvSpPr>
        <p:spPr>
          <a:xfrm>
            <a:off x="4663440" y="3410712"/>
            <a:ext cx="548640" cy="292608"/>
          </a:xfrm>
          <a:prstGeom prst="rect">
            <a:avLst/>
          </a:prstGeom>
          <a:solidFill>
            <a:srgbClr val="FFFFFF"/>
          </a:solidFill>
          <a:ln w="9525">
            <a:solidFill>
              <a:srgbClr val="7F8C84"/>
            </a:solidFill>
            <a:prstDash val="solid"/>
          </a:ln>
        </p:spPr>
        <p:txBody>
          <a:bodyPr lIns="0" tIns="0" rIns="0" bIns="0"/>
          <a:lstStyle/>
          <a:p>
            <a:endParaRPr lang="en-US"/>
          </a:p>
        </p:txBody>
      </p:sp>
      <p:sp>
        <p:nvSpPr>
          <p:cNvPr id="33" name="Text 31"/>
          <p:cNvSpPr/>
          <p:nvPr/>
        </p:nvSpPr>
        <p:spPr>
          <a:xfrm>
            <a:off x="4690872" y="3438144"/>
            <a:ext cx="493776" cy="237744"/>
          </a:xfrm>
          <a:prstGeom prst="rect">
            <a:avLst/>
          </a:prstGeom>
          <a:noFill/>
          <a:ln/>
        </p:spPr>
        <p:txBody>
          <a:bodyPr wrap="square" lIns="0" tIns="0" rIns="0" bIns="0" rtlCol="0" anchor="ctr"/>
          <a:lstStyle/>
          <a:p>
            <a:pPr marL="0" indent="0" algn="ctr">
              <a:buNone/>
            </a:pPr>
            <a:r>
              <a:rPr lang="en-US" sz="900" dirty="0">
                <a:solidFill>
                  <a:srgbClr val="1A2B22"/>
                </a:solidFill>
                <a:latin typeface="Calibri" pitchFamily="34" charset="0"/>
                <a:ea typeface="Calibri" pitchFamily="34" charset="-122"/>
                <a:cs typeface="Calibri" pitchFamily="34" charset="-120"/>
              </a:rPr>
              <a:t>App&lt;n&gt;</a:t>
            </a:r>
            <a:endParaRPr lang="en-US" sz="900" dirty="0"/>
          </a:p>
        </p:txBody>
      </p:sp>
      <p:sp>
        <p:nvSpPr>
          <p:cNvPr id="34" name="Text 32"/>
          <p:cNvSpPr/>
          <p:nvPr/>
        </p:nvSpPr>
        <p:spPr>
          <a:xfrm>
            <a:off x="457200" y="3886200"/>
            <a:ext cx="4754880" cy="457200"/>
          </a:xfrm>
          <a:prstGeom prst="rect">
            <a:avLst/>
          </a:prstGeom>
          <a:noFill/>
          <a:ln/>
        </p:spPr>
        <p:txBody>
          <a:bodyPr wrap="square" lIns="0" tIns="0" rIns="0" bIns="0" rtlCol="0" anchor="ctr"/>
          <a:lstStyle/>
          <a:p>
            <a:pPr marL="0" indent="0">
              <a:buNone/>
            </a:pPr>
            <a:r>
              <a:rPr lang="en-US" sz="1050" i="1" dirty="0">
                <a:solidFill>
                  <a:srgbClr val="3D5247"/>
                </a:solidFill>
                <a:latin typeface="Calibri" pitchFamily="34" charset="0"/>
                <a:ea typeface="Calibri" pitchFamily="34" charset="-122"/>
                <a:cs typeface="Calibri" pitchFamily="34" charset="-120"/>
              </a:rPr>
              <a:t>Four product groups. Each contains multiple applications. Each application contains multiple projects.</a:t>
            </a:r>
            <a:endParaRPr lang="en-US" sz="1050" dirty="0"/>
          </a:p>
        </p:txBody>
      </p:sp>
      <p:sp>
        <p:nvSpPr>
          <p:cNvPr id="35" name="Text 33"/>
          <p:cNvSpPr/>
          <p:nvPr/>
        </p:nvSpPr>
        <p:spPr>
          <a:xfrm>
            <a:off x="5669280" y="1554480"/>
            <a:ext cx="6062472" cy="228600"/>
          </a:xfrm>
          <a:prstGeom prst="rect">
            <a:avLst/>
          </a:prstGeom>
          <a:noFill/>
          <a:ln/>
        </p:spPr>
        <p:txBody>
          <a:bodyPr wrap="square" lIns="0" tIns="0" rIns="0" bIns="0" rtlCol="0" anchor="ctr"/>
          <a:lstStyle/>
          <a:p>
            <a:pPr marL="0" indent="0">
              <a:buNone/>
            </a:pPr>
            <a:r>
              <a:rPr lang="en-US" sz="1000" b="1" kern="0" spc="0" dirty="0">
                <a:latin typeface="Calibri" pitchFamily="34" charset="0"/>
                <a:ea typeface="Calibri" pitchFamily="34" charset="-122"/>
                <a:cs typeface="Calibri" pitchFamily="34" charset="-120"/>
              </a:rPr>
              <a:t>WHAT WE'RE BUILDING</a:t>
            </a:r>
            <a:endParaRPr lang="en-US" sz="1000" b="1" dirty="0"/>
          </a:p>
        </p:txBody>
      </p:sp>
      <p:sp>
        <p:nvSpPr>
          <p:cNvPr id="36" name="Text 34"/>
          <p:cNvSpPr/>
          <p:nvPr/>
        </p:nvSpPr>
        <p:spPr>
          <a:xfrm>
            <a:off x="5669280" y="1810512"/>
            <a:ext cx="6062472" cy="1188720"/>
          </a:xfrm>
          <a:prstGeom prst="rect">
            <a:avLst/>
          </a:prstGeom>
          <a:noFill/>
          <a:ln/>
        </p:spPr>
        <p:txBody>
          <a:bodyPr wrap="square" lIns="0" tIns="0" rIns="0" bIns="0" rtlCol="0" anchor="ctr"/>
          <a:lstStyle/>
          <a:p>
            <a:pPr marL="0" indent="0">
              <a:buNone/>
            </a:pPr>
            <a:r>
              <a:rPr lang="en-US" sz="1200" dirty="0">
                <a:solidFill>
                  <a:srgbClr val="1A2B22"/>
                </a:solidFill>
                <a:latin typeface="Calibri" pitchFamily="34" charset="0"/>
                <a:ea typeface="Calibri" pitchFamily="34" charset="-122"/>
                <a:cs typeface="Calibri" pitchFamily="34" charset="-120"/>
              </a:rPr>
              <a:t>A shared conformed entity layer across Risk applications, built in three layers — </a:t>
            </a:r>
            <a:r>
              <a:rPr lang="en-US" sz="1200" b="1" dirty="0">
                <a:solidFill>
                  <a:srgbClr val="1A2B22"/>
                </a:solidFill>
                <a:latin typeface="Calibri" pitchFamily="34" charset="0"/>
                <a:ea typeface="Calibri" pitchFamily="34" charset="-122"/>
                <a:cs typeface="Calibri" pitchFamily="34" charset="-120"/>
              </a:rPr>
              <a:t>App</a:t>
            </a:r>
            <a:r>
              <a:rPr lang="en-US" sz="1200" dirty="0">
                <a:solidFill>
                  <a:srgbClr val="1A2B22"/>
                </a:solidFill>
                <a:latin typeface="Calibri" pitchFamily="34" charset="0"/>
                <a:ea typeface="Calibri" pitchFamily="34" charset="-122"/>
                <a:cs typeface="Calibri" pitchFamily="34" charset="-120"/>
              </a:rPr>
              <a:t>, </a:t>
            </a:r>
            <a:r>
              <a:rPr lang="en-US" sz="1200" b="1" dirty="0">
                <a:solidFill>
                  <a:srgbClr val="1A2B22"/>
                </a:solidFill>
                <a:latin typeface="Calibri" pitchFamily="34" charset="0"/>
                <a:ea typeface="Calibri" pitchFamily="34" charset="-122"/>
                <a:cs typeface="Calibri" pitchFamily="34" charset="-120"/>
              </a:rPr>
              <a:t>Product Group</a:t>
            </a:r>
            <a:r>
              <a:rPr lang="en-US" sz="1200" dirty="0">
                <a:solidFill>
                  <a:srgbClr val="1A2B22"/>
                </a:solidFill>
                <a:latin typeface="Calibri" pitchFamily="34" charset="0"/>
                <a:ea typeface="Calibri" pitchFamily="34" charset="-122"/>
                <a:cs typeface="Calibri" pitchFamily="34" charset="-120"/>
              </a:rPr>
              <a:t>, </a:t>
            </a:r>
            <a:r>
              <a:rPr lang="en-US" sz="1200" b="1" dirty="0">
                <a:solidFill>
                  <a:srgbClr val="1A2B22"/>
                </a:solidFill>
                <a:latin typeface="Calibri" pitchFamily="34" charset="0"/>
                <a:ea typeface="Calibri" pitchFamily="34" charset="-122"/>
                <a:cs typeface="Calibri" pitchFamily="34" charset="-120"/>
              </a:rPr>
              <a:t>Risk</a:t>
            </a:r>
            <a:r>
              <a:rPr lang="en-US" sz="1200" dirty="0">
                <a:solidFill>
                  <a:srgbClr val="1A2B22"/>
                </a:solidFill>
                <a:latin typeface="Calibri" pitchFamily="34" charset="0"/>
                <a:ea typeface="Calibri" pitchFamily="34" charset="-122"/>
                <a:cs typeface="Calibri" pitchFamily="34" charset="-120"/>
              </a:rPr>
              <a:t>. The outer layer is the </a:t>
            </a:r>
            <a:r>
              <a:rPr lang="en-US" sz="1200" b="1" dirty="0">
                <a:solidFill>
                  <a:srgbClr val="1A2B22"/>
                </a:solidFill>
                <a:latin typeface="Calibri" pitchFamily="34" charset="0"/>
                <a:ea typeface="Calibri" pitchFamily="34" charset="-122"/>
                <a:cs typeface="Calibri" pitchFamily="34" charset="-120"/>
              </a:rPr>
              <a:t>Risk Conformed Entity</a:t>
            </a:r>
            <a:r>
              <a:rPr lang="en-US" sz="1200" dirty="0">
                <a:solidFill>
                  <a:srgbClr val="1A2B22"/>
                </a:solidFill>
                <a:latin typeface="Calibri" pitchFamily="34" charset="0"/>
                <a:ea typeface="Calibri" pitchFamily="34" charset="-122"/>
                <a:cs typeface="Calibri" pitchFamily="34" charset="-120"/>
              </a:rPr>
              <a:t>: CDM-aligned base attributes plus Risk-specific attributes (netting set, CSA terms, regulatory regime).</a:t>
            </a:r>
            <a:endParaRPr lang="en-US" sz="1200" dirty="0"/>
          </a:p>
        </p:txBody>
      </p:sp>
      <p:sp>
        <p:nvSpPr>
          <p:cNvPr id="37" name="Shape 35"/>
          <p:cNvSpPr/>
          <p:nvPr/>
        </p:nvSpPr>
        <p:spPr>
          <a:xfrm>
            <a:off x="5669280" y="3072384"/>
            <a:ext cx="6062472" cy="0"/>
          </a:xfrm>
          <a:prstGeom prst="line">
            <a:avLst/>
          </a:prstGeom>
          <a:noFill/>
          <a:ln w="9525">
            <a:solidFill>
              <a:srgbClr val="E0DDD5"/>
            </a:solidFill>
            <a:prstDash val="solid"/>
          </a:ln>
        </p:spPr>
        <p:txBody>
          <a:bodyPr lIns="0" tIns="0" rIns="0" bIns="0"/>
          <a:lstStyle/>
          <a:p>
            <a:endParaRPr lang="en-US"/>
          </a:p>
        </p:txBody>
      </p:sp>
      <p:sp>
        <p:nvSpPr>
          <p:cNvPr id="38" name="Text 36"/>
          <p:cNvSpPr/>
          <p:nvPr/>
        </p:nvSpPr>
        <p:spPr>
          <a:xfrm>
            <a:off x="5669280" y="3200400"/>
            <a:ext cx="6062472" cy="228600"/>
          </a:xfrm>
          <a:prstGeom prst="rect">
            <a:avLst/>
          </a:prstGeom>
          <a:noFill/>
          <a:ln/>
        </p:spPr>
        <p:txBody>
          <a:bodyPr wrap="square" lIns="0" tIns="0" rIns="0" bIns="0" rtlCol="0" anchor="ctr"/>
          <a:lstStyle/>
          <a:p>
            <a:pPr marL="0" indent="0">
              <a:buNone/>
            </a:pPr>
            <a:r>
              <a:rPr lang="en-US" sz="900" b="1" kern="0" spc="0" dirty="0">
                <a:solidFill>
                  <a:srgbClr val="2E8B57"/>
                </a:solidFill>
                <a:latin typeface="Calibri" pitchFamily="34" charset="0"/>
                <a:ea typeface="Calibri" pitchFamily="34" charset="-122"/>
                <a:cs typeface="Calibri" pitchFamily="34" charset="-120"/>
              </a:rPr>
              <a:t>HOW RISK AND CDM RELATE</a:t>
            </a:r>
            <a:endParaRPr lang="en-US" sz="900" dirty="0"/>
          </a:p>
        </p:txBody>
      </p:sp>
      <p:sp>
        <p:nvSpPr>
          <p:cNvPr id="39" name="Text 37"/>
          <p:cNvSpPr/>
          <p:nvPr/>
        </p:nvSpPr>
        <p:spPr>
          <a:xfrm>
            <a:off x="5669280" y="3456432"/>
            <a:ext cx="6062472" cy="1188720"/>
          </a:xfrm>
          <a:prstGeom prst="rect">
            <a:avLst/>
          </a:prstGeom>
          <a:noFill/>
          <a:ln/>
        </p:spPr>
        <p:txBody>
          <a:bodyPr wrap="square" lIns="0" tIns="0" rIns="0" bIns="0" rtlCol="0" anchor="ctr"/>
          <a:lstStyle/>
          <a:p>
            <a:pPr marL="0" indent="0">
              <a:buNone/>
            </a:pPr>
            <a:r>
              <a:rPr lang="en-US" sz="1200" dirty="0">
                <a:solidFill>
                  <a:srgbClr val="1A2B22"/>
                </a:solidFill>
                <a:latin typeface="Calibri" pitchFamily="34" charset="0"/>
                <a:ea typeface="Calibri" pitchFamily="34" charset="-122"/>
                <a:cs typeface="Calibri" pitchFamily="34" charset="-120"/>
              </a:rPr>
              <a:t>CDM defines canonical entities for the bank. Risk uses them, extends with Risk-specific attributes where needed, and contributes back where Risk has expertise CDM doesn't yet cover. The two efforts proceed in parallel and meet at the Risk Conformed Entity definition.</a:t>
            </a:r>
            <a:endParaRPr lang="en-US" sz="1200" dirty="0"/>
          </a:p>
        </p:txBody>
      </p:sp>
      <p:sp>
        <p:nvSpPr>
          <p:cNvPr id="40" name="Shape 38"/>
          <p:cNvSpPr/>
          <p:nvPr/>
        </p:nvSpPr>
        <p:spPr>
          <a:xfrm>
            <a:off x="5669280" y="4718304"/>
            <a:ext cx="6062472" cy="0"/>
          </a:xfrm>
          <a:prstGeom prst="line">
            <a:avLst/>
          </a:prstGeom>
          <a:noFill/>
          <a:ln w="9525">
            <a:solidFill>
              <a:srgbClr val="E0DDD5"/>
            </a:solidFill>
            <a:prstDash val="solid"/>
          </a:ln>
        </p:spPr>
        <p:txBody>
          <a:bodyPr lIns="0" tIns="0" rIns="0" bIns="0"/>
          <a:lstStyle/>
          <a:p>
            <a:endParaRPr lang="en-US"/>
          </a:p>
        </p:txBody>
      </p:sp>
      <p:sp>
        <p:nvSpPr>
          <p:cNvPr id="41" name="Text 39"/>
          <p:cNvSpPr/>
          <p:nvPr/>
        </p:nvSpPr>
        <p:spPr>
          <a:xfrm>
            <a:off x="5669280" y="4846320"/>
            <a:ext cx="6062472" cy="228600"/>
          </a:xfrm>
          <a:prstGeom prst="rect">
            <a:avLst/>
          </a:prstGeom>
          <a:noFill/>
          <a:ln/>
        </p:spPr>
        <p:txBody>
          <a:bodyPr wrap="square" lIns="0" tIns="0" rIns="0" bIns="0" rtlCol="0" anchor="ctr"/>
          <a:lstStyle/>
          <a:p>
            <a:pPr marL="0" indent="0">
              <a:buNone/>
            </a:pPr>
            <a:r>
              <a:rPr lang="en-US" sz="900" b="1" kern="0" spc="0" dirty="0">
                <a:solidFill>
                  <a:srgbClr val="2E8B57"/>
                </a:solidFill>
                <a:latin typeface="Calibri" pitchFamily="34" charset="0"/>
                <a:ea typeface="Calibri" pitchFamily="34" charset="-122"/>
                <a:cs typeface="Calibri" pitchFamily="34" charset="-120"/>
              </a:rPr>
              <a:t>HOW WE START</a:t>
            </a:r>
            <a:endParaRPr lang="en-US" sz="900" dirty="0"/>
          </a:p>
        </p:txBody>
      </p:sp>
      <p:sp>
        <p:nvSpPr>
          <p:cNvPr id="42" name="Text 40"/>
          <p:cNvSpPr/>
          <p:nvPr/>
        </p:nvSpPr>
        <p:spPr>
          <a:xfrm>
            <a:off x="5669280" y="5102352"/>
            <a:ext cx="6062472" cy="1188720"/>
          </a:xfrm>
          <a:prstGeom prst="rect">
            <a:avLst/>
          </a:prstGeom>
          <a:noFill/>
          <a:ln/>
        </p:spPr>
        <p:txBody>
          <a:bodyPr wrap="square" lIns="0" tIns="0" rIns="0" bIns="0" rtlCol="0" anchor="ctr"/>
          <a:lstStyle/>
          <a:p>
            <a:pPr marL="0" indent="0">
              <a:buNone/>
            </a:pPr>
            <a:r>
              <a:rPr lang="en-US" sz="1200" dirty="0">
                <a:solidFill>
                  <a:srgbClr val="1A2B22"/>
                </a:solidFill>
                <a:latin typeface="Calibri" pitchFamily="34" charset="0"/>
                <a:ea typeface="Calibri" pitchFamily="34" charset="-122"/>
                <a:cs typeface="Calibri" pitchFamily="34" charset="-120"/>
              </a:rPr>
              <a:t>Phase 1 starts from data Risk applications already generate in Databricks. App-level conformed entities feed product-group reconciliation; product-group entities roll up to the Risk Conformed Entity. CDM alignment is taken up as each Risk entity matures.</a:t>
            </a:r>
            <a:endParaRPr lang="en-US" sz="1200" dirty="0"/>
          </a:p>
        </p:txBody>
      </p:sp>
      <p:sp>
        <p:nvSpPr>
          <p:cNvPr id="43" name="Text 41"/>
          <p:cNvSpPr/>
          <p:nvPr/>
        </p:nvSpPr>
        <p:spPr>
          <a:xfrm>
            <a:off x="457200" y="6565392"/>
            <a:ext cx="8229600" cy="201168"/>
          </a:xfrm>
          <a:prstGeom prst="rect">
            <a:avLst/>
          </a:prstGeom>
          <a:noFill/>
          <a:ln/>
        </p:spPr>
        <p:txBody>
          <a:bodyPr wrap="square" lIns="0" tIns="0" rIns="0" bIns="0" rtlCol="0" anchor="ctr"/>
          <a:lstStyle/>
          <a:p>
            <a:pPr marL="0" indent="0">
              <a:buNone/>
            </a:pPr>
            <a:r>
              <a:rPr lang="en-US" sz="900" i="1" dirty="0">
                <a:solidFill>
                  <a:srgbClr val="7F8C84"/>
                </a:solidFill>
                <a:latin typeface="Calibri" pitchFamily="34" charset="0"/>
                <a:ea typeface="Calibri" pitchFamily="34" charset="-122"/>
                <a:cs typeface="Calibri" pitchFamily="34" charset="-120"/>
              </a:rPr>
              <a:t>TD Securities · Risk Data Platform · Working Draft</a:t>
            </a:r>
            <a:endParaRPr lang="en-US" sz="900" dirty="0"/>
          </a:p>
        </p:txBody>
      </p:sp>
      <p:sp>
        <p:nvSpPr>
          <p:cNvPr id="44" name="Text 42"/>
          <p:cNvSpPr/>
          <p:nvPr/>
        </p:nvSpPr>
        <p:spPr>
          <a:xfrm>
            <a:off x="11548872" y="6565392"/>
            <a:ext cx="365760" cy="201168"/>
          </a:xfrm>
          <a:prstGeom prst="rect">
            <a:avLst/>
          </a:prstGeom>
          <a:noFill/>
          <a:ln/>
        </p:spPr>
        <p:txBody>
          <a:bodyPr wrap="square" lIns="0" tIns="0" rIns="0" bIns="0" rtlCol="0" anchor="ctr"/>
          <a:lstStyle/>
          <a:p>
            <a:pPr marL="0" indent="0" algn="r">
              <a:buNone/>
            </a:pPr>
            <a:r>
              <a:rPr lang="en-US" sz="900" dirty="0">
                <a:solidFill>
                  <a:srgbClr val="7F8C8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7F0"/>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4552" cy="548640"/>
          </a:xfrm>
          <a:prstGeom prst="rect">
            <a:avLst/>
          </a:prstGeom>
          <a:noFill/>
          <a:ln/>
        </p:spPr>
        <p:txBody>
          <a:bodyPr wrap="square" lIns="0" tIns="0" rIns="0" bIns="0" rtlCol="0" anchor="ctr"/>
          <a:lstStyle/>
          <a:p>
            <a:pPr marL="0" indent="0">
              <a:buNone/>
            </a:pPr>
            <a:r>
              <a:rPr lang="en-US" sz="2800" b="1" dirty="0">
                <a:solidFill>
                  <a:srgbClr val="1A5C38"/>
                </a:solidFill>
                <a:latin typeface="Calibri" pitchFamily="34" charset="0"/>
                <a:ea typeface="Calibri" pitchFamily="34" charset="-122"/>
                <a:cs typeface="Calibri" pitchFamily="34" charset="-120"/>
              </a:rPr>
              <a:t>Risk Conformed Entity (RCE)— the architecture</a:t>
            </a:r>
            <a:endParaRPr lang="en-US" sz="2800" dirty="0"/>
          </a:p>
        </p:txBody>
      </p:sp>
      <p:sp>
        <p:nvSpPr>
          <p:cNvPr id="3" name="Text 1"/>
          <p:cNvSpPr/>
          <p:nvPr/>
        </p:nvSpPr>
        <p:spPr>
          <a:xfrm>
            <a:off x="457200" y="914400"/>
            <a:ext cx="11274552" cy="320040"/>
          </a:xfrm>
          <a:prstGeom prst="rect">
            <a:avLst/>
          </a:prstGeom>
          <a:noFill/>
          <a:ln/>
        </p:spPr>
        <p:txBody>
          <a:bodyPr wrap="square" lIns="0" tIns="0" rIns="0" bIns="0" rtlCol="0" anchor="ctr"/>
          <a:lstStyle/>
          <a:p>
            <a:pPr marL="0" indent="0">
              <a:buNone/>
            </a:pPr>
            <a:r>
              <a:rPr lang="en-US" sz="1300" i="1" dirty="0">
                <a:solidFill>
                  <a:srgbClr val="3D5247"/>
                </a:solidFill>
                <a:latin typeface="Calibri" pitchFamily="34" charset="0"/>
                <a:ea typeface="Calibri" pitchFamily="34" charset="-122"/>
                <a:cs typeface="Calibri" pitchFamily="34" charset="-120"/>
              </a:rPr>
              <a:t>Three layers, contained one inside the next. CDM aligned. Two consumer surfaces.</a:t>
            </a:r>
            <a:endParaRPr lang="en-US" sz="1300" dirty="0"/>
          </a:p>
        </p:txBody>
      </p:sp>
      <p:sp>
        <p:nvSpPr>
          <p:cNvPr id="4" name="Shape 2"/>
          <p:cNvSpPr/>
          <p:nvPr/>
        </p:nvSpPr>
        <p:spPr>
          <a:xfrm>
            <a:off x="1828800" y="1554480"/>
            <a:ext cx="2194560" cy="411480"/>
          </a:xfrm>
          <a:prstGeom prst="rect">
            <a:avLst/>
          </a:prstGeom>
          <a:solidFill>
            <a:srgbClr val="FAF8F3"/>
          </a:solidFill>
          <a:ln w="12700">
            <a:solidFill>
              <a:srgbClr val="1A2B22"/>
            </a:solidFill>
            <a:prstDash val="solid"/>
          </a:ln>
        </p:spPr>
        <p:txBody>
          <a:bodyPr lIns="0" tIns="0" rIns="0" bIns="0"/>
          <a:lstStyle/>
          <a:p>
            <a:endParaRPr lang="en-US"/>
          </a:p>
        </p:txBody>
      </p:sp>
      <p:sp>
        <p:nvSpPr>
          <p:cNvPr id="5" name="Text 3"/>
          <p:cNvSpPr/>
          <p:nvPr/>
        </p:nvSpPr>
        <p:spPr>
          <a:xfrm>
            <a:off x="1965960" y="1645920"/>
            <a:ext cx="1920240" cy="228600"/>
          </a:xfrm>
          <a:prstGeom prst="rect">
            <a:avLst/>
          </a:prstGeom>
          <a:noFill/>
          <a:ln/>
        </p:spPr>
        <p:txBody>
          <a:bodyPr wrap="square" lIns="0" tIns="0" rIns="0" bIns="0" rtlCol="0" anchor="ctr"/>
          <a:lstStyle/>
          <a:p>
            <a:pPr marL="0" indent="0" algn="ctr">
              <a:buNone/>
            </a:pPr>
            <a:r>
              <a:rPr lang="en-US" sz="1200" b="1" dirty="0">
                <a:solidFill>
                  <a:srgbClr val="1A2B22"/>
                </a:solidFill>
                <a:latin typeface="Calibri" pitchFamily="34" charset="0"/>
                <a:ea typeface="Calibri" pitchFamily="34" charset="-122"/>
                <a:cs typeface="Calibri" pitchFamily="34" charset="-120"/>
              </a:rPr>
              <a:t>Other Sources</a:t>
            </a:r>
            <a:endParaRPr lang="en-US" sz="1200" dirty="0"/>
          </a:p>
        </p:txBody>
      </p:sp>
      <p:sp>
        <p:nvSpPr>
          <p:cNvPr id="6" name="Shape 4"/>
          <p:cNvSpPr/>
          <p:nvPr/>
        </p:nvSpPr>
        <p:spPr>
          <a:xfrm>
            <a:off x="5029200" y="1554480"/>
            <a:ext cx="3200400" cy="411480"/>
          </a:xfrm>
          <a:prstGeom prst="rect">
            <a:avLst/>
          </a:prstGeom>
          <a:solidFill>
            <a:srgbClr val="FAF8F3"/>
          </a:solidFill>
          <a:ln w="12700">
            <a:solidFill>
              <a:srgbClr val="1A2B22"/>
            </a:solidFill>
            <a:prstDash val="solid"/>
          </a:ln>
        </p:spPr>
        <p:txBody>
          <a:bodyPr lIns="0" tIns="0" rIns="0" bIns="0"/>
          <a:lstStyle/>
          <a:p>
            <a:endParaRPr lang="en-US"/>
          </a:p>
        </p:txBody>
      </p:sp>
      <p:sp>
        <p:nvSpPr>
          <p:cNvPr id="7" name="Text 5"/>
          <p:cNvSpPr/>
          <p:nvPr/>
        </p:nvSpPr>
        <p:spPr>
          <a:xfrm>
            <a:off x="5166360" y="1645920"/>
            <a:ext cx="2926080" cy="228600"/>
          </a:xfrm>
          <a:prstGeom prst="rect">
            <a:avLst/>
          </a:prstGeom>
          <a:noFill/>
          <a:ln/>
        </p:spPr>
        <p:txBody>
          <a:bodyPr wrap="square" lIns="0" tIns="0" rIns="0" bIns="0" rtlCol="0" anchor="ctr"/>
          <a:lstStyle/>
          <a:p>
            <a:pPr marL="0" indent="0" algn="ctr">
              <a:buNone/>
            </a:pPr>
            <a:r>
              <a:rPr lang="en-US" sz="1200" b="1" dirty="0">
                <a:solidFill>
                  <a:srgbClr val="1A2B22"/>
                </a:solidFill>
                <a:latin typeface="Calibri" pitchFamily="34" charset="0"/>
                <a:ea typeface="Calibri" pitchFamily="34" charset="-122"/>
                <a:cs typeface="Calibri" pitchFamily="34" charset="-120"/>
              </a:rPr>
              <a:t>CDM</a:t>
            </a:r>
            <a:endParaRPr lang="en-US" sz="1200" dirty="0"/>
          </a:p>
        </p:txBody>
      </p:sp>
      <p:sp>
        <p:nvSpPr>
          <p:cNvPr id="8" name="Shape 6"/>
          <p:cNvSpPr/>
          <p:nvPr/>
        </p:nvSpPr>
        <p:spPr>
          <a:xfrm>
            <a:off x="2852928" y="2011680"/>
            <a:ext cx="146304" cy="274320"/>
          </a:xfrm>
          <a:prstGeom prst="upDownArrow">
            <a:avLst/>
          </a:prstGeom>
          <a:solidFill>
            <a:srgbClr val="2E8B57"/>
          </a:solidFill>
          <a:ln w="12700">
            <a:solidFill>
              <a:srgbClr val="2E8B57"/>
            </a:solidFill>
            <a:prstDash val="solid"/>
          </a:ln>
        </p:spPr>
        <p:txBody>
          <a:bodyPr lIns="0" tIns="0" rIns="0" bIns="0"/>
          <a:lstStyle/>
          <a:p>
            <a:endParaRPr lang="en-US"/>
          </a:p>
        </p:txBody>
      </p:sp>
      <p:sp>
        <p:nvSpPr>
          <p:cNvPr id="9" name="Shape 7"/>
          <p:cNvSpPr/>
          <p:nvPr/>
        </p:nvSpPr>
        <p:spPr>
          <a:xfrm>
            <a:off x="6556248" y="2011680"/>
            <a:ext cx="146304" cy="274320"/>
          </a:xfrm>
          <a:prstGeom prst="upDownArrow">
            <a:avLst/>
          </a:prstGeom>
          <a:solidFill>
            <a:srgbClr val="2E8B57"/>
          </a:solidFill>
          <a:ln w="12700">
            <a:solidFill>
              <a:srgbClr val="2E8B57"/>
            </a:solidFill>
            <a:prstDash val="solid"/>
          </a:ln>
        </p:spPr>
        <p:txBody>
          <a:bodyPr lIns="0" tIns="0" rIns="0" bIns="0"/>
          <a:lstStyle/>
          <a:p>
            <a:endParaRPr lang="en-US"/>
          </a:p>
        </p:txBody>
      </p:sp>
      <p:sp>
        <p:nvSpPr>
          <p:cNvPr id="10" name="Text 8"/>
          <p:cNvSpPr/>
          <p:nvPr/>
        </p:nvSpPr>
        <p:spPr>
          <a:xfrm>
            <a:off x="6766560" y="2057400"/>
            <a:ext cx="1463040" cy="201168"/>
          </a:xfrm>
          <a:prstGeom prst="rect">
            <a:avLst/>
          </a:prstGeom>
          <a:noFill/>
          <a:ln/>
        </p:spPr>
        <p:txBody>
          <a:bodyPr wrap="square" lIns="0" tIns="0" rIns="0" bIns="0" rtlCol="0" anchor="ctr"/>
          <a:lstStyle/>
          <a:p>
            <a:pPr marL="0" indent="0">
              <a:buNone/>
            </a:pPr>
            <a:r>
              <a:rPr lang="en-US" sz="900" i="1" dirty="0">
                <a:solidFill>
                  <a:srgbClr val="2E8B57"/>
                </a:solidFill>
                <a:latin typeface="Calibri" pitchFamily="34" charset="0"/>
                <a:ea typeface="Calibri" pitchFamily="34" charset="-122"/>
                <a:cs typeface="Calibri" pitchFamily="34" charset="-120"/>
              </a:rPr>
              <a:t>align + contribute</a:t>
            </a:r>
            <a:endParaRPr lang="en-US" sz="900" dirty="0"/>
          </a:p>
        </p:txBody>
      </p:sp>
      <p:sp>
        <p:nvSpPr>
          <p:cNvPr id="11" name="Shape 9"/>
          <p:cNvSpPr/>
          <p:nvPr/>
        </p:nvSpPr>
        <p:spPr>
          <a:xfrm>
            <a:off x="822960" y="2349273"/>
            <a:ext cx="7863840" cy="2926080"/>
          </a:xfrm>
          <a:prstGeom prst="rect">
            <a:avLst/>
          </a:prstGeom>
          <a:solidFill>
            <a:srgbClr val="EEF7F0"/>
          </a:solidFill>
          <a:ln w="19050">
            <a:solidFill>
              <a:srgbClr val="1A5C38"/>
            </a:solidFill>
            <a:prstDash val="solid"/>
          </a:ln>
        </p:spPr>
        <p:txBody>
          <a:bodyPr lIns="0" tIns="0" rIns="0" bIns="0"/>
          <a:lstStyle/>
          <a:p>
            <a:endParaRPr lang="en-US"/>
          </a:p>
        </p:txBody>
      </p:sp>
      <p:sp>
        <p:nvSpPr>
          <p:cNvPr id="12" name="Text 10"/>
          <p:cNvSpPr/>
          <p:nvPr/>
        </p:nvSpPr>
        <p:spPr>
          <a:xfrm>
            <a:off x="932267" y="2315114"/>
            <a:ext cx="4572000" cy="274320"/>
          </a:xfrm>
          <a:prstGeom prst="rect">
            <a:avLst/>
          </a:prstGeom>
          <a:noFill/>
          <a:ln/>
        </p:spPr>
        <p:txBody>
          <a:bodyPr wrap="square" lIns="0" tIns="0" rIns="0" bIns="0" rtlCol="0" anchor="ctr"/>
          <a:lstStyle/>
          <a:p>
            <a:pPr marL="0" indent="0">
              <a:buNone/>
            </a:pPr>
            <a:r>
              <a:rPr lang="en-US" sz="1300" b="1" dirty="0">
                <a:solidFill>
                  <a:srgbClr val="1A5C38"/>
                </a:solidFill>
                <a:latin typeface="Calibri" pitchFamily="34" charset="0"/>
                <a:ea typeface="Calibri" pitchFamily="34" charset="-122"/>
                <a:cs typeface="Calibri" pitchFamily="34" charset="-120"/>
              </a:rPr>
              <a:t>Risk Conformed Entity</a:t>
            </a:r>
            <a:endParaRPr lang="en-US" sz="1300" dirty="0"/>
          </a:p>
        </p:txBody>
      </p:sp>
      <p:sp>
        <p:nvSpPr>
          <p:cNvPr id="13" name="Text 11"/>
          <p:cNvSpPr/>
          <p:nvPr/>
        </p:nvSpPr>
        <p:spPr>
          <a:xfrm>
            <a:off x="6400800" y="2368296"/>
            <a:ext cx="2103120" cy="228600"/>
          </a:xfrm>
          <a:prstGeom prst="rect">
            <a:avLst/>
          </a:prstGeom>
          <a:noFill/>
          <a:ln/>
        </p:spPr>
        <p:txBody>
          <a:bodyPr wrap="square" lIns="0" tIns="0" rIns="0" bIns="0" rtlCol="0" anchor="ctr"/>
          <a:lstStyle/>
          <a:p>
            <a:pPr marL="0" indent="0" algn="r">
              <a:buNone/>
            </a:pPr>
            <a:r>
              <a:rPr lang="en-US" sz="900" b="1" kern="0" spc="0" dirty="0">
                <a:solidFill>
                  <a:srgbClr val="A8362A"/>
                </a:solidFill>
                <a:latin typeface="Calibri" pitchFamily="34" charset="0"/>
                <a:ea typeface="Calibri" pitchFamily="34" charset="-122"/>
                <a:cs typeface="Calibri" pitchFamily="34" charset="-120"/>
              </a:rPr>
              <a:t>PHASE 3 · RISK</a:t>
            </a:r>
            <a:endParaRPr lang="en-US" sz="900" dirty="0"/>
          </a:p>
        </p:txBody>
      </p:sp>
      <p:sp>
        <p:nvSpPr>
          <p:cNvPr id="14" name="Shape 12"/>
          <p:cNvSpPr/>
          <p:nvPr/>
        </p:nvSpPr>
        <p:spPr>
          <a:xfrm>
            <a:off x="1608082" y="2788920"/>
            <a:ext cx="6804397" cy="1920240"/>
          </a:xfrm>
          <a:prstGeom prst="rect">
            <a:avLst/>
          </a:prstGeom>
          <a:solidFill>
            <a:srgbClr val="FFFFFF"/>
          </a:solidFill>
          <a:ln w="12700">
            <a:solidFill>
              <a:srgbClr val="2E8B57"/>
            </a:solidFill>
            <a:prstDash val="solid"/>
          </a:ln>
        </p:spPr>
        <p:txBody>
          <a:bodyPr lIns="0" tIns="0" rIns="0" bIns="0"/>
          <a:lstStyle/>
          <a:p>
            <a:endParaRPr lang="en-US" dirty="0"/>
          </a:p>
        </p:txBody>
      </p:sp>
      <p:sp>
        <p:nvSpPr>
          <p:cNvPr id="15" name="Text 13"/>
          <p:cNvSpPr/>
          <p:nvPr/>
        </p:nvSpPr>
        <p:spPr>
          <a:xfrm>
            <a:off x="1691639" y="3140858"/>
            <a:ext cx="4572000" cy="274320"/>
          </a:xfrm>
          <a:prstGeom prst="rect">
            <a:avLst/>
          </a:prstGeom>
          <a:noFill/>
          <a:ln/>
        </p:spPr>
        <p:txBody>
          <a:bodyPr wrap="square" lIns="0" tIns="0" rIns="0" bIns="0" rtlCol="0" anchor="ctr"/>
          <a:lstStyle/>
          <a:p>
            <a:pPr marL="0" indent="0">
              <a:buNone/>
            </a:pPr>
            <a:r>
              <a:rPr lang="en-US" sz="1200" b="1" dirty="0">
                <a:solidFill>
                  <a:srgbClr val="2E8B57"/>
                </a:solidFill>
                <a:latin typeface="Calibri" pitchFamily="34" charset="0"/>
                <a:ea typeface="Calibri" pitchFamily="34" charset="-122"/>
                <a:cs typeface="Calibri" pitchFamily="34" charset="-120"/>
              </a:rPr>
              <a:t>Product Group </a:t>
            </a:r>
          </a:p>
          <a:p>
            <a:pPr marL="0" indent="0">
              <a:buNone/>
            </a:pPr>
            <a:r>
              <a:rPr lang="en-US" sz="1000" dirty="0">
                <a:latin typeface="Calibri" pitchFamily="34" charset="0"/>
                <a:cs typeface="Calibri" pitchFamily="34" charset="-120"/>
              </a:rPr>
              <a:t>Conformed Entities</a:t>
            </a:r>
          </a:p>
          <a:p>
            <a:pPr marL="0" indent="0">
              <a:buNone/>
            </a:pPr>
            <a:r>
              <a:rPr lang="en-US" sz="1000" dirty="0">
                <a:latin typeface="Calibri" pitchFamily="34" charset="0"/>
                <a:cs typeface="Calibri" pitchFamily="34" charset="-120"/>
              </a:rPr>
              <a:t>Data model</a:t>
            </a:r>
          </a:p>
          <a:p>
            <a:pPr marL="0" indent="0">
              <a:buNone/>
            </a:pPr>
            <a:endParaRPr lang="en-US" sz="1000" dirty="0">
              <a:latin typeface="Calibri" pitchFamily="34" charset="0"/>
              <a:cs typeface="Calibri" pitchFamily="34" charset="-120"/>
            </a:endParaRPr>
          </a:p>
          <a:p>
            <a:pPr marL="0" indent="0">
              <a:buNone/>
            </a:pPr>
            <a:endParaRPr lang="en-US" sz="1000" dirty="0">
              <a:latin typeface="Calibri" pitchFamily="34" charset="0"/>
              <a:cs typeface="Calibri" pitchFamily="34" charset="-120"/>
            </a:endParaRPr>
          </a:p>
          <a:p>
            <a:pPr marL="0" indent="0">
              <a:buNone/>
            </a:pPr>
            <a:endParaRPr lang="en-US" sz="1000" dirty="0"/>
          </a:p>
        </p:txBody>
      </p:sp>
      <p:sp>
        <p:nvSpPr>
          <p:cNvPr id="16" name="Text 14"/>
          <p:cNvSpPr/>
          <p:nvPr/>
        </p:nvSpPr>
        <p:spPr>
          <a:xfrm>
            <a:off x="6175879" y="2805527"/>
            <a:ext cx="2103120" cy="228600"/>
          </a:xfrm>
          <a:prstGeom prst="rect">
            <a:avLst/>
          </a:prstGeom>
          <a:noFill/>
          <a:ln/>
        </p:spPr>
        <p:txBody>
          <a:bodyPr wrap="square" lIns="0" tIns="0" rIns="0" bIns="0" rtlCol="0" anchor="ctr"/>
          <a:lstStyle/>
          <a:p>
            <a:pPr marL="0" indent="0" algn="r">
              <a:buNone/>
            </a:pPr>
            <a:r>
              <a:rPr lang="en-US" sz="900" b="1" kern="0" spc="0" dirty="0">
                <a:solidFill>
                  <a:srgbClr val="A8362A"/>
                </a:solidFill>
                <a:latin typeface="Calibri" pitchFamily="34" charset="0"/>
                <a:ea typeface="Calibri" pitchFamily="34" charset="-122"/>
                <a:cs typeface="Calibri" pitchFamily="34" charset="-120"/>
              </a:rPr>
              <a:t>PHASE 2 · PRODUCT</a:t>
            </a:r>
            <a:endParaRPr lang="en-US" sz="900" dirty="0"/>
          </a:p>
        </p:txBody>
      </p:sp>
      <p:sp>
        <p:nvSpPr>
          <p:cNvPr id="17" name="Shape 15"/>
          <p:cNvSpPr/>
          <p:nvPr/>
        </p:nvSpPr>
        <p:spPr>
          <a:xfrm>
            <a:off x="3813983" y="3373401"/>
            <a:ext cx="4449028" cy="1005840"/>
          </a:xfrm>
          <a:prstGeom prst="rect">
            <a:avLst/>
          </a:prstGeom>
          <a:solidFill>
            <a:srgbClr val="FAF8F3"/>
          </a:solidFill>
          <a:ln w="12700">
            <a:solidFill>
              <a:srgbClr val="3D5247"/>
            </a:solidFill>
            <a:prstDash val="solid"/>
          </a:ln>
        </p:spPr>
        <p:txBody>
          <a:bodyPr lIns="0" tIns="0" rIns="0" bIns="0"/>
          <a:lstStyle/>
          <a:p>
            <a:endParaRPr lang="en-US"/>
          </a:p>
        </p:txBody>
      </p:sp>
      <p:sp>
        <p:nvSpPr>
          <p:cNvPr id="18" name="Text 16"/>
          <p:cNvSpPr/>
          <p:nvPr/>
        </p:nvSpPr>
        <p:spPr>
          <a:xfrm>
            <a:off x="3924142" y="3399311"/>
            <a:ext cx="3657600" cy="256032"/>
          </a:xfrm>
          <a:prstGeom prst="rect">
            <a:avLst/>
          </a:prstGeom>
          <a:noFill/>
          <a:ln/>
        </p:spPr>
        <p:txBody>
          <a:bodyPr wrap="square" lIns="0" tIns="0" rIns="0" bIns="0" rtlCol="0" anchor="ctr"/>
          <a:lstStyle/>
          <a:p>
            <a:pPr marL="0" indent="0">
              <a:buNone/>
            </a:pPr>
            <a:r>
              <a:rPr lang="en-US" sz="1150" b="1" dirty="0">
                <a:solidFill>
                  <a:srgbClr val="1A2B22"/>
                </a:solidFill>
                <a:latin typeface="Calibri" pitchFamily="34" charset="0"/>
                <a:ea typeface="Calibri" pitchFamily="34" charset="-122"/>
                <a:cs typeface="Calibri" pitchFamily="34" charset="-120"/>
              </a:rPr>
              <a:t>Application</a:t>
            </a:r>
            <a:endParaRPr lang="en-US" sz="1150" dirty="0"/>
          </a:p>
        </p:txBody>
      </p:sp>
      <p:sp>
        <p:nvSpPr>
          <p:cNvPr id="19" name="Text 17"/>
          <p:cNvSpPr/>
          <p:nvPr/>
        </p:nvSpPr>
        <p:spPr>
          <a:xfrm>
            <a:off x="6558555" y="3355284"/>
            <a:ext cx="1645920" cy="228600"/>
          </a:xfrm>
          <a:prstGeom prst="rect">
            <a:avLst/>
          </a:prstGeom>
          <a:noFill/>
          <a:ln/>
        </p:spPr>
        <p:txBody>
          <a:bodyPr wrap="square" lIns="0" tIns="0" rIns="0" bIns="0" rtlCol="0" anchor="ctr"/>
          <a:lstStyle/>
          <a:p>
            <a:pPr marL="0" indent="0" algn="r">
              <a:buNone/>
            </a:pPr>
            <a:r>
              <a:rPr lang="en-US" sz="900" b="1" kern="0" spc="0" dirty="0">
                <a:solidFill>
                  <a:srgbClr val="A8362A"/>
                </a:solidFill>
                <a:latin typeface="Calibri" pitchFamily="34" charset="0"/>
                <a:ea typeface="Calibri" pitchFamily="34" charset="-122"/>
                <a:cs typeface="Calibri" pitchFamily="34" charset="-120"/>
              </a:rPr>
              <a:t>PHASE 1 · APP</a:t>
            </a:r>
            <a:endParaRPr lang="en-US" sz="900" dirty="0"/>
          </a:p>
        </p:txBody>
      </p:sp>
      <p:sp>
        <p:nvSpPr>
          <p:cNvPr id="20" name="Text 18"/>
          <p:cNvSpPr/>
          <p:nvPr/>
        </p:nvSpPr>
        <p:spPr>
          <a:xfrm>
            <a:off x="4023360" y="3723923"/>
            <a:ext cx="3917206" cy="50292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100" dirty="0">
                <a:solidFill>
                  <a:srgbClr val="1A2B22"/>
                </a:solidFill>
                <a:latin typeface="Calibri" pitchFamily="34" charset="0"/>
                <a:ea typeface="Calibri" pitchFamily="34" charset="-122"/>
                <a:cs typeface="Calibri" pitchFamily="34" charset="-120"/>
              </a:rPr>
              <a:t>Generated Data</a:t>
            </a:r>
          </a:p>
          <a:p>
            <a:pPr marL="171450" indent="-171450">
              <a:buFont typeface="Arial" panose="020B0604020202020204" pitchFamily="34" charset="0"/>
              <a:buChar char="•"/>
            </a:pPr>
            <a:r>
              <a:rPr lang="en-US" sz="1100" dirty="0">
                <a:solidFill>
                  <a:srgbClr val="1A2B22"/>
                </a:solidFill>
                <a:latin typeface="Calibri" pitchFamily="34" charset="0"/>
                <a:ea typeface="Calibri" pitchFamily="34" charset="-122"/>
                <a:cs typeface="Calibri" pitchFamily="34" charset="-120"/>
              </a:rPr>
              <a:t>Identify Entities → build conformance </a:t>
            </a:r>
          </a:p>
          <a:p>
            <a:pPr marL="171450" indent="-171450">
              <a:buFont typeface="Arial" panose="020B0604020202020204" pitchFamily="34" charset="0"/>
              <a:buChar char="•"/>
            </a:pPr>
            <a:r>
              <a:rPr lang="en-US" sz="1100" dirty="0">
                <a:solidFill>
                  <a:srgbClr val="1A2B22"/>
                </a:solidFill>
                <a:latin typeface="Calibri" pitchFamily="34" charset="0"/>
                <a:ea typeface="Calibri" pitchFamily="34" charset="-122"/>
                <a:cs typeface="Calibri" pitchFamily="34" charset="-120"/>
              </a:rPr>
              <a:t>Data Model</a:t>
            </a:r>
            <a:endParaRPr lang="en-US" sz="1100" dirty="0"/>
          </a:p>
        </p:txBody>
      </p:sp>
      <p:sp>
        <p:nvSpPr>
          <p:cNvPr id="21" name="Text 19"/>
          <p:cNvSpPr/>
          <p:nvPr/>
        </p:nvSpPr>
        <p:spPr>
          <a:xfrm>
            <a:off x="932267" y="4880296"/>
            <a:ext cx="7498080" cy="274320"/>
          </a:xfrm>
          <a:prstGeom prst="rect">
            <a:avLst/>
          </a:prstGeom>
          <a:noFill/>
          <a:ln/>
        </p:spPr>
        <p:txBody>
          <a:bodyPr wrap="square" lIns="0" tIns="0" rIns="0" bIns="0" rtlCol="0" anchor="ctr"/>
          <a:lstStyle/>
          <a:p>
            <a:pPr marL="0" indent="0">
              <a:buNone/>
            </a:pPr>
            <a:r>
              <a:rPr lang="en-US" sz="1000" dirty="0"/>
              <a:t>Across risk  - entity conformance -  one Risk Data Model – Data relationships and Semantics</a:t>
            </a:r>
          </a:p>
        </p:txBody>
      </p:sp>
      <p:sp>
        <p:nvSpPr>
          <p:cNvPr id="22" name="Shape 20"/>
          <p:cNvSpPr/>
          <p:nvPr/>
        </p:nvSpPr>
        <p:spPr>
          <a:xfrm>
            <a:off x="8823960" y="2406290"/>
            <a:ext cx="2743200" cy="1137009"/>
          </a:xfrm>
          <a:prstGeom prst="rect">
            <a:avLst/>
          </a:prstGeom>
          <a:solidFill>
            <a:srgbClr val="FAF8F3"/>
          </a:solidFill>
          <a:ln w="12700">
            <a:solidFill>
              <a:srgbClr val="1A2B22"/>
            </a:solidFill>
            <a:prstDash val="solid"/>
          </a:ln>
        </p:spPr>
        <p:txBody>
          <a:bodyPr lIns="0" tIns="0" rIns="0" bIns="0"/>
          <a:lstStyle/>
          <a:p>
            <a:endParaRPr lang="en-US"/>
          </a:p>
        </p:txBody>
      </p:sp>
      <p:sp>
        <p:nvSpPr>
          <p:cNvPr id="23" name="Text 21"/>
          <p:cNvSpPr/>
          <p:nvPr/>
        </p:nvSpPr>
        <p:spPr>
          <a:xfrm>
            <a:off x="8900160" y="2543347"/>
            <a:ext cx="2468880" cy="457200"/>
          </a:xfrm>
          <a:prstGeom prst="rect">
            <a:avLst/>
          </a:prstGeom>
          <a:noFill/>
          <a:ln/>
        </p:spPr>
        <p:txBody>
          <a:bodyPr wrap="square" lIns="0" tIns="0" rIns="0" bIns="0" rtlCol="0" anchor="ctr"/>
          <a:lstStyle/>
          <a:p>
            <a:pPr marL="0" indent="0" algn="ctr">
              <a:buNone/>
            </a:pPr>
            <a:r>
              <a:rPr lang="en-US" sz="1150" b="1" dirty="0">
                <a:solidFill>
                  <a:srgbClr val="1A2B22"/>
                </a:solidFill>
                <a:latin typeface="Calibri" pitchFamily="34" charset="0"/>
                <a:ea typeface="Calibri" pitchFamily="34" charset="-122"/>
                <a:cs typeface="Calibri" pitchFamily="34" charset="-120"/>
              </a:rPr>
              <a:t>Risk Business</a:t>
            </a:r>
            <a:endParaRPr lang="en-US" sz="1150" dirty="0"/>
          </a:p>
          <a:p>
            <a:pPr marL="0" indent="0" algn="ctr">
              <a:buNone/>
            </a:pPr>
            <a:r>
              <a:rPr lang="en-US" sz="1150" b="1" dirty="0">
                <a:solidFill>
                  <a:srgbClr val="1A2B22"/>
                </a:solidFill>
                <a:latin typeface="Calibri" pitchFamily="34" charset="0"/>
                <a:ea typeface="Calibri" pitchFamily="34" charset="-122"/>
                <a:cs typeface="Calibri" pitchFamily="34" charset="-120"/>
              </a:rPr>
              <a:t>Analytics Reporting</a:t>
            </a:r>
            <a:endParaRPr lang="en-US" sz="1150" dirty="0"/>
          </a:p>
        </p:txBody>
      </p:sp>
      <p:sp>
        <p:nvSpPr>
          <p:cNvPr id="24" name="Text 22"/>
          <p:cNvSpPr/>
          <p:nvPr/>
        </p:nvSpPr>
        <p:spPr>
          <a:xfrm>
            <a:off x="8900160" y="2964075"/>
            <a:ext cx="2468880" cy="201168"/>
          </a:xfrm>
          <a:prstGeom prst="rect">
            <a:avLst/>
          </a:prstGeom>
          <a:noFill/>
          <a:ln/>
        </p:spPr>
        <p:txBody>
          <a:bodyPr wrap="square" lIns="0" tIns="0" rIns="0" bIns="0" rtlCol="0" anchor="ctr"/>
          <a:lstStyle/>
          <a:p>
            <a:pPr marL="0" indent="0" algn="ctr">
              <a:buNone/>
            </a:pPr>
            <a:r>
              <a:rPr lang="en-US" sz="900" i="1" dirty="0">
                <a:solidFill>
                  <a:srgbClr val="7F8C84"/>
                </a:solidFill>
                <a:latin typeface="Calibri" pitchFamily="34" charset="0"/>
                <a:ea typeface="Calibri" pitchFamily="34" charset="-122"/>
                <a:cs typeface="Calibri" pitchFamily="34" charset="-120"/>
              </a:rPr>
              <a:t>dashboards, reports</a:t>
            </a:r>
            <a:endParaRPr lang="en-US" sz="900" dirty="0"/>
          </a:p>
        </p:txBody>
      </p:sp>
      <p:sp>
        <p:nvSpPr>
          <p:cNvPr id="25" name="Shape 23"/>
          <p:cNvSpPr/>
          <p:nvPr/>
        </p:nvSpPr>
        <p:spPr>
          <a:xfrm>
            <a:off x="8847608" y="3671081"/>
            <a:ext cx="2743200" cy="1024129"/>
          </a:xfrm>
          <a:prstGeom prst="rect">
            <a:avLst/>
          </a:prstGeom>
          <a:solidFill>
            <a:srgbClr val="FAF8F3"/>
          </a:solidFill>
          <a:ln w="12700">
            <a:solidFill>
              <a:srgbClr val="1A2B22"/>
            </a:solidFill>
            <a:prstDash val="solid"/>
          </a:ln>
        </p:spPr>
        <p:txBody>
          <a:bodyPr lIns="0" tIns="0" rIns="0" bIns="0"/>
          <a:lstStyle/>
          <a:p>
            <a:endParaRPr lang="en-US"/>
          </a:p>
        </p:txBody>
      </p:sp>
      <p:sp>
        <p:nvSpPr>
          <p:cNvPr id="26" name="Text 24"/>
          <p:cNvSpPr/>
          <p:nvPr/>
        </p:nvSpPr>
        <p:spPr>
          <a:xfrm>
            <a:off x="8961120" y="3812313"/>
            <a:ext cx="2468880" cy="457200"/>
          </a:xfrm>
          <a:prstGeom prst="rect">
            <a:avLst/>
          </a:prstGeom>
          <a:noFill/>
          <a:ln/>
        </p:spPr>
        <p:txBody>
          <a:bodyPr wrap="square" lIns="0" tIns="0" rIns="0" bIns="0" rtlCol="0" anchor="ctr"/>
          <a:lstStyle/>
          <a:p>
            <a:pPr marL="0" indent="0" algn="ctr">
              <a:buNone/>
            </a:pPr>
            <a:r>
              <a:rPr lang="en-US" sz="1150" b="1" dirty="0">
                <a:solidFill>
                  <a:srgbClr val="1A2B22"/>
                </a:solidFill>
                <a:latin typeface="Calibri" pitchFamily="34" charset="0"/>
                <a:ea typeface="Calibri" pitchFamily="34" charset="-122"/>
                <a:cs typeface="Calibri" pitchFamily="34" charset="-120"/>
              </a:rPr>
              <a:t>Risk Data</a:t>
            </a:r>
            <a:endParaRPr lang="en-US" sz="1150" dirty="0"/>
          </a:p>
          <a:p>
            <a:pPr marL="0" indent="0" algn="ctr">
              <a:buNone/>
            </a:pPr>
            <a:r>
              <a:rPr lang="en-US" sz="1150" b="1" dirty="0">
                <a:solidFill>
                  <a:srgbClr val="1A2B22"/>
                </a:solidFill>
                <a:latin typeface="Calibri" pitchFamily="34" charset="0"/>
                <a:ea typeface="Calibri" pitchFamily="34" charset="-122"/>
                <a:cs typeface="Calibri" pitchFamily="34" charset="-120"/>
              </a:rPr>
              <a:t>Products</a:t>
            </a:r>
            <a:endParaRPr lang="en-US" sz="1150" dirty="0"/>
          </a:p>
        </p:txBody>
      </p:sp>
      <p:sp>
        <p:nvSpPr>
          <p:cNvPr id="27" name="Text 25"/>
          <p:cNvSpPr/>
          <p:nvPr/>
        </p:nvSpPr>
        <p:spPr>
          <a:xfrm>
            <a:off x="9079992" y="4382020"/>
            <a:ext cx="2468880" cy="201168"/>
          </a:xfrm>
          <a:prstGeom prst="rect">
            <a:avLst/>
          </a:prstGeom>
          <a:noFill/>
          <a:ln/>
        </p:spPr>
        <p:txBody>
          <a:bodyPr wrap="square" lIns="0" tIns="0" rIns="0" bIns="0" rtlCol="0" anchor="ctr"/>
          <a:lstStyle/>
          <a:p>
            <a:pPr marL="0" indent="0" algn="ctr">
              <a:buNone/>
            </a:pPr>
            <a:r>
              <a:rPr lang="en-US" sz="900" dirty="0"/>
              <a:t>Example-  PFE , Exposure,  Limits</a:t>
            </a:r>
          </a:p>
        </p:txBody>
      </p:sp>
      <p:sp>
        <p:nvSpPr>
          <p:cNvPr id="28" name="Text 26"/>
          <p:cNvSpPr/>
          <p:nvPr/>
        </p:nvSpPr>
        <p:spPr>
          <a:xfrm>
            <a:off x="822960" y="5367528"/>
            <a:ext cx="7863840" cy="228600"/>
          </a:xfrm>
          <a:prstGeom prst="rect">
            <a:avLst/>
          </a:prstGeom>
          <a:noFill/>
          <a:ln/>
        </p:spPr>
        <p:txBody>
          <a:bodyPr wrap="square" lIns="0" tIns="0" rIns="0" bIns="0" rtlCol="0" anchor="ctr"/>
          <a:lstStyle/>
          <a:p>
            <a:pPr marL="0" indent="0">
              <a:buNone/>
            </a:pPr>
            <a:r>
              <a:rPr lang="en-US" sz="1000" dirty="0">
                <a:solidFill>
                  <a:srgbClr val="2E8B57"/>
                </a:solidFill>
                <a:latin typeface="Calibri" pitchFamily="34" charset="0"/>
                <a:ea typeface="Calibri" pitchFamily="34" charset="-122"/>
                <a:cs typeface="Calibri" pitchFamily="34" charset="-120"/>
              </a:rPr>
              <a:t>lives in </a:t>
            </a:r>
            <a:r>
              <a:rPr lang="en-US" sz="1000" b="1" dirty="0">
                <a:solidFill>
                  <a:srgbClr val="2E8B57"/>
                </a:solidFill>
                <a:latin typeface="Calibri" pitchFamily="34" charset="0"/>
                <a:ea typeface="Calibri" pitchFamily="34" charset="-122"/>
                <a:cs typeface="Calibri" pitchFamily="34" charset="-120"/>
              </a:rPr>
              <a:t>riskwh.core / analytics</a:t>
            </a:r>
            <a:r>
              <a:rPr lang="en-US" sz="1000" dirty="0">
                <a:solidFill>
                  <a:srgbClr val="2E8B57"/>
                </a:solidFill>
                <a:latin typeface="Calibri" pitchFamily="34" charset="0"/>
                <a:ea typeface="Calibri" pitchFamily="34" charset="-122"/>
                <a:cs typeface="Calibri" pitchFamily="34" charset="-120"/>
              </a:rPr>
              <a:t>  ·  if a business report is owned by an app: </a:t>
            </a:r>
            <a:r>
              <a:rPr lang="en-US" sz="1000" b="1" dirty="0">
                <a:solidFill>
                  <a:srgbClr val="2E8B57"/>
                </a:solidFill>
                <a:latin typeface="Calibri" pitchFamily="34" charset="0"/>
                <a:ea typeface="Calibri" pitchFamily="34" charset="-122"/>
                <a:cs typeface="Calibri" pitchFamily="34" charset="-120"/>
              </a:rPr>
              <a:t>app_schema.&lt;gold&gt;</a:t>
            </a:r>
            <a:endParaRPr lang="en-US" sz="1000" dirty="0"/>
          </a:p>
        </p:txBody>
      </p:sp>
      <p:sp>
        <p:nvSpPr>
          <p:cNvPr id="29" name="Shape 27"/>
          <p:cNvSpPr/>
          <p:nvPr/>
        </p:nvSpPr>
        <p:spPr>
          <a:xfrm>
            <a:off x="457200" y="5897880"/>
            <a:ext cx="11274552" cy="502920"/>
          </a:xfrm>
          <a:prstGeom prst="rect">
            <a:avLst/>
          </a:prstGeom>
          <a:solidFill>
            <a:srgbClr val="FAF8F3"/>
          </a:solidFill>
          <a:ln/>
        </p:spPr>
        <p:txBody>
          <a:bodyPr lIns="0" tIns="0" rIns="0" bIns="0"/>
          <a:lstStyle/>
          <a:p>
            <a:endParaRPr lang="en-US"/>
          </a:p>
        </p:txBody>
      </p:sp>
      <p:sp>
        <p:nvSpPr>
          <p:cNvPr id="30" name="Shape 28"/>
          <p:cNvSpPr/>
          <p:nvPr/>
        </p:nvSpPr>
        <p:spPr>
          <a:xfrm>
            <a:off x="457200" y="5897880"/>
            <a:ext cx="45720" cy="502920"/>
          </a:xfrm>
          <a:prstGeom prst="rect">
            <a:avLst/>
          </a:prstGeom>
          <a:solidFill>
            <a:srgbClr val="2E8B57"/>
          </a:solidFill>
          <a:ln/>
        </p:spPr>
        <p:txBody>
          <a:bodyPr lIns="0" tIns="0" rIns="0" bIns="0"/>
          <a:lstStyle/>
          <a:p>
            <a:endParaRPr lang="en-US"/>
          </a:p>
        </p:txBody>
      </p:sp>
      <p:sp>
        <p:nvSpPr>
          <p:cNvPr id="31" name="Text 29"/>
          <p:cNvSpPr/>
          <p:nvPr/>
        </p:nvSpPr>
        <p:spPr>
          <a:xfrm>
            <a:off x="640080" y="5943600"/>
            <a:ext cx="10908792" cy="411480"/>
          </a:xfrm>
          <a:prstGeom prst="rect">
            <a:avLst/>
          </a:prstGeom>
          <a:noFill/>
          <a:ln/>
        </p:spPr>
        <p:txBody>
          <a:bodyPr wrap="square" lIns="0" tIns="0" rIns="0" bIns="0" rtlCol="0" anchor="ctr"/>
          <a:lstStyle/>
          <a:p>
            <a:pPr marL="0" indent="0">
              <a:buNone/>
            </a:pPr>
            <a:r>
              <a:rPr lang="en-US" sz="900" b="1" kern="0" spc="0" dirty="0">
                <a:solidFill>
                  <a:srgbClr val="1A2B22"/>
                </a:solidFill>
                <a:latin typeface="Calibri" pitchFamily="34" charset="0"/>
                <a:ea typeface="Calibri" pitchFamily="34" charset="-122"/>
                <a:cs typeface="Calibri" pitchFamily="34" charset="-120"/>
              </a:rPr>
              <a:t>RISK DATA CATALOG  </a:t>
            </a:r>
            <a:r>
              <a:rPr lang="en-US" sz="1050" dirty="0">
                <a:solidFill>
                  <a:srgbClr val="3D5247"/>
                </a:solidFill>
                <a:latin typeface="Calibri" pitchFamily="34" charset="0"/>
                <a:ea typeface="Calibri" pitchFamily="34" charset="-122"/>
                <a:cs typeface="Calibri" pitchFamily="34" charset="-120"/>
              </a:rPr>
              <a:t>·  the link records the contract between sources and applications as it exists today — and becomes the lineage spine as conformity layers are built on top.</a:t>
            </a:r>
            <a:endParaRPr lang="en-US" sz="900" dirty="0"/>
          </a:p>
        </p:txBody>
      </p:sp>
      <p:sp>
        <p:nvSpPr>
          <p:cNvPr id="32" name="Text 30"/>
          <p:cNvSpPr/>
          <p:nvPr/>
        </p:nvSpPr>
        <p:spPr>
          <a:xfrm>
            <a:off x="457200" y="6565392"/>
            <a:ext cx="8229600" cy="201168"/>
          </a:xfrm>
          <a:prstGeom prst="rect">
            <a:avLst/>
          </a:prstGeom>
          <a:noFill/>
          <a:ln/>
        </p:spPr>
        <p:txBody>
          <a:bodyPr wrap="square" lIns="0" tIns="0" rIns="0" bIns="0" rtlCol="0" anchor="ctr"/>
          <a:lstStyle/>
          <a:p>
            <a:pPr marL="0" indent="0">
              <a:buNone/>
            </a:pPr>
            <a:r>
              <a:rPr lang="en-US" sz="900" i="1" dirty="0">
                <a:solidFill>
                  <a:srgbClr val="7F8C84"/>
                </a:solidFill>
                <a:latin typeface="Calibri" pitchFamily="34" charset="0"/>
                <a:ea typeface="Calibri" pitchFamily="34" charset="-122"/>
                <a:cs typeface="Calibri" pitchFamily="34" charset="-120"/>
              </a:rPr>
              <a:t>TD Securities · Risk Data Platform · Working Draft</a:t>
            </a:r>
            <a:endParaRPr lang="en-US" sz="900" dirty="0"/>
          </a:p>
        </p:txBody>
      </p:sp>
      <p:sp>
        <p:nvSpPr>
          <p:cNvPr id="33" name="Text 31"/>
          <p:cNvSpPr/>
          <p:nvPr/>
        </p:nvSpPr>
        <p:spPr>
          <a:xfrm>
            <a:off x="11548872" y="6565392"/>
            <a:ext cx="365760" cy="201168"/>
          </a:xfrm>
          <a:prstGeom prst="rect">
            <a:avLst/>
          </a:prstGeom>
          <a:noFill/>
          <a:ln/>
        </p:spPr>
        <p:txBody>
          <a:bodyPr wrap="square" lIns="0" tIns="0" rIns="0" bIns="0" rtlCol="0" anchor="ctr"/>
          <a:lstStyle/>
          <a:p>
            <a:pPr marL="0" indent="0" algn="r">
              <a:buNone/>
            </a:pPr>
            <a:r>
              <a:rPr lang="en-US" sz="900" dirty="0">
                <a:solidFill>
                  <a:srgbClr val="7F8C84"/>
                </a:solidFill>
                <a:latin typeface="Calibri" pitchFamily="34" charset="0"/>
                <a:ea typeface="Calibri" pitchFamily="34" charset="-122"/>
                <a:cs typeface="Calibri" pitchFamily="34" charset="-120"/>
              </a:rPr>
              <a:t>3</a:t>
            </a:r>
            <a:endParaRPr lang="en-US" sz="900" dirty="0"/>
          </a:p>
        </p:txBody>
      </p:sp>
      <p:sp>
        <p:nvSpPr>
          <p:cNvPr id="34" name="TextBox 33">
            <a:extLst>
              <a:ext uri="{FF2B5EF4-FFF2-40B4-BE49-F238E27FC236}">
                <a16:creationId xmlns:a16="http://schemas.microsoft.com/office/drawing/2014/main" id="{363DEBEC-18E8-094B-6302-0407A119E035}"/>
              </a:ext>
            </a:extLst>
          </p:cNvPr>
          <p:cNvSpPr txBox="1"/>
          <p:nvPr/>
        </p:nvSpPr>
        <p:spPr>
          <a:xfrm>
            <a:off x="1801894" y="4430601"/>
            <a:ext cx="2012089" cy="246221"/>
          </a:xfrm>
          <a:prstGeom prst="rect">
            <a:avLst/>
          </a:prstGeom>
          <a:noFill/>
        </p:spPr>
        <p:txBody>
          <a:bodyPr wrap="none" lIns="0" tIns="0" rIns="0" bIns="0" rtlCol="0">
            <a:spAutoFit/>
          </a:bodyPr>
          <a:lstStyle/>
          <a:p>
            <a:r>
              <a:rPr lang="en-US" sz="1000" i="1" dirty="0">
                <a:solidFill>
                  <a:schemeClr val="accent6">
                    <a:lumMod val="75000"/>
                  </a:schemeClr>
                </a:solidFill>
              </a:rPr>
              <a:t>Cross-application data is consistent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7F0"/>
        </a:solidFill>
        <a:effectLst/>
      </p:bgPr>
    </p:bg>
    <p:spTree>
      <p:nvGrpSpPr>
        <p:cNvPr id="1" name="">
          <a:extLst>
            <a:ext uri="{FF2B5EF4-FFF2-40B4-BE49-F238E27FC236}">
              <a16:creationId xmlns:a16="http://schemas.microsoft.com/office/drawing/2014/main" id="{E174C0AF-4D76-592F-F242-B40ECBBB4D1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1C6A377-2BE7-CAB3-EDAD-F15404F0CF55}"/>
              </a:ext>
            </a:extLst>
          </p:cNvPr>
          <p:cNvSpPr/>
          <p:nvPr/>
        </p:nvSpPr>
        <p:spPr>
          <a:xfrm>
            <a:off x="457200" y="320040"/>
            <a:ext cx="11274552" cy="548640"/>
          </a:xfrm>
          <a:prstGeom prst="rect">
            <a:avLst/>
          </a:prstGeom>
          <a:noFill/>
          <a:ln/>
        </p:spPr>
        <p:txBody>
          <a:bodyPr wrap="square" lIns="0" tIns="0" rIns="0" bIns="0" rtlCol="0" anchor="ctr"/>
          <a:lstStyle/>
          <a:p>
            <a:pPr marL="0" indent="0">
              <a:buNone/>
            </a:pPr>
            <a:r>
              <a:rPr lang="en-US" sz="2800" b="1" dirty="0">
                <a:solidFill>
                  <a:srgbClr val="1A5C38"/>
                </a:solidFill>
                <a:latin typeface="Calibri" pitchFamily="34" charset="0"/>
                <a:ea typeface="Calibri" pitchFamily="34" charset="-122"/>
                <a:cs typeface="Calibri" pitchFamily="34" charset="-120"/>
              </a:rPr>
              <a:t>What gets captured at each level</a:t>
            </a:r>
          </a:p>
        </p:txBody>
      </p:sp>
      <p:sp>
        <p:nvSpPr>
          <p:cNvPr id="3" name="Text 1">
            <a:extLst>
              <a:ext uri="{FF2B5EF4-FFF2-40B4-BE49-F238E27FC236}">
                <a16:creationId xmlns:a16="http://schemas.microsoft.com/office/drawing/2014/main" id="{E386B06C-4B52-122A-3423-B0B75498C065}"/>
              </a:ext>
            </a:extLst>
          </p:cNvPr>
          <p:cNvSpPr/>
          <p:nvPr/>
        </p:nvSpPr>
        <p:spPr>
          <a:xfrm>
            <a:off x="457200" y="728963"/>
            <a:ext cx="11274552" cy="320040"/>
          </a:xfrm>
          <a:prstGeom prst="rect">
            <a:avLst/>
          </a:prstGeom>
          <a:noFill/>
          <a:ln/>
        </p:spPr>
        <p:txBody>
          <a:bodyPr wrap="square" lIns="0" tIns="0" rIns="0" bIns="0" rtlCol="0" anchor="ctr"/>
          <a:lstStyle/>
          <a:p>
            <a:pPr marL="0" indent="0">
              <a:buNone/>
            </a:pPr>
            <a:r>
              <a:rPr lang="en-US" sz="1300" i="1" dirty="0">
                <a:solidFill>
                  <a:srgbClr val="3D5247"/>
                </a:solidFill>
                <a:latin typeface="Calibri" pitchFamily="34" charset="0"/>
                <a:ea typeface="Calibri" pitchFamily="34" charset="-122"/>
                <a:cs typeface="Calibri" pitchFamily="34" charset="-120"/>
              </a:rPr>
              <a:t>From schema down to measures. The template captures the full set.</a:t>
            </a:r>
            <a:endParaRPr lang="en-US" sz="1300" dirty="0"/>
          </a:p>
        </p:txBody>
      </p:sp>
      <p:sp>
        <p:nvSpPr>
          <p:cNvPr id="4" name="Shape 2">
            <a:extLst>
              <a:ext uri="{FF2B5EF4-FFF2-40B4-BE49-F238E27FC236}">
                <a16:creationId xmlns:a16="http://schemas.microsoft.com/office/drawing/2014/main" id="{D3420B0A-148B-C9D2-7754-21E175FE6536}"/>
              </a:ext>
            </a:extLst>
          </p:cNvPr>
          <p:cNvSpPr/>
          <p:nvPr/>
        </p:nvSpPr>
        <p:spPr>
          <a:xfrm>
            <a:off x="448333" y="1770612"/>
            <a:ext cx="2176272" cy="3486094"/>
          </a:xfrm>
          <a:prstGeom prst="rect">
            <a:avLst/>
          </a:prstGeom>
          <a:solidFill>
            <a:srgbClr val="FAF8F3"/>
          </a:solidFill>
          <a:ln w="12700">
            <a:solidFill>
              <a:srgbClr val="1A5C38"/>
            </a:solidFill>
            <a:prstDash val="solid"/>
          </a:ln>
        </p:spPr>
        <p:txBody>
          <a:bodyPr lIns="0" tIns="0" rIns="0" bIns="0"/>
          <a:lstStyle/>
          <a:p>
            <a:endParaRPr lang="en-US"/>
          </a:p>
        </p:txBody>
      </p:sp>
      <p:sp>
        <p:nvSpPr>
          <p:cNvPr id="6" name="Text 4">
            <a:extLst>
              <a:ext uri="{FF2B5EF4-FFF2-40B4-BE49-F238E27FC236}">
                <a16:creationId xmlns:a16="http://schemas.microsoft.com/office/drawing/2014/main" id="{B236C46F-CEA6-53D6-3EF2-EF81F7C099D5}"/>
              </a:ext>
            </a:extLst>
          </p:cNvPr>
          <p:cNvSpPr/>
          <p:nvPr/>
        </p:nvSpPr>
        <p:spPr>
          <a:xfrm>
            <a:off x="576072" y="1336300"/>
            <a:ext cx="1554480" cy="274320"/>
          </a:xfrm>
          <a:prstGeom prst="rect">
            <a:avLst/>
          </a:prstGeom>
          <a:noFill/>
          <a:ln/>
        </p:spPr>
        <p:txBody>
          <a:bodyPr wrap="square" lIns="0" tIns="0" rIns="0" bIns="0" rtlCol="0" anchor="ctr"/>
          <a:lstStyle/>
          <a:p>
            <a:pPr marL="0" indent="0">
              <a:buNone/>
            </a:pPr>
            <a:r>
              <a:rPr lang="en-US" sz="1300" b="1" dirty="0">
                <a:solidFill>
                  <a:srgbClr val="1A5C38"/>
                </a:solidFill>
                <a:latin typeface="Calibri" pitchFamily="34" charset="0"/>
                <a:ea typeface="Calibri" pitchFamily="34" charset="-122"/>
                <a:cs typeface="Calibri" pitchFamily="34" charset="-120"/>
              </a:rPr>
              <a:t>Schema</a:t>
            </a:r>
            <a:endParaRPr lang="en-US" sz="1300" dirty="0"/>
          </a:p>
        </p:txBody>
      </p:sp>
      <p:sp>
        <p:nvSpPr>
          <p:cNvPr id="7" name="Text 5">
            <a:extLst>
              <a:ext uri="{FF2B5EF4-FFF2-40B4-BE49-F238E27FC236}">
                <a16:creationId xmlns:a16="http://schemas.microsoft.com/office/drawing/2014/main" id="{A4280555-D9A6-D968-E5B1-DF3DA7338488}"/>
              </a:ext>
            </a:extLst>
          </p:cNvPr>
          <p:cNvSpPr/>
          <p:nvPr/>
        </p:nvSpPr>
        <p:spPr>
          <a:xfrm>
            <a:off x="576072" y="1558845"/>
            <a:ext cx="1554480" cy="201168"/>
          </a:xfrm>
          <a:prstGeom prst="rect">
            <a:avLst/>
          </a:prstGeom>
          <a:noFill/>
          <a:ln/>
        </p:spPr>
        <p:txBody>
          <a:bodyPr wrap="square" lIns="0" tIns="0" rIns="0" bIns="0" rtlCol="0" anchor="ctr"/>
          <a:lstStyle/>
          <a:p>
            <a:pPr marL="0" indent="0">
              <a:buNone/>
            </a:pPr>
            <a:r>
              <a:rPr lang="en-US" sz="900" i="1" kern="0" spc="0" dirty="0">
                <a:solidFill>
                  <a:srgbClr val="7F8C84"/>
                </a:solidFill>
                <a:latin typeface="Calibri" pitchFamily="34" charset="0"/>
                <a:ea typeface="Calibri" pitchFamily="34" charset="-122"/>
                <a:cs typeface="Calibri" pitchFamily="34" charset="-120"/>
              </a:rPr>
              <a:t>app · schema</a:t>
            </a:r>
            <a:endParaRPr lang="en-US" sz="900" dirty="0"/>
          </a:p>
        </p:txBody>
      </p:sp>
      <p:sp>
        <p:nvSpPr>
          <p:cNvPr id="8" name="Text 6">
            <a:extLst>
              <a:ext uri="{FF2B5EF4-FFF2-40B4-BE49-F238E27FC236}">
                <a16:creationId xmlns:a16="http://schemas.microsoft.com/office/drawing/2014/main" id="{0F87CE3C-FB29-2AB4-5619-BA42C9212F1A}"/>
              </a:ext>
            </a:extLst>
          </p:cNvPr>
          <p:cNvSpPr/>
          <p:nvPr/>
        </p:nvSpPr>
        <p:spPr>
          <a:xfrm>
            <a:off x="503785" y="1666979"/>
            <a:ext cx="2176272" cy="1524027"/>
          </a:xfrm>
          <a:prstGeom prst="rect">
            <a:avLst/>
          </a:prstGeom>
          <a:noFill/>
          <a:ln/>
        </p:spPr>
        <p:txBody>
          <a:bodyPr wrap="square" lIns="0" tIns="0" rIns="0" bIns="0" rtlCol="0" anchor="ctr"/>
          <a:lstStyle/>
          <a:p>
            <a:pPr marL="0" indent="0">
              <a:buNone/>
            </a:pPr>
            <a:r>
              <a:rPr lang="en-US" sz="1050" dirty="0">
                <a:solidFill>
                  <a:srgbClr val="1A2B22"/>
                </a:solidFill>
                <a:latin typeface="Calibri" pitchFamily="34" charset="0"/>
                <a:ea typeface="Calibri" pitchFamily="34" charset="-122"/>
                <a:cs typeface="Calibri" pitchFamily="34" charset="-120"/>
              </a:rPr>
              <a:t>Source list </a:t>
            </a:r>
          </a:p>
          <a:p>
            <a:pPr marL="0" indent="0">
              <a:buNone/>
            </a:pPr>
            <a:r>
              <a:rPr lang="en-US" sz="1050" dirty="0">
                <a:solidFill>
                  <a:srgbClr val="1A2B22"/>
                </a:solidFill>
                <a:latin typeface="Calibri" pitchFamily="34" charset="0"/>
                <a:ea typeface="Calibri" pitchFamily="34" charset="-122"/>
                <a:cs typeface="Calibri" pitchFamily="34" charset="-120"/>
              </a:rPr>
              <a:t>default precedence rules</a:t>
            </a:r>
          </a:p>
          <a:p>
            <a:pPr marL="0" indent="0">
              <a:buNone/>
            </a:pPr>
            <a:r>
              <a:rPr lang="en-US" sz="1050" dirty="0">
                <a:solidFill>
                  <a:srgbClr val="1A2B22"/>
                </a:solidFill>
                <a:latin typeface="Calibri" pitchFamily="34" charset="0"/>
                <a:ea typeface="Calibri" pitchFamily="34" charset="-122"/>
                <a:cs typeface="Calibri" pitchFamily="34" charset="-120"/>
              </a:rPr>
              <a:t>default FX source</a:t>
            </a:r>
          </a:p>
          <a:p>
            <a:pPr marL="0" indent="0">
              <a:buNone/>
            </a:pPr>
            <a:r>
              <a:rPr lang="en-US" sz="1050" dirty="0">
                <a:solidFill>
                  <a:srgbClr val="1A2B22"/>
                </a:solidFill>
                <a:latin typeface="Calibri" pitchFamily="34" charset="0"/>
                <a:ea typeface="Calibri" pitchFamily="34" charset="-122"/>
                <a:cs typeface="Calibri" pitchFamily="34" charset="-120"/>
              </a:rPr>
              <a:t>calendar source</a:t>
            </a:r>
          </a:p>
          <a:p>
            <a:pPr marL="0" indent="0">
              <a:buNone/>
            </a:pPr>
            <a:r>
              <a:rPr lang="en-US" sz="1050" dirty="0">
                <a:solidFill>
                  <a:srgbClr val="1A2B22"/>
                </a:solidFill>
                <a:latin typeface="Calibri" pitchFamily="34" charset="0"/>
                <a:ea typeface="Calibri" pitchFamily="34" charset="-122"/>
                <a:cs typeface="Calibri" pitchFamily="34" charset="-120"/>
              </a:rPr>
              <a:t>source catalog URL</a:t>
            </a:r>
          </a:p>
          <a:p>
            <a:pPr marL="0" indent="0">
              <a:buNone/>
            </a:pPr>
            <a:r>
              <a:rPr lang="en-US" sz="1050" b="1" dirty="0">
                <a:solidFill>
                  <a:srgbClr val="A8362A"/>
                </a:solidFill>
                <a:latin typeface="Calibri" pitchFamily="34" charset="0"/>
                <a:ea typeface="Calibri" pitchFamily="34" charset="-122"/>
                <a:cs typeface="Calibri" pitchFamily="34" charset="-120"/>
              </a:rPr>
              <a:t>Contract ID (set as schema-level tag)</a:t>
            </a:r>
            <a:endParaRPr lang="en-US" sz="1050" dirty="0"/>
          </a:p>
        </p:txBody>
      </p:sp>
      <p:sp>
        <p:nvSpPr>
          <p:cNvPr id="9" name="Shape 7">
            <a:extLst>
              <a:ext uri="{FF2B5EF4-FFF2-40B4-BE49-F238E27FC236}">
                <a16:creationId xmlns:a16="http://schemas.microsoft.com/office/drawing/2014/main" id="{7A422BF6-B8CB-DA8B-0524-75F755F63117}"/>
              </a:ext>
            </a:extLst>
          </p:cNvPr>
          <p:cNvSpPr/>
          <p:nvPr/>
        </p:nvSpPr>
        <p:spPr>
          <a:xfrm>
            <a:off x="2666340" y="1895174"/>
            <a:ext cx="1905000" cy="3361532"/>
          </a:xfrm>
          <a:prstGeom prst="rect">
            <a:avLst/>
          </a:prstGeom>
          <a:solidFill>
            <a:srgbClr val="FAF8F3"/>
          </a:solidFill>
          <a:ln w="12700">
            <a:solidFill>
              <a:srgbClr val="2E8B57"/>
            </a:solidFill>
            <a:prstDash val="solid"/>
          </a:ln>
        </p:spPr>
        <p:txBody>
          <a:bodyPr lIns="0" tIns="0" rIns="0" bIns="0"/>
          <a:lstStyle/>
          <a:p>
            <a:endParaRPr lang="en-US"/>
          </a:p>
        </p:txBody>
      </p:sp>
      <p:sp>
        <p:nvSpPr>
          <p:cNvPr id="11" name="Text 9">
            <a:extLst>
              <a:ext uri="{FF2B5EF4-FFF2-40B4-BE49-F238E27FC236}">
                <a16:creationId xmlns:a16="http://schemas.microsoft.com/office/drawing/2014/main" id="{AD10FB88-DB65-A13A-F18E-0426A5666520}"/>
              </a:ext>
            </a:extLst>
          </p:cNvPr>
          <p:cNvSpPr/>
          <p:nvPr/>
        </p:nvSpPr>
        <p:spPr>
          <a:xfrm>
            <a:off x="2714083" y="1529414"/>
            <a:ext cx="1554480" cy="274320"/>
          </a:xfrm>
          <a:prstGeom prst="rect">
            <a:avLst/>
          </a:prstGeom>
          <a:noFill/>
          <a:ln/>
        </p:spPr>
        <p:txBody>
          <a:bodyPr wrap="square" lIns="0" tIns="0" rIns="0" bIns="0" rtlCol="0" anchor="ctr"/>
          <a:lstStyle/>
          <a:p>
            <a:pPr marL="0" indent="0">
              <a:buNone/>
            </a:pPr>
            <a:r>
              <a:rPr lang="en-US" sz="1300" b="1" dirty="0">
                <a:solidFill>
                  <a:srgbClr val="2E8B57"/>
                </a:solidFill>
                <a:latin typeface="Calibri" pitchFamily="34" charset="0"/>
                <a:ea typeface="Calibri" pitchFamily="34" charset="-122"/>
                <a:cs typeface="Calibri" pitchFamily="34" charset="-120"/>
              </a:rPr>
              <a:t>Entities</a:t>
            </a:r>
            <a:endParaRPr lang="en-US" sz="1300" dirty="0"/>
          </a:p>
        </p:txBody>
      </p:sp>
      <p:sp>
        <p:nvSpPr>
          <p:cNvPr id="12" name="Text 10">
            <a:extLst>
              <a:ext uri="{FF2B5EF4-FFF2-40B4-BE49-F238E27FC236}">
                <a16:creationId xmlns:a16="http://schemas.microsoft.com/office/drawing/2014/main" id="{EECA89C4-7BF9-89ED-88AB-0E3FA41D4000}"/>
              </a:ext>
            </a:extLst>
          </p:cNvPr>
          <p:cNvSpPr/>
          <p:nvPr/>
        </p:nvSpPr>
        <p:spPr>
          <a:xfrm>
            <a:off x="2714083" y="1705549"/>
            <a:ext cx="1554480" cy="201168"/>
          </a:xfrm>
          <a:prstGeom prst="rect">
            <a:avLst/>
          </a:prstGeom>
          <a:noFill/>
          <a:ln/>
        </p:spPr>
        <p:txBody>
          <a:bodyPr wrap="square" lIns="0" tIns="0" rIns="0" bIns="0" rtlCol="0" anchor="ctr"/>
          <a:lstStyle/>
          <a:p>
            <a:pPr marL="0" indent="0">
              <a:buNone/>
            </a:pPr>
            <a:r>
              <a:rPr lang="en-US" sz="900" i="1" kern="0" spc="0" dirty="0">
                <a:solidFill>
                  <a:srgbClr val="7F8C84"/>
                </a:solidFill>
                <a:latin typeface="Calibri" pitchFamily="34" charset="0"/>
                <a:ea typeface="Calibri" pitchFamily="34" charset="-122"/>
                <a:cs typeface="Calibri" pitchFamily="34" charset="-120"/>
              </a:rPr>
              <a:t>logical view</a:t>
            </a:r>
            <a:endParaRPr lang="en-US" sz="900" dirty="0"/>
          </a:p>
        </p:txBody>
      </p:sp>
      <p:sp>
        <p:nvSpPr>
          <p:cNvPr id="13" name="Text 11">
            <a:extLst>
              <a:ext uri="{FF2B5EF4-FFF2-40B4-BE49-F238E27FC236}">
                <a16:creationId xmlns:a16="http://schemas.microsoft.com/office/drawing/2014/main" id="{F0AB0175-466B-C1E7-EDA7-6C16B92D43D1}"/>
              </a:ext>
            </a:extLst>
          </p:cNvPr>
          <p:cNvSpPr/>
          <p:nvPr/>
        </p:nvSpPr>
        <p:spPr>
          <a:xfrm>
            <a:off x="2747822" y="2088369"/>
            <a:ext cx="1782058" cy="939547"/>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Consumed Data resolved into Entities</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Schema of Entities</a:t>
            </a:r>
          </a:p>
          <a:p>
            <a:pPr marL="0" indent="0">
              <a:buNone/>
            </a:pPr>
            <a:endParaRPr lang="en-US" sz="1050" dirty="0">
              <a:solidFill>
                <a:srgbClr val="1A2B22"/>
              </a:solidFill>
              <a:latin typeface="Calibri" pitchFamily="34" charset="0"/>
              <a:ea typeface="Calibri" pitchFamily="34" charset="-122"/>
              <a:cs typeface="Calibri" pitchFamily="34" charset="-120"/>
            </a:endParaRPr>
          </a:p>
          <a:p>
            <a:pPr marL="0" indent="0">
              <a:buNone/>
            </a:pPr>
            <a:r>
              <a:rPr lang="en-US" sz="1050" dirty="0">
                <a:solidFill>
                  <a:srgbClr val="1A2B22"/>
                </a:solidFill>
                <a:latin typeface="Calibri" pitchFamily="34" charset="0"/>
                <a:ea typeface="Calibri" pitchFamily="34" charset="-122"/>
                <a:cs typeface="Calibri" pitchFamily="34" charset="-120"/>
              </a:rPr>
              <a:t>e.g. </a:t>
            </a:r>
          </a:p>
          <a:p>
            <a:pPr marL="0" indent="0">
              <a:buNone/>
            </a:pPr>
            <a:r>
              <a:rPr lang="en-US" sz="1050" dirty="0">
                <a:solidFill>
                  <a:srgbClr val="1A2B22"/>
                </a:solidFill>
                <a:latin typeface="Calibri" pitchFamily="34" charset="0"/>
                <a:ea typeface="Calibri" pitchFamily="34" charset="-122"/>
                <a:cs typeface="Calibri" pitchFamily="34" charset="-120"/>
              </a:rPr>
              <a:t>Counterparty, Agreement, </a:t>
            </a:r>
            <a:r>
              <a:rPr lang="en-US" sz="1050" dirty="0">
                <a:solidFill>
                  <a:srgbClr val="1A2B22"/>
                </a:solidFill>
                <a:latin typeface="Calibri" pitchFamily="34" charset="0"/>
                <a:cs typeface="Calibri" pitchFamily="34" charset="-120"/>
              </a:rPr>
              <a:t>Ratings</a:t>
            </a:r>
            <a:endParaRPr lang="en-US" sz="1050" dirty="0"/>
          </a:p>
        </p:txBody>
      </p:sp>
      <p:sp>
        <p:nvSpPr>
          <p:cNvPr id="14" name="Shape 12">
            <a:extLst>
              <a:ext uri="{FF2B5EF4-FFF2-40B4-BE49-F238E27FC236}">
                <a16:creationId xmlns:a16="http://schemas.microsoft.com/office/drawing/2014/main" id="{7057169A-3110-A60B-89BE-784387F22B86}"/>
              </a:ext>
            </a:extLst>
          </p:cNvPr>
          <p:cNvSpPr/>
          <p:nvPr/>
        </p:nvSpPr>
        <p:spPr>
          <a:xfrm>
            <a:off x="4616557" y="2542031"/>
            <a:ext cx="1914129" cy="2696417"/>
          </a:xfrm>
          <a:prstGeom prst="rect">
            <a:avLst/>
          </a:prstGeom>
          <a:solidFill>
            <a:srgbClr val="FAF8F3"/>
          </a:solidFill>
          <a:ln w="12700">
            <a:solidFill>
              <a:srgbClr val="1A2B22"/>
            </a:solidFill>
            <a:prstDash val="solid"/>
          </a:ln>
        </p:spPr>
        <p:txBody>
          <a:bodyPr lIns="0" tIns="0" rIns="0" bIns="0"/>
          <a:lstStyle/>
          <a:p>
            <a:endParaRPr lang="en-US"/>
          </a:p>
        </p:txBody>
      </p:sp>
      <p:grpSp>
        <p:nvGrpSpPr>
          <p:cNvPr id="38" name="Group 37">
            <a:extLst>
              <a:ext uri="{FF2B5EF4-FFF2-40B4-BE49-F238E27FC236}">
                <a16:creationId xmlns:a16="http://schemas.microsoft.com/office/drawing/2014/main" id="{55CED7C0-8187-1F07-D852-CB5F93018375}"/>
              </a:ext>
            </a:extLst>
          </p:cNvPr>
          <p:cNvGrpSpPr/>
          <p:nvPr/>
        </p:nvGrpSpPr>
        <p:grpSpPr>
          <a:xfrm>
            <a:off x="4626792" y="2099432"/>
            <a:ext cx="2141948" cy="399110"/>
            <a:chOff x="5701066" y="2559952"/>
            <a:chExt cx="2141948" cy="399110"/>
          </a:xfrm>
        </p:grpSpPr>
        <p:sp>
          <p:nvSpPr>
            <p:cNvPr id="16" name="Text 14">
              <a:extLst>
                <a:ext uri="{FF2B5EF4-FFF2-40B4-BE49-F238E27FC236}">
                  <a16:creationId xmlns:a16="http://schemas.microsoft.com/office/drawing/2014/main" id="{57AF87E1-8D76-ADE0-DD8A-330AFE958279}"/>
                </a:ext>
              </a:extLst>
            </p:cNvPr>
            <p:cNvSpPr/>
            <p:nvPr/>
          </p:nvSpPr>
          <p:spPr>
            <a:xfrm>
              <a:off x="5701066" y="2559952"/>
              <a:ext cx="1554480" cy="274320"/>
            </a:xfrm>
            <a:prstGeom prst="rect">
              <a:avLst/>
            </a:prstGeom>
            <a:noFill/>
            <a:ln/>
          </p:spPr>
          <p:txBody>
            <a:bodyPr wrap="square" lIns="0" tIns="0" rIns="0" bIns="0" rtlCol="0" anchor="ctr"/>
            <a:lstStyle/>
            <a:p>
              <a:pPr marL="0" indent="0">
                <a:buNone/>
              </a:pPr>
              <a:r>
                <a:rPr lang="en-US" sz="1300" b="1" dirty="0">
                  <a:solidFill>
                    <a:srgbClr val="1A2B22"/>
                  </a:solidFill>
                  <a:latin typeface="Calibri" pitchFamily="34" charset="0"/>
                  <a:ea typeface="Calibri" pitchFamily="34" charset="-122"/>
                  <a:cs typeface="Calibri" pitchFamily="34" charset="-120"/>
                </a:rPr>
                <a:t>Tables / Reports</a:t>
              </a:r>
              <a:endParaRPr lang="en-US" sz="1300" dirty="0"/>
            </a:p>
          </p:txBody>
        </p:sp>
        <p:sp>
          <p:nvSpPr>
            <p:cNvPr id="17" name="Text 15">
              <a:extLst>
                <a:ext uri="{FF2B5EF4-FFF2-40B4-BE49-F238E27FC236}">
                  <a16:creationId xmlns:a16="http://schemas.microsoft.com/office/drawing/2014/main" id="{1F50D0BE-99A5-09F4-EE98-DF152C1646FE}"/>
                </a:ext>
              </a:extLst>
            </p:cNvPr>
            <p:cNvSpPr/>
            <p:nvPr/>
          </p:nvSpPr>
          <p:spPr>
            <a:xfrm>
              <a:off x="5701066" y="2746519"/>
              <a:ext cx="2141948" cy="212543"/>
            </a:xfrm>
            <a:prstGeom prst="rect">
              <a:avLst/>
            </a:prstGeom>
            <a:noFill/>
            <a:ln/>
          </p:spPr>
          <p:txBody>
            <a:bodyPr wrap="square" lIns="0" tIns="0" rIns="0" bIns="0" rtlCol="0" anchor="ctr"/>
            <a:lstStyle/>
            <a:p>
              <a:pPr marL="0" indent="0">
                <a:buNone/>
              </a:pPr>
              <a:r>
                <a:rPr lang="en-US" sz="900" i="1" kern="0" spc="0" dirty="0">
                  <a:solidFill>
                    <a:srgbClr val="7F8C84"/>
                  </a:solidFill>
                  <a:latin typeface="Calibri" pitchFamily="34" charset="0"/>
                  <a:ea typeface="Calibri" pitchFamily="34" charset="-122"/>
                  <a:cs typeface="Calibri" pitchFamily="34" charset="-120"/>
                </a:rPr>
                <a:t>generated dataset</a:t>
              </a:r>
              <a:endParaRPr lang="en-US" sz="900" dirty="0"/>
            </a:p>
          </p:txBody>
        </p:sp>
      </p:grpSp>
      <p:sp>
        <p:nvSpPr>
          <p:cNvPr id="18" name="Text 16">
            <a:extLst>
              <a:ext uri="{FF2B5EF4-FFF2-40B4-BE49-F238E27FC236}">
                <a16:creationId xmlns:a16="http://schemas.microsoft.com/office/drawing/2014/main" id="{4E0819EA-F58B-DE09-4141-7C6F677E090D}"/>
              </a:ext>
            </a:extLst>
          </p:cNvPr>
          <p:cNvSpPr/>
          <p:nvPr/>
        </p:nvSpPr>
        <p:spPr>
          <a:xfrm>
            <a:off x="4682302" y="2599941"/>
            <a:ext cx="2075813" cy="1792224"/>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Name </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description</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as-of date</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business + technical contact </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FX rate source</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FX date</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Currency</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refresh cadence + SLA </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source app</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Domain</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classification</a:t>
            </a:r>
            <a:endParaRPr lang="en-US" sz="1050" dirty="0"/>
          </a:p>
        </p:txBody>
      </p:sp>
      <p:grpSp>
        <p:nvGrpSpPr>
          <p:cNvPr id="37" name="Group 36">
            <a:extLst>
              <a:ext uri="{FF2B5EF4-FFF2-40B4-BE49-F238E27FC236}">
                <a16:creationId xmlns:a16="http://schemas.microsoft.com/office/drawing/2014/main" id="{8EE24C4C-9CBB-7D17-AC3A-AECB5F0E2F00}"/>
              </a:ext>
            </a:extLst>
          </p:cNvPr>
          <p:cNvGrpSpPr/>
          <p:nvPr/>
        </p:nvGrpSpPr>
        <p:grpSpPr>
          <a:xfrm>
            <a:off x="6572146" y="3093799"/>
            <a:ext cx="2223887" cy="2144647"/>
            <a:chOff x="5784997" y="3648455"/>
            <a:chExt cx="2223887" cy="2144647"/>
          </a:xfrm>
        </p:grpSpPr>
        <p:sp>
          <p:nvSpPr>
            <p:cNvPr id="19" name="Shape 17">
              <a:extLst>
                <a:ext uri="{FF2B5EF4-FFF2-40B4-BE49-F238E27FC236}">
                  <a16:creationId xmlns:a16="http://schemas.microsoft.com/office/drawing/2014/main" id="{E31E8ABC-9B76-FCB2-5BB9-C0CF49CAAA49}"/>
                </a:ext>
              </a:extLst>
            </p:cNvPr>
            <p:cNvSpPr/>
            <p:nvPr/>
          </p:nvSpPr>
          <p:spPr>
            <a:xfrm>
              <a:off x="5784997" y="3648455"/>
              <a:ext cx="2223887" cy="2144647"/>
            </a:xfrm>
            <a:prstGeom prst="rect">
              <a:avLst/>
            </a:prstGeom>
            <a:solidFill>
              <a:srgbClr val="FAF8F3"/>
            </a:solidFill>
            <a:ln w="12700">
              <a:solidFill>
                <a:srgbClr val="1A2B22"/>
              </a:solidFill>
              <a:prstDash val="solid"/>
            </a:ln>
          </p:spPr>
          <p:txBody>
            <a:bodyPr lIns="0" tIns="0" rIns="0" bIns="0"/>
            <a:lstStyle/>
            <a:p>
              <a:endParaRPr lang="en-US"/>
            </a:p>
          </p:txBody>
        </p:sp>
        <p:sp>
          <p:nvSpPr>
            <p:cNvPr id="23" name="Text 21">
              <a:extLst>
                <a:ext uri="{FF2B5EF4-FFF2-40B4-BE49-F238E27FC236}">
                  <a16:creationId xmlns:a16="http://schemas.microsoft.com/office/drawing/2014/main" id="{4A030FA9-182E-9414-B879-4FD854447F30}"/>
                </a:ext>
              </a:extLst>
            </p:cNvPr>
            <p:cNvSpPr/>
            <p:nvPr/>
          </p:nvSpPr>
          <p:spPr>
            <a:xfrm>
              <a:off x="5887919" y="3988478"/>
              <a:ext cx="2011732" cy="512064"/>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Datatype</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description </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business name (alias)</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Nullable</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primary key</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foreign key</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enumerations (allowed values) </a:t>
              </a:r>
            </a:p>
          </p:txBody>
        </p:sp>
      </p:grpSp>
      <p:grpSp>
        <p:nvGrpSpPr>
          <p:cNvPr id="36" name="Group 35">
            <a:extLst>
              <a:ext uri="{FF2B5EF4-FFF2-40B4-BE49-F238E27FC236}">
                <a16:creationId xmlns:a16="http://schemas.microsoft.com/office/drawing/2014/main" id="{3043D6E2-9F2D-2918-75AE-C50436BE13FD}"/>
              </a:ext>
            </a:extLst>
          </p:cNvPr>
          <p:cNvGrpSpPr/>
          <p:nvPr/>
        </p:nvGrpSpPr>
        <p:grpSpPr>
          <a:xfrm>
            <a:off x="8919250" y="3239339"/>
            <a:ext cx="1949535" cy="430911"/>
            <a:chOff x="4599958" y="4502249"/>
            <a:chExt cx="1949535" cy="430911"/>
          </a:xfrm>
        </p:grpSpPr>
        <p:sp>
          <p:nvSpPr>
            <p:cNvPr id="26" name="Text 24">
              <a:extLst>
                <a:ext uri="{FF2B5EF4-FFF2-40B4-BE49-F238E27FC236}">
                  <a16:creationId xmlns:a16="http://schemas.microsoft.com/office/drawing/2014/main" id="{488273A7-45B6-EC9A-A720-4DAEFE1F8E67}"/>
                </a:ext>
              </a:extLst>
            </p:cNvPr>
            <p:cNvSpPr/>
            <p:nvPr/>
          </p:nvSpPr>
          <p:spPr>
            <a:xfrm>
              <a:off x="4599958" y="4502249"/>
              <a:ext cx="1554480" cy="274320"/>
            </a:xfrm>
            <a:prstGeom prst="rect">
              <a:avLst/>
            </a:prstGeom>
            <a:noFill/>
            <a:ln/>
          </p:spPr>
          <p:txBody>
            <a:bodyPr wrap="square" lIns="0" tIns="0" rIns="0" bIns="0" rtlCol="0" anchor="ctr"/>
            <a:lstStyle/>
            <a:p>
              <a:pPr marL="0" indent="0">
                <a:buNone/>
              </a:pPr>
              <a:r>
                <a:rPr lang="en-US" sz="1300" b="1" dirty="0">
                  <a:solidFill>
                    <a:srgbClr val="1A2B22"/>
                  </a:solidFill>
                  <a:latin typeface="Calibri" pitchFamily="34" charset="0"/>
                  <a:ea typeface="Calibri" pitchFamily="34" charset="-122"/>
                  <a:cs typeface="Calibri" pitchFamily="34" charset="-120"/>
                </a:rPr>
                <a:t>Measures</a:t>
              </a:r>
              <a:endParaRPr lang="en-US" sz="1300" dirty="0"/>
            </a:p>
          </p:txBody>
        </p:sp>
        <p:sp>
          <p:nvSpPr>
            <p:cNvPr id="27" name="Text 25">
              <a:extLst>
                <a:ext uri="{FF2B5EF4-FFF2-40B4-BE49-F238E27FC236}">
                  <a16:creationId xmlns:a16="http://schemas.microsoft.com/office/drawing/2014/main" id="{CC89684D-AD7B-5C56-2128-F77C426BD6DE}"/>
                </a:ext>
              </a:extLst>
            </p:cNvPr>
            <p:cNvSpPr/>
            <p:nvPr/>
          </p:nvSpPr>
          <p:spPr>
            <a:xfrm>
              <a:off x="4614041" y="4665726"/>
              <a:ext cx="1935452" cy="267434"/>
            </a:xfrm>
            <a:prstGeom prst="rect">
              <a:avLst/>
            </a:prstGeom>
            <a:noFill/>
            <a:ln/>
          </p:spPr>
          <p:txBody>
            <a:bodyPr wrap="square" lIns="0" tIns="0" rIns="0" bIns="0" rtlCol="0" anchor="ctr"/>
            <a:lstStyle/>
            <a:p>
              <a:pPr marL="0" indent="0">
                <a:buNone/>
              </a:pPr>
              <a:r>
                <a:rPr lang="en-US" sz="900" i="1" kern="0" spc="0" dirty="0">
                  <a:solidFill>
                    <a:srgbClr val="7F8C84"/>
                  </a:solidFill>
                  <a:latin typeface="Calibri" pitchFamily="34" charset="0"/>
                  <a:ea typeface="Calibri" pitchFamily="34" charset="-122"/>
                  <a:cs typeface="Calibri" pitchFamily="34" charset="-120"/>
                </a:rPr>
                <a:t>calculated columns</a:t>
              </a:r>
              <a:endParaRPr lang="en-US" sz="900" dirty="0"/>
            </a:p>
          </p:txBody>
        </p:sp>
      </p:grpSp>
      <p:grpSp>
        <p:nvGrpSpPr>
          <p:cNvPr id="35" name="Group 34">
            <a:extLst>
              <a:ext uri="{FF2B5EF4-FFF2-40B4-BE49-F238E27FC236}">
                <a16:creationId xmlns:a16="http://schemas.microsoft.com/office/drawing/2014/main" id="{E808540B-D316-3151-B53C-506779C69B51}"/>
              </a:ext>
            </a:extLst>
          </p:cNvPr>
          <p:cNvGrpSpPr/>
          <p:nvPr/>
        </p:nvGrpSpPr>
        <p:grpSpPr>
          <a:xfrm>
            <a:off x="8852823" y="3704540"/>
            <a:ext cx="2307652" cy="1533906"/>
            <a:chOff x="5520242" y="4361688"/>
            <a:chExt cx="5864263" cy="1533906"/>
          </a:xfrm>
        </p:grpSpPr>
        <p:sp>
          <p:nvSpPr>
            <p:cNvPr id="24" name="Shape 22">
              <a:extLst>
                <a:ext uri="{FF2B5EF4-FFF2-40B4-BE49-F238E27FC236}">
                  <a16:creationId xmlns:a16="http://schemas.microsoft.com/office/drawing/2014/main" id="{D7037C23-AE84-8991-DE82-ACF931571266}"/>
                </a:ext>
              </a:extLst>
            </p:cNvPr>
            <p:cNvSpPr/>
            <p:nvPr/>
          </p:nvSpPr>
          <p:spPr>
            <a:xfrm>
              <a:off x="5520242" y="4361688"/>
              <a:ext cx="5864263" cy="1533906"/>
            </a:xfrm>
            <a:prstGeom prst="rect">
              <a:avLst/>
            </a:prstGeom>
            <a:solidFill>
              <a:srgbClr val="FAF8F3"/>
            </a:solidFill>
            <a:ln w="12700">
              <a:solidFill>
                <a:srgbClr val="1A2B22"/>
              </a:solidFill>
              <a:prstDash val="solid"/>
            </a:ln>
          </p:spPr>
          <p:txBody>
            <a:bodyPr lIns="0" tIns="0" rIns="0" bIns="0"/>
            <a:lstStyle/>
            <a:p>
              <a:endParaRPr lang="en-US"/>
            </a:p>
          </p:txBody>
        </p:sp>
        <p:sp>
          <p:nvSpPr>
            <p:cNvPr id="28" name="Text 26">
              <a:extLst>
                <a:ext uri="{FF2B5EF4-FFF2-40B4-BE49-F238E27FC236}">
                  <a16:creationId xmlns:a16="http://schemas.microsoft.com/office/drawing/2014/main" id="{1C03B43E-E61A-66FD-4EBC-C08AAC3E4EBF}"/>
                </a:ext>
              </a:extLst>
            </p:cNvPr>
            <p:cNvSpPr/>
            <p:nvPr/>
          </p:nvSpPr>
          <p:spPr>
            <a:xfrm>
              <a:off x="5724836" y="4417574"/>
              <a:ext cx="5601909" cy="1400026"/>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Grain </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calc engine — which engine ran it</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engine version</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Library Version</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currency denomination</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Unit</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aggregation behavior</a:t>
              </a:r>
            </a:p>
            <a:p>
              <a:pPr marL="171450" indent="-171450">
                <a:buFont typeface="Arial" panose="020B0604020202020204" pitchFamily="34" charset="0"/>
                <a:buChar char="•"/>
              </a:pPr>
              <a:r>
                <a:rPr lang="en-US" sz="1050" dirty="0">
                  <a:solidFill>
                    <a:srgbClr val="1A2B22"/>
                  </a:solidFill>
                  <a:latin typeface="Calibri" pitchFamily="34" charset="0"/>
                  <a:ea typeface="Calibri" pitchFamily="34" charset="-122"/>
                  <a:cs typeface="Calibri" pitchFamily="34" charset="-120"/>
                </a:rPr>
                <a:t>methodology</a:t>
              </a:r>
              <a:endParaRPr lang="en-US" sz="1050" dirty="0"/>
            </a:p>
          </p:txBody>
        </p:sp>
      </p:grpSp>
      <p:sp>
        <p:nvSpPr>
          <p:cNvPr id="29" name="Shape 27">
            <a:extLst>
              <a:ext uri="{FF2B5EF4-FFF2-40B4-BE49-F238E27FC236}">
                <a16:creationId xmlns:a16="http://schemas.microsoft.com/office/drawing/2014/main" id="{6C9237E8-FA6C-A3D7-5824-7DE59963537C}"/>
              </a:ext>
            </a:extLst>
          </p:cNvPr>
          <p:cNvSpPr/>
          <p:nvPr/>
        </p:nvSpPr>
        <p:spPr>
          <a:xfrm>
            <a:off x="475488" y="6012180"/>
            <a:ext cx="11274552" cy="411480"/>
          </a:xfrm>
          <a:prstGeom prst="rect">
            <a:avLst/>
          </a:prstGeom>
          <a:solidFill>
            <a:srgbClr val="EEF7F0"/>
          </a:solidFill>
          <a:ln/>
        </p:spPr>
        <p:txBody>
          <a:bodyPr lIns="0" tIns="0" rIns="0" bIns="0"/>
          <a:lstStyle/>
          <a:p>
            <a:endParaRPr lang="en-US"/>
          </a:p>
        </p:txBody>
      </p:sp>
      <p:sp>
        <p:nvSpPr>
          <p:cNvPr id="30" name="Shape 28">
            <a:extLst>
              <a:ext uri="{FF2B5EF4-FFF2-40B4-BE49-F238E27FC236}">
                <a16:creationId xmlns:a16="http://schemas.microsoft.com/office/drawing/2014/main" id="{7EE56AD3-60F3-9A54-E07D-FABC686CFAD9}"/>
              </a:ext>
            </a:extLst>
          </p:cNvPr>
          <p:cNvSpPr/>
          <p:nvPr/>
        </p:nvSpPr>
        <p:spPr>
          <a:xfrm>
            <a:off x="521208" y="6044184"/>
            <a:ext cx="54864" cy="411480"/>
          </a:xfrm>
          <a:prstGeom prst="rect">
            <a:avLst/>
          </a:prstGeom>
          <a:solidFill>
            <a:srgbClr val="2E8B57"/>
          </a:solidFill>
          <a:ln/>
        </p:spPr>
        <p:txBody>
          <a:bodyPr lIns="0" tIns="0" rIns="0" bIns="0"/>
          <a:lstStyle/>
          <a:p>
            <a:endParaRPr lang="en-US"/>
          </a:p>
        </p:txBody>
      </p:sp>
      <p:sp>
        <p:nvSpPr>
          <p:cNvPr id="31" name="Text 29">
            <a:extLst>
              <a:ext uri="{FF2B5EF4-FFF2-40B4-BE49-F238E27FC236}">
                <a16:creationId xmlns:a16="http://schemas.microsoft.com/office/drawing/2014/main" id="{BFBDC564-1AD7-6C3C-9C70-26B75D7D37EE}"/>
              </a:ext>
            </a:extLst>
          </p:cNvPr>
          <p:cNvSpPr/>
          <p:nvPr/>
        </p:nvSpPr>
        <p:spPr>
          <a:xfrm>
            <a:off x="621792" y="6044184"/>
            <a:ext cx="10908792" cy="320040"/>
          </a:xfrm>
          <a:prstGeom prst="rect">
            <a:avLst/>
          </a:prstGeom>
          <a:noFill/>
          <a:ln/>
        </p:spPr>
        <p:txBody>
          <a:bodyPr wrap="square" lIns="0" tIns="0" rIns="0" bIns="0" rtlCol="0" anchor="ctr"/>
          <a:lstStyle/>
          <a:p>
            <a:pPr marL="0" indent="0">
              <a:buNone/>
            </a:pPr>
            <a:r>
              <a:rPr lang="en-US" sz="1050" i="1" dirty="0">
                <a:solidFill>
                  <a:srgbClr val="3D5247"/>
                </a:solidFill>
              </a:rPr>
              <a:t>Plus — </a:t>
            </a:r>
            <a:r>
              <a:rPr lang="en-US" sz="1050" b="1" dirty="0">
                <a:solidFill>
                  <a:srgbClr val="1A2B22"/>
                </a:solidFill>
              </a:rPr>
              <a:t>Entity Conformance dependencies</a:t>
            </a:r>
            <a:r>
              <a:rPr lang="en-US" sz="1050" i="1" dirty="0">
                <a:solidFill>
                  <a:srgbClr val="3D5247"/>
                </a:solidFill>
              </a:rPr>
              <a:t> across all levels. PK / FK between entity tables. Captured in the contract.</a:t>
            </a:r>
            <a:endParaRPr lang="en-US" sz="1050" dirty="0"/>
          </a:p>
        </p:txBody>
      </p:sp>
      <p:sp>
        <p:nvSpPr>
          <p:cNvPr id="32" name="Text 30">
            <a:extLst>
              <a:ext uri="{FF2B5EF4-FFF2-40B4-BE49-F238E27FC236}">
                <a16:creationId xmlns:a16="http://schemas.microsoft.com/office/drawing/2014/main" id="{498CCFE5-A57E-412E-B6EE-AB1C10D1EEC0}"/>
              </a:ext>
            </a:extLst>
          </p:cNvPr>
          <p:cNvSpPr/>
          <p:nvPr/>
        </p:nvSpPr>
        <p:spPr>
          <a:xfrm>
            <a:off x="457200" y="6565392"/>
            <a:ext cx="8229600" cy="201168"/>
          </a:xfrm>
          <a:prstGeom prst="rect">
            <a:avLst/>
          </a:prstGeom>
          <a:noFill/>
          <a:ln/>
        </p:spPr>
        <p:txBody>
          <a:bodyPr wrap="square" lIns="0" tIns="0" rIns="0" bIns="0" rtlCol="0" anchor="ctr"/>
          <a:lstStyle/>
          <a:p>
            <a:pPr marL="0" indent="0">
              <a:buNone/>
            </a:pPr>
            <a:r>
              <a:rPr lang="en-US" sz="900" i="1" dirty="0">
                <a:solidFill>
                  <a:srgbClr val="7F8C84"/>
                </a:solidFill>
                <a:latin typeface="Calibri" pitchFamily="34" charset="0"/>
                <a:ea typeface="Calibri" pitchFamily="34" charset="-122"/>
                <a:cs typeface="Calibri" pitchFamily="34" charset="-120"/>
              </a:rPr>
              <a:t>TD Securities · Risk Data Platform · Working Draft</a:t>
            </a:r>
            <a:endParaRPr lang="en-US" sz="900" dirty="0"/>
          </a:p>
        </p:txBody>
      </p:sp>
      <p:sp>
        <p:nvSpPr>
          <p:cNvPr id="33" name="Text 31">
            <a:extLst>
              <a:ext uri="{FF2B5EF4-FFF2-40B4-BE49-F238E27FC236}">
                <a16:creationId xmlns:a16="http://schemas.microsoft.com/office/drawing/2014/main" id="{00FE9877-C6ED-C96C-2940-D7215F24FEFC}"/>
              </a:ext>
            </a:extLst>
          </p:cNvPr>
          <p:cNvSpPr/>
          <p:nvPr/>
        </p:nvSpPr>
        <p:spPr>
          <a:xfrm>
            <a:off x="11548872" y="6565392"/>
            <a:ext cx="365760" cy="201168"/>
          </a:xfrm>
          <a:prstGeom prst="rect">
            <a:avLst/>
          </a:prstGeom>
          <a:noFill/>
          <a:ln/>
        </p:spPr>
        <p:txBody>
          <a:bodyPr wrap="square" lIns="0" tIns="0" rIns="0" bIns="0" rtlCol="0" anchor="ctr"/>
          <a:lstStyle/>
          <a:p>
            <a:pPr marL="0" indent="0" algn="r">
              <a:buNone/>
            </a:pPr>
            <a:r>
              <a:rPr lang="en-US" sz="900" dirty="0">
                <a:solidFill>
                  <a:srgbClr val="7F8C84"/>
                </a:solidFill>
                <a:latin typeface="Calibri" pitchFamily="34" charset="0"/>
                <a:ea typeface="Calibri" pitchFamily="34" charset="-122"/>
                <a:cs typeface="Calibri" pitchFamily="34" charset="-120"/>
              </a:rPr>
              <a:t>4</a:t>
            </a:r>
            <a:endParaRPr lang="en-US" sz="900" dirty="0"/>
          </a:p>
        </p:txBody>
      </p:sp>
      <p:grpSp>
        <p:nvGrpSpPr>
          <p:cNvPr id="39" name="Group 38">
            <a:extLst>
              <a:ext uri="{FF2B5EF4-FFF2-40B4-BE49-F238E27FC236}">
                <a16:creationId xmlns:a16="http://schemas.microsoft.com/office/drawing/2014/main" id="{2DCA640C-172C-E388-FCC1-C460188854A8}"/>
              </a:ext>
            </a:extLst>
          </p:cNvPr>
          <p:cNvGrpSpPr/>
          <p:nvPr/>
        </p:nvGrpSpPr>
        <p:grpSpPr>
          <a:xfrm>
            <a:off x="6597792" y="2718080"/>
            <a:ext cx="1672232" cy="387205"/>
            <a:chOff x="8323220" y="2815209"/>
            <a:chExt cx="1672232" cy="387205"/>
          </a:xfrm>
        </p:grpSpPr>
        <p:sp>
          <p:nvSpPr>
            <p:cNvPr id="21" name="Text 19">
              <a:extLst>
                <a:ext uri="{FF2B5EF4-FFF2-40B4-BE49-F238E27FC236}">
                  <a16:creationId xmlns:a16="http://schemas.microsoft.com/office/drawing/2014/main" id="{61F521AB-FB3F-33EA-A5AD-70A469048EA9}"/>
                </a:ext>
              </a:extLst>
            </p:cNvPr>
            <p:cNvSpPr/>
            <p:nvPr/>
          </p:nvSpPr>
          <p:spPr>
            <a:xfrm>
              <a:off x="8342625" y="2815209"/>
              <a:ext cx="1215903" cy="274320"/>
            </a:xfrm>
            <a:prstGeom prst="rect">
              <a:avLst/>
            </a:prstGeom>
            <a:noFill/>
            <a:ln/>
          </p:spPr>
          <p:txBody>
            <a:bodyPr wrap="square" lIns="0" tIns="0" rIns="0" bIns="0" rtlCol="0" anchor="ctr"/>
            <a:lstStyle/>
            <a:p>
              <a:pPr marL="0" indent="0">
                <a:buNone/>
              </a:pPr>
              <a:r>
                <a:rPr lang="en-US" sz="1300" b="1" dirty="0">
                  <a:solidFill>
                    <a:srgbClr val="1A2B22"/>
                  </a:solidFill>
                  <a:latin typeface="Calibri" pitchFamily="34" charset="0"/>
                  <a:ea typeface="Calibri" pitchFamily="34" charset="-122"/>
                  <a:cs typeface="Calibri" pitchFamily="34" charset="-120"/>
                </a:rPr>
                <a:t>Columns</a:t>
              </a:r>
              <a:endParaRPr lang="en-US" sz="1300" dirty="0"/>
            </a:p>
          </p:txBody>
        </p:sp>
        <p:sp>
          <p:nvSpPr>
            <p:cNvPr id="22" name="Text 20">
              <a:extLst>
                <a:ext uri="{FF2B5EF4-FFF2-40B4-BE49-F238E27FC236}">
                  <a16:creationId xmlns:a16="http://schemas.microsoft.com/office/drawing/2014/main" id="{59E544E4-9955-7A20-1971-429EE2BD8E91}"/>
                </a:ext>
              </a:extLst>
            </p:cNvPr>
            <p:cNvSpPr/>
            <p:nvPr/>
          </p:nvSpPr>
          <p:spPr>
            <a:xfrm>
              <a:off x="8323220" y="2978386"/>
              <a:ext cx="1672232" cy="224028"/>
            </a:xfrm>
            <a:prstGeom prst="rect">
              <a:avLst/>
            </a:prstGeom>
            <a:noFill/>
            <a:ln/>
          </p:spPr>
          <p:txBody>
            <a:bodyPr wrap="square" lIns="0" tIns="0" rIns="0" bIns="0" rtlCol="0" anchor="ctr"/>
            <a:lstStyle/>
            <a:p>
              <a:pPr marL="0" indent="0">
                <a:buNone/>
              </a:pPr>
              <a:r>
                <a:rPr lang="en-US" sz="900" i="1" kern="0" spc="0" dirty="0">
                  <a:solidFill>
                    <a:srgbClr val="7F8C84"/>
                  </a:solidFill>
                  <a:latin typeface="Calibri" pitchFamily="34" charset="0"/>
                  <a:ea typeface="Calibri" pitchFamily="34" charset="-122"/>
                  <a:cs typeface="Calibri" pitchFamily="34" charset="-120"/>
                </a:rPr>
                <a:t>Field metadata</a:t>
              </a:r>
              <a:endParaRPr lang="en-US" sz="900" dirty="0"/>
            </a:p>
          </p:txBody>
        </p:sp>
      </p:grpSp>
      <p:sp>
        <p:nvSpPr>
          <p:cNvPr id="40" name="TextBox 39">
            <a:extLst>
              <a:ext uri="{FF2B5EF4-FFF2-40B4-BE49-F238E27FC236}">
                <a16:creationId xmlns:a16="http://schemas.microsoft.com/office/drawing/2014/main" id="{07D2F4E8-2185-F27E-D2DF-A2B6E90C8BF2}"/>
              </a:ext>
            </a:extLst>
          </p:cNvPr>
          <p:cNvSpPr txBox="1"/>
          <p:nvPr/>
        </p:nvSpPr>
        <p:spPr>
          <a:xfrm>
            <a:off x="8459569" y="1134760"/>
            <a:ext cx="2479718" cy="1015663"/>
          </a:xfrm>
          <a:prstGeom prst="rect">
            <a:avLst/>
          </a:prstGeom>
          <a:noFill/>
        </p:spPr>
        <p:txBody>
          <a:bodyPr wrap="none" lIns="0" tIns="0" rIns="0" bIns="0" rtlCol="0">
            <a:spAutoFit/>
          </a:bodyPr>
          <a:lstStyle/>
          <a:p>
            <a:r>
              <a:rPr lang="en-US" sz="1200" dirty="0"/>
              <a:t>Unity Catalog captures the Metadata</a:t>
            </a:r>
          </a:p>
          <a:p>
            <a:pPr marL="171450" indent="-171450">
              <a:buFont typeface="Arial" panose="020B0604020202020204" pitchFamily="34" charset="0"/>
              <a:buChar char="•"/>
            </a:pPr>
            <a:r>
              <a:rPr lang="en-US" sz="1200" dirty="0"/>
              <a:t>Create Table / Schema</a:t>
            </a:r>
          </a:p>
          <a:p>
            <a:pPr marL="171450" indent="-171450">
              <a:buFont typeface="Arial" panose="020B0604020202020204" pitchFamily="34" charset="0"/>
              <a:buChar char="•"/>
            </a:pPr>
            <a:r>
              <a:rPr lang="en-US" sz="1200" dirty="0"/>
              <a:t>Tags</a:t>
            </a:r>
          </a:p>
          <a:p>
            <a:pPr marL="171450" indent="-171450">
              <a:buFont typeface="Arial" panose="020B0604020202020204" pitchFamily="34" charset="0"/>
              <a:buChar char="•"/>
            </a:pPr>
            <a:endParaRPr lang="en-US" sz="1200" dirty="0"/>
          </a:p>
          <a:p>
            <a:r>
              <a:rPr lang="en-US" sz="1200" i="1" dirty="0"/>
              <a:t>Unity is Runtime environment</a:t>
            </a:r>
          </a:p>
        </p:txBody>
      </p:sp>
      <p:sp>
        <p:nvSpPr>
          <p:cNvPr id="41" name="TextBox 40">
            <a:extLst>
              <a:ext uri="{FF2B5EF4-FFF2-40B4-BE49-F238E27FC236}">
                <a16:creationId xmlns:a16="http://schemas.microsoft.com/office/drawing/2014/main" id="{429B2804-3A0E-D065-63EB-7DDAD56A889D}"/>
              </a:ext>
            </a:extLst>
          </p:cNvPr>
          <p:cNvSpPr txBox="1"/>
          <p:nvPr/>
        </p:nvSpPr>
        <p:spPr>
          <a:xfrm>
            <a:off x="8459569" y="885537"/>
            <a:ext cx="3202480" cy="369332"/>
          </a:xfrm>
          <a:prstGeom prst="rect">
            <a:avLst/>
          </a:prstGeom>
          <a:noFill/>
        </p:spPr>
        <p:txBody>
          <a:bodyPr wrap="none" lIns="0" tIns="0" rIns="0" bIns="0" rtlCol="0">
            <a:spAutoFit/>
          </a:bodyPr>
          <a:lstStyle/>
          <a:p>
            <a:r>
              <a:rPr lang="en-US" b="1" dirty="0">
                <a:solidFill>
                  <a:srgbClr val="1A5C38"/>
                </a:solidFill>
                <a:latin typeface="Calibri" pitchFamily="34" charset="0"/>
                <a:cs typeface="Calibri" pitchFamily="34" charset="-120"/>
              </a:rPr>
              <a:t>Metadata – describes your data</a:t>
            </a:r>
            <a:endParaRPr lang="en-US" dirty="0"/>
          </a:p>
        </p:txBody>
      </p:sp>
      <p:cxnSp>
        <p:nvCxnSpPr>
          <p:cNvPr id="43" name="Straight Arrow Connector 42">
            <a:extLst>
              <a:ext uri="{FF2B5EF4-FFF2-40B4-BE49-F238E27FC236}">
                <a16:creationId xmlns:a16="http://schemas.microsoft.com/office/drawing/2014/main" id="{49C3F50C-2E98-8DD0-530E-A8228055B150}"/>
              </a:ext>
            </a:extLst>
          </p:cNvPr>
          <p:cNvCxnSpPr/>
          <p:nvPr/>
        </p:nvCxnSpPr>
        <p:spPr>
          <a:xfrm flipV="1">
            <a:off x="448333" y="5551714"/>
            <a:ext cx="10689413" cy="76200"/>
          </a:xfrm>
          <a:prstGeom prst="straightConnector1">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43B9256A-5D89-7C7B-AF27-40A957433C53}"/>
              </a:ext>
            </a:extLst>
          </p:cNvPr>
          <p:cNvSpPr txBox="1"/>
          <p:nvPr/>
        </p:nvSpPr>
        <p:spPr>
          <a:xfrm>
            <a:off x="4290507" y="5486083"/>
            <a:ext cx="2497800" cy="246221"/>
          </a:xfrm>
          <a:prstGeom prst="rect">
            <a:avLst/>
          </a:prstGeom>
          <a:solidFill>
            <a:srgbClr val="EEFFEC"/>
          </a:solidFill>
        </p:spPr>
        <p:txBody>
          <a:bodyPr wrap="none" lIns="0" tIns="0" rIns="0" bIns="0" rtlCol="0">
            <a:spAutoFit/>
          </a:bodyPr>
          <a:lstStyle/>
          <a:p>
            <a:r>
              <a:rPr lang="en-US" sz="1000" dirty="0"/>
              <a:t>Capture metadata as a git versioned artifact </a:t>
            </a:r>
          </a:p>
        </p:txBody>
      </p:sp>
    </p:spTree>
    <p:extLst>
      <p:ext uri="{BB962C8B-B14F-4D97-AF65-F5344CB8AC3E}">
        <p14:creationId xmlns:p14="http://schemas.microsoft.com/office/powerpoint/2010/main" val="1423870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7F0"/>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4552" cy="548640"/>
          </a:xfrm>
          <a:prstGeom prst="rect">
            <a:avLst/>
          </a:prstGeom>
          <a:noFill/>
          <a:ln/>
        </p:spPr>
        <p:txBody>
          <a:bodyPr wrap="square" lIns="0" tIns="0" rIns="0" bIns="0" rtlCol="0" anchor="ctr"/>
          <a:lstStyle/>
          <a:p>
            <a:pPr marL="0" indent="0">
              <a:buNone/>
            </a:pPr>
            <a:r>
              <a:rPr lang="en-US" sz="2800" b="1" dirty="0">
                <a:solidFill>
                  <a:srgbClr val="1A5C38"/>
                </a:solidFill>
                <a:latin typeface="Calibri" pitchFamily="34" charset="0"/>
                <a:ea typeface="Calibri" pitchFamily="34" charset="-122"/>
                <a:cs typeface="Calibri" pitchFamily="34" charset="-120"/>
              </a:rPr>
              <a:t>How it lands in Databricks — CREATE TABLE + Tags</a:t>
            </a:r>
            <a:endParaRPr lang="en-US" sz="2800" dirty="0"/>
          </a:p>
        </p:txBody>
      </p:sp>
      <p:sp>
        <p:nvSpPr>
          <p:cNvPr id="3" name="Text 1"/>
          <p:cNvSpPr/>
          <p:nvPr/>
        </p:nvSpPr>
        <p:spPr>
          <a:xfrm>
            <a:off x="457200" y="914400"/>
            <a:ext cx="11274552" cy="320040"/>
          </a:xfrm>
          <a:prstGeom prst="rect">
            <a:avLst/>
          </a:prstGeom>
          <a:noFill/>
          <a:ln/>
        </p:spPr>
        <p:txBody>
          <a:bodyPr wrap="square" lIns="0" tIns="0" rIns="0" bIns="0" rtlCol="0" anchor="ctr"/>
          <a:lstStyle/>
          <a:p>
            <a:pPr marL="0" indent="0">
              <a:buNone/>
            </a:pPr>
            <a:r>
              <a:rPr lang="en-US" sz="1300" i="1" dirty="0">
                <a:solidFill>
                  <a:srgbClr val="3D5247"/>
                </a:solidFill>
                <a:latin typeface="Calibri" pitchFamily="34" charset="0"/>
                <a:ea typeface="Calibri" pitchFamily="34" charset="-122"/>
                <a:cs typeface="Calibri" pitchFamily="34" charset="-120"/>
              </a:rPr>
              <a:t>The table-level metadata becomes a CREATE TABLE statement and a set of tags.</a:t>
            </a:r>
            <a:endParaRPr lang="en-US" sz="1300" dirty="0"/>
          </a:p>
        </p:txBody>
      </p:sp>
      <p:sp>
        <p:nvSpPr>
          <p:cNvPr id="4" name="Text 2"/>
          <p:cNvSpPr/>
          <p:nvPr/>
        </p:nvSpPr>
        <p:spPr>
          <a:xfrm>
            <a:off x="457200" y="1508760"/>
            <a:ext cx="6583680" cy="201168"/>
          </a:xfrm>
          <a:prstGeom prst="rect">
            <a:avLst/>
          </a:prstGeom>
          <a:noFill/>
          <a:ln/>
        </p:spPr>
        <p:txBody>
          <a:bodyPr wrap="square" lIns="0" tIns="0" rIns="0" bIns="0" rtlCol="0" anchor="ctr"/>
          <a:lstStyle/>
          <a:p>
            <a:pPr marL="0" indent="0">
              <a:buNone/>
            </a:pPr>
            <a:r>
              <a:rPr lang="en-US" sz="900" b="1" kern="0" spc="0" dirty="0">
                <a:solidFill>
                  <a:srgbClr val="2E8B57"/>
                </a:solidFill>
                <a:latin typeface="Calibri" pitchFamily="34" charset="0"/>
                <a:ea typeface="Calibri" pitchFamily="34" charset="-122"/>
                <a:cs typeface="Calibri" pitchFamily="34" charset="-120"/>
              </a:rPr>
              <a:t>SAMPLE CREATE TABLE</a:t>
            </a:r>
            <a:endParaRPr lang="en-US" sz="900" dirty="0"/>
          </a:p>
        </p:txBody>
      </p:sp>
      <p:sp>
        <p:nvSpPr>
          <p:cNvPr id="5" name="Shape 3"/>
          <p:cNvSpPr/>
          <p:nvPr/>
        </p:nvSpPr>
        <p:spPr>
          <a:xfrm>
            <a:off x="457200" y="1764792"/>
            <a:ext cx="6583680" cy="4023360"/>
          </a:xfrm>
          <a:prstGeom prst="rect">
            <a:avLst/>
          </a:prstGeom>
          <a:solidFill>
            <a:srgbClr val="FAF8F3"/>
          </a:solidFill>
          <a:ln w="12700">
            <a:solidFill>
              <a:srgbClr val="E0DDD5"/>
            </a:solidFill>
            <a:prstDash val="solid"/>
          </a:ln>
        </p:spPr>
        <p:txBody>
          <a:bodyPr lIns="0" tIns="0" rIns="0" bIns="0"/>
          <a:lstStyle/>
          <a:p>
            <a:endParaRPr lang="en-US"/>
          </a:p>
        </p:txBody>
      </p:sp>
      <p:sp>
        <p:nvSpPr>
          <p:cNvPr id="6" name="Text 4"/>
          <p:cNvSpPr/>
          <p:nvPr/>
        </p:nvSpPr>
        <p:spPr>
          <a:xfrm>
            <a:off x="640080" y="1901952"/>
            <a:ext cx="6217920" cy="3749040"/>
          </a:xfrm>
          <a:prstGeom prst="rect">
            <a:avLst/>
          </a:prstGeom>
          <a:noFill/>
          <a:ln/>
        </p:spPr>
        <p:txBody>
          <a:bodyPr wrap="square" lIns="0" tIns="0" rIns="0" bIns="0" rtlCol="0" anchor="ctr"/>
          <a:lstStyle/>
          <a:p>
            <a:pPr marL="0" indent="0">
              <a:buNone/>
            </a:pPr>
            <a:r>
              <a:rPr lang="en-US" sz="950" dirty="0">
                <a:solidFill>
                  <a:srgbClr val="1A2B22"/>
                </a:solidFill>
                <a:latin typeface="Consolas" pitchFamily="34" charset="0"/>
                <a:ea typeface="Consolas" pitchFamily="34" charset="-122"/>
                <a:cs typeface="Consolas" pitchFamily="34" charset="-120"/>
              </a:rPr>
              <a:t>-- generated_data · table level</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CREATE TABLE creditrisk.xvala_xva.star_fact_issuer_exposure (</a:t>
            </a:r>
            <a:endParaRPr lang="en-US" sz="950" dirty="0"/>
          </a:p>
          <a:p>
            <a:pPr marL="0" indent="0">
              <a:buNone/>
            </a:pPr>
            <a:r>
              <a:rPr lang="en-US" sz="950" dirty="0">
                <a:solidFill>
                  <a:srgbClr val="1A2B22"/>
                </a:solidFill>
                <a:latin typeface="Calibri" pitchFamily="34" charset="0"/>
                <a:ea typeface="Calibri" pitchFamily="34" charset="-122"/>
                <a:cs typeface="Calibri" pitchFamily="34" charset="-120"/>
              </a:rPr>
              <a:t>  issuer_exposure_key  BIGINT     NOT NULL,</a:t>
            </a:r>
            <a:endParaRPr lang="en-US" sz="950" dirty="0"/>
          </a:p>
          <a:p>
            <a:pPr marL="0" indent="0">
              <a:buNone/>
            </a:pPr>
            <a:r>
              <a:rPr lang="en-US" sz="950" dirty="0">
                <a:solidFill>
                  <a:srgbClr val="1A2B22"/>
                </a:solidFill>
                <a:latin typeface="Calibri" pitchFamily="34" charset="0"/>
                <a:ea typeface="Calibri" pitchFamily="34" charset="-122"/>
                <a:cs typeface="Calibri" pitchFamily="34" charset="-120"/>
              </a:rPr>
              <a:t>  agreement_id         STRING     NOT NULL,</a:t>
            </a:r>
            <a:endParaRPr lang="en-US" sz="950" dirty="0"/>
          </a:p>
          <a:p>
            <a:pPr marL="0" indent="0">
              <a:buNone/>
            </a:pPr>
            <a:r>
              <a:rPr lang="en-US" sz="950" dirty="0">
                <a:solidFill>
                  <a:srgbClr val="1A2B22"/>
                </a:solidFill>
                <a:latin typeface="Calibri" pitchFamily="34" charset="0"/>
                <a:ea typeface="Calibri" pitchFamily="34" charset="-122"/>
                <a:cs typeface="Calibri" pitchFamily="34" charset="-120"/>
              </a:rPr>
              <a:t>  counterparty_code    STRING     NOT NULL,</a:t>
            </a:r>
            <a:endParaRPr lang="en-US" sz="950" dirty="0"/>
          </a:p>
          <a:p>
            <a:pPr marL="0" indent="0">
              <a:buNone/>
            </a:pPr>
            <a:r>
              <a:rPr lang="en-US" sz="950" dirty="0">
                <a:solidFill>
                  <a:srgbClr val="1A2B22"/>
                </a:solidFill>
                <a:latin typeface="Calibri" pitchFamily="34" charset="0"/>
                <a:ea typeface="Calibri" pitchFamily="34" charset="-122"/>
                <a:cs typeface="Calibri" pitchFamily="34" charset="-120"/>
              </a:rPr>
              <a:t>  as_of_date           DATE       NOT NULL,</a:t>
            </a:r>
            <a:endParaRPr lang="en-US" sz="950" dirty="0"/>
          </a:p>
          <a:p>
            <a:pPr marL="0" indent="0">
              <a:buNone/>
            </a:pPr>
            <a:r>
              <a:rPr lang="en-US" sz="950" dirty="0">
                <a:solidFill>
                  <a:srgbClr val="1A2B22"/>
                </a:solidFill>
                <a:latin typeface="Calibri" pitchFamily="34" charset="0"/>
                <a:ea typeface="Calibri" pitchFamily="34" charset="-122"/>
                <a:cs typeface="Calibri" pitchFamily="34" charset="-120"/>
              </a:rPr>
              <a:t>  issuer_name          STRING     NOT NULL,</a:t>
            </a:r>
            <a:endParaRPr lang="en-US" sz="950" dirty="0"/>
          </a:p>
          <a:p>
            <a:pPr marL="0" indent="0">
              <a:buNone/>
            </a:pPr>
            <a:r>
              <a:rPr lang="en-US" sz="950" dirty="0">
                <a:solidFill>
                  <a:srgbClr val="1A2B22"/>
                </a:solidFill>
                <a:latin typeface="Calibri" pitchFamily="34" charset="0"/>
                <a:ea typeface="Calibri" pitchFamily="34" charset="-122"/>
                <a:cs typeface="Calibri" pitchFamily="34" charset="-120"/>
              </a:rPr>
              <a:t>  issuer_type          STRING     NOT NULL,</a:t>
            </a:r>
            <a:endParaRPr lang="en-US" sz="950" dirty="0"/>
          </a:p>
          <a:p>
            <a:pPr marL="0" indent="0">
              <a:buNone/>
            </a:pPr>
            <a:r>
              <a:rPr lang="en-US" sz="950" dirty="0">
                <a:solidFill>
                  <a:srgbClr val="1A2B22"/>
                </a:solidFill>
                <a:latin typeface="Calibri" pitchFamily="34" charset="0"/>
                <a:ea typeface="Calibri" pitchFamily="34" charset="-122"/>
                <a:cs typeface="Calibri" pitchFamily="34" charset="-120"/>
              </a:rPr>
              <a:t>  issuer_rating        STRING,</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  collateral_value     DECIMAL(18,2) NOT NULL,</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  indirect_exposure    DECIMAL(18,2) NOT NULL,</a:t>
            </a:r>
            <a:endParaRPr lang="en-US" sz="950" dirty="0"/>
          </a:p>
          <a:p>
            <a:pPr marL="0" indent="0">
              <a:buNone/>
            </a:pPr>
            <a:r>
              <a:rPr lang="en-US" sz="950" dirty="0">
                <a:solidFill>
                  <a:srgbClr val="1A2B22"/>
                </a:solidFill>
                <a:latin typeface="Calibri" pitchFamily="34" charset="0"/>
                <a:ea typeface="Calibri" pitchFamily="34" charset="-122"/>
                <a:cs typeface="Calibri" pitchFamily="34" charset="-120"/>
              </a:rPr>
              <a:t>  load_timestamp       TIMESTAMP  NOT NULL,</a:t>
            </a:r>
            <a:endParaRPr lang="en-US" sz="950" dirty="0"/>
          </a:p>
          <a:p>
            <a:pPr marL="0" indent="0">
              <a:buNone/>
            </a:pPr>
            <a:endParaRPr lang="en-US" sz="950" dirty="0"/>
          </a:p>
          <a:p>
            <a:pPr marL="0" indent="0">
              <a:buNone/>
            </a:pPr>
            <a:r>
              <a:rPr lang="en-US" sz="950" dirty="0">
                <a:solidFill>
                  <a:srgbClr val="1A2B22"/>
                </a:solidFill>
                <a:latin typeface="Calibri" pitchFamily="34" charset="0"/>
                <a:ea typeface="Calibri" pitchFamily="34" charset="-122"/>
                <a:cs typeface="Calibri" pitchFamily="34" charset="-120"/>
              </a:rPr>
              <a:t>  CONSTRAINT pk_issuer_exposure</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    PRIMARY KEY (agreement_id, counterparty_code,</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                 as_of_date, issuer_name) NOT ENFORCED,</a:t>
            </a:r>
            <a:endParaRPr lang="en-US" sz="950" dirty="0"/>
          </a:p>
          <a:p>
            <a:pPr marL="0" indent="0">
              <a:buNone/>
            </a:pPr>
            <a:r>
              <a:rPr lang="en-US" sz="950" dirty="0">
                <a:solidFill>
                  <a:srgbClr val="1A2B22"/>
                </a:solidFill>
                <a:latin typeface="Calibri" pitchFamily="34" charset="0"/>
                <a:ea typeface="Calibri" pitchFamily="34" charset="-122"/>
                <a:cs typeface="Calibri" pitchFamily="34" charset="-120"/>
              </a:rPr>
              <a:t>  CONSTRAINT fk_agreement</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    FOREIGN KEY (agreement_id)</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    REFERENCES creditrisk.xvala_xva.star_dim_agreement(agreement_id)</a:t>
            </a:r>
            <a:endParaRPr lang="en-US" sz="950" dirty="0"/>
          </a:p>
          <a:p>
            <a:pPr marL="0" indent="0">
              <a:buNone/>
            </a:pPr>
            <a:r>
              <a:rPr lang="en-US" sz="950" dirty="0">
                <a:solidFill>
                  <a:srgbClr val="1A2B22"/>
                </a:solidFill>
                <a:latin typeface="Calibri" pitchFamily="34" charset="0"/>
                <a:ea typeface="Calibri" pitchFamily="34" charset="-122"/>
                <a:cs typeface="Calibri" pitchFamily="34" charset="-120"/>
              </a:rPr>
              <a:t>    NOT ENFORCED,</a:t>
            </a:r>
            <a:endParaRPr lang="en-US" sz="950" dirty="0"/>
          </a:p>
          <a:p>
            <a:pPr marL="0" indent="0">
              <a:buNone/>
            </a:pPr>
            <a:r>
              <a:rPr lang="en-US" sz="950" dirty="0">
                <a:solidFill>
                  <a:srgbClr val="1A2B22"/>
                </a:solidFill>
                <a:latin typeface="Calibri" pitchFamily="34" charset="0"/>
                <a:ea typeface="Calibri" pitchFamily="34" charset="-122"/>
                <a:cs typeface="Calibri" pitchFamily="34" charset="-120"/>
              </a:rPr>
              <a:t>  CONSTRAINT chk_issuer_type</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    CHECK (issuer_type IN ('Sovereign','Bank','Corporate',</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                           'Supranational','Agency'))</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COMMENT 'Daily snapshot of indirect issuer exposure...';</a:t>
            </a:r>
            <a:endParaRPr lang="en-US" sz="950" dirty="0"/>
          </a:p>
        </p:txBody>
      </p:sp>
      <p:sp>
        <p:nvSpPr>
          <p:cNvPr id="7" name="Text 5"/>
          <p:cNvSpPr/>
          <p:nvPr/>
        </p:nvSpPr>
        <p:spPr>
          <a:xfrm>
            <a:off x="7315200" y="1508760"/>
            <a:ext cx="4416552" cy="201168"/>
          </a:xfrm>
          <a:prstGeom prst="rect">
            <a:avLst/>
          </a:prstGeom>
          <a:noFill/>
          <a:ln/>
        </p:spPr>
        <p:txBody>
          <a:bodyPr wrap="square" lIns="0" tIns="0" rIns="0" bIns="0" rtlCol="0" anchor="ctr"/>
          <a:lstStyle/>
          <a:p>
            <a:pPr marL="0" indent="0">
              <a:buNone/>
            </a:pPr>
            <a:r>
              <a:rPr lang="en-US" sz="900" b="1" kern="0" spc="0" dirty="0">
                <a:solidFill>
                  <a:srgbClr val="A8362A"/>
                </a:solidFill>
                <a:latin typeface="Calibri" pitchFamily="34" charset="0"/>
                <a:ea typeface="Calibri" pitchFamily="34" charset="-122"/>
                <a:cs typeface="Calibri" pitchFamily="34" charset="-120"/>
              </a:rPr>
              <a:t>SAMPLE TAGS AT EACH LEVEL</a:t>
            </a:r>
            <a:endParaRPr lang="en-US" sz="900" dirty="0"/>
          </a:p>
        </p:txBody>
      </p:sp>
      <p:sp>
        <p:nvSpPr>
          <p:cNvPr id="8" name="Shape 6"/>
          <p:cNvSpPr/>
          <p:nvPr/>
        </p:nvSpPr>
        <p:spPr>
          <a:xfrm>
            <a:off x="7315200" y="1801368"/>
            <a:ext cx="4416552" cy="1143000"/>
          </a:xfrm>
          <a:prstGeom prst="rect">
            <a:avLst/>
          </a:prstGeom>
          <a:solidFill>
            <a:srgbClr val="FAF8F3"/>
          </a:solidFill>
          <a:ln/>
        </p:spPr>
        <p:txBody>
          <a:bodyPr lIns="0" tIns="0" rIns="0" bIns="0"/>
          <a:lstStyle/>
          <a:p>
            <a:endParaRPr lang="en-US"/>
          </a:p>
        </p:txBody>
      </p:sp>
      <p:sp>
        <p:nvSpPr>
          <p:cNvPr id="9" name="Shape 7"/>
          <p:cNvSpPr/>
          <p:nvPr/>
        </p:nvSpPr>
        <p:spPr>
          <a:xfrm>
            <a:off x="7315200" y="1801368"/>
            <a:ext cx="45720" cy="1143000"/>
          </a:xfrm>
          <a:prstGeom prst="rect">
            <a:avLst/>
          </a:prstGeom>
          <a:solidFill>
            <a:srgbClr val="1A5C38"/>
          </a:solidFill>
          <a:ln/>
        </p:spPr>
        <p:txBody>
          <a:bodyPr lIns="0" tIns="0" rIns="0" bIns="0"/>
          <a:lstStyle/>
          <a:p>
            <a:endParaRPr lang="en-US"/>
          </a:p>
        </p:txBody>
      </p:sp>
      <p:sp>
        <p:nvSpPr>
          <p:cNvPr id="10" name="Text 8"/>
          <p:cNvSpPr/>
          <p:nvPr/>
        </p:nvSpPr>
        <p:spPr>
          <a:xfrm>
            <a:off x="7479792" y="1874520"/>
            <a:ext cx="4142232" cy="228600"/>
          </a:xfrm>
          <a:prstGeom prst="rect">
            <a:avLst/>
          </a:prstGeom>
          <a:noFill/>
          <a:ln/>
        </p:spPr>
        <p:txBody>
          <a:bodyPr wrap="square" lIns="0" tIns="0" rIns="0" bIns="0" rtlCol="0" anchor="ctr"/>
          <a:lstStyle/>
          <a:p>
            <a:pPr marL="0" indent="0">
              <a:buNone/>
            </a:pPr>
            <a:r>
              <a:rPr lang="en-US" sz="1100" b="1" dirty="0">
                <a:solidFill>
                  <a:srgbClr val="1A5C38"/>
                </a:solidFill>
                <a:latin typeface="Calibri" pitchFamily="34" charset="0"/>
                <a:ea typeface="Calibri" pitchFamily="34" charset="-122"/>
                <a:cs typeface="Calibri" pitchFamily="34" charset="-120"/>
              </a:rPr>
              <a:t>Schema-level tags</a:t>
            </a:r>
            <a:endParaRPr lang="en-US" sz="1100" dirty="0"/>
          </a:p>
        </p:txBody>
      </p:sp>
      <p:sp>
        <p:nvSpPr>
          <p:cNvPr id="11" name="Text 9"/>
          <p:cNvSpPr/>
          <p:nvPr/>
        </p:nvSpPr>
        <p:spPr>
          <a:xfrm>
            <a:off x="7479792" y="2112264"/>
            <a:ext cx="4142232" cy="777240"/>
          </a:xfrm>
          <a:prstGeom prst="rect">
            <a:avLst/>
          </a:prstGeom>
          <a:noFill/>
          <a:ln/>
        </p:spPr>
        <p:txBody>
          <a:bodyPr wrap="square" lIns="0" tIns="0" rIns="0" bIns="0" rtlCol="0" anchor="ctr"/>
          <a:lstStyle/>
          <a:p>
            <a:pPr marL="0" indent="0">
              <a:buNone/>
            </a:pPr>
            <a:r>
              <a:rPr lang="en-US" sz="950" dirty="0">
                <a:solidFill>
                  <a:srgbClr val="1A2B22"/>
                </a:solidFill>
                <a:latin typeface="Consolas" pitchFamily="34" charset="0"/>
                <a:ea typeface="Consolas" pitchFamily="34" charset="-122"/>
                <a:cs typeface="Consolas" pitchFamily="34" charset="-120"/>
              </a:rPr>
              <a:t>'x-contract-id' = 'XVALA_CCR_001'</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'x-currency.fx_source' = 'MIDAS'</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'x-app.precedence' = 'issuer_rating:sp&gt;moodys'</a:t>
            </a:r>
            <a:endParaRPr lang="en-US" sz="950" dirty="0"/>
          </a:p>
        </p:txBody>
      </p:sp>
      <p:sp>
        <p:nvSpPr>
          <p:cNvPr id="12" name="Text 10"/>
          <p:cNvSpPr/>
          <p:nvPr/>
        </p:nvSpPr>
        <p:spPr>
          <a:xfrm>
            <a:off x="7479792" y="2715768"/>
            <a:ext cx="4142232" cy="182880"/>
          </a:xfrm>
          <a:prstGeom prst="rect">
            <a:avLst/>
          </a:prstGeom>
          <a:noFill/>
          <a:ln/>
        </p:spPr>
        <p:txBody>
          <a:bodyPr wrap="square" lIns="0" tIns="0" rIns="0" bIns="0" rtlCol="0" anchor="ctr"/>
          <a:lstStyle/>
          <a:p>
            <a:pPr marL="0" indent="0">
              <a:buNone/>
            </a:pPr>
            <a:r>
              <a:rPr lang="en-US" sz="900" i="1" dirty="0">
                <a:solidFill>
                  <a:srgbClr val="A8362A"/>
                </a:solidFill>
                <a:latin typeface="Calibri" pitchFamily="34" charset="0"/>
                <a:ea typeface="Calibri" pitchFamily="34" charset="-122"/>
                <a:cs typeface="Calibri" pitchFamily="34" charset="-120"/>
              </a:rPr>
              <a:t>↑ Contract ID lives here as a tag</a:t>
            </a:r>
            <a:endParaRPr lang="en-US" sz="900" dirty="0"/>
          </a:p>
        </p:txBody>
      </p:sp>
      <p:sp>
        <p:nvSpPr>
          <p:cNvPr id="13" name="Shape 11"/>
          <p:cNvSpPr/>
          <p:nvPr/>
        </p:nvSpPr>
        <p:spPr>
          <a:xfrm>
            <a:off x="7315200" y="3054096"/>
            <a:ext cx="4416552" cy="1417320"/>
          </a:xfrm>
          <a:prstGeom prst="rect">
            <a:avLst/>
          </a:prstGeom>
          <a:solidFill>
            <a:srgbClr val="FAF8F3"/>
          </a:solidFill>
          <a:ln/>
        </p:spPr>
        <p:txBody>
          <a:bodyPr lIns="0" tIns="0" rIns="0" bIns="0"/>
          <a:lstStyle/>
          <a:p>
            <a:endParaRPr lang="en-US"/>
          </a:p>
        </p:txBody>
      </p:sp>
      <p:sp>
        <p:nvSpPr>
          <p:cNvPr id="14" name="Shape 12"/>
          <p:cNvSpPr/>
          <p:nvPr/>
        </p:nvSpPr>
        <p:spPr>
          <a:xfrm>
            <a:off x="7315200" y="3054096"/>
            <a:ext cx="45720" cy="1417320"/>
          </a:xfrm>
          <a:prstGeom prst="rect">
            <a:avLst/>
          </a:prstGeom>
          <a:solidFill>
            <a:srgbClr val="2E8B57"/>
          </a:solidFill>
          <a:ln/>
        </p:spPr>
        <p:txBody>
          <a:bodyPr lIns="0" tIns="0" rIns="0" bIns="0"/>
          <a:lstStyle/>
          <a:p>
            <a:endParaRPr lang="en-US"/>
          </a:p>
        </p:txBody>
      </p:sp>
      <p:sp>
        <p:nvSpPr>
          <p:cNvPr id="15" name="Text 13"/>
          <p:cNvSpPr/>
          <p:nvPr/>
        </p:nvSpPr>
        <p:spPr>
          <a:xfrm>
            <a:off x="7479792" y="3127248"/>
            <a:ext cx="4142232"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Table-level tags</a:t>
            </a:r>
            <a:endParaRPr lang="en-US" sz="1100" dirty="0"/>
          </a:p>
        </p:txBody>
      </p:sp>
      <p:sp>
        <p:nvSpPr>
          <p:cNvPr id="16" name="Text 14"/>
          <p:cNvSpPr/>
          <p:nvPr/>
        </p:nvSpPr>
        <p:spPr>
          <a:xfrm>
            <a:off x="7479792" y="3364992"/>
            <a:ext cx="4142232" cy="1051560"/>
          </a:xfrm>
          <a:prstGeom prst="rect">
            <a:avLst/>
          </a:prstGeom>
          <a:noFill/>
          <a:ln/>
        </p:spPr>
        <p:txBody>
          <a:bodyPr wrap="square" lIns="0" tIns="0" rIns="0" bIns="0" rtlCol="0" anchor="ctr"/>
          <a:lstStyle/>
          <a:p>
            <a:pPr marL="0" indent="0">
              <a:buNone/>
            </a:pPr>
            <a:r>
              <a:rPr lang="en-US" sz="950" dirty="0">
                <a:solidFill>
                  <a:srgbClr val="1A2B22"/>
                </a:solidFill>
                <a:latin typeface="Consolas" pitchFamily="34" charset="0"/>
                <a:ea typeface="Consolas" pitchFamily="34" charset="-122"/>
                <a:cs typeface="Consolas" pitchFamily="34" charset="-120"/>
              </a:rPr>
              <a:t>'source.app' = 'xvala'</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'refresh.frequency' = 'daily'</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'refresh.sla' = 'daily_by_07:00_EST'</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'class.sensitivity' = 'confidential'</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'shape' = 'fact'</a:t>
            </a:r>
            <a:endParaRPr lang="en-US" sz="950" dirty="0"/>
          </a:p>
        </p:txBody>
      </p:sp>
      <p:sp>
        <p:nvSpPr>
          <p:cNvPr id="17" name="Shape 15"/>
          <p:cNvSpPr/>
          <p:nvPr/>
        </p:nvSpPr>
        <p:spPr>
          <a:xfrm>
            <a:off x="7315200" y="4581144"/>
            <a:ext cx="4416552" cy="1417320"/>
          </a:xfrm>
          <a:prstGeom prst="rect">
            <a:avLst/>
          </a:prstGeom>
          <a:solidFill>
            <a:srgbClr val="FAF8F3"/>
          </a:solidFill>
          <a:ln/>
        </p:spPr>
        <p:txBody>
          <a:bodyPr lIns="0" tIns="0" rIns="0" bIns="0"/>
          <a:lstStyle/>
          <a:p>
            <a:endParaRPr lang="en-US"/>
          </a:p>
        </p:txBody>
      </p:sp>
      <p:sp>
        <p:nvSpPr>
          <p:cNvPr id="18" name="Shape 16"/>
          <p:cNvSpPr/>
          <p:nvPr/>
        </p:nvSpPr>
        <p:spPr>
          <a:xfrm>
            <a:off x="7315200" y="4581144"/>
            <a:ext cx="45720" cy="1417320"/>
          </a:xfrm>
          <a:prstGeom prst="rect">
            <a:avLst/>
          </a:prstGeom>
          <a:solidFill>
            <a:srgbClr val="1A2B22"/>
          </a:solidFill>
          <a:ln/>
        </p:spPr>
        <p:txBody>
          <a:bodyPr lIns="0" tIns="0" rIns="0" bIns="0"/>
          <a:lstStyle/>
          <a:p>
            <a:endParaRPr lang="en-US"/>
          </a:p>
        </p:txBody>
      </p:sp>
      <p:sp>
        <p:nvSpPr>
          <p:cNvPr id="19" name="Text 17"/>
          <p:cNvSpPr/>
          <p:nvPr/>
        </p:nvSpPr>
        <p:spPr>
          <a:xfrm>
            <a:off x="7479792" y="4654296"/>
            <a:ext cx="4142232" cy="228600"/>
          </a:xfrm>
          <a:prstGeom prst="rect">
            <a:avLst/>
          </a:prstGeom>
          <a:noFill/>
          <a:ln/>
        </p:spPr>
        <p:txBody>
          <a:bodyPr wrap="square" lIns="0" tIns="0" rIns="0" bIns="0" rtlCol="0" anchor="ctr"/>
          <a:lstStyle/>
          <a:p>
            <a:pPr marL="0" indent="0">
              <a:buNone/>
            </a:pPr>
            <a:r>
              <a:rPr lang="en-US" sz="1100" b="1" dirty="0">
                <a:solidFill>
                  <a:srgbClr val="1A2B22"/>
                </a:solidFill>
                <a:latin typeface="Calibri" pitchFamily="34" charset="0"/>
                <a:ea typeface="Calibri" pitchFamily="34" charset="-122"/>
                <a:cs typeface="Calibri" pitchFamily="34" charset="-120"/>
              </a:rPr>
              <a:t>Column / measure tags</a:t>
            </a:r>
            <a:endParaRPr lang="en-US" sz="1100" dirty="0"/>
          </a:p>
        </p:txBody>
      </p:sp>
      <p:sp>
        <p:nvSpPr>
          <p:cNvPr id="20" name="Text 18"/>
          <p:cNvSpPr/>
          <p:nvPr/>
        </p:nvSpPr>
        <p:spPr>
          <a:xfrm>
            <a:off x="7479792" y="4892040"/>
            <a:ext cx="4142232" cy="1051560"/>
          </a:xfrm>
          <a:prstGeom prst="rect">
            <a:avLst/>
          </a:prstGeom>
          <a:noFill/>
          <a:ln/>
        </p:spPr>
        <p:txBody>
          <a:bodyPr wrap="square" lIns="0" tIns="0" rIns="0" bIns="0" rtlCol="0" anchor="ctr"/>
          <a:lstStyle/>
          <a:p>
            <a:pPr marL="0" indent="0">
              <a:buNone/>
            </a:pPr>
            <a:r>
              <a:rPr lang="en-US" sz="950" dirty="0">
                <a:solidFill>
                  <a:srgbClr val="1A2B22"/>
                </a:solidFill>
                <a:latin typeface="Consolas" pitchFamily="34" charset="0"/>
                <a:ea typeface="Consolas" pitchFamily="34" charset="-122"/>
                <a:cs typeface="Consolas" pitchFamily="34" charset="-120"/>
              </a:rPr>
              <a:t>identity.alias = 'Counterparty Code'</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column.role = 'measure'</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x-measure.unit = 'USD'</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x-measure.methodology = 'CCR_ENGINE_v4.2'</a:t>
            </a:r>
            <a:endParaRPr lang="en-US" sz="950" dirty="0"/>
          </a:p>
          <a:p>
            <a:pPr marL="0" indent="0">
              <a:buNone/>
            </a:pPr>
            <a:r>
              <a:rPr lang="en-US" sz="950" dirty="0">
                <a:solidFill>
                  <a:srgbClr val="1A2B22"/>
                </a:solidFill>
                <a:latin typeface="Consolas" pitchFamily="34" charset="0"/>
                <a:ea typeface="Consolas" pitchFamily="34" charset="-122"/>
                <a:cs typeface="Consolas" pitchFamily="34" charset="-120"/>
              </a:rPr>
              <a:t>x-measure.aggregation = 'semi-additive'</a:t>
            </a:r>
            <a:endParaRPr lang="en-US" sz="950" dirty="0"/>
          </a:p>
        </p:txBody>
      </p:sp>
      <p:sp>
        <p:nvSpPr>
          <p:cNvPr id="21" name="Text 19"/>
          <p:cNvSpPr/>
          <p:nvPr/>
        </p:nvSpPr>
        <p:spPr>
          <a:xfrm>
            <a:off x="457200" y="6565392"/>
            <a:ext cx="8229600" cy="201168"/>
          </a:xfrm>
          <a:prstGeom prst="rect">
            <a:avLst/>
          </a:prstGeom>
          <a:noFill/>
          <a:ln/>
        </p:spPr>
        <p:txBody>
          <a:bodyPr wrap="square" lIns="0" tIns="0" rIns="0" bIns="0" rtlCol="0" anchor="ctr"/>
          <a:lstStyle/>
          <a:p>
            <a:pPr marL="0" indent="0">
              <a:buNone/>
            </a:pPr>
            <a:r>
              <a:rPr lang="en-US" sz="900" i="1" dirty="0">
                <a:solidFill>
                  <a:srgbClr val="7F8C84"/>
                </a:solidFill>
                <a:latin typeface="Calibri" pitchFamily="34" charset="0"/>
                <a:ea typeface="Calibri" pitchFamily="34" charset="-122"/>
                <a:cs typeface="Calibri" pitchFamily="34" charset="-120"/>
              </a:rPr>
              <a:t>TD Securities · Risk Data Platform · Working Draft</a:t>
            </a:r>
            <a:endParaRPr lang="en-US" sz="900" dirty="0"/>
          </a:p>
        </p:txBody>
      </p:sp>
      <p:sp>
        <p:nvSpPr>
          <p:cNvPr id="22" name="Text 20"/>
          <p:cNvSpPr/>
          <p:nvPr/>
        </p:nvSpPr>
        <p:spPr>
          <a:xfrm>
            <a:off x="11548872" y="6565392"/>
            <a:ext cx="365760" cy="201168"/>
          </a:xfrm>
          <a:prstGeom prst="rect">
            <a:avLst/>
          </a:prstGeom>
          <a:noFill/>
          <a:ln/>
        </p:spPr>
        <p:txBody>
          <a:bodyPr wrap="square" lIns="0" tIns="0" rIns="0" bIns="0" rtlCol="0" anchor="ctr"/>
          <a:lstStyle/>
          <a:p>
            <a:pPr marL="0" indent="0" algn="r">
              <a:buNone/>
            </a:pPr>
            <a:r>
              <a:rPr lang="en-US" sz="900" dirty="0">
                <a:solidFill>
                  <a:srgbClr val="7F8C8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7F0"/>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4552" cy="548640"/>
          </a:xfrm>
          <a:prstGeom prst="rect">
            <a:avLst/>
          </a:prstGeom>
          <a:noFill/>
          <a:ln/>
        </p:spPr>
        <p:txBody>
          <a:bodyPr wrap="square" lIns="0" tIns="0" rIns="0" bIns="0" rtlCol="0" anchor="ctr"/>
          <a:lstStyle/>
          <a:p>
            <a:pPr marL="0" indent="0">
              <a:buNone/>
            </a:pPr>
            <a:r>
              <a:rPr lang="en-US" sz="2800" b="1" dirty="0">
                <a:solidFill>
                  <a:srgbClr val="1A5C38"/>
                </a:solidFill>
                <a:latin typeface="Calibri" pitchFamily="34" charset="0"/>
                <a:ea typeface="Calibri" pitchFamily="34" charset="-122"/>
                <a:cs typeface="Calibri" pitchFamily="34" charset="-120"/>
              </a:rPr>
              <a:t>The YAML contract — everything composed</a:t>
            </a:r>
            <a:endParaRPr lang="en-US" sz="2800" dirty="0"/>
          </a:p>
        </p:txBody>
      </p:sp>
      <p:sp>
        <p:nvSpPr>
          <p:cNvPr id="3" name="Text 1"/>
          <p:cNvSpPr/>
          <p:nvPr/>
        </p:nvSpPr>
        <p:spPr>
          <a:xfrm>
            <a:off x="457200" y="726948"/>
            <a:ext cx="11274552" cy="320040"/>
          </a:xfrm>
          <a:prstGeom prst="rect">
            <a:avLst/>
          </a:prstGeom>
          <a:noFill/>
          <a:ln/>
        </p:spPr>
        <p:txBody>
          <a:bodyPr wrap="square" lIns="0" tIns="0" rIns="0" bIns="0" rtlCol="0" anchor="ctr"/>
          <a:lstStyle/>
          <a:p>
            <a:pPr marL="0" indent="0">
              <a:buNone/>
            </a:pPr>
            <a:r>
              <a:rPr lang="en-US" sz="1300" i="1" dirty="0">
                <a:solidFill>
                  <a:srgbClr val="3D5247"/>
                </a:solidFill>
                <a:latin typeface="Calibri" pitchFamily="34" charset="0"/>
                <a:ea typeface="Calibri" pitchFamily="34" charset="-122"/>
                <a:cs typeface="Calibri" pitchFamily="34" charset="-120"/>
              </a:rPr>
              <a:t>One versioned YAML combines schema + table + columns + measures + entity dependencies.</a:t>
            </a:r>
            <a:endParaRPr lang="en-US" sz="1300" dirty="0"/>
          </a:p>
        </p:txBody>
      </p:sp>
      <p:sp>
        <p:nvSpPr>
          <p:cNvPr id="4" name="Shape 2"/>
          <p:cNvSpPr/>
          <p:nvPr/>
        </p:nvSpPr>
        <p:spPr>
          <a:xfrm>
            <a:off x="457200" y="1275588"/>
            <a:ext cx="7315200" cy="5262372"/>
          </a:xfrm>
          <a:prstGeom prst="rect">
            <a:avLst/>
          </a:prstGeom>
          <a:solidFill>
            <a:srgbClr val="FAF8F3"/>
          </a:solidFill>
          <a:ln w="12700">
            <a:solidFill>
              <a:srgbClr val="E0DDD5"/>
            </a:solidFill>
            <a:prstDash val="solid"/>
          </a:ln>
        </p:spPr>
        <p:txBody>
          <a:bodyPr lIns="0" tIns="0" rIns="0" bIns="0"/>
          <a:lstStyle/>
          <a:p>
            <a:endParaRPr lang="en-US" dirty="0"/>
          </a:p>
        </p:txBody>
      </p:sp>
      <p:sp>
        <p:nvSpPr>
          <p:cNvPr id="5" name="Text 3"/>
          <p:cNvSpPr/>
          <p:nvPr/>
        </p:nvSpPr>
        <p:spPr>
          <a:xfrm>
            <a:off x="640080" y="1600200"/>
            <a:ext cx="6949440" cy="4663440"/>
          </a:xfrm>
          <a:prstGeom prst="rect">
            <a:avLst/>
          </a:prstGeom>
          <a:noFill/>
          <a:ln/>
        </p:spPr>
        <p:txBody>
          <a:bodyPr wrap="square" lIns="0" tIns="0" rIns="0" bIns="0" rtlCol="0" anchor="ctr"/>
          <a:lstStyle/>
          <a:p>
            <a:pPr marL="0" indent="0">
              <a:buNone/>
            </a:pPr>
            <a:r>
              <a:rPr lang="en-US" sz="900" dirty="0">
                <a:solidFill>
                  <a:srgbClr val="2E8B57"/>
                </a:solidFill>
                <a:latin typeface="Consolas" pitchFamily="34" charset="0"/>
                <a:ea typeface="Consolas" pitchFamily="34" charset="-122"/>
                <a:cs typeface="Consolas" pitchFamily="34" charset="-120"/>
              </a:rPr>
              <a:t># ODCS v3 data contract — composed from all levels
</a:t>
            </a:r>
            <a:r>
              <a:rPr lang="en-US" sz="900" dirty="0">
                <a:solidFill>
                  <a:srgbClr val="A8362A"/>
                </a:solidFill>
                <a:latin typeface="Calibri" pitchFamily="34" charset="0"/>
                <a:ea typeface="Calibri" pitchFamily="34" charset="-122"/>
                <a:cs typeface="Calibri" pitchFamily="34" charset="-120"/>
              </a:rPr>
              <a:t>apiVersion: </a:t>
            </a:r>
            <a:r>
              <a:rPr lang="en-US" sz="900" dirty="0">
                <a:solidFill>
                  <a:srgbClr val="1A2B22"/>
                </a:solidFill>
                <a:latin typeface="Consolas" pitchFamily="34" charset="0"/>
                <a:ea typeface="Consolas" pitchFamily="34" charset="-122"/>
                <a:cs typeface="Consolas" pitchFamily="34" charset="-120"/>
              </a:rPr>
              <a:t>v3.0.0
</a:t>
            </a:r>
            <a:r>
              <a:rPr lang="en-US" sz="900" dirty="0">
                <a:solidFill>
                  <a:srgbClr val="A8362A"/>
                </a:solidFill>
                <a:latin typeface="Calibri" pitchFamily="34" charset="0"/>
                <a:ea typeface="Calibri" pitchFamily="34" charset="-122"/>
                <a:cs typeface="Calibri" pitchFamily="34" charset="-120"/>
              </a:rPr>
              <a:t>name: </a:t>
            </a:r>
            <a:r>
              <a:rPr lang="en-US" sz="900" dirty="0">
                <a:solidFill>
                  <a:srgbClr val="1A2B22"/>
                </a:solidFill>
                <a:latin typeface="Consolas" pitchFamily="34" charset="0"/>
                <a:ea typeface="Consolas" pitchFamily="34" charset="-122"/>
                <a:cs typeface="Consolas" pitchFamily="34" charset="-120"/>
              </a:rPr>
              <a:t>star_fact_issuer_exposure
</a:t>
            </a:r>
            <a:r>
              <a:rPr lang="en-US" sz="900" dirty="0">
                <a:solidFill>
                  <a:srgbClr val="A8362A"/>
                </a:solidFill>
                <a:latin typeface="Calibri" pitchFamily="34" charset="0"/>
                <a:ea typeface="Calibri" pitchFamily="34" charset="-122"/>
                <a:cs typeface="Calibri" pitchFamily="34" charset="-120"/>
              </a:rPr>
              <a:t>domain: </a:t>
            </a:r>
            <a:r>
              <a:rPr lang="en-US" sz="900" dirty="0">
                <a:solidFill>
                  <a:srgbClr val="1A2B22"/>
                </a:solidFill>
                <a:latin typeface="Consolas" pitchFamily="34" charset="0"/>
                <a:ea typeface="Consolas" pitchFamily="34" charset="-122"/>
                <a:cs typeface="Consolas" pitchFamily="34" charset="-120"/>
              </a:rPr>
              <a:t>credit_risk
</a:t>
            </a:r>
            <a:r>
              <a:rPr lang="en-US" sz="900" dirty="0">
                <a:solidFill>
                  <a:srgbClr val="2E8B57"/>
                </a:solidFill>
                <a:latin typeface="Consolas" pitchFamily="34" charset="0"/>
                <a:ea typeface="Consolas" pitchFamily="34" charset="-122"/>
                <a:cs typeface="Consolas" pitchFamily="34" charset="-120"/>
              </a:rPr>
              <a:t># —— Schema-level metadata ——
</a:t>
            </a:r>
            <a:r>
              <a:rPr lang="en-US" sz="900" dirty="0">
                <a:solidFill>
                  <a:srgbClr val="A8362A"/>
                </a:solidFill>
                <a:latin typeface="Consolas" pitchFamily="34" charset="0"/>
                <a:ea typeface="Consolas" pitchFamily="34" charset="-122"/>
                <a:cs typeface="Consolas" pitchFamily="34" charset="-120"/>
              </a:rPr>
              <a:t>customProperties:
</a:t>
            </a:r>
            <a:r>
              <a:rPr lang="en-US" sz="900" dirty="0">
                <a:solidFill>
                  <a:srgbClr val="1A2B22"/>
                </a:solidFill>
                <a:latin typeface="Calibri" pitchFamily="34" charset="0"/>
                <a:ea typeface="Calibri" pitchFamily="34" charset="-122"/>
                <a:cs typeface="Calibri" pitchFamily="34" charset="-120"/>
              </a:rPr>
              <a:t>  - property: x-contract-id     </a:t>
            </a:r>
            <a:r>
              <a:rPr lang="en-US" sz="900" dirty="0">
                <a:solidFill>
                  <a:srgbClr val="2E8B57"/>
                </a:solidFill>
                <a:latin typeface="Consolas" pitchFamily="34" charset="0"/>
                <a:ea typeface="Consolas" pitchFamily="34" charset="-122"/>
                <a:cs typeface="Consolas" pitchFamily="34" charset="-120"/>
              </a:rPr>
              <a:t># schema tag
</a:t>
            </a:r>
            <a:r>
              <a:rPr lang="en-US" sz="900" dirty="0">
                <a:solidFill>
                  <a:srgbClr val="1A2B22"/>
                </a:solidFill>
                <a:latin typeface="Consolas" pitchFamily="34" charset="0"/>
                <a:ea typeface="Consolas" pitchFamily="34" charset="-122"/>
                <a:cs typeface="Consolas" pitchFamily="34" charset="-120"/>
              </a:rPr>
              <a:t>    value: XVALA_CCR_001
</a:t>
            </a:r>
            <a:r>
              <a:rPr lang="en-US" sz="900" dirty="0">
                <a:solidFill>
                  <a:srgbClr val="2E8B57"/>
                </a:solidFill>
                <a:latin typeface="Consolas" pitchFamily="34" charset="0"/>
                <a:ea typeface="Consolas" pitchFamily="34" charset="-122"/>
                <a:cs typeface="Consolas" pitchFamily="34" charset="-120"/>
              </a:rPr>
              <a:t># —— Entity (logical view) ——
</a:t>
            </a:r>
            <a:r>
              <a:rPr lang="en-US" sz="900" dirty="0">
                <a:solidFill>
                  <a:srgbClr val="A8362A"/>
                </a:solidFill>
                <a:latin typeface="Consolas" pitchFamily="34" charset="0"/>
                <a:ea typeface="Consolas" pitchFamily="34" charset="-122"/>
                <a:cs typeface="Consolas" pitchFamily="34" charset="-120"/>
              </a:rPr>
              <a:t>entity:
</a:t>
            </a:r>
            <a:r>
              <a:rPr lang="en-US" sz="900" dirty="0">
                <a:solidFill>
                  <a:srgbClr val="1A2B22"/>
                </a:solidFill>
                <a:latin typeface="Consolas" pitchFamily="34" charset="0"/>
                <a:ea typeface="Consolas" pitchFamily="34" charset="-122"/>
                <a:cs typeface="Consolas" pitchFamily="34" charset="-120"/>
              </a:rPr>
              <a:t>  refersTo: [ Counterparty, Agreement, Issuer ]
  catalogRef: risk-data-catalog/issuer_exposure
</a:t>
            </a:r>
            <a:r>
              <a:rPr lang="en-US" sz="900" dirty="0">
                <a:solidFill>
                  <a:srgbClr val="2E8B57"/>
                </a:solidFill>
                <a:latin typeface="Consolas" pitchFamily="34" charset="0"/>
                <a:ea typeface="Consolas" pitchFamily="34" charset="-122"/>
                <a:cs typeface="Consolas" pitchFamily="34" charset="-120"/>
              </a:rPr>
              <a:t># —— Table-level metadata ——
</a:t>
            </a:r>
            <a:r>
              <a:rPr lang="en-US" sz="900" dirty="0">
                <a:solidFill>
                  <a:srgbClr val="A8362A"/>
                </a:solidFill>
                <a:latin typeface="Consolas" pitchFamily="34" charset="0"/>
                <a:ea typeface="Consolas" pitchFamily="34" charset="-122"/>
                <a:cs typeface="Consolas" pitchFamily="34" charset="-120"/>
              </a:rPr>
              <a:t>team:
</a:t>
            </a:r>
            <a:r>
              <a:rPr lang="en-US" sz="900" dirty="0">
                <a:solidFill>
                  <a:srgbClr val="1A2B22"/>
                </a:solidFill>
                <a:latin typeface="Consolas" pitchFamily="34" charset="0"/>
                <a:ea typeface="Consolas" pitchFamily="34" charset="-122"/>
                <a:cs typeface="Consolas" pitchFamily="34" charset="-120"/>
              </a:rPr>
              <a:t>  - role: technicalOwner
    name: ccr_engine_team
</a:t>
            </a:r>
            <a:r>
              <a:rPr lang="en-US" sz="900" dirty="0">
                <a:solidFill>
                  <a:srgbClr val="A8362A"/>
                </a:solidFill>
                <a:latin typeface="Consolas" pitchFamily="34" charset="0"/>
                <a:ea typeface="Consolas" pitchFamily="34" charset="-122"/>
                <a:cs typeface="Consolas" pitchFamily="34" charset="-120"/>
              </a:rPr>
              <a:t>slaProperties:
</a:t>
            </a:r>
            <a:r>
              <a:rPr lang="en-US" sz="900" dirty="0">
                <a:solidFill>
                  <a:srgbClr val="1A2B22"/>
                </a:solidFill>
                <a:latin typeface="Consolas" pitchFamily="34" charset="0"/>
                <a:ea typeface="Consolas" pitchFamily="34" charset="-122"/>
                <a:cs typeface="Consolas" pitchFamily="34" charset="-120"/>
              </a:rPr>
              <a:t>  - property: frequency
    value: daily
</a:t>
            </a:r>
            <a:r>
              <a:rPr lang="en-US" sz="900" dirty="0">
                <a:solidFill>
                  <a:srgbClr val="2E8B57"/>
                </a:solidFill>
                <a:latin typeface="Consolas" pitchFamily="34" charset="0"/>
                <a:ea typeface="Consolas" pitchFamily="34" charset="-122"/>
                <a:cs typeface="Consolas" pitchFamily="34" charset="-120"/>
              </a:rPr>
              <a:t># —— Columns + Measures ——
</a:t>
            </a:r>
            <a:r>
              <a:rPr lang="en-US" sz="900" dirty="0">
                <a:solidFill>
                  <a:srgbClr val="A8362A"/>
                </a:solidFill>
                <a:latin typeface="Consolas" pitchFamily="34" charset="0"/>
                <a:ea typeface="Consolas" pitchFamily="34" charset="-122"/>
                <a:cs typeface="Consolas" pitchFamily="34" charset="-120"/>
              </a:rPr>
              <a:t>schema:
</a:t>
            </a:r>
            <a:r>
              <a:rPr lang="en-US" sz="900" dirty="0">
                <a:solidFill>
                  <a:srgbClr val="1A2B22"/>
                </a:solidFill>
                <a:latin typeface="Consolas" pitchFamily="34" charset="0"/>
                <a:ea typeface="Consolas" pitchFamily="34" charset="-122"/>
                <a:cs typeface="Consolas" pitchFamily="34" charset="-120"/>
              </a:rPr>
              <a:t>  - name: star_fact_issuer_exposure
    properties:
      - name: counterparty_code
        primaryKey: true
        businessName: "Counterparty Code"
      - name: collateral_value
        unit: USD
</a:t>
            </a:r>
            <a:r>
              <a:rPr lang="en-US" sz="900" dirty="0">
                <a:solidFill>
                  <a:srgbClr val="2E8B57"/>
                </a:solidFill>
                <a:latin typeface="Consolas" pitchFamily="34" charset="0"/>
                <a:ea typeface="Consolas" pitchFamily="34" charset="-122"/>
                <a:cs typeface="Consolas" pitchFamily="34" charset="-120"/>
              </a:rPr>
              <a:t># —— Entity Conformance dependencies ——
</a:t>
            </a:r>
            <a:r>
              <a:rPr lang="en-US" sz="900" dirty="0">
                <a:solidFill>
                  <a:srgbClr val="A8362A"/>
                </a:solidFill>
                <a:latin typeface="Consolas" pitchFamily="34" charset="0"/>
                <a:ea typeface="Consolas" pitchFamily="34" charset="-122"/>
                <a:cs typeface="Consolas" pitchFamily="34" charset="-120"/>
              </a:rPr>
              <a:t>references:
</a:t>
            </a:r>
            <a:r>
              <a:rPr lang="en-US" sz="900" dirty="0">
                <a:solidFill>
                  <a:srgbClr val="1A2B22"/>
                </a:solidFill>
                <a:latin typeface="Consolas" pitchFamily="34" charset="0"/>
                <a:ea typeface="Consolas" pitchFamily="34" charset="-122"/>
                <a:cs typeface="Consolas" pitchFamily="34" charset="-120"/>
              </a:rPr>
              <a:t>  - column: counterparty_code
    target: star_dim_counterparty.counterparty_code</a:t>
            </a:r>
            <a:endParaRPr lang="en-US" sz="900" dirty="0"/>
          </a:p>
        </p:txBody>
      </p:sp>
      <p:sp>
        <p:nvSpPr>
          <p:cNvPr id="6" name="Text 4"/>
          <p:cNvSpPr/>
          <p:nvPr/>
        </p:nvSpPr>
        <p:spPr>
          <a:xfrm>
            <a:off x="8046720" y="1463040"/>
            <a:ext cx="3685032" cy="201168"/>
          </a:xfrm>
          <a:prstGeom prst="rect">
            <a:avLst/>
          </a:prstGeom>
          <a:noFill/>
          <a:ln/>
        </p:spPr>
        <p:txBody>
          <a:bodyPr wrap="square" lIns="0" tIns="0" rIns="0" bIns="0" rtlCol="0" anchor="ctr"/>
          <a:lstStyle/>
          <a:p>
            <a:pPr marL="0" indent="0">
              <a:buNone/>
            </a:pPr>
            <a:r>
              <a:rPr lang="en-US" sz="900" b="1" kern="0" spc="0" dirty="0">
                <a:solidFill>
                  <a:srgbClr val="1A5C38"/>
                </a:solidFill>
                <a:latin typeface="Calibri" pitchFamily="34" charset="0"/>
                <a:ea typeface="Calibri" pitchFamily="34" charset="-122"/>
                <a:cs typeface="Calibri" pitchFamily="34" charset="-120"/>
              </a:rPr>
              <a:t>WHAT COMPOSES INTO THE YAML</a:t>
            </a:r>
            <a:endParaRPr lang="en-US" sz="900" dirty="0"/>
          </a:p>
        </p:txBody>
      </p:sp>
      <p:sp>
        <p:nvSpPr>
          <p:cNvPr id="7" name="Text 5"/>
          <p:cNvSpPr/>
          <p:nvPr/>
        </p:nvSpPr>
        <p:spPr>
          <a:xfrm>
            <a:off x="8046720" y="1783080"/>
            <a:ext cx="27432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A</a:t>
            </a:r>
            <a:endParaRPr lang="en-US" sz="1100" dirty="0"/>
          </a:p>
        </p:txBody>
      </p:sp>
      <p:sp>
        <p:nvSpPr>
          <p:cNvPr id="8" name="Text 6"/>
          <p:cNvSpPr/>
          <p:nvPr/>
        </p:nvSpPr>
        <p:spPr>
          <a:xfrm>
            <a:off x="8321040" y="1783080"/>
            <a:ext cx="3410712" cy="228600"/>
          </a:xfrm>
          <a:prstGeom prst="rect">
            <a:avLst/>
          </a:prstGeom>
          <a:noFill/>
          <a:ln/>
        </p:spPr>
        <p:txBody>
          <a:bodyPr wrap="square" lIns="0" tIns="0" rIns="0" bIns="0" rtlCol="0" anchor="ctr"/>
          <a:lstStyle/>
          <a:p>
            <a:pPr marL="0" indent="0">
              <a:buNone/>
            </a:pPr>
            <a:r>
              <a:rPr lang="en-US" sz="1100" b="1" dirty="0">
                <a:solidFill>
                  <a:srgbClr val="1A2B22"/>
                </a:solidFill>
                <a:latin typeface="Calibri" pitchFamily="34" charset="0"/>
                <a:ea typeface="Calibri" pitchFamily="34" charset="-122"/>
                <a:cs typeface="Calibri" pitchFamily="34" charset="-120"/>
              </a:rPr>
              <a:t>Schema-level</a:t>
            </a:r>
            <a:endParaRPr lang="en-US" sz="1100" dirty="0"/>
          </a:p>
        </p:txBody>
      </p:sp>
      <p:sp>
        <p:nvSpPr>
          <p:cNvPr id="9" name="Text 7"/>
          <p:cNvSpPr/>
          <p:nvPr/>
        </p:nvSpPr>
        <p:spPr>
          <a:xfrm>
            <a:off x="8321040" y="2029968"/>
            <a:ext cx="3410712" cy="411480"/>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 customProperties · Contract ID lives here</a:t>
            </a:r>
            <a:endParaRPr lang="en-US" sz="950" dirty="0"/>
          </a:p>
        </p:txBody>
      </p:sp>
      <p:sp>
        <p:nvSpPr>
          <p:cNvPr id="10" name="Text 8"/>
          <p:cNvSpPr/>
          <p:nvPr/>
        </p:nvSpPr>
        <p:spPr>
          <a:xfrm>
            <a:off x="8046720" y="2496312"/>
            <a:ext cx="27432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B</a:t>
            </a:r>
            <a:endParaRPr lang="en-US" sz="1100" dirty="0"/>
          </a:p>
        </p:txBody>
      </p:sp>
      <p:sp>
        <p:nvSpPr>
          <p:cNvPr id="11" name="Text 9"/>
          <p:cNvSpPr/>
          <p:nvPr/>
        </p:nvSpPr>
        <p:spPr>
          <a:xfrm>
            <a:off x="8321040" y="2496312"/>
            <a:ext cx="3410712" cy="228600"/>
          </a:xfrm>
          <a:prstGeom prst="rect">
            <a:avLst/>
          </a:prstGeom>
          <a:noFill/>
          <a:ln/>
        </p:spPr>
        <p:txBody>
          <a:bodyPr wrap="square" lIns="0" tIns="0" rIns="0" bIns="0" rtlCol="0" anchor="ctr"/>
          <a:lstStyle/>
          <a:p>
            <a:pPr marL="0" indent="0">
              <a:buNone/>
            </a:pPr>
            <a:r>
              <a:rPr lang="en-US" sz="1100" b="1" dirty="0">
                <a:solidFill>
                  <a:srgbClr val="1A2B22"/>
                </a:solidFill>
                <a:latin typeface="Calibri" pitchFamily="34" charset="0"/>
                <a:ea typeface="Calibri" pitchFamily="34" charset="-122"/>
                <a:cs typeface="Calibri" pitchFamily="34" charset="-120"/>
              </a:rPr>
              <a:t>Entity</a:t>
            </a:r>
            <a:endParaRPr lang="en-US" sz="1100" dirty="0"/>
          </a:p>
        </p:txBody>
      </p:sp>
      <p:sp>
        <p:nvSpPr>
          <p:cNvPr id="12" name="Text 10"/>
          <p:cNvSpPr/>
          <p:nvPr/>
        </p:nvSpPr>
        <p:spPr>
          <a:xfrm>
            <a:off x="8321040" y="2743200"/>
            <a:ext cx="3410712" cy="411480"/>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 refersTo + catalogRef · ties to Risk Data Catalog</a:t>
            </a:r>
            <a:endParaRPr lang="en-US" sz="950" dirty="0"/>
          </a:p>
        </p:txBody>
      </p:sp>
      <p:sp>
        <p:nvSpPr>
          <p:cNvPr id="13" name="Text 11"/>
          <p:cNvSpPr/>
          <p:nvPr/>
        </p:nvSpPr>
        <p:spPr>
          <a:xfrm>
            <a:off x="8046720" y="3209544"/>
            <a:ext cx="27432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C</a:t>
            </a:r>
            <a:endParaRPr lang="en-US" sz="1100" dirty="0"/>
          </a:p>
        </p:txBody>
      </p:sp>
      <p:sp>
        <p:nvSpPr>
          <p:cNvPr id="14" name="Text 12"/>
          <p:cNvSpPr/>
          <p:nvPr/>
        </p:nvSpPr>
        <p:spPr>
          <a:xfrm>
            <a:off x="8321040" y="3209544"/>
            <a:ext cx="3410712" cy="228600"/>
          </a:xfrm>
          <a:prstGeom prst="rect">
            <a:avLst/>
          </a:prstGeom>
          <a:noFill/>
          <a:ln/>
        </p:spPr>
        <p:txBody>
          <a:bodyPr wrap="square" lIns="0" tIns="0" rIns="0" bIns="0" rtlCol="0" anchor="ctr"/>
          <a:lstStyle/>
          <a:p>
            <a:pPr marL="0" indent="0">
              <a:buNone/>
            </a:pPr>
            <a:r>
              <a:rPr lang="en-US" sz="1100" b="1" dirty="0">
                <a:solidFill>
                  <a:srgbClr val="1A2B22"/>
                </a:solidFill>
                <a:latin typeface="Calibri" pitchFamily="34" charset="0"/>
                <a:ea typeface="Calibri" pitchFamily="34" charset="-122"/>
                <a:cs typeface="Calibri" pitchFamily="34" charset="-120"/>
              </a:rPr>
              <a:t>Table-level</a:t>
            </a:r>
            <a:endParaRPr lang="en-US" sz="1100" dirty="0"/>
          </a:p>
        </p:txBody>
      </p:sp>
      <p:sp>
        <p:nvSpPr>
          <p:cNvPr id="15" name="Text 13"/>
          <p:cNvSpPr/>
          <p:nvPr/>
        </p:nvSpPr>
        <p:spPr>
          <a:xfrm>
            <a:off x="8321040" y="3456432"/>
            <a:ext cx="3410712" cy="411480"/>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 team + slaProperties · ownership and SLA</a:t>
            </a:r>
            <a:endParaRPr lang="en-US" sz="950" dirty="0"/>
          </a:p>
        </p:txBody>
      </p:sp>
      <p:sp>
        <p:nvSpPr>
          <p:cNvPr id="16" name="Text 14"/>
          <p:cNvSpPr/>
          <p:nvPr/>
        </p:nvSpPr>
        <p:spPr>
          <a:xfrm>
            <a:off x="8046720" y="3922776"/>
            <a:ext cx="27432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D</a:t>
            </a:r>
            <a:endParaRPr lang="en-US" sz="1100" dirty="0"/>
          </a:p>
        </p:txBody>
      </p:sp>
      <p:sp>
        <p:nvSpPr>
          <p:cNvPr id="17" name="Text 15"/>
          <p:cNvSpPr/>
          <p:nvPr/>
        </p:nvSpPr>
        <p:spPr>
          <a:xfrm>
            <a:off x="8321040" y="3922776"/>
            <a:ext cx="3410712" cy="228600"/>
          </a:xfrm>
          <a:prstGeom prst="rect">
            <a:avLst/>
          </a:prstGeom>
          <a:noFill/>
          <a:ln/>
        </p:spPr>
        <p:txBody>
          <a:bodyPr wrap="square" lIns="0" tIns="0" rIns="0" bIns="0" rtlCol="0" anchor="ctr"/>
          <a:lstStyle/>
          <a:p>
            <a:pPr marL="0" indent="0">
              <a:buNone/>
            </a:pPr>
            <a:r>
              <a:rPr lang="en-US" sz="1100" b="1" dirty="0">
                <a:solidFill>
                  <a:srgbClr val="1A2B22"/>
                </a:solidFill>
                <a:latin typeface="Calibri" pitchFamily="34" charset="0"/>
                <a:ea typeface="Calibri" pitchFamily="34" charset="-122"/>
                <a:cs typeface="Calibri" pitchFamily="34" charset="-120"/>
              </a:rPr>
              <a:t>Columns + Measures</a:t>
            </a:r>
            <a:endParaRPr lang="en-US" sz="1100" dirty="0"/>
          </a:p>
        </p:txBody>
      </p:sp>
      <p:sp>
        <p:nvSpPr>
          <p:cNvPr id="18" name="Text 16"/>
          <p:cNvSpPr/>
          <p:nvPr/>
        </p:nvSpPr>
        <p:spPr>
          <a:xfrm>
            <a:off x="8321040" y="4169664"/>
            <a:ext cx="3410712" cy="411480"/>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 schema.properties · field metadata + measure tags</a:t>
            </a:r>
            <a:endParaRPr lang="en-US" sz="950" dirty="0"/>
          </a:p>
        </p:txBody>
      </p:sp>
      <p:sp>
        <p:nvSpPr>
          <p:cNvPr id="19" name="Text 17"/>
          <p:cNvSpPr/>
          <p:nvPr/>
        </p:nvSpPr>
        <p:spPr>
          <a:xfrm>
            <a:off x="8046720" y="4636008"/>
            <a:ext cx="27432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E</a:t>
            </a:r>
            <a:endParaRPr lang="en-US" sz="1100" dirty="0"/>
          </a:p>
        </p:txBody>
      </p:sp>
      <p:sp>
        <p:nvSpPr>
          <p:cNvPr id="20" name="Text 18"/>
          <p:cNvSpPr/>
          <p:nvPr/>
        </p:nvSpPr>
        <p:spPr>
          <a:xfrm>
            <a:off x="8321040" y="4636008"/>
            <a:ext cx="3410712" cy="228600"/>
          </a:xfrm>
          <a:prstGeom prst="rect">
            <a:avLst/>
          </a:prstGeom>
          <a:noFill/>
          <a:ln/>
        </p:spPr>
        <p:txBody>
          <a:bodyPr wrap="square" lIns="0" tIns="0" rIns="0" bIns="0" rtlCol="0" anchor="ctr"/>
          <a:lstStyle/>
          <a:p>
            <a:pPr marL="0" indent="0">
              <a:buNone/>
            </a:pPr>
            <a:r>
              <a:rPr lang="en-US" sz="1100" b="1" dirty="0">
                <a:solidFill>
                  <a:srgbClr val="1A2B22"/>
                </a:solidFill>
                <a:latin typeface="Calibri" pitchFamily="34" charset="0"/>
                <a:ea typeface="Calibri" pitchFamily="34" charset="-122"/>
                <a:cs typeface="Calibri" pitchFamily="34" charset="-120"/>
              </a:rPr>
              <a:t>Conformance deps</a:t>
            </a:r>
            <a:endParaRPr lang="en-US" sz="1100" dirty="0"/>
          </a:p>
        </p:txBody>
      </p:sp>
      <p:sp>
        <p:nvSpPr>
          <p:cNvPr id="21" name="Text 19"/>
          <p:cNvSpPr/>
          <p:nvPr/>
        </p:nvSpPr>
        <p:spPr>
          <a:xfrm>
            <a:off x="8321040" y="4882896"/>
            <a:ext cx="3410712" cy="411480"/>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 references · PK / FK across entity tables</a:t>
            </a:r>
            <a:endParaRPr lang="en-US" sz="950" dirty="0"/>
          </a:p>
        </p:txBody>
      </p:sp>
      <p:sp>
        <p:nvSpPr>
          <p:cNvPr id="22" name="Text 20"/>
          <p:cNvSpPr/>
          <p:nvPr/>
        </p:nvSpPr>
        <p:spPr>
          <a:xfrm>
            <a:off x="8046720" y="5349240"/>
            <a:ext cx="27432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a:t>
            </a:r>
            <a:endParaRPr lang="en-US" sz="1100" dirty="0"/>
          </a:p>
        </p:txBody>
      </p:sp>
      <p:sp>
        <p:nvSpPr>
          <p:cNvPr id="23" name="Text 21"/>
          <p:cNvSpPr/>
          <p:nvPr/>
        </p:nvSpPr>
        <p:spPr>
          <a:xfrm>
            <a:off x="8321040" y="5349240"/>
            <a:ext cx="3410712" cy="228600"/>
          </a:xfrm>
          <a:prstGeom prst="rect">
            <a:avLst/>
          </a:prstGeom>
          <a:noFill/>
          <a:ln/>
        </p:spPr>
        <p:txBody>
          <a:bodyPr wrap="square" lIns="0" tIns="0" rIns="0" bIns="0" rtlCol="0" anchor="ctr"/>
          <a:lstStyle/>
          <a:p>
            <a:pPr marL="0" indent="0">
              <a:buNone/>
            </a:pPr>
            <a:r>
              <a:rPr lang="en-US" sz="1100" b="1" dirty="0">
                <a:solidFill>
                  <a:srgbClr val="1A2B22"/>
                </a:solidFill>
                <a:latin typeface="Calibri" pitchFamily="34" charset="0"/>
                <a:ea typeface="Calibri" pitchFamily="34" charset="-122"/>
                <a:cs typeface="Calibri" pitchFamily="34" charset="-120"/>
              </a:rPr>
              <a:t>One contract</a:t>
            </a:r>
            <a:endParaRPr lang="en-US" sz="1100" dirty="0"/>
          </a:p>
        </p:txBody>
      </p:sp>
      <p:sp>
        <p:nvSpPr>
          <p:cNvPr id="24" name="Text 22"/>
          <p:cNvSpPr/>
          <p:nvPr/>
        </p:nvSpPr>
        <p:spPr>
          <a:xfrm>
            <a:off x="8321040" y="5596128"/>
            <a:ext cx="3410712" cy="411480"/>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 generates CREATE TABLE, tags, Confluence, catalog entries</a:t>
            </a:r>
            <a:endParaRPr lang="en-US" sz="950" dirty="0"/>
          </a:p>
        </p:txBody>
      </p:sp>
      <p:sp>
        <p:nvSpPr>
          <p:cNvPr id="25" name="Text 23"/>
          <p:cNvSpPr/>
          <p:nvPr/>
        </p:nvSpPr>
        <p:spPr>
          <a:xfrm>
            <a:off x="457200" y="6565392"/>
            <a:ext cx="8229600" cy="201168"/>
          </a:xfrm>
          <a:prstGeom prst="rect">
            <a:avLst/>
          </a:prstGeom>
          <a:noFill/>
          <a:ln/>
        </p:spPr>
        <p:txBody>
          <a:bodyPr wrap="square" lIns="0" tIns="0" rIns="0" bIns="0" rtlCol="0" anchor="ctr"/>
          <a:lstStyle/>
          <a:p>
            <a:pPr marL="0" indent="0">
              <a:buNone/>
            </a:pPr>
            <a:r>
              <a:rPr lang="en-US" sz="900" i="1" dirty="0">
                <a:solidFill>
                  <a:srgbClr val="7F8C84"/>
                </a:solidFill>
                <a:latin typeface="Calibri" pitchFamily="34" charset="0"/>
                <a:ea typeface="Calibri" pitchFamily="34" charset="-122"/>
                <a:cs typeface="Calibri" pitchFamily="34" charset="-120"/>
              </a:rPr>
              <a:t>TD Securities · Risk Data Platform · Working Draft</a:t>
            </a:r>
            <a:endParaRPr lang="en-US" sz="900" dirty="0"/>
          </a:p>
        </p:txBody>
      </p:sp>
      <p:sp>
        <p:nvSpPr>
          <p:cNvPr id="26" name="Text 24"/>
          <p:cNvSpPr/>
          <p:nvPr/>
        </p:nvSpPr>
        <p:spPr>
          <a:xfrm>
            <a:off x="11548872" y="6565392"/>
            <a:ext cx="365760" cy="201168"/>
          </a:xfrm>
          <a:prstGeom prst="rect">
            <a:avLst/>
          </a:prstGeom>
          <a:noFill/>
          <a:ln/>
        </p:spPr>
        <p:txBody>
          <a:bodyPr wrap="square" lIns="0" tIns="0" rIns="0" bIns="0" rtlCol="0" anchor="ctr"/>
          <a:lstStyle/>
          <a:p>
            <a:pPr marL="0" indent="0" algn="r">
              <a:buNone/>
            </a:pPr>
            <a:r>
              <a:rPr lang="en-US" sz="900" dirty="0">
                <a:solidFill>
                  <a:srgbClr val="7F8C84"/>
                </a:solidFill>
                <a:latin typeface="Calibri" pitchFamily="34" charset="0"/>
                <a:ea typeface="Calibri" pitchFamily="34" charset="-122"/>
                <a:cs typeface="Calibri" pitchFamily="34" charset="-120"/>
              </a:rPr>
              <a:t>6</a:t>
            </a:r>
            <a:endParaRPr lang="en-US" sz="900" dirty="0"/>
          </a:p>
        </p:txBody>
      </p:sp>
      <p:sp>
        <p:nvSpPr>
          <p:cNvPr id="27" name="TextBox 26">
            <a:extLst>
              <a:ext uri="{FF2B5EF4-FFF2-40B4-BE49-F238E27FC236}">
                <a16:creationId xmlns:a16="http://schemas.microsoft.com/office/drawing/2014/main" id="{B4A1EFAC-A041-49A6-9A5F-AB4BD50394EF}"/>
              </a:ext>
            </a:extLst>
          </p:cNvPr>
          <p:cNvSpPr txBox="1"/>
          <p:nvPr/>
        </p:nvSpPr>
        <p:spPr>
          <a:xfrm>
            <a:off x="457200" y="956548"/>
            <a:ext cx="726481" cy="246221"/>
          </a:xfrm>
          <a:prstGeom prst="rect">
            <a:avLst/>
          </a:prstGeom>
          <a:noFill/>
        </p:spPr>
        <p:txBody>
          <a:bodyPr wrap="none" lIns="0" tIns="0" rIns="0" bIns="0" rtlCol="0">
            <a:spAutoFit/>
          </a:bodyPr>
          <a:lstStyle/>
          <a:p>
            <a:r>
              <a:rPr lang="en-US" sz="1000" i="1" dirty="0"/>
              <a:t>git version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7F0"/>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4552" cy="548640"/>
          </a:xfrm>
          <a:prstGeom prst="rect">
            <a:avLst/>
          </a:prstGeom>
          <a:noFill/>
          <a:ln/>
        </p:spPr>
        <p:txBody>
          <a:bodyPr wrap="square" lIns="0" tIns="0" rIns="0" bIns="0" rtlCol="0" anchor="ctr"/>
          <a:lstStyle/>
          <a:p>
            <a:pPr marL="0" indent="0">
              <a:buNone/>
            </a:pPr>
            <a:r>
              <a:rPr lang="en-US" sz="2800" b="1" dirty="0">
                <a:solidFill>
                  <a:srgbClr val="1A5C38"/>
                </a:solidFill>
                <a:latin typeface="Calibri" pitchFamily="34" charset="0"/>
                <a:ea typeface="Calibri" pitchFamily="34" charset="-122"/>
                <a:cs typeface="Calibri" pitchFamily="34" charset="-120"/>
              </a:rPr>
              <a:t>What each phase does</a:t>
            </a:r>
            <a:endParaRPr lang="en-US" sz="2800" dirty="0"/>
          </a:p>
        </p:txBody>
      </p:sp>
      <p:sp>
        <p:nvSpPr>
          <p:cNvPr id="3" name="Text 1"/>
          <p:cNvSpPr/>
          <p:nvPr/>
        </p:nvSpPr>
        <p:spPr>
          <a:xfrm>
            <a:off x="457200" y="914400"/>
            <a:ext cx="11274552" cy="320040"/>
          </a:xfrm>
          <a:prstGeom prst="rect">
            <a:avLst/>
          </a:prstGeom>
          <a:noFill/>
          <a:ln/>
        </p:spPr>
        <p:txBody>
          <a:bodyPr wrap="square" lIns="0" tIns="0" rIns="0" bIns="0" rtlCol="0" anchor="ctr"/>
          <a:lstStyle/>
          <a:p>
            <a:pPr marL="0" indent="0">
              <a:buNone/>
            </a:pPr>
            <a:r>
              <a:rPr lang="en-US" sz="1300" i="1" dirty="0">
                <a:solidFill>
                  <a:srgbClr val="3D5247"/>
                </a:solidFill>
                <a:latin typeface="Calibri" pitchFamily="34" charset="0"/>
                <a:ea typeface="Calibri" pitchFamily="34" charset="-122"/>
                <a:cs typeface="Calibri" pitchFamily="34" charset="-120"/>
              </a:rPr>
              <a:t>Per-phase checklists. App owners finish first; product owners then reconcile; the Risk Data team closes the loop with CDM.</a:t>
            </a:r>
            <a:endParaRPr lang="en-US" sz="1300" dirty="0"/>
          </a:p>
        </p:txBody>
      </p:sp>
      <p:sp>
        <p:nvSpPr>
          <p:cNvPr id="4" name="Shape 2"/>
          <p:cNvSpPr/>
          <p:nvPr/>
        </p:nvSpPr>
        <p:spPr>
          <a:xfrm>
            <a:off x="457200" y="1554480"/>
            <a:ext cx="3636264" cy="640080"/>
          </a:xfrm>
          <a:prstGeom prst="rect">
            <a:avLst/>
          </a:prstGeom>
          <a:solidFill>
            <a:srgbClr val="1A2B22"/>
          </a:solidFill>
          <a:ln/>
        </p:spPr>
        <p:txBody>
          <a:bodyPr lIns="0" tIns="0" rIns="0" bIns="0"/>
          <a:lstStyle/>
          <a:p>
            <a:endParaRPr lang="en-US"/>
          </a:p>
        </p:txBody>
      </p:sp>
      <p:sp>
        <p:nvSpPr>
          <p:cNvPr id="5" name="Text 3"/>
          <p:cNvSpPr/>
          <p:nvPr/>
        </p:nvSpPr>
        <p:spPr>
          <a:xfrm>
            <a:off x="594360" y="1627632"/>
            <a:ext cx="3361944" cy="182880"/>
          </a:xfrm>
          <a:prstGeom prst="rect">
            <a:avLst/>
          </a:prstGeom>
          <a:noFill/>
          <a:ln/>
        </p:spPr>
        <p:txBody>
          <a:bodyPr wrap="square" lIns="0" tIns="0" rIns="0" bIns="0" rtlCol="0" anchor="ctr"/>
          <a:lstStyle/>
          <a:p>
            <a:pPr marL="0" indent="0">
              <a:buNone/>
            </a:pPr>
            <a:r>
              <a:rPr lang="en-US" sz="900" b="1" kern="0" spc="0" dirty="0">
                <a:solidFill>
                  <a:srgbClr val="D6EFE1"/>
                </a:solidFill>
                <a:latin typeface="Calibri" pitchFamily="34" charset="0"/>
                <a:ea typeface="Calibri" pitchFamily="34" charset="-122"/>
                <a:cs typeface="Calibri" pitchFamily="34" charset="-120"/>
              </a:rPr>
              <a:t>PHASE 1</a:t>
            </a:r>
            <a:endParaRPr lang="en-US" sz="900" dirty="0"/>
          </a:p>
        </p:txBody>
      </p:sp>
      <p:sp>
        <p:nvSpPr>
          <p:cNvPr id="6" name="Text 4"/>
          <p:cNvSpPr/>
          <p:nvPr/>
        </p:nvSpPr>
        <p:spPr>
          <a:xfrm>
            <a:off x="594360" y="1810512"/>
            <a:ext cx="3361944"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App owner</a:t>
            </a:r>
            <a:endParaRPr lang="en-US" sz="1400" dirty="0"/>
          </a:p>
        </p:txBody>
      </p:sp>
      <p:sp>
        <p:nvSpPr>
          <p:cNvPr id="7" name="Shape 5"/>
          <p:cNvSpPr/>
          <p:nvPr/>
        </p:nvSpPr>
        <p:spPr>
          <a:xfrm>
            <a:off x="457200" y="2194560"/>
            <a:ext cx="3636264" cy="4114800"/>
          </a:xfrm>
          <a:prstGeom prst="rect">
            <a:avLst/>
          </a:prstGeom>
          <a:solidFill>
            <a:srgbClr val="FAF8F3"/>
          </a:solidFill>
          <a:ln w="12700">
            <a:solidFill>
              <a:srgbClr val="1A2B22"/>
            </a:solidFill>
            <a:prstDash val="solid"/>
          </a:ln>
        </p:spPr>
        <p:txBody>
          <a:bodyPr lIns="0" tIns="0" rIns="0" bIns="0"/>
          <a:lstStyle/>
          <a:p>
            <a:endParaRPr lang="en-US"/>
          </a:p>
        </p:txBody>
      </p:sp>
      <p:sp>
        <p:nvSpPr>
          <p:cNvPr id="8" name="Text 6"/>
          <p:cNvSpPr/>
          <p:nvPr/>
        </p:nvSpPr>
        <p:spPr>
          <a:xfrm>
            <a:off x="594360" y="2331720"/>
            <a:ext cx="22860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822960" y="2313432"/>
            <a:ext cx="3133344" cy="274320"/>
          </a:xfrm>
          <a:prstGeom prst="rect">
            <a:avLst/>
          </a:prstGeom>
          <a:noFill/>
          <a:ln/>
        </p:spPr>
        <p:txBody>
          <a:bodyPr wrap="square" lIns="0" tIns="0" rIns="0" bIns="0" rtlCol="0" anchor="ctr"/>
          <a:lstStyle/>
          <a:p>
            <a:pPr marL="0" indent="0">
              <a:buNone/>
            </a:pPr>
            <a:r>
              <a:rPr lang="en-US" sz="1150" b="1" dirty="0">
                <a:solidFill>
                  <a:srgbClr val="1A2B22"/>
                </a:solidFill>
                <a:latin typeface="Calibri" pitchFamily="34" charset="0"/>
                <a:ea typeface="Calibri" pitchFamily="34" charset="-122"/>
                <a:cs typeface="Calibri" pitchFamily="34" charset="-120"/>
              </a:rPr>
              <a:t>Identify data sources</a:t>
            </a:r>
            <a:endParaRPr lang="en-US" sz="1150" dirty="0"/>
          </a:p>
        </p:txBody>
      </p:sp>
      <p:sp>
        <p:nvSpPr>
          <p:cNvPr id="10" name="Text 8"/>
          <p:cNvSpPr/>
          <p:nvPr/>
        </p:nvSpPr>
        <p:spPr>
          <a:xfrm>
            <a:off x="822960" y="2578608"/>
            <a:ext cx="3133344" cy="457200"/>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Already done via the master data sheet (per malcode contract). Validate for correctness and completeness.</a:t>
            </a:r>
            <a:endParaRPr lang="en-US" sz="950" dirty="0"/>
          </a:p>
        </p:txBody>
      </p:sp>
      <p:sp>
        <p:nvSpPr>
          <p:cNvPr id="11" name="Text 9"/>
          <p:cNvSpPr/>
          <p:nvPr/>
        </p:nvSpPr>
        <p:spPr>
          <a:xfrm>
            <a:off x="594360" y="3118104"/>
            <a:ext cx="22860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822960" y="3099816"/>
            <a:ext cx="3133344" cy="274320"/>
          </a:xfrm>
          <a:prstGeom prst="rect">
            <a:avLst/>
          </a:prstGeom>
          <a:noFill/>
          <a:ln/>
        </p:spPr>
        <p:txBody>
          <a:bodyPr wrap="square" lIns="0" tIns="0" rIns="0" bIns="0" rtlCol="0" anchor="ctr"/>
          <a:lstStyle/>
          <a:p>
            <a:pPr marL="0" indent="0">
              <a:buNone/>
            </a:pPr>
            <a:r>
              <a:rPr lang="en-US" sz="1150" b="1" dirty="0">
                <a:solidFill>
                  <a:srgbClr val="1A2B22"/>
                </a:solidFill>
                <a:latin typeface="Calibri" pitchFamily="34" charset="0"/>
                <a:ea typeface="Calibri" pitchFamily="34" charset="-122"/>
                <a:cs typeface="Calibri" pitchFamily="34" charset="-120"/>
              </a:rPr>
              <a:t>Declare Generated Data /reports</a:t>
            </a:r>
            <a:endParaRPr lang="en-US" sz="1150" dirty="0"/>
          </a:p>
        </p:txBody>
      </p:sp>
      <p:sp>
        <p:nvSpPr>
          <p:cNvPr id="13" name="Text 11"/>
          <p:cNvSpPr/>
          <p:nvPr/>
        </p:nvSpPr>
        <p:spPr>
          <a:xfrm>
            <a:off x="822960" y="3364992"/>
            <a:ext cx="3133344" cy="457200"/>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In Databricks. Use the templates to capture details for every report and dataset published by the app.</a:t>
            </a:r>
            <a:endParaRPr lang="en-US" sz="950" dirty="0"/>
          </a:p>
        </p:txBody>
      </p:sp>
      <p:sp>
        <p:nvSpPr>
          <p:cNvPr id="14" name="Text 12"/>
          <p:cNvSpPr/>
          <p:nvPr/>
        </p:nvSpPr>
        <p:spPr>
          <a:xfrm>
            <a:off x="594360" y="3904488"/>
            <a:ext cx="22860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822960" y="3886200"/>
            <a:ext cx="3133344" cy="274320"/>
          </a:xfrm>
          <a:prstGeom prst="rect">
            <a:avLst/>
          </a:prstGeom>
          <a:noFill/>
          <a:ln/>
        </p:spPr>
        <p:txBody>
          <a:bodyPr wrap="square" lIns="0" tIns="0" rIns="0" bIns="0" rtlCol="0" anchor="ctr"/>
          <a:lstStyle/>
          <a:p>
            <a:pPr marL="0" indent="0">
              <a:buNone/>
            </a:pPr>
            <a:r>
              <a:rPr lang="en-US" sz="1150" b="1" dirty="0">
                <a:solidFill>
                  <a:srgbClr val="1A2B22"/>
                </a:solidFill>
                <a:latin typeface="Calibri" pitchFamily="34" charset="0"/>
                <a:ea typeface="Calibri" pitchFamily="34" charset="-122"/>
                <a:cs typeface="Calibri" pitchFamily="34" charset="-120"/>
              </a:rPr>
              <a:t>Identify entities</a:t>
            </a:r>
            <a:endParaRPr lang="en-US" sz="1150" dirty="0"/>
          </a:p>
        </p:txBody>
      </p:sp>
      <p:sp>
        <p:nvSpPr>
          <p:cNvPr id="16" name="Text 14"/>
          <p:cNvSpPr/>
          <p:nvPr/>
        </p:nvSpPr>
        <p:spPr>
          <a:xfrm>
            <a:off x="822960" y="4151376"/>
            <a:ext cx="3133344" cy="457200"/>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Which sources map to which entities. Include real-time API requests. Reference the Risk Data Catalog.</a:t>
            </a:r>
            <a:endParaRPr lang="en-US" sz="950" dirty="0"/>
          </a:p>
        </p:txBody>
      </p:sp>
      <p:sp>
        <p:nvSpPr>
          <p:cNvPr id="17" name="Text 15"/>
          <p:cNvSpPr/>
          <p:nvPr/>
        </p:nvSpPr>
        <p:spPr>
          <a:xfrm>
            <a:off x="594360" y="4690872"/>
            <a:ext cx="22860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4</a:t>
            </a:r>
            <a:endParaRPr lang="en-US" sz="1100" dirty="0"/>
          </a:p>
        </p:txBody>
      </p:sp>
      <p:sp>
        <p:nvSpPr>
          <p:cNvPr id="18" name="Text 16"/>
          <p:cNvSpPr/>
          <p:nvPr/>
        </p:nvSpPr>
        <p:spPr>
          <a:xfrm>
            <a:off x="822960" y="4672584"/>
            <a:ext cx="3133344" cy="274320"/>
          </a:xfrm>
          <a:prstGeom prst="rect">
            <a:avLst/>
          </a:prstGeom>
          <a:noFill/>
          <a:ln/>
        </p:spPr>
        <p:txBody>
          <a:bodyPr wrap="square" lIns="0" tIns="0" rIns="0" bIns="0" rtlCol="0" anchor="ctr"/>
          <a:lstStyle/>
          <a:p>
            <a:pPr marL="0" indent="0">
              <a:buNone/>
            </a:pPr>
            <a:r>
              <a:rPr lang="en-US" sz="1150" b="1" dirty="0">
                <a:solidFill>
                  <a:srgbClr val="1A2B22"/>
                </a:solidFill>
                <a:latin typeface="Calibri" pitchFamily="34" charset="0"/>
                <a:ea typeface="Calibri" pitchFamily="34" charset="-122"/>
                <a:cs typeface="Calibri" pitchFamily="34" charset="-120"/>
              </a:rPr>
              <a:t>Rules</a:t>
            </a:r>
            <a:endParaRPr lang="en-US" sz="1150" dirty="0"/>
          </a:p>
        </p:txBody>
      </p:sp>
      <p:sp>
        <p:nvSpPr>
          <p:cNvPr id="19" name="Text 17"/>
          <p:cNvSpPr/>
          <p:nvPr/>
        </p:nvSpPr>
        <p:spPr>
          <a:xfrm>
            <a:off x="822960" y="4937760"/>
            <a:ext cx="3133344" cy="457200"/>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Precedence rules · defaults applied · failure / exception handling · filters.</a:t>
            </a:r>
            <a:endParaRPr lang="en-US" sz="950" dirty="0"/>
          </a:p>
        </p:txBody>
      </p:sp>
      <p:sp>
        <p:nvSpPr>
          <p:cNvPr id="20" name="Text 18"/>
          <p:cNvSpPr/>
          <p:nvPr/>
        </p:nvSpPr>
        <p:spPr>
          <a:xfrm>
            <a:off x="594360" y="5477256"/>
            <a:ext cx="22860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5</a:t>
            </a:r>
            <a:endParaRPr lang="en-US" sz="1100" dirty="0"/>
          </a:p>
        </p:txBody>
      </p:sp>
      <p:sp>
        <p:nvSpPr>
          <p:cNvPr id="21" name="Text 19"/>
          <p:cNvSpPr/>
          <p:nvPr/>
        </p:nvSpPr>
        <p:spPr>
          <a:xfrm>
            <a:off x="822960" y="5458968"/>
            <a:ext cx="3133344" cy="274320"/>
          </a:xfrm>
          <a:prstGeom prst="rect">
            <a:avLst/>
          </a:prstGeom>
          <a:noFill/>
          <a:ln/>
        </p:spPr>
        <p:txBody>
          <a:bodyPr wrap="square" lIns="0" tIns="0" rIns="0" bIns="0" rtlCol="0" anchor="ctr"/>
          <a:lstStyle/>
          <a:p>
            <a:pPr marL="0" indent="0">
              <a:buNone/>
            </a:pPr>
            <a:r>
              <a:rPr lang="en-US" sz="1150" b="1" dirty="0">
                <a:solidFill>
                  <a:srgbClr val="1A2B22"/>
                </a:solidFill>
                <a:latin typeface="Calibri" pitchFamily="34" charset="0"/>
                <a:ea typeface="Calibri" pitchFamily="34" charset="-122"/>
                <a:cs typeface="Calibri" pitchFamily="34" charset="-120"/>
              </a:rPr>
              <a:t>Entity conformance</a:t>
            </a:r>
            <a:endParaRPr lang="en-US" sz="1150" dirty="0"/>
          </a:p>
        </p:txBody>
      </p:sp>
      <p:sp>
        <p:nvSpPr>
          <p:cNvPr id="22" name="Text 20"/>
          <p:cNvSpPr/>
          <p:nvPr/>
        </p:nvSpPr>
        <p:spPr>
          <a:xfrm>
            <a:off x="822960" y="5724144"/>
            <a:ext cx="3133344" cy="457200"/>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Identify foreign keys in report tables. Identify PK / FK between entity tables. Conformance within the app boundary.</a:t>
            </a:r>
            <a:endParaRPr lang="en-US" sz="950" dirty="0"/>
          </a:p>
        </p:txBody>
      </p:sp>
      <p:sp>
        <p:nvSpPr>
          <p:cNvPr id="23" name="Shape 21"/>
          <p:cNvSpPr/>
          <p:nvPr/>
        </p:nvSpPr>
        <p:spPr>
          <a:xfrm>
            <a:off x="4276344" y="1554480"/>
            <a:ext cx="3636264" cy="640080"/>
          </a:xfrm>
          <a:prstGeom prst="rect">
            <a:avLst/>
          </a:prstGeom>
          <a:solidFill>
            <a:srgbClr val="2E8B57"/>
          </a:solidFill>
          <a:ln/>
        </p:spPr>
        <p:txBody>
          <a:bodyPr lIns="0" tIns="0" rIns="0" bIns="0"/>
          <a:lstStyle/>
          <a:p>
            <a:endParaRPr lang="en-US"/>
          </a:p>
        </p:txBody>
      </p:sp>
      <p:sp>
        <p:nvSpPr>
          <p:cNvPr id="24" name="Text 22"/>
          <p:cNvSpPr/>
          <p:nvPr/>
        </p:nvSpPr>
        <p:spPr>
          <a:xfrm>
            <a:off x="4413504" y="1627632"/>
            <a:ext cx="3361944" cy="182880"/>
          </a:xfrm>
          <a:prstGeom prst="rect">
            <a:avLst/>
          </a:prstGeom>
          <a:noFill/>
          <a:ln/>
        </p:spPr>
        <p:txBody>
          <a:bodyPr wrap="square" lIns="0" tIns="0" rIns="0" bIns="0" rtlCol="0" anchor="ctr"/>
          <a:lstStyle/>
          <a:p>
            <a:pPr marL="0" indent="0">
              <a:buNone/>
            </a:pPr>
            <a:r>
              <a:rPr lang="en-US" sz="900" b="1" kern="0" spc="0" dirty="0">
                <a:solidFill>
                  <a:srgbClr val="D6EFE1"/>
                </a:solidFill>
                <a:latin typeface="Calibri" pitchFamily="34" charset="0"/>
                <a:ea typeface="Calibri" pitchFamily="34" charset="-122"/>
                <a:cs typeface="Calibri" pitchFamily="34" charset="-120"/>
              </a:rPr>
              <a:t>PHASE 2</a:t>
            </a:r>
            <a:endParaRPr lang="en-US" sz="900" dirty="0"/>
          </a:p>
        </p:txBody>
      </p:sp>
      <p:sp>
        <p:nvSpPr>
          <p:cNvPr id="25" name="Text 23"/>
          <p:cNvSpPr/>
          <p:nvPr/>
        </p:nvSpPr>
        <p:spPr>
          <a:xfrm>
            <a:off x="4413504" y="1810512"/>
            <a:ext cx="3361944"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Product owner</a:t>
            </a:r>
            <a:endParaRPr lang="en-US" sz="1400" dirty="0"/>
          </a:p>
        </p:txBody>
      </p:sp>
      <p:sp>
        <p:nvSpPr>
          <p:cNvPr id="26" name="Shape 24"/>
          <p:cNvSpPr/>
          <p:nvPr/>
        </p:nvSpPr>
        <p:spPr>
          <a:xfrm>
            <a:off x="4276344" y="2194560"/>
            <a:ext cx="3636264" cy="4114800"/>
          </a:xfrm>
          <a:prstGeom prst="rect">
            <a:avLst/>
          </a:prstGeom>
          <a:solidFill>
            <a:srgbClr val="FAF8F3"/>
          </a:solidFill>
          <a:ln w="12700">
            <a:solidFill>
              <a:srgbClr val="2E8B57"/>
            </a:solidFill>
            <a:prstDash val="solid"/>
          </a:ln>
        </p:spPr>
        <p:txBody>
          <a:bodyPr lIns="0" tIns="0" rIns="0" bIns="0"/>
          <a:lstStyle/>
          <a:p>
            <a:endParaRPr lang="en-US"/>
          </a:p>
        </p:txBody>
      </p:sp>
      <p:sp>
        <p:nvSpPr>
          <p:cNvPr id="27" name="Text 25"/>
          <p:cNvSpPr/>
          <p:nvPr/>
        </p:nvSpPr>
        <p:spPr>
          <a:xfrm>
            <a:off x="4413504" y="2331720"/>
            <a:ext cx="22860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1</a:t>
            </a:r>
            <a:endParaRPr lang="en-US" sz="1100" dirty="0"/>
          </a:p>
        </p:txBody>
      </p:sp>
      <p:sp>
        <p:nvSpPr>
          <p:cNvPr id="28" name="Text 26"/>
          <p:cNvSpPr/>
          <p:nvPr/>
        </p:nvSpPr>
        <p:spPr>
          <a:xfrm>
            <a:off x="4642104" y="2313432"/>
            <a:ext cx="3133344" cy="274320"/>
          </a:xfrm>
          <a:prstGeom prst="rect">
            <a:avLst/>
          </a:prstGeom>
          <a:noFill/>
          <a:ln/>
        </p:spPr>
        <p:txBody>
          <a:bodyPr wrap="square" lIns="0" tIns="0" rIns="0" bIns="0" rtlCol="0" anchor="ctr"/>
          <a:lstStyle/>
          <a:p>
            <a:pPr marL="0" indent="0">
              <a:buNone/>
            </a:pPr>
            <a:r>
              <a:rPr lang="en-US" sz="1150" b="1" dirty="0">
                <a:solidFill>
                  <a:srgbClr val="1A2B22"/>
                </a:solidFill>
                <a:latin typeface="Calibri" pitchFamily="34" charset="0"/>
                <a:ea typeface="Calibri" pitchFamily="34" charset="-122"/>
                <a:cs typeface="Calibri" pitchFamily="34" charset="-120"/>
              </a:rPr>
              <a:t>Share app entities for review</a:t>
            </a:r>
            <a:endParaRPr lang="en-US" sz="1150" dirty="0"/>
          </a:p>
        </p:txBody>
      </p:sp>
      <p:sp>
        <p:nvSpPr>
          <p:cNvPr id="29" name="Text 27"/>
          <p:cNvSpPr/>
          <p:nvPr/>
        </p:nvSpPr>
        <p:spPr>
          <a:xfrm>
            <a:off x="4642104" y="2578608"/>
            <a:ext cx="3133344" cy="653796"/>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Apps publish their conformed entities to a shared workspace for cross-app comparison within the product group.</a:t>
            </a:r>
            <a:endParaRPr lang="en-US" sz="950" dirty="0"/>
          </a:p>
        </p:txBody>
      </p:sp>
      <p:sp>
        <p:nvSpPr>
          <p:cNvPr id="30" name="Text 28"/>
          <p:cNvSpPr/>
          <p:nvPr/>
        </p:nvSpPr>
        <p:spPr>
          <a:xfrm>
            <a:off x="4413504" y="3314700"/>
            <a:ext cx="22860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2</a:t>
            </a:r>
            <a:endParaRPr lang="en-US" sz="1100" dirty="0"/>
          </a:p>
        </p:txBody>
      </p:sp>
      <p:sp>
        <p:nvSpPr>
          <p:cNvPr id="31" name="Text 29"/>
          <p:cNvSpPr/>
          <p:nvPr/>
        </p:nvSpPr>
        <p:spPr>
          <a:xfrm>
            <a:off x="4642104" y="3296412"/>
            <a:ext cx="3133344" cy="274320"/>
          </a:xfrm>
          <a:prstGeom prst="rect">
            <a:avLst/>
          </a:prstGeom>
          <a:noFill/>
          <a:ln/>
        </p:spPr>
        <p:txBody>
          <a:bodyPr wrap="square" lIns="0" tIns="0" rIns="0" bIns="0" rtlCol="0" anchor="ctr"/>
          <a:lstStyle/>
          <a:p>
            <a:pPr marL="0" indent="0">
              <a:buNone/>
            </a:pPr>
            <a:r>
              <a:rPr lang="en-US" sz="1150" b="1" dirty="0">
                <a:solidFill>
                  <a:srgbClr val="1A2B22"/>
                </a:solidFill>
                <a:latin typeface="Calibri" pitchFamily="34" charset="0"/>
                <a:ea typeface="Calibri" pitchFamily="34" charset="-122"/>
                <a:cs typeface="Calibri" pitchFamily="34" charset="-120"/>
              </a:rPr>
              <a:t>Reconcile across apps</a:t>
            </a:r>
            <a:endParaRPr lang="en-US" sz="1150" dirty="0"/>
          </a:p>
        </p:txBody>
      </p:sp>
      <p:sp>
        <p:nvSpPr>
          <p:cNvPr id="32" name="Text 30"/>
          <p:cNvSpPr/>
          <p:nvPr/>
        </p:nvSpPr>
        <p:spPr>
          <a:xfrm>
            <a:off x="4642104" y="3561588"/>
            <a:ext cx="3133344" cy="653796"/>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Resolve naming and shape differences across apps in the product group. Surface conflicts. Agree definitions.</a:t>
            </a:r>
            <a:endParaRPr lang="en-US" sz="950" dirty="0"/>
          </a:p>
        </p:txBody>
      </p:sp>
      <p:sp>
        <p:nvSpPr>
          <p:cNvPr id="33" name="Text 31"/>
          <p:cNvSpPr/>
          <p:nvPr/>
        </p:nvSpPr>
        <p:spPr>
          <a:xfrm>
            <a:off x="4413504" y="4297680"/>
            <a:ext cx="22860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3</a:t>
            </a:r>
            <a:endParaRPr lang="en-US" sz="1100" dirty="0"/>
          </a:p>
        </p:txBody>
      </p:sp>
      <p:sp>
        <p:nvSpPr>
          <p:cNvPr id="34" name="Text 32"/>
          <p:cNvSpPr/>
          <p:nvPr/>
        </p:nvSpPr>
        <p:spPr>
          <a:xfrm>
            <a:off x="4642104" y="4279392"/>
            <a:ext cx="3133344" cy="274320"/>
          </a:xfrm>
          <a:prstGeom prst="rect">
            <a:avLst/>
          </a:prstGeom>
          <a:noFill/>
          <a:ln/>
        </p:spPr>
        <p:txBody>
          <a:bodyPr wrap="square" lIns="0" tIns="0" rIns="0" bIns="0" rtlCol="0" anchor="ctr"/>
          <a:lstStyle/>
          <a:p>
            <a:pPr marL="0" indent="0">
              <a:buNone/>
            </a:pPr>
            <a:r>
              <a:rPr lang="en-US" sz="1150" b="1" dirty="0">
                <a:solidFill>
                  <a:srgbClr val="1A2B22"/>
                </a:solidFill>
                <a:latin typeface="Calibri" pitchFamily="34" charset="0"/>
                <a:ea typeface="Calibri" pitchFamily="34" charset="-122"/>
                <a:cs typeface="Calibri" pitchFamily="34" charset="-120"/>
              </a:rPr>
              <a:t>Author the product-group entity</a:t>
            </a:r>
            <a:endParaRPr lang="en-US" sz="1150" dirty="0"/>
          </a:p>
        </p:txBody>
      </p:sp>
      <p:sp>
        <p:nvSpPr>
          <p:cNvPr id="35" name="Text 33"/>
          <p:cNvSpPr/>
          <p:nvPr/>
        </p:nvSpPr>
        <p:spPr>
          <a:xfrm>
            <a:off x="4642104" y="4544568"/>
            <a:ext cx="3133344" cy="653796"/>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Single definition agreed across the product group. Captures cross-app PK / FK and data model relationships.</a:t>
            </a:r>
            <a:endParaRPr lang="en-US" sz="950" dirty="0"/>
          </a:p>
        </p:txBody>
      </p:sp>
      <p:sp>
        <p:nvSpPr>
          <p:cNvPr id="36" name="Text 34"/>
          <p:cNvSpPr/>
          <p:nvPr/>
        </p:nvSpPr>
        <p:spPr>
          <a:xfrm>
            <a:off x="4413504" y="5280660"/>
            <a:ext cx="22860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4</a:t>
            </a:r>
            <a:endParaRPr lang="en-US" sz="1100" dirty="0"/>
          </a:p>
        </p:txBody>
      </p:sp>
      <p:sp>
        <p:nvSpPr>
          <p:cNvPr id="37" name="Text 35"/>
          <p:cNvSpPr/>
          <p:nvPr/>
        </p:nvSpPr>
        <p:spPr>
          <a:xfrm>
            <a:off x="4642104" y="5262372"/>
            <a:ext cx="3133344" cy="274320"/>
          </a:xfrm>
          <a:prstGeom prst="rect">
            <a:avLst/>
          </a:prstGeom>
          <a:noFill/>
          <a:ln/>
        </p:spPr>
        <p:txBody>
          <a:bodyPr wrap="square" lIns="0" tIns="0" rIns="0" bIns="0" rtlCol="0" anchor="ctr"/>
          <a:lstStyle/>
          <a:p>
            <a:pPr marL="0" indent="0">
              <a:buNone/>
            </a:pPr>
            <a:r>
              <a:rPr lang="en-US" sz="1150" b="1" dirty="0">
                <a:solidFill>
                  <a:srgbClr val="1A2B22"/>
                </a:solidFill>
                <a:latin typeface="Calibri" pitchFamily="34" charset="0"/>
                <a:ea typeface="Calibri" pitchFamily="34" charset="-122"/>
                <a:cs typeface="Calibri" pitchFamily="34" charset="-120"/>
              </a:rPr>
              <a:t>Sign off</a:t>
            </a:r>
            <a:endParaRPr lang="en-US" sz="1150" dirty="0"/>
          </a:p>
        </p:txBody>
      </p:sp>
      <p:sp>
        <p:nvSpPr>
          <p:cNvPr id="38" name="Text 36"/>
          <p:cNvSpPr/>
          <p:nvPr/>
        </p:nvSpPr>
        <p:spPr>
          <a:xfrm>
            <a:off x="4642104" y="5527548"/>
            <a:ext cx="3133344" cy="653796"/>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Data Product Owner approves the product-group entity for promotion to Phase 3.</a:t>
            </a:r>
            <a:endParaRPr lang="en-US" sz="950" dirty="0"/>
          </a:p>
        </p:txBody>
      </p:sp>
      <p:sp>
        <p:nvSpPr>
          <p:cNvPr id="39" name="Shape 37"/>
          <p:cNvSpPr/>
          <p:nvPr/>
        </p:nvSpPr>
        <p:spPr>
          <a:xfrm>
            <a:off x="8095488" y="1554480"/>
            <a:ext cx="3636264" cy="640080"/>
          </a:xfrm>
          <a:prstGeom prst="rect">
            <a:avLst/>
          </a:prstGeom>
          <a:solidFill>
            <a:srgbClr val="1A5C38"/>
          </a:solidFill>
          <a:ln/>
        </p:spPr>
        <p:txBody>
          <a:bodyPr lIns="0" tIns="0" rIns="0" bIns="0"/>
          <a:lstStyle/>
          <a:p>
            <a:endParaRPr lang="en-US"/>
          </a:p>
        </p:txBody>
      </p:sp>
      <p:sp>
        <p:nvSpPr>
          <p:cNvPr id="40" name="Text 38"/>
          <p:cNvSpPr/>
          <p:nvPr/>
        </p:nvSpPr>
        <p:spPr>
          <a:xfrm>
            <a:off x="8232648" y="1627632"/>
            <a:ext cx="3361944" cy="182880"/>
          </a:xfrm>
          <a:prstGeom prst="rect">
            <a:avLst/>
          </a:prstGeom>
          <a:noFill/>
          <a:ln/>
        </p:spPr>
        <p:txBody>
          <a:bodyPr wrap="square" lIns="0" tIns="0" rIns="0" bIns="0" rtlCol="0" anchor="ctr"/>
          <a:lstStyle/>
          <a:p>
            <a:pPr marL="0" indent="0">
              <a:buNone/>
            </a:pPr>
            <a:r>
              <a:rPr lang="en-US" sz="900" b="1" kern="0" spc="0" dirty="0">
                <a:solidFill>
                  <a:srgbClr val="D6EFE1"/>
                </a:solidFill>
                <a:latin typeface="Calibri" pitchFamily="34" charset="0"/>
                <a:ea typeface="Calibri" pitchFamily="34" charset="-122"/>
                <a:cs typeface="Calibri" pitchFamily="34" charset="-120"/>
              </a:rPr>
              <a:t>PHASE 3</a:t>
            </a:r>
            <a:endParaRPr lang="en-US" sz="900" dirty="0"/>
          </a:p>
        </p:txBody>
      </p:sp>
      <p:sp>
        <p:nvSpPr>
          <p:cNvPr id="41" name="Text 39"/>
          <p:cNvSpPr/>
          <p:nvPr/>
        </p:nvSpPr>
        <p:spPr>
          <a:xfrm>
            <a:off x="8232648" y="1810512"/>
            <a:ext cx="3361944"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Risk Data team</a:t>
            </a:r>
            <a:endParaRPr lang="en-US" sz="1400" dirty="0"/>
          </a:p>
        </p:txBody>
      </p:sp>
      <p:sp>
        <p:nvSpPr>
          <p:cNvPr id="42" name="Shape 40"/>
          <p:cNvSpPr/>
          <p:nvPr/>
        </p:nvSpPr>
        <p:spPr>
          <a:xfrm>
            <a:off x="8095488" y="2194560"/>
            <a:ext cx="3636264" cy="4114800"/>
          </a:xfrm>
          <a:prstGeom prst="rect">
            <a:avLst/>
          </a:prstGeom>
          <a:solidFill>
            <a:srgbClr val="FAF8F3"/>
          </a:solidFill>
          <a:ln w="12700">
            <a:solidFill>
              <a:srgbClr val="1A5C38"/>
            </a:solidFill>
            <a:prstDash val="solid"/>
          </a:ln>
        </p:spPr>
        <p:txBody>
          <a:bodyPr lIns="0" tIns="0" rIns="0" bIns="0"/>
          <a:lstStyle/>
          <a:p>
            <a:endParaRPr lang="en-US"/>
          </a:p>
        </p:txBody>
      </p:sp>
      <p:sp>
        <p:nvSpPr>
          <p:cNvPr id="43" name="Text 41"/>
          <p:cNvSpPr/>
          <p:nvPr/>
        </p:nvSpPr>
        <p:spPr>
          <a:xfrm>
            <a:off x="8232648" y="2331720"/>
            <a:ext cx="22860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1</a:t>
            </a:r>
            <a:endParaRPr lang="en-US" sz="1100" dirty="0"/>
          </a:p>
        </p:txBody>
      </p:sp>
      <p:sp>
        <p:nvSpPr>
          <p:cNvPr id="44" name="Text 42"/>
          <p:cNvSpPr/>
          <p:nvPr/>
        </p:nvSpPr>
        <p:spPr>
          <a:xfrm>
            <a:off x="8461248" y="2313432"/>
            <a:ext cx="3133344" cy="274320"/>
          </a:xfrm>
          <a:prstGeom prst="rect">
            <a:avLst/>
          </a:prstGeom>
          <a:noFill/>
          <a:ln/>
        </p:spPr>
        <p:txBody>
          <a:bodyPr wrap="square" lIns="0" tIns="0" rIns="0" bIns="0" rtlCol="0" anchor="ctr"/>
          <a:lstStyle/>
          <a:p>
            <a:pPr marL="0" indent="0">
              <a:buNone/>
            </a:pPr>
            <a:r>
              <a:rPr lang="en-US" sz="1150" b="1" dirty="0">
                <a:solidFill>
                  <a:srgbClr val="1A2B22"/>
                </a:solidFill>
                <a:latin typeface="Calibri" pitchFamily="34" charset="0"/>
                <a:ea typeface="Calibri" pitchFamily="34" charset="-122"/>
                <a:cs typeface="Calibri" pitchFamily="34" charset="-120"/>
              </a:rPr>
              <a:t>Reconcile across product groups</a:t>
            </a:r>
            <a:endParaRPr lang="en-US" sz="1150" dirty="0"/>
          </a:p>
        </p:txBody>
      </p:sp>
      <p:sp>
        <p:nvSpPr>
          <p:cNvPr id="45" name="Text 43"/>
          <p:cNvSpPr/>
          <p:nvPr/>
        </p:nvSpPr>
        <p:spPr>
          <a:xfrm>
            <a:off x="8461248" y="2578608"/>
            <a:ext cx="3133344" cy="653796"/>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Work across the four product groups. Identify entities common to multiple groups. Resolve differences.</a:t>
            </a:r>
            <a:endParaRPr lang="en-US" sz="950" dirty="0"/>
          </a:p>
        </p:txBody>
      </p:sp>
      <p:sp>
        <p:nvSpPr>
          <p:cNvPr id="46" name="Text 44"/>
          <p:cNvSpPr/>
          <p:nvPr/>
        </p:nvSpPr>
        <p:spPr>
          <a:xfrm>
            <a:off x="8232648" y="3314700"/>
            <a:ext cx="22860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2</a:t>
            </a:r>
            <a:endParaRPr lang="en-US" sz="1100" dirty="0"/>
          </a:p>
        </p:txBody>
      </p:sp>
      <p:sp>
        <p:nvSpPr>
          <p:cNvPr id="47" name="Text 45"/>
          <p:cNvSpPr/>
          <p:nvPr/>
        </p:nvSpPr>
        <p:spPr>
          <a:xfrm>
            <a:off x="8461248" y="3296412"/>
            <a:ext cx="3133344" cy="274320"/>
          </a:xfrm>
          <a:prstGeom prst="rect">
            <a:avLst/>
          </a:prstGeom>
          <a:noFill/>
          <a:ln/>
        </p:spPr>
        <p:txBody>
          <a:bodyPr wrap="square" lIns="0" tIns="0" rIns="0" bIns="0" rtlCol="0" anchor="ctr"/>
          <a:lstStyle/>
          <a:p>
            <a:pPr marL="0" indent="0">
              <a:buNone/>
            </a:pPr>
            <a:r>
              <a:rPr lang="en-US" sz="1150" b="1" dirty="0">
                <a:solidFill>
                  <a:srgbClr val="1A2B22"/>
                </a:solidFill>
                <a:latin typeface="Calibri" pitchFamily="34" charset="0"/>
                <a:ea typeface="Calibri" pitchFamily="34" charset="-122"/>
                <a:cs typeface="Calibri" pitchFamily="34" charset="-120"/>
              </a:rPr>
              <a:t>Author the Risk Conformed Entity</a:t>
            </a:r>
            <a:endParaRPr lang="en-US" sz="1150" dirty="0"/>
          </a:p>
        </p:txBody>
      </p:sp>
      <p:sp>
        <p:nvSpPr>
          <p:cNvPr id="48" name="Text 46"/>
          <p:cNvSpPr/>
          <p:nvPr/>
        </p:nvSpPr>
        <p:spPr>
          <a:xfrm>
            <a:off x="8461248" y="3561588"/>
            <a:ext cx="3133344" cy="653796"/>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RCE definition lives in the Risk Data Catalog. CDM-aligned base plus Risk-owned enrichments.</a:t>
            </a:r>
            <a:endParaRPr lang="en-US" sz="950" dirty="0"/>
          </a:p>
        </p:txBody>
      </p:sp>
      <p:sp>
        <p:nvSpPr>
          <p:cNvPr id="49" name="Text 47"/>
          <p:cNvSpPr/>
          <p:nvPr/>
        </p:nvSpPr>
        <p:spPr>
          <a:xfrm>
            <a:off x="8232648" y="4297680"/>
            <a:ext cx="22860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3</a:t>
            </a:r>
            <a:endParaRPr lang="en-US" sz="1100" dirty="0"/>
          </a:p>
        </p:txBody>
      </p:sp>
      <p:sp>
        <p:nvSpPr>
          <p:cNvPr id="50" name="Text 48"/>
          <p:cNvSpPr/>
          <p:nvPr/>
        </p:nvSpPr>
        <p:spPr>
          <a:xfrm>
            <a:off x="8461248" y="4279392"/>
            <a:ext cx="3133344" cy="274320"/>
          </a:xfrm>
          <a:prstGeom prst="rect">
            <a:avLst/>
          </a:prstGeom>
          <a:noFill/>
          <a:ln/>
        </p:spPr>
        <p:txBody>
          <a:bodyPr wrap="square" lIns="0" tIns="0" rIns="0" bIns="0" rtlCol="0" anchor="ctr"/>
          <a:lstStyle/>
          <a:p>
            <a:pPr marL="0" indent="0">
              <a:buNone/>
            </a:pPr>
            <a:r>
              <a:rPr lang="en-US" sz="1150" b="1" dirty="0">
                <a:solidFill>
                  <a:srgbClr val="1A2B22"/>
                </a:solidFill>
                <a:latin typeface="Calibri" pitchFamily="34" charset="0"/>
                <a:ea typeface="Calibri" pitchFamily="34" charset="-122"/>
                <a:cs typeface="Calibri" pitchFamily="34" charset="-120"/>
              </a:rPr>
              <a:t>Negotiate CDM alignment</a:t>
            </a:r>
            <a:endParaRPr lang="en-US" sz="1150" dirty="0"/>
          </a:p>
        </p:txBody>
      </p:sp>
      <p:sp>
        <p:nvSpPr>
          <p:cNvPr id="51" name="Text 49"/>
          <p:cNvSpPr/>
          <p:nvPr/>
        </p:nvSpPr>
        <p:spPr>
          <a:xfrm>
            <a:off x="8461248" y="4544568"/>
            <a:ext cx="3133344" cy="653796"/>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Engage CDM team with one consolidated Risk position per entity. Adopt where CDM covers; contribute back where Risk extends.</a:t>
            </a:r>
            <a:endParaRPr lang="en-US" sz="950" dirty="0"/>
          </a:p>
        </p:txBody>
      </p:sp>
      <p:sp>
        <p:nvSpPr>
          <p:cNvPr id="52" name="Text 50"/>
          <p:cNvSpPr/>
          <p:nvPr/>
        </p:nvSpPr>
        <p:spPr>
          <a:xfrm>
            <a:off x="8232648" y="5280660"/>
            <a:ext cx="228600" cy="228600"/>
          </a:xfrm>
          <a:prstGeom prst="rect">
            <a:avLst/>
          </a:prstGeom>
          <a:noFill/>
          <a:ln/>
        </p:spPr>
        <p:txBody>
          <a:bodyPr wrap="square" lIns="0" tIns="0" rIns="0" bIns="0" rtlCol="0" anchor="ctr"/>
          <a:lstStyle/>
          <a:p>
            <a:pPr marL="0" indent="0">
              <a:buNone/>
            </a:pPr>
            <a:r>
              <a:rPr lang="en-US" sz="1100" b="1" dirty="0">
                <a:solidFill>
                  <a:srgbClr val="2E8B57"/>
                </a:solidFill>
                <a:latin typeface="Calibri" pitchFamily="34" charset="0"/>
                <a:ea typeface="Calibri" pitchFamily="34" charset="-122"/>
                <a:cs typeface="Calibri" pitchFamily="34" charset="-120"/>
              </a:rPr>
              <a:t>4</a:t>
            </a:r>
            <a:endParaRPr lang="en-US" sz="1100" dirty="0"/>
          </a:p>
        </p:txBody>
      </p:sp>
      <p:sp>
        <p:nvSpPr>
          <p:cNvPr id="53" name="Text 51"/>
          <p:cNvSpPr/>
          <p:nvPr/>
        </p:nvSpPr>
        <p:spPr>
          <a:xfrm>
            <a:off x="8461248" y="5262372"/>
            <a:ext cx="3133344" cy="274320"/>
          </a:xfrm>
          <a:prstGeom prst="rect">
            <a:avLst/>
          </a:prstGeom>
          <a:noFill/>
          <a:ln/>
        </p:spPr>
        <p:txBody>
          <a:bodyPr wrap="square" lIns="0" tIns="0" rIns="0" bIns="0" rtlCol="0" anchor="ctr"/>
          <a:lstStyle/>
          <a:p>
            <a:pPr marL="0" indent="0">
              <a:buNone/>
            </a:pPr>
            <a:r>
              <a:rPr lang="en-US" sz="1150" b="1" dirty="0">
                <a:solidFill>
                  <a:srgbClr val="1A2B22"/>
                </a:solidFill>
                <a:latin typeface="Calibri" pitchFamily="34" charset="0"/>
                <a:ea typeface="Calibri" pitchFamily="34" charset="-122"/>
                <a:cs typeface="Calibri" pitchFamily="34" charset="-120"/>
              </a:rPr>
              <a:t>Publish to the analytics layer</a:t>
            </a:r>
            <a:endParaRPr lang="en-US" sz="1150" dirty="0"/>
          </a:p>
        </p:txBody>
      </p:sp>
      <p:sp>
        <p:nvSpPr>
          <p:cNvPr id="54" name="Text 52"/>
          <p:cNvSpPr/>
          <p:nvPr/>
        </p:nvSpPr>
        <p:spPr>
          <a:xfrm>
            <a:off x="8461248" y="5527548"/>
            <a:ext cx="3133344" cy="653796"/>
          </a:xfrm>
          <a:prstGeom prst="rect">
            <a:avLst/>
          </a:prstGeom>
          <a:noFill/>
          <a:ln/>
        </p:spPr>
        <p:txBody>
          <a:bodyPr wrap="square" lIns="0" tIns="0" rIns="0" bIns="0" rtlCol="0" anchor="ctr"/>
          <a:lstStyle/>
          <a:p>
            <a:pPr marL="0" indent="0">
              <a:buNone/>
            </a:pPr>
            <a:r>
              <a:rPr lang="en-US" sz="950" dirty="0">
                <a:solidFill>
                  <a:srgbClr val="3D5247"/>
                </a:solidFill>
                <a:latin typeface="Calibri" pitchFamily="34" charset="0"/>
                <a:ea typeface="Calibri" pitchFamily="34" charset="-122"/>
                <a:cs typeface="Calibri" pitchFamily="34" charset="-120"/>
              </a:rPr>
              <a:t>RCE exposed through Risk Data Products and the star schema. Business Analytics Reporting built on top.</a:t>
            </a:r>
            <a:endParaRPr lang="en-US" sz="950" dirty="0"/>
          </a:p>
        </p:txBody>
      </p:sp>
      <p:sp>
        <p:nvSpPr>
          <p:cNvPr id="55" name="Text 53"/>
          <p:cNvSpPr/>
          <p:nvPr/>
        </p:nvSpPr>
        <p:spPr>
          <a:xfrm>
            <a:off x="457200" y="6565392"/>
            <a:ext cx="8229600" cy="201168"/>
          </a:xfrm>
          <a:prstGeom prst="rect">
            <a:avLst/>
          </a:prstGeom>
          <a:noFill/>
          <a:ln/>
        </p:spPr>
        <p:txBody>
          <a:bodyPr wrap="square" lIns="0" tIns="0" rIns="0" bIns="0" rtlCol="0" anchor="ctr"/>
          <a:lstStyle/>
          <a:p>
            <a:pPr marL="0" indent="0">
              <a:buNone/>
            </a:pPr>
            <a:r>
              <a:rPr lang="en-US" sz="900" i="1" dirty="0">
                <a:solidFill>
                  <a:srgbClr val="7F8C84"/>
                </a:solidFill>
                <a:latin typeface="Calibri" pitchFamily="34" charset="0"/>
                <a:ea typeface="Calibri" pitchFamily="34" charset="-122"/>
                <a:cs typeface="Calibri" pitchFamily="34" charset="-120"/>
              </a:rPr>
              <a:t>TD Securities · Risk Data Platform · Working Draft</a:t>
            </a:r>
            <a:endParaRPr lang="en-US" sz="900" dirty="0"/>
          </a:p>
        </p:txBody>
      </p:sp>
      <p:sp>
        <p:nvSpPr>
          <p:cNvPr id="56" name="Text 54"/>
          <p:cNvSpPr/>
          <p:nvPr/>
        </p:nvSpPr>
        <p:spPr>
          <a:xfrm>
            <a:off x="11548872" y="6565392"/>
            <a:ext cx="365760" cy="201168"/>
          </a:xfrm>
          <a:prstGeom prst="rect">
            <a:avLst/>
          </a:prstGeom>
          <a:noFill/>
          <a:ln/>
        </p:spPr>
        <p:txBody>
          <a:bodyPr wrap="square" lIns="0" tIns="0" rIns="0" bIns="0" rtlCol="0" anchor="ctr"/>
          <a:lstStyle/>
          <a:p>
            <a:pPr marL="0" indent="0" algn="r">
              <a:buNone/>
            </a:pPr>
            <a:r>
              <a:rPr lang="en-US" sz="900" dirty="0">
                <a:solidFill>
                  <a:srgbClr val="7F8C8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7F0"/>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4552" cy="548640"/>
          </a:xfrm>
          <a:prstGeom prst="rect">
            <a:avLst/>
          </a:prstGeom>
          <a:noFill/>
          <a:ln/>
        </p:spPr>
        <p:txBody>
          <a:bodyPr wrap="square" lIns="0" tIns="0" rIns="0" bIns="0" rtlCol="0" anchor="ctr"/>
          <a:lstStyle/>
          <a:p>
            <a:pPr marL="0" indent="0">
              <a:buNone/>
            </a:pPr>
            <a:r>
              <a:rPr lang="en-US" sz="2800" b="1" dirty="0">
                <a:solidFill>
                  <a:srgbClr val="1A5C38"/>
                </a:solidFill>
                <a:latin typeface="Calibri" pitchFamily="34" charset="0"/>
                <a:ea typeface="Calibri" pitchFamily="34" charset="-122"/>
                <a:cs typeface="Calibri" pitchFamily="34" charset="-120"/>
              </a:rPr>
              <a:t>Contract ID — the linking thread</a:t>
            </a:r>
            <a:endParaRPr lang="en-US" sz="2800" dirty="0"/>
          </a:p>
        </p:txBody>
      </p:sp>
      <p:sp>
        <p:nvSpPr>
          <p:cNvPr id="3" name="Text 1"/>
          <p:cNvSpPr/>
          <p:nvPr/>
        </p:nvSpPr>
        <p:spPr>
          <a:xfrm>
            <a:off x="457200" y="914400"/>
            <a:ext cx="11274552" cy="320040"/>
          </a:xfrm>
          <a:prstGeom prst="rect">
            <a:avLst/>
          </a:prstGeom>
          <a:noFill/>
          <a:ln/>
        </p:spPr>
        <p:txBody>
          <a:bodyPr wrap="square" lIns="0" tIns="0" rIns="0" bIns="0" rtlCol="0" anchor="ctr"/>
          <a:lstStyle/>
          <a:p>
            <a:pPr marL="0" indent="0">
              <a:buNone/>
            </a:pPr>
            <a:r>
              <a:rPr lang="en-US" sz="1300" i="1" dirty="0">
                <a:solidFill>
                  <a:srgbClr val="3D5247"/>
                </a:solidFill>
                <a:latin typeface="Calibri" pitchFamily="34" charset="0"/>
                <a:ea typeface="Calibri" pitchFamily="34" charset="-122"/>
                <a:cs typeface="Calibri" pitchFamily="34" charset="-120"/>
              </a:rPr>
              <a:t>The persistent identifier that connects ingested data, conformed entities, and CDM alignment.</a:t>
            </a:r>
            <a:endParaRPr lang="en-US" sz="1300" dirty="0"/>
          </a:p>
        </p:txBody>
      </p:sp>
      <p:sp>
        <p:nvSpPr>
          <p:cNvPr id="4" name="Shape 2"/>
          <p:cNvSpPr/>
          <p:nvPr/>
        </p:nvSpPr>
        <p:spPr>
          <a:xfrm>
            <a:off x="457200" y="1554480"/>
            <a:ext cx="2715768" cy="640080"/>
          </a:xfrm>
          <a:prstGeom prst="rect">
            <a:avLst/>
          </a:prstGeom>
          <a:solidFill>
            <a:srgbClr val="1A5C38"/>
          </a:solidFill>
          <a:ln/>
        </p:spPr>
        <p:txBody>
          <a:bodyPr lIns="0" tIns="0" rIns="0" bIns="0"/>
          <a:lstStyle/>
          <a:p>
            <a:endParaRPr lang="en-US"/>
          </a:p>
        </p:txBody>
      </p:sp>
      <p:sp>
        <p:nvSpPr>
          <p:cNvPr id="5" name="Text 3"/>
          <p:cNvSpPr/>
          <p:nvPr/>
        </p:nvSpPr>
        <p:spPr>
          <a:xfrm>
            <a:off x="594360" y="1645920"/>
            <a:ext cx="2441448" cy="201168"/>
          </a:xfrm>
          <a:prstGeom prst="rect">
            <a:avLst/>
          </a:prstGeom>
          <a:noFill/>
          <a:ln/>
        </p:spPr>
        <p:txBody>
          <a:bodyPr wrap="square" lIns="0" tIns="0" rIns="0" bIns="0" rtlCol="0" anchor="ctr"/>
          <a:lstStyle/>
          <a:p>
            <a:pPr marL="0" indent="0">
              <a:buNone/>
            </a:pPr>
            <a:r>
              <a:rPr lang="en-US" sz="850" b="1" kern="0" spc="0" dirty="0">
                <a:solidFill>
                  <a:srgbClr val="D6EFE1"/>
                </a:solidFill>
                <a:latin typeface="Calibri" pitchFamily="34" charset="0"/>
                <a:ea typeface="Calibri" pitchFamily="34" charset="-122"/>
                <a:cs typeface="Calibri" pitchFamily="34" charset="-120"/>
              </a:rPr>
              <a:t>ORIGIN</a:t>
            </a:r>
            <a:endParaRPr lang="en-US" sz="850" dirty="0"/>
          </a:p>
        </p:txBody>
      </p:sp>
      <p:sp>
        <p:nvSpPr>
          <p:cNvPr id="6" name="Text 4"/>
          <p:cNvSpPr/>
          <p:nvPr/>
        </p:nvSpPr>
        <p:spPr>
          <a:xfrm>
            <a:off x="594360" y="1847088"/>
            <a:ext cx="2441448"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Risk Data Contract</a:t>
            </a:r>
            <a:endParaRPr lang="en-US" sz="1300" dirty="0"/>
          </a:p>
        </p:txBody>
      </p:sp>
      <p:sp>
        <p:nvSpPr>
          <p:cNvPr id="7" name="Shape 5"/>
          <p:cNvSpPr/>
          <p:nvPr/>
        </p:nvSpPr>
        <p:spPr>
          <a:xfrm>
            <a:off x="457200" y="2194560"/>
            <a:ext cx="2715768" cy="2651760"/>
          </a:xfrm>
          <a:prstGeom prst="rect">
            <a:avLst/>
          </a:prstGeom>
          <a:solidFill>
            <a:srgbClr val="FAF8F3"/>
          </a:solidFill>
          <a:ln w="12700">
            <a:solidFill>
              <a:srgbClr val="1A5C38"/>
            </a:solidFill>
            <a:prstDash val="solid"/>
          </a:ln>
        </p:spPr>
        <p:txBody>
          <a:bodyPr lIns="0" tIns="0" rIns="0" bIns="0"/>
          <a:lstStyle/>
          <a:p>
            <a:endParaRPr lang="en-US"/>
          </a:p>
        </p:txBody>
      </p:sp>
      <p:sp>
        <p:nvSpPr>
          <p:cNvPr id="8" name="Text 6"/>
          <p:cNvSpPr/>
          <p:nvPr/>
        </p:nvSpPr>
        <p:spPr>
          <a:xfrm>
            <a:off x="640080" y="2331720"/>
            <a:ext cx="2350008" cy="2011680"/>
          </a:xfrm>
          <a:prstGeom prst="rect">
            <a:avLst/>
          </a:prstGeom>
          <a:noFill/>
          <a:ln/>
        </p:spPr>
        <p:txBody>
          <a:bodyPr wrap="square" lIns="0" tIns="0" rIns="0" bIns="0" rtlCol="0" anchor="t"/>
          <a:lstStyle/>
          <a:p>
            <a:pPr marL="137160" indent="-137160">
              <a:buFont typeface="Arial" pitchFamily="34" charset="0"/>
              <a:buChar char="•"/>
            </a:pPr>
            <a:r>
              <a:rPr lang="en-US" sz="1000" dirty="0">
                <a:solidFill>
                  <a:srgbClr val="1A2B22"/>
                </a:solidFill>
                <a:latin typeface="Calibri" pitchFamily="34" charset="0"/>
                <a:ea typeface="Calibri" pitchFamily="34" charset="-122"/>
                <a:cs typeface="Calibri" pitchFamily="34" charset="-120"/>
              </a:rPr>
              <a:t>Where the Contract ID is created.</a:t>
            </a:r>
          </a:p>
          <a:p>
            <a:pPr marL="137160" indent="-137160">
              <a:buFont typeface="Arial" pitchFamily="34" charset="0"/>
              <a:buChar char="•"/>
            </a:pPr>
            <a:r>
              <a:rPr lang="en-US" sz="1000" dirty="0">
                <a:solidFill>
                  <a:srgbClr val="1A2B22"/>
                </a:solidFill>
                <a:latin typeface="Calibri" pitchFamily="34" charset="0"/>
                <a:ea typeface="Calibri" pitchFamily="34" charset="-122"/>
                <a:cs typeface="Calibri" pitchFamily="34" charset="-120"/>
              </a:rPr>
              <a:t>One row per source feed.</a:t>
            </a:r>
          </a:p>
          <a:p>
            <a:pPr marL="137160" indent="-137160">
              <a:buFont typeface="Arial" pitchFamily="34" charset="0"/>
              <a:buChar char="•"/>
            </a:pPr>
            <a:r>
              <a:rPr lang="en-US" sz="1000" dirty="0">
                <a:solidFill>
                  <a:srgbClr val="1A2B22"/>
                </a:solidFill>
                <a:latin typeface="Calibri" pitchFamily="34" charset="0"/>
                <a:ea typeface="Calibri" pitchFamily="34" charset="-122"/>
                <a:cs typeface="Calibri" pitchFamily="34" charset="-120"/>
              </a:rPr>
              <a:t>Captures app, source, domain, frequency, and data type.</a:t>
            </a:r>
          </a:p>
        </p:txBody>
      </p:sp>
      <p:sp>
        <p:nvSpPr>
          <p:cNvPr id="9" name="Shape 7"/>
          <p:cNvSpPr/>
          <p:nvPr/>
        </p:nvSpPr>
        <p:spPr>
          <a:xfrm>
            <a:off x="594360" y="4434840"/>
            <a:ext cx="2441448" cy="292608"/>
          </a:xfrm>
          <a:prstGeom prst="rect">
            <a:avLst/>
          </a:prstGeom>
          <a:solidFill>
            <a:srgbClr val="F4F1EB"/>
          </a:solidFill>
          <a:ln/>
        </p:spPr>
        <p:txBody>
          <a:bodyPr lIns="0" tIns="0" rIns="0" bIns="0"/>
          <a:lstStyle/>
          <a:p>
            <a:endParaRPr lang="en-US"/>
          </a:p>
        </p:txBody>
      </p:sp>
      <p:sp>
        <p:nvSpPr>
          <p:cNvPr id="10" name="Text 8"/>
          <p:cNvSpPr/>
          <p:nvPr/>
        </p:nvSpPr>
        <p:spPr>
          <a:xfrm>
            <a:off x="594360" y="4434840"/>
            <a:ext cx="2441448" cy="292608"/>
          </a:xfrm>
          <a:prstGeom prst="rect">
            <a:avLst/>
          </a:prstGeom>
          <a:noFill/>
          <a:ln/>
        </p:spPr>
        <p:txBody>
          <a:bodyPr wrap="square" lIns="0" tIns="0" rIns="0" bIns="0" rtlCol="0" anchor="ctr"/>
          <a:lstStyle/>
          <a:p>
            <a:pPr marL="0" indent="0" algn="ctr">
              <a:buNone/>
            </a:pPr>
            <a:r>
              <a:rPr lang="en-US" sz="1000" i="1" dirty="0">
                <a:solidFill>
                  <a:srgbClr val="1A5C38"/>
                </a:solidFill>
                <a:latin typeface="Calibri" pitchFamily="34" charset="0"/>
                <a:ea typeface="Calibri" pitchFamily="34" charset="-122"/>
                <a:cs typeface="Calibri" pitchFamily="34" charset="-120"/>
              </a:rPr>
              <a:t>Owned: App + Ingestion</a:t>
            </a:r>
            <a:endParaRPr lang="en-US" sz="1000" dirty="0"/>
          </a:p>
        </p:txBody>
      </p:sp>
      <p:sp>
        <p:nvSpPr>
          <p:cNvPr id="11" name="Shape 9"/>
          <p:cNvSpPr/>
          <p:nvPr/>
        </p:nvSpPr>
        <p:spPr>
          <a:xfrm>
            <a:off x="3310128" y="1554480"/>
            <a:ext cx="2715768" cy="640080"/>
          </a:xfrm>
          <a:prstGeom prst="rect">
            <a:avLst/>
          </a:prstGeom>
          <a:solidFill>
            <a:srgbClr val="2E8B57"/>
          </a:solidFill>
          <a:ln/>
        </p:spPr>
        <p:txBody>
          <a:bodyPr lIns="0" tIns="0" rIns="0" bIns="0"/>
          <a:lstStyle/>
          <a:p>
            <a:endParaRPr lang="en-US"/>
          </a:p>
        </p:txBody>
      </p:sp>
      <p:sp>
        <p:nvSpPr>
          <p:cNvPr id="12" name="Text 10"/>
          <p:cNvSpPr/>
          <p:nvPr/>
        </p:nvSpPr>
        <p:spPr>
          <a:xfrm>
            <a:off x="3447288" y="1645920"/>
            <a:ext cx="2441448" cy="201168"/>
          </a:xfrm>
          <a:prstGeom prst="rect">
            <a:avLst/>
          </a:prstGeom>
          <a:noFill/>
          <a:ln/>
        </p:spPr>
        <p:txBody>
          <a:bodyPr wrap="square" lIns="0" tIns="0" rIns="0" bIns="0" rtlCol="0" anchor="ctr"/>
          <a:lstStyle/>
          <a:p>
            <a:pPr marL="0" indent="0">
              <a:buNone/>
            </a:pPr>
            <a:r>
              <a:rPr lang="en-US" sz="850" b="1" kern="0" spc="0" dirty="0">
                <a:solidFill>
                  <a:srgbClr val="D6EFE1"/>
                </a:solidFill>
                <a:latin typeface="Calibri" pitchFamily="34" charset="0"/>
                <a:ea typeface="Calibri" pitchFamily="34" charset="-122"/>
                <a:cs typeface="Calibri" pitchFamily="34" charset="-120"/>
              </a:rPr>
              <a:t>TRAVELS WITH ENTITY</a:t>
            </a:r>
            <a:endParaRPr lang="en-US" sz="850" dirty="0"/>
          </a:p>
        </p:txBody>
      </p:sp>
      <p:sp>
        <p:nvSpPr>
          <p:cNvPr id="13" name="Text 11"/>
          <p:cNvSpPr/>
          <p:nvPr/>
        </p:nvSpPr>
        <p:spPr>
          <a:xfrm>
            <a:off x="3447288" y="1847088"/>
            <a:ext cx="2441448"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App Conformed (silver)</a:t>
            </a:r>
            <a:endParaRPr lang="en-US" sz="1300" dirty="0"/>
          </a:p>
        </p:txBody>
      </p:sp>
      <p:sp>
        <p:nvSpPr>
          <p:cNvPr id="14" name="Shape 12"/>
          <p:cNvSpPr/>
          <p:nvPr/>
        </p:nvSpPr>
        <p:spPr>
          <a:xfrm>
            <a:off x="3310128" y="2194560"/>
            <a:ext cx="2715768" cy="2651760"/>
          </a:xfrm>
          <a:prstGeom prst="rect">
            <a:avLst/>
          </a:prstGeom>
          <a:solidFill>
            <a:srgbClr val="FAF8F3"/>
          </a:solidFill>
          <a:ln w="12700">
            <a:solidFill>
              <a:srgbClr val="2E8B57"/>
            </a:solidFill>
            <a:prstDash val="solid"/>
          </a:ln>
        </p:spPr>
        <p:txBody>
          <a:bodyPr lIns="0" tIns="0" rIns="0" bIns="0"/>
          <a:lstStyle/>
          <a:p>
            <a:endParaRPr lang="en-US"/>
          </a:p>
        </p:txBody>
      </p:sp>
      <p:sp>
        <p:nvSpPr>
          <p:cNvPr id="15" name="Text 13"/>
          <p:cNvSpPr/>
          <p:nvPr/>
        </p:nvSpPr>
        <p:spPr>
          <a:xfrm>
            <a:off x="3493008" y="2331720"/>
            <a:ext cx="2350008" cy="2011680"/>
          </a:xfrm>
          <a:prstGeom prst="rect">
            <a:avLst/>
          </a:prstGeom>
          <a:noFill/>
          <a:ln/>
        </p:spPr>
        <p:txBody>
          <a:bodyPr wrap="square" lIns="0" tIns="0" rIns="0" bIns="0" rtlCol="0" anchor="t"/>
          <a:lstStyle/>
          <a:p>
            <a:pPr marL="137160" indent="-137160">
              <a:buFont typeface="Arial" pitchFamily="34" charset="0"/>
              <a:buChar char="•"/>
            </a:pPr>
            <a:r>
              <a:rPr lang="en-US" sz="1000" dirty="0">
                <a:solidFill>
                  <a:srgbClr val="1A2B22"/>
                </a:solidFill>
                <a:latin typeface="Calibri" pitchFamily="34" charset="0"/>
                <a:ea typeface="Calibri" pitchFamily="34" charset="-122"/>
                <a:cs typeface="Calibri" pitchFamily="34" charset="-120"/>
              </a:rPr>
              <a:t>Each conformed entity carries its Contract ID.</a:t>
            </a:r>
          </a:p>
          <a:p>
            <a:pPr marL="137160" indent="-137160">
              <a:buFont typeface="Arial" pitchFamily="34" charset="0"/>
              <a:buChar char="•"/>
            </a:pPr>
            <a:r>
              <a:rPr lang="en-US" sz="1000" dirty="0">
                <a:solidFill>
                  <a:srgbClr val="1A2B22"/>
                </a:solidFill>
                <a:latin typeface="Calibri" pitchFamily="34" charset="0"/>
                <a:ea typeface="Calibri" pitchFamily="34" charset="-122"/>
                <a:cs typeface="Calibri" pitchFamily="34" charset="-120"/>
              </a:rPr>
              <a:t>Links the entity to the source feeding it today.</a:t>
            </a:r>
          </a:p>
          <a:p>
            <a:pPr marL="137160" indent="-137160">
              <a:buFont typeface="Arial" pitchFamily="34" charset="0"/>
              <a:buChar char="•"/>
            </a:pPr>
            <a:r>
              <a:rPr lang="en-US" sz="1000" dirty="0">
                <a:solidFill>
                  <a:srgbClr val="1A2B22"/>
                </a:solidFill>
                <a:latin typeface="Calibri" pitchFamily="34" charset="0"/>
                <a:ea typeface="Calibri" pitchFamily="34" charset="-122"/>
                <a:cs typeface="Calibri" pitchFamily="34" charset="-120"/>
              </a:rPr>
              <a:t>The ID moves forward with the data.</a:t>
            </a:r>
          </a:p>
        </p:txBody>
      </p:sp>
      <p:sp>
        <p:nvSpPr>
          <p:cNvPr id="16" name="Shape 14"/>
          <p:cNvSpPr/>
          <p:nvPr/>
        </p:nvSpPr>
        <p:spPr>
          <a:xfrm>
            <a:off x="3447288" y="4434840"/>
            <a:ext cx="2441448" cy="292608"/>
          </a:xfrm>
          <a:prstGeom prst="rect">
            <a:avLst/>
          </a:prstGeom>
          <a:solidFill>
            <a:srgbClr val="F4F1EB"/>
          </a:solidFill>
          <a:ln/>
        </p:spPr>
        <p:txBody>
          <a:bodyPr lIns="0" tIns="0" rIns="0" bIns="0"/>
          <a:lstStyle/>
          <a:p>
            <a:endParaRPr lang="en-US"/>
          </a:p>
        </p:txBody>
      </p:sp>
      <p:sp>
        <p:nvSpPr>
          <p:cNvPr id="17" name="Text 15"/>
          <p:cNvSpPr/>
          <p:nvPr/>
        </p:nvSpPr>
        <p:spPr>
          <a:xfrm>
            <a:off x="3447288" y="4434840"/>
            <a:ext cx="2441448" cy="292608"/>
          </a:xfrm>
          <a:prstGeom prst="rect">
            <a:avLst/>
          </a:prstGeom>
          <a:noFill/>
          <a:ln/>
        </p:spPr>
        <p:txBody>
          <a:bodyPr wrap="square" lIns="0" tIns="0" rIns="0" bIns="0" rtlCol="0" anchor="ctr"/>
          <a:lstStyle/>
          <a:p>
            <a:pPr marL="0" indent="0" algn="ctr">
              <a:buNone/>
            </a:pPr>
            <a:r>
              <a:rPr lang="en-US" sz="1000" i="1" dirty="0">
                <a:solidFill>
                  <a:srgbClr val="2E8B57"/>
                </a:solidFill>
                <a:latin typeface="Calibri" pitchFamily="34" charset="0"/>
                <a:ea typeface="Calibri" pitchFamily="34" charset="-122"/>
                <a:cs typeface="Calibri" pitchFamily="34" charset="-120"/>
              </a:rPr>
              <a:t>Owned: App team</a:t>
            </a:r>
            <a:endParaRPr lang="en-US" sz="1000" dirty="0"/>
          </a:p>
        </p:txBody>
      </p:sp>
      <p:sp>
        <p:nvSpPr>
          <p:cNvPr id="18" name="Shape 16"/>
          <p:cNvSpPr/>
          <p:nvPr/>
        </p:nvSpPr>
        <p:spPr>
          <a:xfrm>
            <a:off x="6163056" y="1554480"/>
            <a:ext cx="2715768" cy="640080"/>
          </a:xfrm>
          <a:prstGeom prst="rect">
            <a:avLst/>
          </a:prstGeom>
          <a:solidFill>
            <a:srgbClr val="2E8B57"/>
          </a:solidFill>
          <a:ln/>
        </p:spPr>
        <p:txBody>
          <a:bodyPr lIns="0" tIns="0" rIns="0" bIns="0"/>
          <a:lstStyle/>
          <a:p>
            <a:endParaRPr lang="en-US"/>
          </a:p>
        </p:txBody>
      </p:sp>
      <p:sp>
        <p:nvSpPr>
          <p:cNvPr id="19" name="Text 17"/>
          <p:cNvSpPr/>
          <p:nvPr/>
        </p:nvSpPr>
        <p:spPr>
          <a:xfrm>
            <a:off x="6300216" y="1645920"/>
            <a:ext cx="2441448" cy="201168"/>
          </a:xfrm>
          <a:prstGeom prst="rect">
            <a:avLst/>
          </a:prstGeom>
          <a:noFill/>
          <a:ln/>
        </p:spPr>
        <p:txBody>
          <a:bodyPr wrap="square" lIns="0" tIns="0" rIns="0" bIns="0" rtlCol="0" anchor="ctr"/>
          <a:lstStyle/>
          <a:p>
            <a:pPr marL="0" indent="0">
              <a:buNone/>
            </a:pPr>
            <a:r>
              <a:rPr lang="en-US" sz="850" b="1" kern="0" spc="0" dirty="0">
                <a:solidFill>
                  <a:srgbClr val="D6EFE1"/>
                </a:solidFill>
                <a:latin typeface="Calibri" pitchFamily="34" charset="0"/>
                <a:ea typeface="Calibri" pitchFamily="34" charset="-122"/>
                <a:cs typeface="Calibri" pitchFamily="34" charset="-120"/>
              </a:rPr>
              <a:t>MAINTAINED</a:t>
            </a:r>
            <a:endParaRPr lang="en-US" sz="850" dirty="0"/>
          </a:p>
        </p:txBody>
      </p:sp>
      <p:sp>
        <p:nvSpPr>
          <p:cNvPr id="20" name="Text 18"/>
          <p:cNvSpPr/>
          <p:nvPr/>
        </p:nvSpPr>
        <p:spPr>
          <a:xfrm>
            <a:off x="6300216" y="1847088"/>
            <a:ext cx="2441448"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Risk Conformed Entity</a:t>
            </a:r>
            <a:endParaRPr lang="en-US" sz="1300" dirty="0"/>
          </a:p>
        </p:txBody>
      </p:sp>
      <p:sp>
        <p:nvSpPr>
          <p:cNvPr id="21" name="Shape 19"/>
          <p:cNvSpPr/>
          <p:nvPr/>
        </p:nvSpPr>
        <p:spPr>
          <a:xfrm>
            <a:off x="6163056" y="2194560"/>
            <a:ext cx="2715768" cy="2651760"/>
          </a:xfrm>
          <a:prstGeom prst="rect">
            <a:avLst/>
          </a:prstGeom>
          <a:solidFill>
            <a:srgbClr val="FAF8F3"/>
          </a:solidFill>
          <a:ln w="12700">
            <a:solidFill>
              <a:srgbClr val="2E8B57"/>
            </a:solidFill>
            <a:prstDash val="solid"/>
          </a:ln>
        </p:spPr>
        <p:txBody>
          <a:bodyPr lIns="0" tIns="0" rIns="0" bIns="0"/>
          <a:lstStyle/>
          <a:p>
            <a:endParaRPr lang="en-US"/>
          </a:p>
        </p:txBody>
      </p:sp>
      <p:sp>
        <p:nvSpPr>
          <p:cNvPr id="22" name="Text 20"/>
          <p:cNvSpPr/>
          <p:nvPr/>
        </p:nvSpPr>
        <p:spPr>
          <a:xfrm>
            <a:off x="6345936" y="2331720"/>
            <a:ext cx="2350008" cy="2011680"/>
          </a:xfrm>
          <a:prstGeom prst="rect">
            <a:avLst/>
          </a:prstGeom>
          <a:noFill/>
          <a:ln/>
        </p:spPr>
        <p:txBody>
          <a:bodyPr wrap="square" lIns="0" tIns="0" rIns="0" bIns="0" rtlCol="0" anchor="t"/>
          <a:lstStyle/>
          <a:p>
            <a:pPr marL="137160" indent="-137160">
              <a:buFont typeface="Arial" pitchFamily="34" charset="0"/>
              <a:buChar char="•"/>
            </a:pPr>
            <a:r>
              <a:rPr lang="en-US" sz="1000" dirty="0">
                <a:solidFill>
                  <a:srgbClr val="1A2B22"/>
                </a:solidFill>
                <a:latin typeface="Calibri" pitchFamily="34" charset="0"/>
                <a:ea typeface="Calibri" pitchFamily="34" charset="-122"/>
                <a:cs typeface="Calibri" pitchFamily="34" charset="-120"/>
              </a:rPr>
              <a:t>One entity can draw from more than one source.</a:t>
            </a:r>
          </a:p>
          <a:p>
            <a:pPr marL="137160" indent="-137160">
              <a:buFont typeface="Arial" pitchFamily="34" charset="0"/>
              <a:buChar char="•"/>
            </a:pPr>
            <a:r>
              <a:rPr lang="en-US" sz="1000" dirty="0">
                <a:solidFill>
                  <a:srgbClr val="1A2B22"/>
                </a:solidFill>
                <a:latin typeface="Calibri" pitchFamily="34" charset="0"/>
                <a:ea typeface="Calibri" pitchFamily="34" charset="-122"/>
                <a:cs typeface="Calibri" pitchFamily="34" charset="-120"/>
              </a:rPr>
              <a:t>Uses the CDM feed where CDM covers the entity.</a:t>
            </a:r>
          </a:p>
          <a:p>
            <a:pPr marL="137160" indent="-137160">
              <a:buFont typeface="Arial" pitchFamily="34" charset="0"/>
              <a:buChar char="•"/>
            </a:pPr>
            <a:r>
              <a:rPr lang="en-US" sz="1000" dirty="0">
                <a:solidFill>
                  <a:srgbClr val="1A2B22"/>
                </a:solidFill>
                <a:latin typeface="Calibri" pitchFamily="34" charset="0"/>
                <a:ea typeface="Calibri" pitchFamily="34" charset="-122"/>
                <a:cs typeface="Calibri" pitchFamily="34" charset="-120"/>
              </a:rPr>
              <a:t>Uses an alternate feed where CDM has a gap.</a:t>
            </a:r>
          </a:p>
          <a:p>
            <a:pPr marL="137160" indent="-137160">
              <a:buFont typeface="Arial" pitchFamily="34" charset="0"/>
              <a:buChar char="•"/>
            </a:pPr>
            <a:r>
              <a:rPr lang="en-US" sz="1000" dirty="0">
                <a:solidFill>
                  <a:srgbClr val="1A2B22"/>
                </a:solidFill>
                <a:latin typeface="Calibri" pitchFamily="34" charset="0"/>
                <a:ea typeface="Calibri" pitchFamily="34" charset="-122"/>
                <a:cs typeface="Calibri" pitchFamily="34" charset="-120"/>
              </a:rPr>
              <a:t>Each source keeps its own Contract ID.</a:t>
            </a:r>
          </a:p>
        </p:txBody>
      </p:sp>
      <p:sp>
        <p:nvSpPr>
          <p:cNvPr id="23" name="Shape 21"/>
          <p:cNvSpPr/>
          <p:nvPr/>
        </p:nvSpPr>
        <p:spPr>
          <a:xfrm>
            <a:off x="6300216" y="4434840"/>
            <a:ext cx="2441448" cy="292608"/>
          </a:xfrm>
          <a:prstGeom prst="rect">
            <a:avLst/>
          </a:prstGeom>
          <a:solidFill>
            <a:srgbClr val="F4F1EB"/>
          </a:solidFill>
          <a:ln/>
        </p:spPr>
        <p:txBody>
          <a:bodyPr lIns="0" tIns="0" rIns="0" bIns="0"/>
          <a:lstStyle/>
          <a:p>
            <a:endParaRPr lang="en-US"/>
          </a:p>
        </p:txBody>
      </p:sp>
      <p:sp>
        <p:nvSpPr>
          <p:cNvPr id="24" name="Text 22"/>
          <p:cNvSpPr/>
          <p:nvPr/>
        </p:nvSpPr>
        <p:spPr>
          <a:xfrm>
            <a:off x="6300216" y="4434840"/>
            <a:ext cx="2441448" cy="292608"/>
          </a:xfrm>
          <a:prstGeom prst="rect">
            <a:avLst/>
          </a:prstGeom>
          <a:noFill/>
          <a:ln/>
        </p:spPr>
        <p:txBody>
          <a:bodyPr wrap="square" lIns="0" tIns="0" rIns="0" bIns="0" rtlCol="0" anchor="ctr"/>
          <a:lstStyle/>
          <a:p>
            <a:pPr marL="0" indent="0" algn="ctr">
              <a:buNone/>
            </a:pPr>
            <a:r>
              <a:rPr lang="en-US" sz="1000" i="1" dirty="0">
                <a:solidFill>
                  <a:srgbClr val="2E8B57"/>
                </a:solidFill>
                <a:latin typeface="Calibri" pitchFamily="34" charset="0"/>
                <a:ea typeface="Calibri" pitchFamily="34" charset="-122"/>
                <a:cs typeface="Calibri" pitchFamily="34" charset="-120"/>
              </a:rPr>
              <a:t>Owned: Ingestion team</a:t>
            </a:r>
            <a:endParaRPr lang="en-US" sz="1000" dirty="0"/>
          </a:p>
        </p:txBody>
      </p:sp>
      <p:sp>
        <p:nvSpPr>
          <p:cNvPr id="25" name="Shape 23"/>
          <p:cNvSpPr/>
          <p:nvPr/>
        </p:nvSpPr>
        <p:spPr>
          <a:xfrm>
            <a:off x="9015984" y="1554480"/>
            <a:ext cx="2715768" cy="640080"/>
          </a:xfrm>
          <a:prstGeom prst="rect">
            <a:avLst/>
          </a:prstGeom>
          <a:solidFill>
            <a:srgbClr val="1A5C38"/>
          </a:solidFill>
          <a:ln/>
        </p:spPr>
        <p:txBody>
          <a:bodyPr lIns="0" tIns="0" rIns="0" bIns="0"/>
          <a:lstStyle/>
          <a:p>
            <a:endParaRPr lang="en-US"/>
          </a:p>
        </p:txBody>
      </p:sp>
      <p:sp>
        <p:nvSpPr>
          <p:cNvPr id="26" name="Text 24"/>
          <p:cNvSpPr/>
          <p:nvPr/>
        </p:nvSpPr>
        <p:spPr>
          <a:xfrm>
            <a:off x="9153144" y="1645920"/>
            <a:ext cx="2441448" cy="201168"/>
          </a:xfrm>
          <a:prstGeom prst="rect">
            <a:avLst/>
          </a:prstGeom>
          <a:noFill/>
          <a:ln/>
        </p:spPr>
        <p:txBody>
          <a:bodyPr wrap="square" lIns="0" tIns="0" rIns="0" bIns="0" rtlCol="0" anchor="ctr"/>
          <a:lstStyle/>
          <a:p>
            <a:pPr marL="0" indent="0">
              <a:buNone/>
            </a:pPr>
            <a:r>
              <a:rPr lang="en-US" sz="850" b="1" kern="0" spc="0" dirty="0">
                <a:solidFill>
                  <a:srgbClr val="D6EFE1"/>
                </a:solidFill>
                <a:latin typeface="Calibri" pitchFamily="34" charset="0"/>
                <a:ea typeface="Calibri" pitchFamily="34" charset="-122"/>
                <a:cs typeface="Calibri" pitchFamily="34" charset="-120"/>
              </a:rPr>
              <a:t>PUBLISHED UPWARD</a:t>
            </a:r>
            <a:endParaRPr lang="en-US" sz="850" dirty="0"/>
          </a:p>
        </p:txBody>
      </p:sp>
      <p:sp>
        <p:nvSpPr>
          <p:cNvPr id="27" name="Text 25"/>
          <p:cNvSpPr/>
          <p:nvPr/>
        </p:nvSpPr>
        <p:spPr>
          <a:xfrm>
            <a:off x="9153144" y="1847088"/>
            <a:ext cx="2441448"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Enterprise CDM</a:t>
            </a:r>
            <a:endParaRPr lang="en-US" sz="1300" dirty="0"/>
          </a:p>
        </p:txBody>
      </p:sp>
      <p:sp>
        <p:nvSpPr>
          <p:cNvPr id="28" name="Shape 26"/>
          <p:cNvSpPr/>
          <p:nvPr/>
        </p:nvSpPr>
        <p:spPr>
          <a:xfrm>
            <a:off x="9015984" y="2194560"/>
            <a:ext cx="2715768" cy="2651760"/>
          </a:xfrm>
          <a:prstGeom prst="rect">
            <a:avLst/>
          </a:prstGeom>
          <a:solidFill>
            <a:srgbClr val="FAF8F3"/>
          </a:solidFill>
          <a:ln w="12700">
            <a:solidFill>
              <a:srgbClr val="1A5C38"/>
            </a:solidFill>
            <a:prstDash val="solid"/>
          </a:ln>
        </p:spPr>
        <p:txBody>
          <a:bodyPr lIns="0" tIns="0" rIns="0" bIns="0"/>
          <a:lstStyle/>
          <a:p>
            <a:endParaRPr lang="en-US"/>
          </a:p>
        </p:txBody>
      </p:sp>
      <p:sp>
        <p:nvSpPr>
          <p:cNvPr id="29" name="Text 27"/>
          <p:cNvSpPr/>
          <p:nvPr/>
        </p:nvSpPr>
        <p:spPr>
          <a:xfrm>
            <a:off x="9198864" y="2331720"/>
            <a:ext cx="2350008" cy="2011680"/>
          </a:xfrm>
          <a:prstGeom prst="rect">
            <a:avLst/>
          </a:prstGeom>
          <a:noFill/>
          <a:ln/>
        </p:spPr>
        <p:txBody>
          <a:bodyPr wrap="square" lIns="0" tIns="0" rIns="0" bIns="0" rtlCol="0" anchor="t"/>
          <a:lstStyle/>
          <a:p>
            <a:pPr marL="137160" indent="-137160">
              <a:buFont typeface="Arial" pitchFamily="34" charset="0"/>
              <a:buChar char="•"/>
            </a:pPr>
            <a:r>
              <a:rPr lang="en-US" sz="1000" dirty="0">
                <a:solidFill>
                  <a:srgbClr val="1A2B22"/>
                </a:solidFill>
                <a:latin typeface="Calibri" pitchFamily="34" charset="0"/>
                <a:ea typeface="Calibri" pitchFamily="34" charset="-122"/>
                <a:cs typeface="Calibri" pitchFamily="34" charset="-120"/>
              </a:rPr>
              <a:t>CDM keeps the Contract ID of what it ingests.</a:t>
            </a:r>
          </a:p>
          <a:p>
            <a:pPr marL="137160" indent="-137160">
              <a:buFont typeface="Arial" pitchFamily="34" charset="0"/>
              <a:buChar char="•"/>
            </a:pPr>
            <a:r>
              <a:rPr lang="en-US" sz="1000" dirty="0">
                <a:solidFill>
                  <a:srgbClr val="1A2B22"/>
                </a:solidFill>
                <a:latin typeface="Calibri" pitchFamily="34" charset="0"/>
                <a:ea typeface="Calibri" pitchFamily="34" charset="-122"/>
                <a:cs typeface="Calibri" pitchFamily="34" charset="-120"/>
              </a:rPr>
              <a:t>Gives end-to-end lineage: source → entity → CDM.</a:t>
            </a:r>
          </a:p>
        </p:txBody>
      </p:sp>
      <p:sp>
        <p:nvSpPr>
          <p:cNvPr id="30" name="Shape 28"/>
          <p:cNvSpPr/>
          <p:nvPr/>
        </p:nvSpPr>
        <p:spPr>
          <a:xfrm>
            <a:off x="9153144" y="4434840"/>
            <a:ext cx="2441448" cy="292608"/>
          </a:xfrm>
          <a:prstGeom prst="rect">
            <a:avLst/>
          </a:prstGeom>
          <a:solidFill>
            <a:srgbClr val="F4F1EB"/>
          </a:solidFill>
          <a:ln/>
        </p:spPr>
        <p:txBody>
          <a:bodyPr lIns="0" tIns="0" rIns="0" bIns="0"/>
          <a:lstStyle/>
          <a:p>
            <a:endParaRPr lang="en-US"/>
          </a:p>
        </p:txBody>
      </p:sp>
      <p:sp>
        <p:nvSpPr>
          <p:cNvPr id="31" name="Text 29"/>
          <p:cNvSpPr/>
          <p:nvPr/>
        </p:nvSpPr>
        <p:spPr>
          <a:xfrm>
            <a:off x="9153144" y="4434840"/>
            <a:ext cx="2441448" cy="292608"/>
          </a:xfrm>
          <a:prstGeom prst="rect">
            <a:avLst/>
          </a:prstGeom>
          <a:noFill/>
          <a:ln/>
        </p:spPr>
        <p:txBody>
          <a:bodyPr wrap="square" lIns="0" tIns="0" rIns="0" bIns="0" rtlCol="0" anchor="ctr"/>
          <a:lstStyle/>
          <a:p>
            <a:pPr marL="0" indent="0" algn="ctr">
              <a:buNone/>
            </a:pPr>
            <a:r>
              <a:rPr lang="en-US" sz="1000" i="1" dirty="0">
                <a:solidFill>
                  <a:srgbClr val="1A5C38"/>
                </a:solidFill>
                <a:latin typeface="Calibri" pitchFamily="34" charset="0"/>
                <a:ea typeface="Calibri" pitchFamily="34" charset="-122"/>
                <a:cs typeface="Calibri" pitchFamily="34" charset="-120"/>
              </a:rPr>
              <a:t>Owned: CDM team</a:t>
            </a:r>
            <a:endParaRPr lang="en-US" sz="1000" dirty="0"/>
          </a:p>
        </p:txBody>
      </p:sp>
      <p:sp>
        <p:nvSpPr>
          <p:cNvPr id="32" name="Shape 30"/>
          <p:cNvSpPr/>
          <p:nvPr/>
        </p:nvSpPr>
        <p:spPr>
          <a:xfrm>
            <a:off x="457200" y="5029200"/>
            <a:ext cx="11274552" cy="1188720"/>
          </a:xfrm>
          <a:prstGeom prst="rect">
            <a:avLst/>
          </a:prstGeom>
          <a:solidFill>
            <a:srgbClr val="EEF7F0"/>
          </a:solidFill>
          <a:ln w="12700">
            <a:solidFill>
              <a:srgbClr val="1A5C38"/>
            </a:solidFill>
            <a:prstDash val="solid"/>
          </a:ln>
        </p:spPr>
        <p:txBody>
          <a:bodyPr lIns="0" tIns="0" rIns="0" bIns="0"/>
          <a:lstStyle/>
          <a:p>
            <a:endParaRPr lang="en-US"/>
          </a:p>
        </p:txBody>
      </p:sp>
      <p:sp>
        <p:nvSpPr>
          <p:cNvPr id="33" name="Text 31"/>
          <p:cNvSpPr/>
          <p:nvPr/>
        </p:nvSpPr>
        <p:spPr>
          <a:xfrm>
            <a:off x="640080" y="5138928"/>
            <a:ext cx="1828800" cy="201168"/>
          </a:xfrm>
          <a:prstGeom prst="rect">
            <a:avLst/>
          </a:prstGeom>
          <a:noFill/>
          <a:ln/>
        </p:spPr>
        <p:txBody>
          <a:bodyPr wrap="square" lIns="0" tIns="0" rIns="0" bIns="0" rtlCol="0" anchor="ctr"/>
          <a:lstStyle/>
          <a:p>
            <a:pPr marL="0" indent="0">
              <a:buNone/>
            </a:pPr>
            <a:r>
              <a:rPr lang="en-US" sz="900" b="1" kern="0" spc="0" dirty="0">
                <a:solidFill>
                  <a:srgbClr val="1A5C38"/>
                </a:solidFill>
                <a:latin typeface="Calibri" pitchFamily="34" charset="0"/>
                <a:ea typeface="Calibri" pitchFamily="34" charset="-122"/>
                <a:cs typeface="Calibri" pitchFamily="34" charset="-120"/>
              </a:rPr>
              <a:t>KEY PRINCIPLE</a:t>
            </a:r>
            <a:endParaRPr lang="en-US" sz="900" dirty="0"/>
          </a:p>
        </p:txBody>
      </p:sp>
      <p:sp>
        <p:nvSpPr>
          <p:cNvPr id="34" name="Text 32"/>
          <p:cNvSpPr/>
          <p:nvPr/>
        </p:nvSpPr>
        <p:spPr>
          <a:xfrm>
            <a:off x="640080" y="5394960"/>
            <a:ext cx="10908792" cy="365760"/>
          </a:xfrm>
          <a:prstGeom prst="rect">
            <a:avLst/>
          </a:prstGeom>
          <a:noFill/>
          <a:ln/>
        </p:spPr>
        <p:txBody>
          <a:bodyPr wrap="square" lIns="0" tIns="0" rIns="0" bIns="0" rtlCol="0" anchor="ctr"/>
          <a:lstStyle/>
          <a:p>
            <a:pPr marL="0" indent="0">
              <a:buNone/>
            </a:pPr>
            <a:r>
              <a:rPr lang="en-US" sz="1150" dirty="0">
                <a:solidFill>
                  <a:srgbClr val="1A2B22"/>
                </a:solidFill>
                <a:latin typeface="Calibri" pitchFamily="34" charset="0"/>
                <a:ea typeface="Calibri" pitchFamily="34" charset="-122"/>
                <a:cs typeface="Calibri" pitchFamily="34" charset="-120"/>
              </a:rPr>
              <a:t>When a source switches to CDM, </a:t>
            </a:r>
            <a:r>
              <a:rPr lang="en-US" sz="1150" b="1" dirty="0">
                <a:solidFill>
                  <a:srgbClr val="1A5C38"/>
                </a:solidFill>
                <a:latin typeface="Calibri" pitchFamily="34" charset="0"/>
                <a:ea typeface="Calibri" pitchFamily="34" charset="-122"/>
                <a:cs typeface="Calibri" pitchFamily="34" charset="-120"/>
              </a:rPr>
              <a:t>only the Contract ID changes</a:t>
            </a:r>
            <a:r>
              <a:rPr lang="en-US" sz="1150" dirty="0">
                <a:solidFill>
                  <a:srgbClr val="1A2B22"/>
                </a:solidFill>
                <a:latin typeface="Calibri" pitchFamily="34" charset="0"/>
                <a:ea typeface="Calibri" pitchFamily="34" charset="-122"/>
                <a:cs typeface="Calibri" pitchFamily="34" charset="-120"/>
              </a:rPr>
              <a:t> — the entity definition and app consumption are unchanged.</a:t>
            </a:r>
            <a:endParaRPr lang="en-US" sz="1150" dirty="0"/>
          </a:p>
        </p:txBody>
      </p:sp>
      <p:sp>
        <p:nvSpPr>
          <p:cNvPr id="35" name="Text 33"/>
          <p:cNvSpPr/>
          <p:nvPr/>
        </p:nvSpPr>
        <p:spPr>
          <a:xfrm>
            <a:off x="640080" y="5779008"/>
            <a:ext cx="10908792" cy="365760"/>
          </a:xfrm>
          <a:prstGeom prst="rect">
            <a:avLst/>
          </a:prstGeom>
          <a:noFill/>
          <a:ln/>
        </p:spPr>
        <p:txBody>
          <a:bodyPr wrap="square" lIns="0" tIns="0" rIns="0" bIns="0" rtlCol="0" anchor="ctr"/>
          <a:lstStyle/>
          <a:p>
            <a:pPr marL="0" indent="0">
              <a:buNone/>
            </a:pPr>
            <a:r>
              <a:rPr lang="en-US" sz="1050" i="1" dirty="0">
                <a:solidFill>
                  <a:srgbClr val="3D5247"/>
                </a:solidFill>
                <a:latin typeface="Calibri" pitchFamily="34" charset="0"/>
                <a:ea typeface="Calibri" pitchFamily="34" charset="-122"/>
                <a:cs typeface="Calibri" pitchFamily="34" charset="-120"/>
              </a:rPr>
              <a:t>Risk-owned enrichments (netting set, CSA terms, regulatory regime) carry their own Contract ID permanently — these never migrate to CDM.</a:t>
            </a:r>
            <a:endParaRPr lang="en-US" sz="1050" dirty="0"/>
          </a:p>
        </p:txBody>
      </p:sp>
      <p:sp>
        <p:nvSpPr>
          <p:cNvPr id="36" name="Text 34"/>
          <p:cNvSpPr/>
          <p:nvPr/>
        </p:nvSpPr>
        <p:spPr>
          <a:xfrm>
            <a:off x="457200" y="6565392"/>
            <a:ext cx="8229600" cy="201168"/>
          </a:xfrm>
          <a:prstGeom prst="rect">
            <a:avLst/>
          </a:prstGeom>
          <a:noFill/>
          <a:ln/>
        </p:spPr>
        <p:txBody>
          <a:bodyPr wrap="square" lIns="0" tIns="0" rIns="0" bIns="0" rtlCol="0" anchor="ctr"/>
          <a:lstStyle/>
          <a:p>
            <a:pPr marL="0" indent="0">
              <a:buNone/>
            </a:pPr>
            <a:r>
              <a:rPr lang="en-US" sz="900" i="1" dirty="0">
                <a:solidFill>
                  <a:srgbClr val="7F8C84"/>
                </a:solidFill>
                <a:latin typeface="Calibri" pitchFamily="34" charset="0"/>
                <a:ea typeface="Calibri" pitchFamily="34" charset="-122"/>
                <a:cs typeface="Calibri" pitchFamily="34" charset="-120"/>
              </a:rPr>
              <a:t>TD Securities · Risk Data Platform · Working Draft</a:t>
            </a:r>
            <a:endParaRPr lang="en-US" sz="900" dirty="0"/>
          </a:p>
        </p:txBody>
      </p:sp>
      <p:sp>
        <p:nvSpPr>
          <p:cNvPr id="37" name="Text 35"/>
          <p:cNvSpPr/>
          <p:nvPr/>
        </p:nvSpPr>
        <p:spPr>
          <a:xfrm>
            <a:off x="11548872" y="6565392"/>
            <a:ext cx="365760" cy="201168"/>
          </a:xfrm>
          <a:prstGeom prst="rect">
            <a:avLst/>
          </a:prstGeom>
          <a:noFill/>
          <a:ln/>
        </p:spPr>
        <p:txBody>
          <a:bodyPr wrap="square" lIns="0" tIns="0" rIns="0" bIns="0" rtlCol="0" anchor="ctr"/>
          <a:lstStyle/>
          <a:p>
            <a:pPr marL="0" indent="0" algn="r">
              <a:buNone/>
            </a:pPr>
            <a:r>
              <a:rPr lang="en-US" sz="900" dirty="0">
                <a:solidFill>
                  <a:srgbClr val="7F8C8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7F0"/>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4552" cy="548640"/>
          </a:xfrm>
          <a:prstGeom prst="rect">
            <a:avLst/>
          </a:prstGeom>
          <a:noFill/>
          <a:ln/>
        </p:spPr>
        <p:txBody>
          <a:bodyPr wrap="square" lIns="0" tIns="0" rIns="0" bIns="0" rtlCol="0" anchor="ctr"/>
          <a:lstStyle/>
          <a:p>
            <a:pPr marL="0" indent="0">
              <a:buNone/>
            </a:pPr>
            <a:r>
              <a:rPr lang="en-US" sz="2800" b="1" dirty="0">
                <a:solidFill>
                  <a:srgbClr val="1A5C38"/>
                </a:solidFill>
                <a:latin typeface="Calibri" pitchFamily="34" charset="0"/>
                <a:ea typeface="Calibri" pitchFamily="34" charset="-122"/>
                <a:cs typeface="Calibri" pitchFamily="34" charset="-120"/>
              </a:rPr>
              <a:t>Populate forward · migrate backward</a:t>
            </a:r>
            <a:endParaRPr lang="en-US" sz="2800" dirty="0"/>
          </a:p>
        </p:txBody>
      </p:sp>
      <p:sp>
        <p:nvSpPr>
          <p:cNvPr id="3" name="Text 1"/>
          <p:cNvSpPr/>
          <p:nvPr/>
        </p:nvSpPr>
        <p:spPr>
          <a:xfrm>
            <a:off x="457200" y="914400"/>
            <a:ext cx="11274552" cy="320040"/>
          </a:xfrm>
          <a:prstGeom prst="rect">
            <a:avLst/>
          </a:prstGeom>
          <a:noFill/>
          <a:ln/>
        </p:spPr>
        <p:txBody>
          <a:bodyPr wrap="square" lIns="0" tIns="0" rIns="0" bIns="0" rtlCol="0" anchor="ctr"/>
          <a:lstStyle/>
          <a:p>
            <a:pPr marL="0" indent="0">
              <a:buNone/>
            </a:pPr>
            <a:r>
              <a:rPr lang="en-US" sz="1300" i="1" dirty="0">
                <a:solidFill>
                  <a:srgbClr val="3D5247"/>
                </a:solidFill>
                <a:latin typeface="Calibri" pitchFamily="34" charset="0"/>
                <a:ea typeface="Calibri" pitchFamily="34" charset="-122"/>
                <a:cs typeface="Calibri" pitchFamily="34" charset="-120"/>
              </a:rPr>
              <a:t>Risk apps feed the conformed model and consume it back — one continuous loop. CDM aligns where needed.</a:t>
            </a:r>
            <a:endParaRPr lang="en-US" sz="1300" dirty="0"/>
          </a:p>
        </p:txBody>
      </p:sp>
      <p:sp>
        <p:nvSpPr>
          <p:cNvPr id="200" name="node-top"/>
          <p:cNvSpPr/>
          <p:nvPr/>
        </p:nvSpPr>
        <p:spPr>
          <a:xfrm>
            <a:off x="3100000" y="1690000"/>
            <a:ext cx="2500000" cy="820000"/>
          </a:xfrm>
          <a:prstGeom prst="roundRect">
            <a:avLst/>
          </a:prstGeom>
          <a:solidFill>
            <a:srgbClr val="EEF7F0"/>
          </a:solidFill>
          <a:ln w="19050">
            <a:solidFill>
              <a:srgbClr val="2E8B57"/>
            </a:solidFill>
          </a:ln>
        </p:spPr>
        <p:txBody>
          <a:bodyPr wrap="square" lIns="72000" tIns="18000" rIns="72000" bIns="18000" rtlCol="0" anchor="ctr"/>
          <a:lstStyle/>
          <a:p>
            <a:pPr algn="ctr"/>
            <a:r>
              <a:rPr lang="en-US" sz="1100" b="1" dirty="0">
                <a:solidFill>
                  <a:srgbClr val="1A5C38"/>
                </a:solidFill>
                <a:latin typeface="Calibri" pitchFamily="34" charset="0"/>
                <a:cs typeface="Calibri" pitchFamily="34" charset="-120"/>
              </a:rPr>
              <a:t>Risk apps generate data</a:t>
            </a:r>
          </a:p>
          <a:p>
            <a:pPr algn="ctr"/>
            <a:r>
              <a:rPr lang="en-US" sz="900" i="1" dirty="0">
                <a:solidFill>
                  <a:srgbClr val="7F8C84"/>
                </a:solidFill>
                <a:latin typeface="Calibri" pitchFamily="34" charset="0"/>
                <a:cs typeface="Calibri" pitchFamily="34" charset="-120"/>
              </a:rPr>
              <a:t>populate forward</a:t>
            </a:r>
          </a:p>
        </p:txBody>
      </p:sp>
      <p:sp>
        <p:nvSpPr>
          <p:cNvPr id="201" name="node-right"/>
          <p:cNvSpPr/>
          <p:nvPr/>
        </p:nvSpPr>
        <p:spPr>
          <a:xfrm>
            <a:off x="5000000" y="3590000"/>
            <a:ext cx="2500000" cy="820000"/>
          </a:xfrm>
          <a:prstGeom prst="roundRect">
            <a:avLst/>
          </a:prstGeom>
          <a:solidFill>
            <a:srgbClr val="EEF7F0"/>
          </a:solidFill>
          <a:ln w="19050">
            <a:solidFill>
              <a:srgbClr val="2E8B57"/>
            </a:solidFill>
          </a:ln>
        </p:spPr>
        <p:txBody>
          <a:bodyPr wrap="square" lIns="72000" tIns="18000" rIns="72000" bIns="18000" rtlCol="0" anchor="ctr"/>
          <a:lstStyle/>
          <a:p>
            <a:pPr algn="ctr"/>
            <a:r>
              <a:rPr lang="en-US" sz="1100" b="1" dirty="0">
                <a:solidFill>
                  <a:srgbClr val="1A5C38"/>
                </a:solidFill>
                <a:latin typeface="Calibri" pitchFamily="34" charset="0"/>
                <a:cs typeface="Calibri" pitchFamily="34" charset="-120"/>
              </a:rPr>
              <a:t>Conformance</a:t>
            </a:r>
          </a:p>
          <a:p>
            <a:pPr algn="ctr"/>
            <a:r>
              <a:rPr lang="en-US" sz="900" i="1" dirty="0">
                <a:solidFill>
                  <a:srgbClr val="7F8C84"/>
                </a:solidFill>
                <a:latin typeface="Calibri" pitchFamily="34" charset="0"/>
                <a:cs typeface="Calibri" pitchFamily="34" charset="-120"/>
              </a:rPr>
              <a:t>identify entities · build conformance</a:t>
            </a:r>
          </a:p>
        </p:txBody>
      </p:sp>
      <p:sp>
        <p:nvSpPr>
          <p:cNvPr id="202" name="node-rce"/>
          <p:cNvSpPr/>
          <p:nvPr/>
        </p:nvSpPr>
        <p:spPr>
          <a:xfrm>
            <a:off x="3100000" y="5490000"/>
            <a:ext cx="2500000" cy="820000"/>
          </a:xfrm>
          <a:prstGeom prst="roundRect">
            <a:avLst/>
          </a:prstGeom>
          <a:solidFill>
            <a:srgbClr val="1A5C38"/>
          </a:solidFill>
          <a:ln w="19050">
            <a:solidFill>
              <a:srgbClr val="1A5C38"/>
            </a:solidFill>
          </a:ln>
        </p:spPr>
        <p:txBody>
          <a:bodyPr wrap="square" lIns="72000" tIns="18000" rIns="72000" bIns="18000" rtlCol="0" anchor="ctr"/>
          <a:lstStyle/>
          <a:p>
            <a:pPr algn="ctr"/>
            <a:r>
              <a:rPr lang="en-US" sz="1100" b="1" dirty="0">
                <a:solidFill>
                  <a:srgbClr val="FFFFFF"/>
                </a:solidFill>
                <a:latin typeface="Calibri" pitchFamily="34" charset="0"/>
                <a:cs typeface="Calibri" pitchFamily="34" charset="-120"/>
              </a:rPr>
              <a:t>Risk Conformed Entity (RCE)</a:t>
            </a:r>
          </a:p>
          <a:p>
            <a:pPr algn="ctr"/>
            <a:r>
              <a:rPr lang="en-US" sz="900" i="1" dirty="0">
                <a:solidFill>
                  <a:srgbClr val="D6EFE1"/>
                </a:solidFill>
                <a:latin typeface="Calibri" pitchFamily="34" charset="0"/>
                <a:cs typeface="Calibri" pitchFamily="34" charset="-120"/>
              </a:rPr>
              <a:t>conformed once</a:t>
            </a:r>
          </a:p>
        </p:txBody>
      </p:sp>
      <p:sp>
        <p:nvSpPr>
          <p:cNvPr id="203" name="node-left"/>
          <p:cNvSpPr/>
          <p:nvPr/>
        </p:nvSpPr>
        <p:spPr>
          <a:xfrm>
            <a:off x="1200000" y="3590000"/>
            <a:ext cx="2500000" cy="820000"/>
          </a:xfrm>
          <a:prstGeom prst="roundRect">
            <a:avLst/>
          </a:prstGeom>
          <a:solidFill>
            <a:srgbClr val="EEF7F0"/>
          </a:solidFill>
          <a:ln w="19050">
            <a:solidFill>
              <a:srgbClr val="2E8B57"/>
            </a:solidFill>
          </a:ln>
        </p:spPr>
        <p:txBody>
          <a:bodyPr wrap="square" lIns="72000" tIns="18000" rIns="72000" bIns="18000" rtlCol="0" anchor="ctr"/>
          <a:lstStyle/>
          <a:p>
            <a:pPr algn="ctr"/>
            <a:r>
              <a:rPr lang="en-US" sz="1100" b="1" dirty="0">
                <a:solidFill>
                  <a:srgbClr val="1A5C38"/>
                </a:solidFill>
                <a:latin typeface="Calibri" pitchFamily="34" charset="0"/>
                <a:cs typeface="Calibri" pitchFamily="34" charset="-120"/>
              </a:rPr>
              <a:t>Risk apps consume</a:t>
            </a:r>
          </a:p>
          <a:p>
            <a:pPr algn="ctr"/>
            <a:r>
              <a:rPr lang="en-US" sz="900" i="1" dirty="0">
                <a:solidFill>
                  <a:srgbClr val="7F8C84"/>
                </a:solidFill>
                <a:latin typeface="Calibri" pitchFamily="34" charset="0"/>
                <a:cs typeface="Calibri" pitchFamily="34" charset="-120"/>
              </a:rPr>
              <a:t>served back to apps</a:t>
            </a:r>
          </a:p>
        </p:txBody>
      </p:sp>
      <p:sp>
        <p:nvSpPr>
          <p:cNvPr id="204" name="center"/>
          <p:cNvSpPr/>
          <p:nvPr/>
        </p:nvSpPr>
        <p:spPr>
          <a:xfrm>
            <a:off x="3500000" y="3150000"/>
            <a:ext cx="1700000" cy="1700000"/>
          </a:xfrm>
          <a:prstGeom prst="ellipse">
            <a:avLst/>
          </a:prstGeom>
          <a:solidFill>
            <a:srgbClr val="D6EFE1"/>
          </a:solidFill>
          <a:ln w="12700">
            <a:solidFill>
              <a:srgbClr val="2E8B57"/>
            </a:solidFill>
          </a:ln>
        </p:spPr>
        <p:txBody>
          <a:bodyPr wrap="square" lIns="72000" tIns="18000" rIns="72000" bIns="18000" rtlCol="0" anchor="ctr"/>
          <a:lstStyle/>
          <a:p>
            <a:pPr algn="ctr"/>
            <a:r>
              <a:rPr lang="en-US" sz="1000" b="1" dirty="0">
                <a:solidFill>
                  <a:srgbClr val="1A5C38"/>
                </a:solidFill>
                <a:latin typeface="Calibri" pitchFamily="34" charset="0"/>
                <a:cs typeface="Calibri" pitchFamily="34" charset="-120"/>
              </a:rPr>
              <a:t>Apps feed it.</a:t>
            </a:r>
          </a:p>
          <a:p>
            <a:pPr algn="ctr"/>
            <a:r>
              <a:rPr lang="en-US" sz="1000" b="1" dirty="0">
                <a:solidFill>
                  <a:srgbClr val="1A5C38"/>
                </a:solidFill>
                <a:latin typeface="Calibri" pitchFamily="34" charset="0"/>
                <a:cs typeface="Calibri" pitchFamily="34" charset="-120"/>
              </a:rPr>
              <a:t>Apps consume it.</a:t>
            </a:r>
          </a:p>
          <a:p>
            <a:pPr algn="ctr"/>
            <a:r>
              <a:rPr lang="en-US" sz="900" i="1" dirty="0">
                <a:solidFill>
                  <a:srgbClr val="1A5C38"/>
                </a:solidFill>
                <a:latin typeface="Calibri" pitchFamily="34" charset="0"/>
                <a:cs typeface="Calibri" pitchFamily="34" charset="-120"/>
              </a:rPr>
              <a:t>One conformed model.</a:t>
            </a:r>
          </a:p>
        </p:txBody>
      </p:sp>
      <p:sp>
        <p:nvSpPr>
          <p:cNvPr id="210" name="arrow210"/>
          <p:cNvSpPr/>
          <p:nvPr/>
        </p:nvSpPr>
        <p:spPr>
          <a:xfrm rot="2700000">
            <a:off x="5319000" y="2461000"/>
            <a:ext cx="820000" cy="320000"/>
          </a:xfrm>
          <a:prstGeom prst="rightArrow">
            <a:avLst/>
          </a:prstGeom>
          <a:solidFill>
            <a:srgbClr val="2E8B57"/>
          </a:solidFill>
          <a:ln>
            <a:noFill/>
          </a:ln>
        </p:spPr>
        <p:txBody>
          <a:bodyPr/>
          <a:lstStyle/>
          <a:p>
            <a:endParaRPr lang="en-US"/>
          </a:p>
        </p:txBody>
      </p:sp>
      <p:sp>
        <p:nvSpPr>
          <p:cNvPr id="211" name="arrow211"/>
          <p:cNvSpPr/>
          <p:nvPr/>
        </p:nvSpPr>
        <p:spPr>
          <a:xfrm rot="8100000">
            <a:off x="5319000" y="5219000"/>
            <a:ext cx="820000" cy="320000"/>
          </a:xfrm>
          <a:prstGeom prst="rightArrow">
            <a:avLst/>
          </a:prstGeom>
          <a:solidFill>
            <a:srgbClr val="2E8B57"/>
          </a:solidFill>
          <a:ln>
            <a:noFill/>
          </a:ln>
        </p:spPr>
        <p:txBody>
          <a:bodyPr/>
          <a:lstStyle/>
          <a:p>
            <a:endParaRPr lang="en-US"/>
          </a:p>
        </p:txBody>
      </p:sp>
      <p:sp>
        <p:nvSpPr>
          <p:cNvPr id="212" name="arrow212"/>
          <p:cNvSpPr/>
          <p:nvPr/>
        </p:nvSpPr>
        <p:spPr>
          <a:xfrm rot="13500000">
            <a:off x="2561000" y="5219000"/>
            <a:ext cx="820000" cy="320000"/>
          </a:xfrm>
          <a:prstGeom prst="rightArrow">
            <a:avLst/>
          </a:prstGeom>
          <a:solidFill>
            <a:srgbClr val="2E8B57"/>
          </a:solidFill>
          <a:ln>
            <a:noFill/>
          </a:ln>
        </p:spPr>
        <p:txBody>
          <a:bodyPr/>
          <a:lstStyle/>
          <a:p>
            <a:endParaRPr lang="en-US"/>
          </a:p>
        </p:txBody>
      </p:sp>
      <p:sp>
        <p:nvSpPr>
          <p:cNvPr id="213" name="arrow213"/>
          <p:cNvSpPr/>
          <p:nvPr/>
        </p:nvSpPr>
        <p:spPr>
          <a:xfrm rot="18900000">
            <a:off x="2561000" y="2461000"/>
            <a:ext cx="820000" cy="320000"/>
          </a:xfrm>
          <a:prstGeom prst="rightArrow">
            <a:avLst/>
          </a:prstGeom>
          <a:solidFill>
            <a:srgbClr val="2E8B57"/>
          </a:solidFill>
          <a:ln>
            <a:noFill/>
          </a:ln>
        </p:spPr>
        <p:txBody>
          <a:bodyPr/>
          <a:lstStyle/>
          <a:p>
            <a:endParaRPr lang="en-US"/>
          </a:p>
        </p:txBody>
      </p:sp>
      <p:sp>
        <p:nvSpPr>
          <p:cNvPr id="205" name="node-cdm"/>
          <p:cNvSpPr/>
          <p:nvPr/>
        </p:nvSpPr>
        <p:spPr>
          <a:xfrm>
            <a:off x="8050000" y="5240000"/>
            <a:ext cx="2500000" cy="820000"/>
          </a:xfrm>
          <a:prstGeom prst="roundRect">
            <a:avLst/>
          </a:prstGeom>
          <a:solidFill>
            <a:srgbClr val="FFFFFF"/>
          </a:solidFill>
          <a:ln w="12700">
            <a:solidFill>
              <a:srgbClr val="7F8C84"/>
            </a:solidFill>
            <a:prstDash val="dash"/>
          </a:ln>
        </p:spPr>
        <p:txBody>
          <a:bodyPr wrap="square" lIns="72000" tIns="18000" rIns="72000" bIns="18000" rtlCol="0" anchor="ctr"/>
          <a:lstStyle/>
          <a:p>
            <a:pPr algn="ctr"/>
            <a:r>
              <a:rPr lang="en-US" sz="1100" b="1" dirty="0">
                <a:solidFill>
                  <a:srgbClr val="3D5247"/>
                </a:solidFill>
                <a:latin typeface="Calibri" pitchFamily="34" charset="0"/>
                <a:cs typeface="Calibri" pitchFamily="34" charset="-120"/>
              </a:rPr>
              <a:t>Enterprise CDM</a:t>
            </a:r>
          </a:p>
          <a:p>
            <a:pPr algn="ctr"/>
            <a:r>
              <a:rPr lang="en-US" sz="900" i="1" dirty="0">
                <a:solidFill>
                  <a:srgbClr val="7F8C84"/>
                </a:solidFill>
                <a:latin typeface="Calibri" pitchFamily="34" charset="0"/>
                <a:cs typeface="Calibri" pitchFamily="34" charset="-120"/>
              </a:rPr>
              <a:t>confirm / align where needed</a:t>
            </a:r>
          </a:p>
        </p:txBody>
      </p:sp>
      <p:sp>
        <p:nvSpPr>
          <p:cNvPr id="215" name="cdm-label"/>
          <p:cNvSpPr/>
          <p:nvPr/>
        </p:nvSpPr>
        <p:spPr>
          <a:xfrm>
            <a:off x="5700000" y="5330000"/>
            <a:ext cx="2250000" cy="260000"/>
          </a:xfrm>
          <a:prstGeom prst="rect">
            <a:avLst/>
          </a:prstGeom>
          <a:solidFill>
            <a:srgbClr val="FAF8F3"/>
          </a:solidFill>
          <a:ln w="6350">
            <a:solidFill>
              <a:srgbClr val="FAF8F3"/>
            </a:solidFill>
          </a:ln>
        </p:spPr>
        <p:txBody>
          <a:bodyPr wrap="square" lIns="72000" tIns="18000" rIns="72000" bIns="18000" rtlCol="0" anchor="ctr"/>
          <a:lstStyle/>
          <a:p>
            <a:pPr algn="ctr"/>
            <a:r>
              <a:rPr lang="en-US" sz="850" i="1" dirty="0">
                <a:solidFill>
                  <a:srgbClr val="7F8C84"/>
                </a:solidFill>
                <a:latin typeface="Calibri" pitchFamily="34" charset="0"/>
                <a:cs typeface="Calibri" pitchFamily="34" charset="-120"/>
              </a:rPr>
              <a:t>align where needed</a:t>
            </a:r>
          </a:p>
        </p:txBody>
      </p:sp>
      <p:sp>
        <p:nvSpPr>
          <p:cNvPr id="214" name="arrow214"/>
          <p:cNvSpPr/>
          <p:nvPr/>
        </p:nvSpPr>
        <p:spPr>
          <a:xfrm>
            <a:off x="5700000" y="5630000"/>
            <a:ext cx="2250000" cy="300000"/>
          </a:xfrm>
          <a:prstGeom prst="leftRightArrow">
            <a:avLst/>
          </a:prstGeom>
          <a:solidFill>
            <a:srgbClr val="7F8C84"/>
          </a:solidFill>
          <a:ln>
            <a:noFill/>
          </a:ln>
        </p:spPr>
        <p:txBody>
          <a:bodyPr/>
          <a:lstStyle/>
          <a:p>
            <a:endParaRPr lang="en-US"/>
          </a:p>
        </p:txBody>
      </p:sp>
      <p:sp>
        <p:nvSpPr>
          <p:cNvPr id="25" name="Text 23"/>
          <p:cNvSpPr/>
          <p:nvPr/>
        </p:nvSpPr>
        <p:spPr>
          <a:xfrm>
            <a:off x="457200" y="6565392"/>
            <a:ext cx="8229600" cy="201168"/>
          </a:xfrm>
          <a:prstGeom prst="rect">
            <a:avLst/>
          </a:prstGeom>
          <a:noFill/>
          <a:ln/>
        </p:spPr>
        <p:txBody>
          <a:bodyPr wrap="square" lIns="0" tIns="0" rIns="0" bIns="0" rtlCol="0" anchor="ctr"/>
          <a:lstStyle/>
          <a:p>
            <a:pPr marL="0" indent="0">
              <a:buNone/>
            </a:pPr>
            <a:r>
              <a:rPr lang="en-US" sz="900" i="1" dirty="0">
                <a:solidFill>
                  <a:srgbClr val="7F8C84"/>
                </a:solidFill>
                <a:latin typeface="Calibri" pitchFamily="34" charset="0"/>
                <a:ea typeface="Calibri" pitchFamily="34" charset="-122"/>
                <a:cs typeface="Calibri" pitchFamily="34" charset="-120"/>
              </a:rPr>
              <a:t>TD Securities · Risk Data Platform · Working Draft</a:t>
            </a:r>
            <a:endParaRPr lang="en-US" sz="900" dirty="0"/>
          </a:p>
        </p:txBody>
      </p:sp>
      <p:sp>
        <p:nvSpPr>
          <p:cNvPr id="26" name="Text 24"/>
          <p:cNvSpPr/>
          <p:nvPr/>
        </p:nvSpPr>
        <p:spPr>
          <a:xfrm>
            <a:off x="11548872" y="6565392"/>
            <a:ext cx="365760" cy="201168"/>
          </a:xfrm>
          <a:prstGeom prst="rect">
            <a:avLst/>
          </a:prstGeom>
          <a:noFill/>
          <a:ln/>
        </p:spPr>
        <p:txBody>
          <a:bodyPr wrap="square" lIns="0" tIns="0" rIns="0" bIns="0" rtlCol="0" anchor="ctr"/>
          <a:lstStyle/>
          <a:p>
            <a:pPr marL="0" indent="0" algn="r">
              <a:buNone/>
            </a:pPr>
            <a:r>
              <a:rPr lang="en-US" sz="900" dirty="0">
                <a:solidFill>
                  <a:srgbClr val="7F8C8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7F0"/>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4552" cy="548640"/>
          </a:xfrm>
          <a:prstGeom prst="rect">
            <a:avLst/>
          </a:prstGeom>
          <a:noFill/>
          <a:ln/>
        </p:spPr>
        <p:txBody>
          <a:bodyPr wrap="square" lIns="0" tIns="0" rIns="0" bIns="0" rtlCol="0" anchor="ctr"/>
          <a:lstStyle/>
          <a:p>
            <a:pPr marL="0" indent="0">
              <a:buNone/>
            </a:pPr>
            <a:r>
              <a:rPr lang="en-US" sz="2800" b="1" dirty="0">
                <a:solidFill>
                  <a:srgbClr val="1A5C38"/>
                </a:solidFill>
                <a:latin typeface="Calibri" pitchFamily="34" charset="0"/>
                <a:ea typeface="Calibri" pitchFamily="34" charset="-122"/>
                <a:cs typeface="Calibri" pitchFamily="34" charset="-120"/>
              </a:rPr>
              <a:t>What conformity does not cover</a:t>
            </a:r>
            <a:endParaRPr lang="en-US" sz="2800" dirty="0"/>
          </a:p>
        </p:txBody>
      </p:sp>
      <p:sp>
        <p:nvSpPr>
          <p:cNvPr id="3" name="Text 1"/>
          <p:cNvSpPr/>
          <p:nvPr/>
        </p:nvSpPr>
        <p:spPr>
          <a:xfrm>
            <a:off x="457200" y="914400"/>
            <a:ext cx="11274552" cy="320040"/>
          </a:xfrm>
          <a:prstGeom prst="rect">
            <a:avLst/>
          </a:prstGeom>
          <a:noFill/>
          <a:ln/>
        </p:spPr>
        <p:txBody>
          <a:bodyPr wrap="square" lIns="0" tIns="0" rIns="0" bIns="0" rtlCol="0" anchor="ctr"/>
          <a:lstStyle/>
          <a:p>
            <a:pPr marL="0" indent="0">
              <a:buNone/>
            </a:pPr>
            <a:r>
              <a:rPr lang="en-US" sz="1300" i="1" dirty="0">
                <a:solidFill>
                  <a:srgbClr val="3D5247"/>
                </a:solidFill>
                <a:latin typeface="Calibri" pitchFamily="34" charset="0"/>
                <a:ea typeface="Calibri" pitchFamily="34" charset="-122"/>
                <a:cs typeface="Calibri" pitchFamily="34" charset="-120"/>
              </a:rPr>
              <a:t>Honest scoping. Conformance and resolution are different problems.</a:t>
            </a:r>
            <a:endParaRPr lang="en-US" sz="1300" dirty="0"/>
          </a:p>
        </p:txBody>
      </p:sp>
      <p:sp>
        <p:nvSpPr>
          <p:cNvPr id="4" name="Shape 2"/>
          <p:cNvSpPr/>
          <p:nvPr/>
        </p:nvSpPr>
        <p:spPr>
          <a:xfrm>
            <a:off x="457200" y="1645920"/>
            <a:ext cx="5408676" cy="2286000"/>
          </a:xfrm>
          <a:prstGeom prst="rect">
            <a:avLst/>
          </a:prstGeom>
          <a:solidFill>
            <a:srgbClr val="FAF8F3"/>
          </a:solidFill>
          <a:ln w="19050">
            <a:solidFill>
              <a:srgbClr val="2E8B57"/>
            </a:solidFill>
            <a:prstDash val="solid"/>
          </a:ln>
        </p:spPr>
        <p:txBody>
          <a:bodyPr lIns="0" tIns="0" rIns="0" bIns="0"/>
          <a:lstStyle/>
          <a:p>
            <a:endParaRPr lang="en-US"/>
          </a:p>
        </p:txBody>
      </p:sp>
      <p:sp>
        <p:nvSpPr>
          <p:cNvPr id="5" name="Text 3"/>
          <p:cNvSpPr/>
          <p:nvPr/>
        </p:nvSpPr>
        <p:spPr>
          <a:xfrm>
            <a:off x="640080" y="1783080"/>
            <a:ext cx="5042916" cy="228600"/>
          </a:xfrm>
          <a:prstGeom prst="rect">
            <a:avLst/>
          </a:prstGeom>
          <a:noFill/>
          <a:ln/>
        </p:spPr>
        <p:txBody>
          <a:bodyPr wrap="square" lIns="0" tIns="0" rIns="0" bIns="0" rtlCol="0" anchor="ctr"/>
          <a:lstStyle/>
          <a:p>
            <a:pPr marL="0" indent="0">
              <a:buNone/>
            </a:pPr>
            <a:r>
              <a:rPr lang="en-US" sz="900" b="1" kern="0" spc="0" dirty="0">
                <a:solidFill>
                  <a:srgbClr val="2E8B57"/>
                </a:solidFill>
                <a:latin typeface="Calibri" pitchFamily="34" charset="0"/>
                <a:ea typeface="Calibri" pitchFamily="34" charset="-122"/>
                <a:cs typeface="Calibri" pitchFamily="34" charset="-120"/>
              </a:rPr>
              <a:t>WHAT THIS OPERATING MODEL DOES</a:t>
            </a:r>
            <a:endParaRPr lang="en-US" sz="900" dirty="0"/>
          </a:p>
        </p:txBody>
      </p:sp>
      <p:sp>
        <p:nvSpPr>
          <p:cNvPr id="6" name="Text 4"/>
          <p:cNvSpPr/>
          <p:nvPr/>
        </p:nvSpPr>
        <p:spPr>
          <a:xfrm>
            <a:off x="640080" y="2057400"/>
            <a:ext cx="5042916" cy="320040"/>
          </a:xfrm>
          <a:prstGeom prst="rect">
            <a:avLst/>
          </a:prstGeom>
          <a:noFill/>
          <a:ln/>
        </p:spPr>
        <p:txBody>
          <a:bodyPr wrap="square" lIns="0" tIns="0" rIns="0" bIns="0" rtlCol="0" anchor="ctr"/>
          <a:lstStyle/>
          <a:p>
            <a:pPr marL="0" indent="0">
              <a:buNone/>
            </a:pPr>
            <a:r>
              <a:rPr lang="en-US" sz="1600" b="1" dirty="0">
                <a:solidFill>
                  <a:srgbClr val="1A2B22"/>
                </a:solidFill>
                <a:latin typeface="Calibri" pitchFamily="34" charset="0"/>
                <a:ea typeface="Calibri" pitchFamily="34" charset="-122"/>
                <a:cs typeface="Calibri" pitchFamily="34" charset="-120"/>
              </a:rPr>
              <a:t>Entity conformance</a:t>
            </a:r>
            <a:endParaRPr lang="en-US" sz="1600" dirty="0"/>
          </a:p>
        </p:txBody>
      </p:sp>
      <p:sp>
        <p:nvSpPr>
          <p:cNvPr id="7" name="Text 5"/>
          <p:cNvSpPr/>
          <p:nvPr/>
        </p:nvSpPr>
        <p:spPr>
          <a:xfrm>
            <a:off x="640080" y="2468880"/>
            <a:ext cx="5042916" cy="1371600"/>
          </a:xfrm>
          <a:prstGeom prst="rect">
            <a:avLst/>
          </a:prstGeom>
          <a:noFill/>
          <a:ln/>
        </p:spPr>
        <p:txBody>
          <a:bodyPr wrap="square" lIns="0" tIns="0" rIns="0" bIns="0" rtlCol="0" anchor="ctr"/>
          <a:lstStyle/>
          <a:p>
            <a:pPr marL="0" indent="0">
              <a:buNone/>
            </a:pPr>
            <a:r>
              <a:rPr lang="en-US" sz="1200" dirty="0">
                <a:solidFill>
                  <a:srgbClr val="1A2B22"/>
                </a:solidFill>
                <a:latin typeface="Calibri" pitchFamily="34" charset="0"/>
                <a:ea typeface="Calibri" pitchFamily="34" charset="-122"/>
                <a:cs typeface="Calibri" pitchFamily="34" charset="-120"/>
              </a:rPr>
              <a:t>Agrees the entity's </a:t>
            </a:r>
            <a:r>
              <a:rPr lang="en-US" sz="1200" i="1" dirty="0">
                <a:solidFill>
                  <a:srgbClr val="1A2B22"/>
                </a:solidFill>
                <a:latin typeface="Calibri" pitchFamily="34" charset="0"/>
                <a:ea typeface="Calibri" pitchFamily="34" charset="-122"/>
                <a:cs typeface="Calibri" pitchFamily="34" charset="-120"/>
              </a:rPr>
              <a:t>shape</a:t>
            </a:r>
            <a:r>
              <a:rPr lang="en-US" sz="1200" dirty="0">
                <a:solidFill>
                  <a:srgbClr val="1A2B22"/>
                </a:solidFill>
                <a:latin typeface="Calibri" pitchFamily="34" charset="0"/>
                <a:ea typeface="Calibri" pitchFamily="34" charset="-122"/>
                <a:cs typeface="Calibri" pitchFamily="34" charset="-120"/>
              </a:rPr>
              <a:t> — attributes, primary key, allowed values, business names, semantic interpretation. So that counterparty means the same thing structurally across every Risk app.</a:t>
            </a:r>
            <a:endParaRPr lang="en-US" sz="1200" dirty="0"/>
          </a:p>
        </p:txBody>
      </p:sp>
      <p:sp>
        <p:nvSpPr>
          <p:cNvPr id="8" name="Shape 6"/>
          <p:cNvSpPr/>
          <p:nvPr/>
        </p:nvSpPr>
        <p:spPr>
          <a:xfrm>
            <a:off x="6323076" y="1645920"/>
            <a:ext cx="5408676" cy="2286000"/>
          </a:xfrm>
          <a:prstGeom prst="rect">
            <a:avLst/>
          </a:prstGeom>
          <a:solidFill>
            <a:srgbClr val="FAF8F3"/>
          </a:solidFill>
          <a:ln w="19050">
            <a:solidFill>
              <a:srgbClr val="A8362A"/>
            </a:solidFill>
            <a:prstDash val="dash"/>
          </a:ln>
        </p:spPr>
        <p:txBody>
          <a:bodyPr lIns="0" tIns="0" rIns="0" bIns="0"/>
          <a:lstStyle/>
          <a:p>
            <a:endParaRPr lang="en-US"/>
          </a:p>
        </p:txBody>
      </p:sp>
      <p:sp>
        <p:nvSpPr>
          <p:cNvPr id="9" name="Text 7"/>
          <p:cNvSpPr/>
          <p:nvPr/>
        </p:nvSpPr>
        <p:spPr>
          <a:xfrm>
            <a:off x="6505956" y="1783080"/>
            <a:ext cx="5042916" cy="228600"/>
          </a:xfrm>
          <a:prstGeom prst="rect">
            <a:avLst/>
          </a:prstGeom>
          <a:noFill/>
          <a:ln/>
        </p:spPr>
        <p:txBody>
          <a:bodyPr wrap="square" lIns="0" tIns="0" rIns="0" bIns="0" rtlCol="0" anchor="ctr"/>
          <a:lstStyle/>
          <a:p>
            <a:pPr marL="0" indent="0">
              <a:buNone/>
            </a:pPr>
            <a:r>
              <a:rPr lang="en-US" sz="900" b="1" kern="0" spc="0" dirty="0">
                <a:solidFill>
                  <a:srgbClr val="A8362A"/>
                </a:solidFill>
                <a:latin typeface="Calibri" pitchFamily="34" charset="0"/>
                <a:ea typeface="Calibri" pitchFamily="34" charset="-122"/>
                <a:cs typeface="Calibri" pitchFamily="34" charset="-120"/>
              </a:rPr>
              <a:t>WHAT THIS DOES NOT SOLVE</a:t>
            </a:r>
            <a:endParaRPr lang="en-US" sz="900" dirty="0"/>
          </a:p>
        </p:txBody>
      </p:sp>
      <p:sp>
        <p:nvSpPr>
          <p:cNvPr id="10" name="Text 8"/>
          <p:cNvSpPr/>
          <p:nvPr/>
        </p:nvSpPr>
        <p:spPr>
          <a:xfrm>
            <a:off x="6505956" y="2057400"/>
            <a:ext cx="5042916" cy="320040"/>
          </a:xfrm>
          <a:prstGeom prst="rect">
            <a:avLst/>
          </a:prstGeom>
          <a:noFill/>
          <a:ln/>
        </p:spPr>
        <p:txBody>
          <a:bodyPr wrap="square" lIns="0" tIns="0" rIns="0" bIns="0" rtlCol="0" anchor="ctr"/>
          <a:lstStyle/>
          <a:p>
            <a:pPr marL="0" indent="0">
              <a:buNone/>
            </a:pPr>
            <a:r>
              <a:rPr lang="en-US" sz="1600" b="1" dirty="0">
                <a:solidFill>
                  <a:srgbClr val="1A2B22"/>
                </a:solidFill>
                <a:latin typeface="Calibri" pitchFamily="34" charset="0"/>
                <a:ea typeface="Calibri" pitchFamily="34" charset="-122"/>
                <a:cs typeface="Calibri" pitchFamily="34" charset="-120"/>
              </a:rPr>
              <a:t>Entity resolution</a:t>
            </a:r>
            <a:endParaRPr lang="en-US" sz="1600" dirty="0"/>
          </a:p>
        </p:txBody>
      </p:sp>
      <p:sp>
        <p:nvSpPr>
          <p:cNvPr id="11" name="Text 9"/>
          <p:cNvSpPr/>
          <p:nvPr/>
        </p:nvSpPr>
        <p:spPr>
          <a:xfrm>
            <a:off x="6505956" y="2468880"/>
            <a:ext cx="5042916" cy="1371600"/>
          </a:xfrm>
          <a:prstGeom prst="rect">
            <a:avLst/>
          </a:prstGeom>
          <a:noFill/>
          <a:ln/>
        </p:spPr>
        <p:txBody>
          <a:bodyPr wrap="square" lIns="0" tIns="0" rIns="0" bIns="0" rtlCol="0" anchor="ctr"/>
          <a:lstStyle/>
          <a:p>
            <a:pPr marL="0" indent="0">
              <a:buNone/>
            </a:pPr>
            <a:r>
              <a:rPr lang="en-US" sz="1200" dirty="0">
                <a:solidFill>
                  <a:srgbClr val="1A2B22"/>
                </a:solidFill>
                <a:latin typeface="Calibri" pitchFamily="34" charset="0"/>
                <a:ea typeface="Calibri" pitchFamily="34" charset="-122"/>
                <a:cs typeface="Calibri" pitchFamily="34" charset="-120"/>
              </a:rPr>
              <a:t>Agrees the </a:t>
            </a:r>
            <a:r>
              <a:rPr lang="en-US" sz="1200" i="1" dirty="0">
                <a:solidFill>
                  <a:srgbClr val="1A2B22"/>
                </a:solidFill>
                <a:latin typeface="Calibri" pitchFamily="34" charset="0"/>
                <a:ea typeface="Calibri" pitchFamily="34" charset="-122"/>
                <a:cs typeface="Calibri" pitchFamily="34" charset="-120"/>
              </a:rPr>
              <a:t>value</a:t>
            </a:r>
            <a:r>
              <a:rPr lang="en-US" sz="1200" dirty="0">
                <a:solidFill>
                  <a:srgbClr val="1A2B22"/>
                </a:solidFill>
                <a:latin typeface="Calibri" pitchFamily="34" charset="0"/>
                <a:ea typeface="Calibri" pitchFamily="34" charset="-122"/>
                <a:cs typeface="Calibri" pitchFamily="34" charset="-120"/>
              </a:rPr>
              <a:t> — recognising </a:t>
            </a:r>
            <a:r>
              <a:rPr lang="en-US" sz="1200" dirty="0">
                <a:solidFill>
                  <a:srgbClr val="A8362A"/>
                </a:solidFill>
                <a:latin typeface="Calibri" pitchFamily="34" charset="0"/>
                <a:ea typeface="Calibri" pitchFamily="34" charset="-122"/>
                <a:cs typeface="Calibri" pitchFamily="34" charset="-120"/>
              </a:rPr>
              <a:t>"JP Morgan Chase"</a:t>
            </a:r>
            <a:r>
              <a:rPr lang="en-US" sz="1200" dirty="0">
                <a:solidFill>
                  <a:srgbClr val="1A2B22"/>
                </a:solidFill>
                <a:latin typeface="Calibri" pitchFamily="34" charset="0"/>
                <a:ea typeface="Calibri" pitchFamily="34" charset="-122"/>
                <a:cs typeface="Calibri" pitchFamily="34" charset="-120"/>
              </a:rPr>
              <a:t> and </a:t>
            </a:r>
            <a:r>
              <a:rPr lang="en-US" sz="1200" dirty="0">
                <a:solidFill>
                  <a:srgbClr val="A8362A"/>
                </a:solidFill>
                <a:latin typeface="Calibri" pitchFamily="34" charset="0"/>
                <a:ea typeface="Calibri" pitchFamily="34" charset="-122"/>
                <a:cs typeface="Calibri" pitchFamily="34" charset="-120"/>
              </a:rPr>
              <a:t>"JPMC"</a:t>
            </a:r>
            <a:r>
              <a:rPr lang="en-US" sz="1200" dirty="0">
                <a:solidFill>
                  <a:srgbClr val="1A2B22"/>
                </a:solidFill>
                <a:latin typeface="Calibri" pitchFamily="34" charset="0"/>
                <a:ea typeface="Calibri" pitchFamily="34" charset="-122"/>
                <a:cs typeface="Calibri" pitchFamily="34" charset="-120"/>
              </a:rPr>
              <a:t> as the same real-world counterparty. Value-level deduplication.</a:t>
            </a:r>
            <a:endParaRPr lang="en-US" sz="1200" dirty="0"/>
          </a:p>
        </p:txBody>
      </p:sp>
      <p:sp>
        <p:nvSpPr>
          <p:cNvPr id="12" name="Shape 10"/>
          <p:cNvSpPr/>
          <p:nvPr/>
        </p:nvSpPr>
        <p:spPr>
          <a:xfrm>
            <a:off x="457200" y="4297680"/>
            <a:ext cx="11274552" cy="1005840"/>
          </a:xfrm>
          <a:prstGeom prst="rect">
            <a:avLst/>
          </a:prstGeom>
          <a:solidFill>
            <a:srgbClr val="FAF8F3"/>
          </a:solidFill>
          <a:ln/>
        </p:spPr>
        <p:txBody>
          <a:bodyPr lIns="0" tIns="0" rIns="0" bIns="0"/>
          <a:lstStyle/>
          <a:p>
            <a:endParaRPr lang="en-US"/>
          </a:p>
        </p:txBody>
      </p:sp>
      <p:sp>
        <p:nvSpPr>
          <p:cNvPr id="13" name="Shape 11"/>
          <p:cNvSpPr/>
          <p:nvPr/>
        </p:nvSpPr>
        <p:spPr>
          <a:xfrm>
            <a:off x="457200" y="4297680"/>
            <a:ext cx="45720" cy="1005840"/>
          </a:xfrm>
          <a:prstGeom prst="rect">
            <a:avLst/>
          </a:prstGeom>
          <a:solidFill>
            <a:srgbClr val="7F8C84"/>
          </a:solidFill>
          <a:ln/>
        </p:spPr>
        <p:txBody>
          <a:bodyPr lIns="0" tIns="0" rIns="0" bIns="0"/>
          <a:lstStyle/>
          <a:p>
            <a:endParaRPr lang="en-US"/>
          </a:p>
        </p:txBody>
      </p:sp>
      <p:sp>
        <p:nvSpPr>
          <p:cNvPr id="14" name="Text 12"/>
          <p:cNvSpPr/>
          <p:nvPr/>
        </p:nvSpPr>
        <p:spPr>
          <a:xfrm>
            <a:off x="640080" y="4434840"/>
            <a:ext cx="10908792" cy="777240"/>
          </a:xfrm>
          <a:prstGeom prst="rect">
            <a:avLst/>
          </a:prstGeom>
          <a:noFill/>
          <a:ln/>
        </p:spPr>
        <p:txBody>
          <a:bodyPr wrap="square" lIns="0" tIns="0" rIns="0" bIns="0" rtlCol="0" anchor="ctr"/>
          <a:lstStyle/>
          <a:p>
            <a:pPr marL="0" indent="0">
              <a:buNone/>
            </a:pPr>
            <a:r>
              <a:rPr lang="en-US" sz="1150" b="1" dirty="0">
                <a:solidFill>
                  <a:srgbClr val="3D5247"/>
                </a:solidFill>
                <a:latin typeface="Calibri" pitchFamily="34" charset="0"/>
                <a:ea typeface="Calibri" pitchFamily="34" charset="-122"/>
                <a:cs typeface="Calibri" pitchFamily="34" charset="-120"/>
              </a:rPr>
              <a:t>Industry framing: </a:t>
            </a:r>
            <a:r>
              <a:rPr lang="en-US" sz="1150" dirty="0">
                <a:solidFill>
                  <a:srgbClr val="3D5247"/>
                </a:solidFill>
                <a:latin typeface="Calibri" pitchFamily="34" charset="0"/>
                <a:ea typeface="Calibri" pitchFamily="34" charset="-122"/>
                <a:cs typeface="Calibri" pitchFamily="34" charset="-120"/>
              </a:rPr>
              <a:t>entity resolution is a separate capability — master data management or matching engine — that operates </a:t>
            </a:r>
            <a:r>
              <a:rPr lang="en-US" sz="1150" i="1" dirty="0">
                <a:solidFill>
                  <a:srgbClr val="3D5247"/>
                </a:solidFill>
                <a:latin typeface="Calibri" pitchFamily="34" charset="0"/>
                <a:ea typeface="Calibri" pitchFamily="34" charset="-122"/>
                <a:cs typeface="Calibri" pitchFamily="34" charset="-120"/>
              </a:rPr>
              <a:t>on top of</a:t>
            </a:r>
            <a:r>
              <a:rPr lang="en-US" sz="1150" dirty="0">
                <a:solidFill>
                  <a:srgbClr val="3D5247"/>
                </a:solidFill>
                <a:latin typeface="Calibri" pitchFamily="34" charset="0"/>
                <a:ea typeface="Calibri" pitchFamily="34" charset="-122"/>
                <a:cs typeface="Calibri" pitchFamily="34" charset="-120"/>
              </a:rPr>
              <a:t> conformed entities. Conformance without resolution still leaves you with multiple values for the same real-world thing. This is a known gap, scoped for follow-on work.</a:t>
            </a:r>
            <a:endParaRPr lang="en-US" sz="1150" dirty="0"/>
          </a:p>
        </p:txBody>
      </p:sp>
      <p:sp>
        <p:nvSpPr>
          <p:cNvPr id="15" name="Text 13"/>
          <p:cNvSpPr/>
          <p:nvPr/>
        </p:nvSpPr>
        <p:spPr>
          <a:xfrm>
            <a:off x="457200" y="6565392"/>
            <a:ext cx="8229600" cy="201168"/>
          </a:xfrm>
          <a:prstGeom prst="rect">
            <a:avLst/>
          </a:prstGeom>
          <a:noFill/>
          <a:ln/>
        </p:spPr>
        <p:txBody>
          <a:bodyPr wrap="square" lIns="0" tIns="0" rIns="0" bIns="0" rtlCol="0" anchor="ctr"/>
          <a:lstStyle/>
          <a:p>
            <a:pPr marL="0" indent="0">
              <a:buNone/>
            </a:pPr>
            <a:r>
              <a:rPr lang="en-US" sz="900" i="1" dirty="0">
                <a:solidFill>
                  <a:srgbClr val="7F8C84"/>
                </a:solidFill>
                <a:latin typeface="Calibri" pitchFamily="34" charset="0"/>
                <a:ea typeface="Calibri" pitchFamily="34" charset="-122"/>
                <a:cs typeface="Calibri" pitchFamily="34" charset="-120"/>
              </a:rPr>
              <a:t>TD Securities · Risk Data Platform · Working Draft</a:t>
            </a:r>
            <a:endParaRPr lang="en-US" sz="900" dirty="0"/>
          </a:p>
        </p:txBody>
      </p:sp>
      <p:sp>
        <p:nvSpPr>
          <p:cNvPr id="16" name="Text 14"/>
          <p:cNvSpPr/>
          <p:nvPr/>
        </p:nvSpPr>
        <p:spPr>
          <a:xfrm>
            <a:off x="11548872" y="6565392"/>
            <a:ext cx="365760" cy="201168"/>
          </a:xfrm>
          <a:prstGeom prst="rect">
            <a:avLst/>
          </a:prstGeom>
          <a:noFill/>
          <a:ln/>
        </p:spPr>
        <p:txBody>
          <a:bodyPr wrap="square" lIns="0" tIns="0" rIns="0" bIns="0" rtlCol="0" anchor="ctr"/>
          <a:lstStyle/>
          <a:p>
            <a:pPr marL="0" indent="0" algn="r">
              <a:buNone/>
            </a:pPr>
            <a:r>
              <a:rPr lang="en-US" sz="900" dirty="0">
                <a:solidFill>
                  <a:srgbClr val="7F8C8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7F0"/>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4552" cy="548640"/>
          </a:xfrm>
          <a:prstGeom prst="rect">
            <a:avLst/>
          </a:prstGeom>
          <a:noFill/>
          <a:ln/>
        </p:spPr>
        <p:txBody>
          <a:bodyPr wrap="square" lIns="0" tIns="0" rIns="0" bIns="0" rtlCol="0" anchor="ctr"/>
          <a:lstStyle/>
          <a:p>
            <a:pPr marL="0" indent="0">
              <a:buNone/>
            </a:pPr>
            <a:r>
              <a:rPr lang="en-US" sz="2800" b="1" dirty="0">
                <a:solidFill>
                  <a:srgbClr val="1A5C38"/>
                </a:solidFill>
                <a:latin typeface="Calibri" pitchFamily="34" charset="0"/>
                <a:ea typeface="Calibri" pitchFamily="34" charset="-122"/>
                <a:cs typeface="Calibri" pitchFamily="34" charset="-120"/>
              </a:rPr>
              <a:t>Summary &amp; next steps</a:t>
            </a:r>
            <a:endParaRPr lang="en-US" sz="2800" dirty="0"/>
          </a:p>
        </p:txBody>
      </p:sp>
      <p:sp>
        <p:nvSpPr>
          <p:cNvPr id="3" name="Text 1"/>
          <p:cNvSpPr/>
          <p:nvPr/>
        </p:nvSpPr>
        <p:spPr>
          <a:xfrm>
            <a:off x="457200" y="914400"/>
            <a:ext cx="11274552" cy="320040"/>
          </a:xfrm>
          <a:prstGeom prst="rect">
            <a:avLst/>
          </a:prstGeom>
          <a:noFill/>
          <a:ln/>
        </p:spPr>
        <p:txBody>
          <a:bodyPr wrap="square" lIns="0" tIns="0" rIns="0" bIns="0" rtlCol="0" anchor="ctr"/>
          <a:lstStyle/>
          <a:p>
            <a:pPr marL="0" indent="0">
              <a:buNone/>
            </a:pPr>
            <a:r>
              <a:rPr lang="en-US" sz="1300" i="1" dirty="0">
                <a:solidFill>
                  <a:srgbClr val="3D5247"/>
                </a:solidFill>
                <a:latin typeface="Calibri" pitchFamily="34" charset="0"/>
                <a:ea typeface="Calibri" pitchFamily="34" charset="-122"/>
                <a:cs typeface="Calibri" pitchFamily="34" charset="-120"/>
              </a:rPr>
              <a:t>Six things that hold this operating model together.</a:t>
            </a:r>
            <a:endParaRPr lang="en-US" sz="1300" dirty="0"/>
          </a:p>
        </p:txBody>
      </p:sp>
      <p:sp>
        <p:nvSpPr>
          <p:cNvPr id="4" name="Shape 2"/>
          <p:cNvSpPr/>
          <p:nvPr/>
        </p:nvSpPr>
        <p:spPr>
          <a:xfrm>
            <a:off x="457200" y="1600200"/>
            <a:ext cx="5454396" cy="868680"/>
          </a:xfrm>
          <a:prstGeom prst="rect">
            <a:avLst/>
          </a:prstGeom>
          <a:solidFill>
            <a:srgbClr val="FAF8F3"/>
          </a:solidFill>
          <a:ln w="12700">
            <a:solidFill>
              <a:srgbClr val="2E8B57"/>
            </a:solidFill>
            <a:prstDash val="solid"/>
          </a:ln>
        </p:spPr>
        <p:txBody>
          <a:bodyPr lIns="0" tIns="0" rIns="0" bIns="0"/>
          <a:lstStyle/>
          <a:p>
            <a:endParaRPr lang="en-US"/>
          </a:p>
        </p:txBody>
      </p:sp>
      <p:sp>
        <p:nvSpPr>
          <p:cNvPr id="5" name="Shape 3"/>
          <p:cNvSpPr/>
          <p:nvPr/>
        </p:nvSpPr>
        <p:spPr>
          <a:xfrm>
            <a:off x="594360" y="1783080"/>
            <a:ext cx="329184" cy="329184"/>
          </a:xfrm>
          <a:prstGeom prst="ellipse">
            <a:avLst/>
          </a:prstGeom>
          <a:solidFill>
            <a:srgbClr val="2E8B57"/>
          </a:solidFill>
          <a:ln/>
        </p:spPr>
        <p:txBody>
          <a:bodyPr lIns="0" tIns="0" rIns="0" bIns="0"/>
          <a:lstStyle/>
          <a:p>
            <a:endParaRPr lang="en-US"/>
          </a:p>
        </p:txBody>
      </p:sp>
      <p:sp>
        <p:nvSpPr>
          <p:cNvPr id="6" name="Text 4"/>
          <p:cNvSpPr/>
          <p:nvPr/>
        </p:nvSpPr>
        <p:spPr>
          <a:xfrm>
            <a:off x="594360" y="178308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005840" y="1737360"/>
            <a:ext cx="4814316" cy="274320"/>
          </a:xfrm>
          <a:prstGeom prst="rect">
            <a:avLst/>
          </a:prstGeom>
          <a:noFill/>
          <a:ln/>
        </p:spPr>
        <p:txBody>
          <a:bodyPr wrap="square" lIns="0" tIns="0" rIns="0" bIns="0" rtlCol="0" anchor="ctr"/>
          <a:lstStyle/>
          <a:p>
            <a:pPr marL="0" indent="0">
              <a:buNone/>
            </a:pPr>
            <a:r>
              <a:rPr lang="en-US" sz="1250" b="1" dirty="0">
                <a:solidFill>
                  <a:srgbClr val="1A5C38"/>
                </a:solidFill>
                <a:latin typeface="Calibri" pitchFamily="34" charset="0"/>
                <a:ea typeface="Calibri" pitchFamily="34" charset="-122"/>
                <a:cs typeface="Calibri" pitchFamily="34" charset="-120"/>
              </a:rPr>
              <a:t>Three layers of conformance.</a:t>
            </a:r>
            <a:endParaRPr lang="en-US" sz="1250" dirty="0"/>
          </a:p>
        </p:txBody>
      </p:sp>
      <p:sp>
        <p:nvSpPr>
          <p:cNvPr id="8" name="Text 6"/>
          <p:cNvSpPr/>
          <p:nvPr/>
        </p:nvSpPr>
        <p:spPr>
          <a:xfrm>
            <a:off x="1005840" y="2011680"/>
            <a:ext cx="4814316" cy="365760"/>
          </a:xfrm>
          <a:prstGeom prst="rect">
            <a:avLst/>
          </a:prstGeom>
          <a:noFill/>
          <a:ln/>
        </p:spPr>
        <p:txBody>
          <a:bodyPr wrap="square" lIns="0" tIns="0" rIns="0" bIns="0" rtlCol="0" anchor="ctr"/>
          <a:lstStyle/>
          <a:p>
            <a:pPr marL="0" indent="0">
              <a:buNone/>
            </a:pPr>
            <a:r>
              <a:rPr lang="en-US" sz="1050" dirty="0">
                <a:solidFill>
                  <a:srgbClr val="1A2B22"/>
                </a:solidFill>
                <a:latin typeface="Calibri" pitchFamily="34" charset="0"/>
                <a:ea typeface="Calibri" pitchFamily="34" charset="-122"/>
                <a:cs typeface="Calibri" pitchFamily="34" charset="-120"/>
              </a:rPr>
              <a:t>App → Product Group → Risk. Each contained inside the next.</a:t>
            </a:r>
            <a:endParaRPr lang="en-US" sz="1050" dirty="0"/>
          </a:p>
        </p:txBody>
      </p:sp>
      <p:sp>
        <p:nvSpPr>
          <p:cNvPr id="9" name="Shape 7"/>
          <p:cNvSpPr/>
          <p:nvPr/>
        </p:nvSpPr>
        <p:spPr>
          <a:xfrm>
            <a:off x="6277356" y="1600200"/>
            <a:ext cx="5454396" cy="868680"/>
          </a:xfrm>
          <a:prstGeom prst="rect">
            <a:avLst/>
          </a:prstGeom>
          <a:solidFill>
            <a:srgbClr val="FAF8F3"/>
          </a:solidFill>
          <a:ln w="12700">
            <a:solidFill>
              <a:srgbClr val="2E8B57"/>
            </a:solidFill>
            <a:prstDash val="solid"/>
          </a:ln>
        </p:spPr>
        <p:txBody>
          <a:bodyPr lIns="0" tIns="0" rIns="0" bIns="0"/>
          <a:lstStyle/>
          <a:p>
            <a:endParaRPr lang="en-US"/>
          </a:p>
        </p:txBody>
      </p:sp>
      <p:sp>
        <p:nvSpPr>
          <p:cNvPr id="10" name="Shape 8"/>
          <p:cNvSpPr/>
          <p:nvPr/>
        </p:nvSpPr>
        <p:spPr>
          <a:xfrm>
            <a:off x="6414516" y="1783080"/>
            <a:ext cx="329184" cy="329184"/>
          </a:xfrm>
          <a:prstGeom prst="ellipse">
            <a:avLst/>
          </a:prstGeom>
          <a:solidFill>
            <a:srgbClr val="2E8B57"/>
          </a:solidFill>
          <a:ln/>
        </p:spPr>
        <p:txBody>
          <a:bodyPr lIns="0" tIns="0" rIns="0" bIns="0"/>
          <a:lstStyle/>
          <a:p>
            <a:endParaRPr lang="en-US"/>
          </a:p>
        </p:txBody>
      </p:sp>
      <p:sp>
        <p:nvSpPr>
          <p:cNvPr id="11" name="Text 9"/>
          <p:cNvSpPr/>
          <p:nvPr/>
        </p:nvSpPr>
        <p:spPr>
          <a:xfrm>
            <a:off x="6414516" y="178308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6825996" y="1737360"/>
            <a:ext cx="4814316" cy="274320"/>
          </a:xfrm>
          <a:prstGeom prst="rect">
            <a:avLst/>
          </a:prstGeom>
          <a:noFill/>
          <a:ln/>
        </p:spPr>
        <p:txBody>
          <a:bodyPr wrap="square" lIns="0" tIns="0" rIns="0" bIns="0" rtlCol="0" anchor="ctr"/>
          <a:lstStyle/>
          <a:p>
            <a:pPr marL="0" indent="0">
              <a:buNone/>
            </a:pPr>
            <a:r>
              <a:rPr lang="en-US" sz="1250" b="1" dirty="0">
                <a:solidFill>
                  <a:srgbClr val="1A5C38"/>
                </a:solidFill>
                <a:latin typeface="Calibri" pitchFamily="34" charset="0"/>
                <a:ea typeface="Calibri" pitchFamily="34" charset="-122"/>
                <a:cs typeface="Calibri" pitchFamily="34" charset="-120"/>
              </a:rPr>
              <a:t>Three phases of work.</a:t>
            </a:r>
            <a:endParaRPr lang="en-US" sz="1250" dirty="0"/>
          </a:p>
        </p:txBody>
      </p:sp>
      <p:sp>
        <p:nvSpPr>
          <p:cNvPr id="13" name="Text 11"/>
          <p:cNvSpPr/>
          <p:nvPr/>
        </p:nvSpPr>
        <p:spPr>
          <a:xfrm>
            <a:off x="6825996" y="2011680"/>
            <a:ext cx="4814316" cy="365760"/>
          </a:xfrm>
          <a:prstGeom prst="rect">
            <a:avLst/>
          </a:prstGeom>
          <a:noFill/>
          <a:ln/>
        </p:spPr>
        <p:txBody>
          <a:bodyPr wrap="square" lIns="0" tIns="0" rIns="0" bIns="0" rtlCol="0" anchor="ctr"/>
          <a:lstStyle/>
          <a:p>
            <a:pPr marL="0" indent="0">
              <a:buNone/>
            </a:pPr>
            <a:r>
              <a:rPr lang="en-US" sz="1050" dirty="0">
                <a:solidFill>
                  <a:srgbClr val="1A2B22"/>
                </a:solidFill>
                <a:latin typeface="Calibri" pitchFamily="34" charset="0"/>
                <a:ea typeface="Calibri" pitchFamily="34" charset="-122"/>
                <a:cs typeface="Calibri" pitchFamily="34" charset="-120"/>
              </a:rPr>
              <a:t>App owner finishes first. Product owner second. Risk Data team third.</a:t>
            </a:r>
            <a:endParaRPr lang="en-US" sz="1050" dirty="0"/>
          </a:p>
        </p:txBody>
      </p:sp>
      <p:sp>
        <p:nvSpPr>
          <p:cNvPr id="14" name="Shape 12"/>
          <p:cNvSpPr/>
          <p:nvPr/>
        </p:nvSpPr>
        <p:spPr>
          <a:xfrm>
            <a:off x="457200" y="2606040"/>
            <a:ext cx="5454396" cy="868680"/>
          </a:xfrm>
          <a:prstGeom prst="rect">
            <a:avLst/>
          </a:prstGeom>
          <a:solidFill>
            <a:srgbClr val="FAF8F3"/>
          </a:solidFill>
          <a:ln w="12700">
            <a:solidFill>
              <a:srgbClr val="2E8B57"/>
            </a:solidFill>
            <a:prstDash val="solid"/>
          </a:ln>
        </p:spPr>
        <p:txBody>
          <a:bodyPr lIns="0" tIns="0" rIns="0" bIns="0"/>
          <a:lstStyle/>
          <a:p>
            <a:endParaRPr lang="en-US"/>
          </a:p>
        </p:txBody>
      </p:sp>
      <p:sp>
        <p:nvSpPr>
          <p:cNvPr id="15" name="Shape 13"/>
          <p:cNvSpPr/>
          <p:nvPr/>
        </p:nvSpPr>
        <p:spPr>
          <a:xfrm>
            <a:off x="594360" y="2788920"/>
            <a:ext cx="329184" cy="329184"/>
          </a:xfrm>
          <a:prstGeom prst="ellipse">
            <a:avLst/>
          </a:prstGeom>
          <a:solidFill>
            <a:srgbClr val="2E8B57"/>
          </a:solidFill>
          <a:ln/>
        </p:spPr>
        <p:txBody>
          <a:bodyPr lIns="0" tIns="0" rIns="0" bIns="0"/>
          <a:lstStyle/>
          <a:p>
            <a:endParaRPr lang="en-US"/>
          </a:p>
        </p:txBody>
      </p:sp>
      <p:sp>
        <p:nvSpPr>
          <p:cNvPr id="16" name="Text 14"/>
          <p:cNvSpPr/>
          <p:nvPr/>
        </p:nvSpPr>
        <p:spPr>
          <a:xfrm>
            <a:off x="594360" y="278892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005840" y="2743200"/>
            <a:ext cx="4814316" cy="274320"/>
          </a:xfrm>
          <a:prstGeom prst="rect">
            <a:avLst/>
          </a:prstGeom>
          <a:noFill/>
          <a:ln/>
        </p:spPr>
        <p:txBody>
          <a:bodyPr wrap="square" lIns="0" tIns="0" rIns="0" bIns="0" rtlCol="0" anchor="ctr"/>
          <a:lstStyle/>
          <a:p>
            <a:pPr marL="0" indent="0">
              <a:buNone/>
            </a:pPr>
            <a:r>
              <a:rPr lang="en-US" sz="1250" b="1" dirty="0">
                <a:solidFill>
                  <a:srgbClr val="1A5C38"/>
                </a:solidFill>
                <a:latin typeface="Calibri" pitchFamily="34" charset="0"/>
                <a:ea typeface="Calibri" pitchFamily="34" charset="-122"/>
                <a:cs typeface="Calibri" pitchFamily="34" charset="-120"/>
              </a:rPr>
              <a:t>Risk and CDM in parallel.</a:t>
            </a:r>
            <a:endParaRPr lang="en-US" sz="1250" dirty="0"/>
          </a:p>
        </p:txBody>
      </p:sp>
      <p:sp>
        <p:nvSpPr>
          <p:cNvPr id="18" name="Text 16"/>
          <p:cNvSpPr/>
          <p:nvPr/>
        </p:nvSpPr>
        <p:spPr>
          <a:xfrm>
            <a:off x="1005840" y="3017520"/>
            <a:ext cx="4814316" cy="365760"/>
          </a:xfrm>
          <a:prstGeom prst="rect">
            <a:avLst/>
          </a:prstGeom>
          <a:noFill/>
          <a:ln/>
        </p:spPr>
        <p:txBody>
          <a:bodyPr wrap="square" lIns="0" tIns="0" rIns="0" bIns="0" rtlCol="0" anchor="ctr"/>
          <a:lstStyle/>
          <a:p>
            <a:pPr marL="0" indent="0">
              <a:buNone/>
            </a:pPr>
            <a:r>
              <a:rPr lang="en-US" sz="1050" dirty="0">
                <a:solidFill>
                  <a:srgbClr val="1A2B22"/>
                </a:solidFill>
                <a:latin typeface="Calibri" pitchFamily="34" charset="0"/>
                <a:ea typeface="Calibri" pitchFamily="34" charset="-122"/>
                <a:cs typeface="Calibri" pitchFamily="34" charset="-120"/>
              </a:rPr>
              <a:t>CDM defines canonical for the bank. Risk uses, extends, contributes back.</a:t>
            </a:r>
            <a:endParaRPr lang="en-US" sz="1050" dirty="0"/>
          </a:p>
        </p:txBody>
      </p:sp>
      <p:sp>
        <p:nvSpPr>
          <p:cNvPr id="19" name="Shape 17"/>
          <p:cNvSpPr/>
          <p:nvPr/>
        </p:nvSpPr>
        <p:spPr>
          <a:xfrm>
            <a:off x="6277356" y="2606040"/>
            <a:ext cx="5454396" cy="868680"/>
          </a:xfrm>
          <a:prstGeom prst="rect">
            <a:avLst/>
          </a:prstGeom>
          <a:solidFill>
            <a:srgbClr val="FAF8F3"/>
          </a:solidFill>
          <a:ln w="12700">
            <a:solidFill>
              <a:srgbClr val="2E8B57"/>
            </a:solidFill>
            <a:prstDash val="solid"/>
          </a:ln>
        </p:spPr>
        <p:txBody>
          <a:bodyPr lIns="0" tIns="0" rIns="0" bIns="0"/>
          <a:lstStyle/>
          <a:p>
            <a:endParaRPr lang="en-US"/>
          </a:p>
        </p:txBody>
      </p:sp>
      <p:sp>
        <p:nvSpPr>
          <p:cNvPr id="20" name="Shape 18"/>
          <p:cNvSpPr/>
          <p:nvPr/>
        </p:nvSpPr>
        <p:spPr>
          <a:xfrm>
            <a:off x="6414516" y="2788920"/>
            <a:ext cx="329184" cy="329184"/>
          </a:xfrm>
          <a:prstGeom prst="ellipse">
            <a:avLst/>
          </a:prstGeom>
          <a:solidFill>
            <a:srgbClr val="2E8B57"/>
          </a:solidFill>
          <a:ln/>
        </p:spPr>
        <p:txBody>
          <a:bodyPr lIns="0" tIns="0" rIns="0" bIns="0"/>
          <a:lstStyle/>
          <a:p>
            <a:endParaRPr lang="en-US"/>
          </a:p>
        </p:txBody>
      </p:sp>
      <p:sp>
        <p:nvSpPr>
          <p:cNvPr id="21" name="Text 19"/>
          <p:cNvSpPr/>
          <p:nvPr/>
        </p:nvSpPr>
        <p:spPr>
          <a:xfrm>
            <a:off x="6414516" y="278892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6825996" y="2743200"/>
            <a:ext cx="4814316" cy="274320"/>
          </a:xfrm>
          <a:prstGeom prst="rect">
            <a:avLst/>
          </a:prstGeom>
          <a:noFill/>
          <a:ln/>
        </p:spPr>
        <p:txBody>
          <a:bodyPr wrap="square" lIns="0" tIns="0" rIns="0" bIns="0" rtlCol="0" anchor="ctr"/>
          <a:lstStyle/>
          <a:p>
            <a:pPr marL="0" indent="0">
              <a:buNone/>
            </a:pPr>
            <a:r>
              <a:rPr lang="en-US" sz="1250" b="1" dirty="0">
                <a:solidFill>
                  <a:srgbClr val="1A5C38"/>
                </a:solidFill>
                <a:latin typeface="Calibri" pitchFamily="34" charset="0"/>
                <a:ea typeface="Calibri" pitchFamily="34" charset="-122"/>
                <a:cs typeface="Calibri" pitchFamily="34" charset="-120"/>
              </a:rPr>
              <a:t>Contract ID threads it all.</a:t>
            </a:r>
            <a:endParaRPr lang="en-US" sz="1250" dirty="0"/>
          </a:p>
        </p:txBody>
      </p:sp>
      <p:sp>
        <p:nvSpPr>
          <p:cNvPr id="23" name="Text 21"/>
          <p:cNvSpPr/>
          <p:nvPr/>
        </p:nvSpPr>
        <p:spPr>
          <a:xfrm>
            <a:off x="6825996" y="3017520"/>
            <a:ext cx="4814316" cy="365760"/>
          </a:xfrm>
          <a:prstGeom prst="rect">
            <a:avLst/>
          </a:prstGeom>
          <a:noFill/>
          <a:ln/>
        </p:spPr>
        <p:txBody>
          <a:bodyPr wrap="square" lIns="0" tIns="0" rIns="0" bIns="0" rtlCol="0" anchor="ctr"/>
          <a:lstStyle/>
          <a:p>
            <a:pPr marL="0" indent="0">
              <a:buNone/>
            </a:pPr>
            <a:r>
              <a:rPr lang="en-US" sz="1050" dirty="0">
                <a:solidFill>
                  <a:srgbClr val="1A2B22"/>
                </a:solidFill>
                <a:latin typeface="Calibri" pitchFamily="34" charset="0"/>
                <a:ea typeface="Calibri" pitchFamily="34" charset="-122"/>
                <a:cs typeface="Calibri" pitchFamily="34" charset="-120"/>
              </a:rPr>
              <a:t>From ingestion contract → app entity → RCE → CDM. One identifier carries lineage.</a:t>
            </a:r>
            <a:endParaRPr lang="en-US" sz="1050" dirty="0"/>
          </a:p>
        </p:txBody>
      </p:sp>
      <p:sp>
        <p:nvSpPr>
          <p:cNvPr id="24" name="Shape 22"/>
          <p:cNvSpPr/>
          <p:nvPr/>
        </p:nvSpPr>
        <p:spPr>
          <a:xfrm>
            <a:off x="457200" y="3611880"/>
            <a:ext cx="5454396" cy="868680"/>
          </a:xfrm>
          <a:prstGeom prst="rect">
            <a:avLst/>
          </a:prstGeom>
          <a:solidFill>
            <a:srgbClr val="FAF8F3"/>
          </a:solidFill>
          <a:ln w="12700">
            <a:solidFill>
              <a:srgbClr val="2E8B57"/>
            </a:solidFill>
            <a:prstDash val="solid"/>
          </a:ln>
        </p:spPr>
        <p:txBody>
          <a:bodyPr lIns="0" tIns="0" rIns="0" bIns="0"/>
          <a:lstStyle/>
          <a:p>
            <a:endParaRPr lang="en-US"/>
          </a:p>
        </p:txBody>
      </p:sp>
      <p:sp>
        <p:nvSpPr>
          <p:cNvPr id="25" name="Shape 23"/>
          <p:cNvSpPr/>
          <p:nvPr/>
        </p:nvSpPr>
        <p:spPr>
          <a:xfrm>
            <a:off x="594360" y="3794760"/>
            <a:ext cx="329184" cy="329184"/>
          </a:xfrm>
          <a:prstGeom prst="ellipse">
            <a:avLst/>
          </a:prstGeom>
          <a:solidFill>
            <a:srgbClr val="2E8B57"/>
          </a:solidFill>
          <a:ln/>
        </p:spPr>
        <p:txBody>
          <a:bodyPr lIns="0" tIns="0" rIns="0" bIns="0"/>
          <a:lstStyle/>
          <a:p>
            <a:endParaRPr lang="en-US"/>
          </a:p>
        </p:txBody>
      </p:sp>
      <p:sp>
        <p:nvSpPr>
          <p:cNvPr id="26" name="Text 24"/>
          <p:cNvSpPr/>
          <p:nvPr/>
        </p:nvSpPr>
        <p:spPr>
          <a:xfrm>
            <a:off x="594360" y="37947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1005840" y="3749040"/>
            <a:ext cx="4814316" cy="274320"/>
          </a:xfrm>
          <a:prstGeom prst="rect">
            <a:avLst/>
          </a:prstGeom>
          <a:noFill/>
          <a:ln/>
        </p:spPr>
        <p:txBody>
          <a:bodyPr wrap="square" lIns="0" tIns="0" rIns="0" bIns="0" rtlCol="0" anchor="ctr"/>
          <a:lstStyle/>
          <a:p>
            <a:pPr marL="0" indent="0">
              <a:buNone/>
            </a:pPr>
            <a:r>
              <a:rPr lang="en-US" sz="1250" b="1" dirty="0">
                <a:solidFill>
                  <a:srgbClr val="1A5C38"/>
                </a:solidFill>
                <a:latin typeface="Calibri" pitchFamily="34" charset="0"/>
                <a:ea typeface="Calibri" pitchFamily="34" charset="-122"/>
                <a:cs typeface="Calibri" pitchFamily="34" charset="-120"/>
              </a:rPr>
              <a:t>Populate forward, migrate backward.</a:t>
            </a:r>
            <a:endParaRPr lang="en-US" sz="1250" dirty="0"/>
          </a:p>
        </p:txBody>
      </p:sp>
      <p:sp>
        <p:nvSpPr>
          <p:cNvPr id="28" name="Text 26"/>
          <p:cNvSpPr/>
          <p:nvPr/>
        </p:nvSpPr>
        <p:spPr>
          <a:xfrm>
            <a:off x="1005840" y="4023360"/>
            <a:ext cx="4814316" cy="365760"/>
          </a:xfrm>
          <a:prstGeom prst="rect">
            <a:avLst/>
          </a:prstGeom>
          <a:noFill/>
          <a:ln/>
        </p:spPr>
        <p:txBody>
          <a:bodyPr wrap="square" lIns="0" tIns="0" rIns="0" bIns="0" rtlCol="0" anchor="ctr"/>
          <a:lstStyle/>
          <a:p>
            <a:pPr marL="0" indent="0">
              <a:buNone/>
            </a:pPr>
            <a:r>
              <a:rPr lang="en-US" sz="1050" dirty="0">
                <a:solidFill>
                  <a:srgbClr val="1A2B22"/>
                </a:solidFill>
                <a:latin typeface="Calibri" pitchFamily="34" charset="0"/>
                <a:ea typeface="Calibri" pitchFamily="34" charset="-122"/>
                <a:cs typeface="Calibri" pitchFamily="34" charset="-120"/>
              </a:rPr>
              <a:t>Value delivered now. Sourcing migrates as entities mature. Apps don't refactor.</a:t>
            </a:r>
            <a:endParaRPr lang="en-US" sz="1050" dirty="0"/>
          </a:p>
        </p:txBody>
      </p:sp>
      <p:sp>
        <p:nvSpPr>
          <p:cNvPr id="29" name="Shape 27"/>
          <p:cNvSpPr/>
          <p:nvPr/>
        </p:nvSpPr>
        <p:spPr>
          <a:xfrm>
            <a:off x="6277356" y="3611880"/>
            <a:ext cx="5454396" cy="868680"/>
          </a:xfrm>
          <a:prstGeom prst="rect">
            <a:avLst/>
          </a:prstGeom>
          <a:solidFill>
            <a:srgbClr val="FAF8F3"/>
          </a:solidFill>
          <a:ln w="12700">
            <a:solidFill>
              <a:srgbClr val="2E8B57"/>
            </a:solidFill>
            <a:prstDash val="solid"/>
          </a:ln>
        </p:spPr>
        <p:txBody>
          <a:bodyPr lIns="0" tIns="0" rIns="0" bIns="0"/>
          <a:lstStyle/>
          <a:p>
            <a:endParaRPr lang="en-US"/>
          </a:p>
        </p:txBody>
      </p:sp>
      <p:sp>
        <p:nvSpPr>
          <p:cNvPr id="30" name="Shape 28"/>
          <p:cNvSpPr/>
          <p:nvPr/>
        </p:nvSpPr>
        <p:spPr>
          <a:xfrm>
            <a:off x="6414516" y="3794760"/>
            <a:ext cx="329184" cy="329184"/>
          </a:xfrm>
          <a:prstGeom prst="ellipse">
            <a:avLst/>
          </a:prstGeom>
          <a:solidFill>
            <a:srgbClr val="2E8B57"/>
          </a:solidFill>
          <a:ln/>
        </p:spPr>
        <p:txBody>
          <a:bodyPr lIns="0" tIns="0" rIns="0" bIns="0"/>
          <a:lstStyle/>
          <a:p>
            <a:endParaRPr lang="en-US"/>
          </a:p>
        </p:txBody>
      </p:sp>
      <p:sp>
        <p:nvSpPr>
          <p:cNvPr id="31" name="Text 29"/>
          <p:cNvSpPr/>
          <p:nvPr/>
        </p:nvSpPr>
        <p:spPr>
          <a:xfrm>
            <a:off x="6414516" y="37947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6825996" y="3749040"/>
            <a:ext cx="4814316" cy="274320"/>
          </a:xfrm>
          <a:prstGeom prst="rect">
            <a:avLst/>
          </a:prstGeom>
          <a:noFill/>
          <a:ln/>
        </p:spPr>
        <p:txBody>
          <a:bodyPr wrap="square" lIns="0" tIns="0" rIns="0" bIns="0" rtlCol="0" anchor="ctr"/>
          <a:lstStyle/>
          <a:p>
            <a:pPr marL="0" indent="0">
              <a:buNone/>
            </a:pPr>
            <a:r>
              <a:rPr lang="en-US" sz="1250" b="1" dirty="0">
                <a:solidFill>
                  <a:srgbClr val="1A5C38"/>
                </a:solidFill>
                <a:latin typeface="Calibri" pitchFamily="34" charset="0"/>
                <a:ea typeface="Calibri" pitchFamily="34" charset="-122"/>
                <a:cs typeface="Calibri" pitchFamily="34" charset="-120"/>
              </a:rPr>
              <a:t>Conformance ≠ resolution.</a:t>
            </a:r>
            <a:endParaRPr lang="en-US" sz="1250" dirty="0"/>
          </a:p>
        </p:txBody>
      </p:sp>
      <p:sp>
        <p:nvSpPr>
          <p:cNvPr id="33" name="Text 31"/>
          <p:cNvSpPr/>
          <p:nvPr/>
        </p:nvSpPr>
        <p:spPr>
          <a:xfrm>
            <a:off x="6825996" y="4023360"/>
            <a:ext cx="4814316" cy="365760"/>
          </a:xfrm>
          <a:prstGeom prst="rect">
            <a:avLst/>
          </a:prstGeom>
          <a:noFill/>
          <a:ln/>
        </p:spPr>
        <p:txBody>
          <a:bodyPr wrap="square" lIns="0" tIns="0" rIns="0" bIns="0" rtlCol="0" anchor="ctr"/>
          <a:lstStyle/>
          <a:p>
            <a:pPr marL="0" indent="0">
              <a:buNone/>
            </a:pPr>
            <a:r>
              <a:rPr lang="en-US" sz="1050" dirty="0">
                <a:solidFill>
                  <a:srgbClr val="1A2B22"/>
                </a:solidFill>
                <a:latin typeface="Calibri" pitchFamily="34" charset="0"/>
                <a:ea typeface="Calibri" pitchFamily="34" charset="-122"/>
                <a:cs typeface="Calibri" pitchFamily="34" charset="-120"/>
              </a:rPr>
              <a:t>This produces conformed entities. Value-level deduplication is a separate capability.</a:t>
            </a:r>
            <a:endParaRPr lang="en-US" sz="1050" dirty="0"/>
          </a:p>
        </p:txBody>
      </p:sp>
      <p:sp>
        <p:nvSpPr>
          <p:cNvPr id="34" name="Shape 32"/>
          <p:cNvSpPr/>
          <p:nvPr/>
        </p:nvSpPr>
        <p:spPr>
          <a:xfrm>
            <a:off x="457200" y="4709160"/>
            <a:ext cx="11274552" cy="548640"/>
          </a:xfrm>
          <a:prstGeom prst="rect">
            <a:avLst/>
          </a:prstGeom>
          <a:solidFill>
            <a:srgbClr val="2E8B57"/>
          </a:solidFill>
          <a:ln/>
        </p:spPr>
        <p:txBody>
          <a:bodyPr lIns="0" tIns="0" rIns="0" bIns="0"/>
          <a:lstStyle/>
          <a:p>
            <a:endParaRPr lang="en-US"/>
          </a:p>
        </p:txBody>
      </p:sp>
      <p:sp>
        <p:nvSpPr>
          <p:cNvPr id="35" name="Text 33"/>
          <p:cNvSpPr/>
          <p:nvPr/>
        </p:nvSpPr>
        <p:spPr>
          <a:xfrm>
            <a:off x="640080" y="4782312"/>
            <a:ext cx="1828800" cy="182880"/>
          </a:xfrm>
          <a:prstGeom prst="rect">
            <a:avLst/>
          </a:prstGeom>
          <a:noFill/>
          <a:ln/>
        </p:spPr>
        <p:txBody>
          <a:bodyPr wrap="square" lIns="0" tIns="0" rIns="0" bIns="0" rtlCol="0" anchor="ctr"/>
          <a:lstStyle/>
          <a:p>
            <a:pPr marL="0" indent="0">
              <a:buNone/>
            </a:pPr>
            <a:r>
              <a:rPr lang="en-US" sz="900" b="1" kern="0" spc="0" dirty="0">
                <a:solidFill>
                  <a:srgbClr val="EEF7F0"/>
                </a:solidFill>
                <a:latin typeface="Calibri" pitchFamily="34" charset="0"/>
                <a:ea typeface="Calibri" pitchFamily="34" charset="-122"/>
                <a:cs typeface="Calibri" pitchFamily="34" charset="-120"/>
              </a:rPr>
              <a:t>NEXT STEPS</a:t>
            </a:r>
            <a:endParaRPr lang="en-US" sz="900" dirty="0"/>
          </a:p>
        </p:txBody>
      </p:sp>
      <p:sp>
        <p:nvSpPr>
          <p:cNvPr id="36" name="Text 34"/>
          <p:cNvSpPr/>
          <p:nvPr/>
        </p:nvSpPr>
        <p:spPr>
          <a:xfrm>
            <a:off x="640080" y="4983480"/>
            <a:ext cx="10908792" cy="22860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Profiler on Risk-generated data  ·  Entity interviews with app teams  ·  Risk Data Catalog initial entities  ·  Product-group reviews scheduled  ·  CDM alignment kickoff</a:t>
            </a:r>
            <a:endParaRPr lang="en-US" sz="1100" dirty="0"/>
          </a:p>
        </p:txBody>
      </p:sp>
      <p:sp>
        <p:nvSpPr>
          <p:cNvPr id="37" name="Text 35"/>
          <p:cNvSpPr/>
          <p:nvPr/>
        </p:nvSpPr>
        <p:spPr>
          <a:xfrm>
            <a:off x="457200" y="6565392"/>
            <a:ext cx="8229600" cy="201168"/>
          </a:xfrm>
          <a:prstGeom prst="rect">
            <a:avLst/>
          </a:prstGeom>
          <a:noFill/>
          <a:ln/>
        </p:spPr>
        <p:txBody>
          <a:bodyPr wrap="square" lIns="0" tIns="0" rIns="0" bIns="0" rtlCol="0" anchor="ctr"/>
          <a:lstStyle/>
          <a:p>
            <a:pPr marL="0" indent="0">
              <a:buNone/>
            </a:pPr>
            <a:r>
              <a:rPr lang="en-US" sz="900" i="1" dirty="0">
                <a:solidFill>
                  <a:srgbClr val="7F8C84"/>
                </a:solidFill>
                <a:latin typeface="Calibri" pitchFamily="34" charset="0"/>
                <a:ea typeface="Calibri" pitchFamily="34" charset="-122"/>
                <a:cs typeface="Calibri" pitchFamily="34" charset="-120"/>
              </a:rPr>
              <a:t>TD Securities · Risk Data Platform · Working Draft</a:t>
            </a:r>
            <a:endParaRPr lang="en-US" sz="900" dirty="0"/>
          </a:p>
        </p:txBody>
      </p:sp>
      <p:sp>
        <p:nvSpPr>
          <p:cNvPr id="38" name="Text 36"/>
          <p:cNvSpPr/>
          <p:nvPr/>
        </p:nvSpPr>
        <p:spPr>
          <a:xfrm>
            <a:off x="11548872" y="6565392"/>
            <a:ext cx="365760" cy="201168"/>
          </a:xfrm>
          <a:prstGeom prst="rect">
            <a:avLst/>
          </a:prstGeom>
          <a:noFill/>
          <a:ln/>
        </p:spPr>
        <p:txBody>
          <a:bodyPr wrap="square" lIns="0" tIns="0" rIns="0" bIns="0" rtlCol="0" anchor="ctr"/>
          <a:lstStyle/>
          <a:p>
            <a:pPr marL="0" indent="0" algn="r">
              <a:buNone/>
            </a:pPr>
            <a:r>
              <a:rPr lang="en-US" sz="900" dirty="0">
                <a:solidFill>
                  <a:srgbClr val="7F8C8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7F0"/>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4552" cy="228600"/>
          </a:xfrm>
          <a:prstGeom prst="rect">
            <a:avLst/>
          </a:prstGeom>
          <a:noFill/>
          <a:ln/>
        </p:spPr>
        <p:txBody>
          <a:bodyPr wrap="square" lIns="0" tIns="0" rIns="0" bIns="0" rtlCol="0" anchor="ctr"/>
          <a:lstStyle/>
          <a:p>
            <a:pPr marL="0" indent="0">
              <a:buNone/>
            </a:pPr>
            <a:r>
              <a:rPr lang="en-US" sz="1000" b="1" kern="0" spc="0" dirty="0">
                <a:solidFill>
                  <a:srgbClr val="A8362A"/>
                </a:solidFill>
                <a:latin typeface="Calibri" pitchFamily="34" charset="0"/>
                <a:ea typeface="Calibri" pitchFamily="34" charset="-122"/>
                <a:cs typeface="Calibri" pitchFamily="34" charset="-120"/>
              </a:rPr>
              <a:t>APPENDIX · A1</a:t>
            </a:r>
            <a:endParaRPr lang="en-US" sz="1000" dirty="0"/>
          </a:p>
        </p:txBody>
      </p:sp>
      <p:sp>
        <p:nvSpPr>
          <p:cNvPr id="3" name="Text 1"/>
          <p:cNvSpPr/>
          <p:nvPr/>
        </p:nvSpPr>
        <p:spPr>
          <a:xfrm>
            <a:off x="457200" y="594360"/>
            <a:ext cx="11274552" cy="548640"/>
          </a:xfrm>
          <a:prstGeom prst="rect">
            <a:avLst/>
          </a:prstGeom>
          <a:noFill/>
          <a:ln/>
        </p:spPr>
        <p:txBody>
          <a:bodyPr wrap="square" lIns="0" tIns="0" rIns="0" bIns="0" rtlCol="0" anchor="ctr"/>
          <a:lstStyle/>
          <a:p>
            <a:pPr marL="0" indent="0">
              <a:buNone/>
            </a:pPr>
            <a:r>
              <a:rPr lang="en-US" sz="2800" b="1" dirty="0">
                <a:solidFill>
                  <a:srgbClr val="1A5C38"/>
                </a:solidFill>
                <a:latin typeface="Calibri" pitchFamily="34" charset="0"/>
                <a:ea typeface="Calibri" pitchFamily="34" charset="-122"/>
                <a:cs typeface="Calibri" pitchFamily="34" charset="-120"/>
              </a:rPr>
              <a:t>Paths considered</a:t>
            </a:r>
            <a:endParaRPr lang="en-US" sz="2800" dirty="0"/>
          </a:p>
        </p:txBody>
      </p:sp>
      <p:sp>
        <p:nvSpPr>
          <p:cNvPr id="4" name="Text 2"/>
          <p:cNvSpPr/>
          <p:nvPr/>
        </p:nvSpPr>
        <p:spPr>
          <a:xfrm>
            <a:off x="457200" y="1188720"/>
            <a:ext cx="11274552" cy="320040"/>
          </a:xfrm>
          <a:prstGeom prst="rect">
            <a:avLst/>
          </a:prstGeom>
          <a:noFill/>
          <a:ln/>
        </p:spPr>
        <p:txBody>
          <a:bodyPr wrap="square" lIns="0" tIns="0" rIns="0" bIns="0" rtlCol="0" anchor="ctr"/>
          <a:lstStyle/>
          <a:p>
            <a:pPr marL="0" indent="0">
              <a:buNone/>
            </a:pPr>
            <a:r>
              <a:rPr lang="en-US" sz="1300" i="1" dirty="0">
                <a:solidFill>
                  <a:srgbClr val="3D5247"/>
                </a:solidFill>
                <a:latin typeface="Calibri" pitchFamily="34" charset="0"/>
                <a:ea typeface="Calibri" pitchFamily="34" charset="-122"/>
                <a:cs typeface="Calibri" pitchFamily="34" charset="-120"/>
              </a:rPr>
              <a:t>Two viable approaches. The selected approach fits where Risk's data is today.</a:t>
            </a:r>
            <a:endParaRPr lang="en-US" sz="1300" dirty="0"/>
          </a:p>
        </p:txBody>
      </p:sp>
      <p:sp>
        <p:nvSpPr>
          <p:cNvPr id="5" name="Shape 3"/>
          <p:cNvSpPr/>
          <p:nvPr/>
        </p:nvSpPr>
        <p:spPr>
          <a:xfrm>
            <a:off x="457200" y="1920240"/>
            <a:ext cx="5408676" cy="2286000"/>
          </a:xfrm>
          <a:prstGeom prst="rect">
            <a:avLst/>
          </a:prstGeom>
          <a:solidFill>
            <a:srgbClr val="EEF7F0"/>
          </a:solidFill>
          <a:ln w="25400">
            <a:solidFill>
              <a:srgbClr val="1A5C38"/>
            </a:solidFill>
            <a:prstDash val="solid"/>
          </a:ln>
        </p:spPr>
        <p:txBody>
          <a:bodyPr lIns="0" tIns="0" rIns="0" bIns="0"/>
          <a:lstStyle/>
          <a:p>
            <a:endParaRPr lang="en-US"/>
          </a:p>
        </p:txBody>
      </p:sp>
      <p:sp>
        <p:nvSpPr>
          <p:cNvPr id="6" name="Text 4"/>
          <p:cNvSpPr/>
          <p:nvPr/>
        </p:nvSpPr>
        <p:spPr>
          <a:xfrm>
            <a:off x="640080" y="2057400"/>
            <a:ext cx="5042916" cy="228600"/>
          </a:xfrm>
          <a:prstGeom prst="rect">
            <a:avLst/>
          </a:prstGeom>
          <a:noFill/>
          <a:ln/>
        </p:spPr>
        <p:txBody>
          <a:bodyPr wrap="square" lIns="0" tIns="0" rIns="0" bIns="0" rtlCol="0" anchor="ctr"/>
          <a:lstStyle/>
          <a:p>
            <a:pPr marL="0" indent="0">
              <a:buNone/>
            </a:pPr>
            <a:r>
              <a:rPr lang="en-US" sz="900" b="1" kern="0" spc="0" dirty="0">
                <a:solidFill>
                  <a:srgbClr val="1A5C38"/>
                </a:solidFill>
                <a:latin typeface="Calibri" pitchFamily="34" charset="0"/>
                <a:ea typeface="Calibri" pitchFamily="34" charset="-122"/>
                <a:cs typeface="Calibri" pitchFamily="34" charset="-120"/>
              </a:rPr>
              <a:t>SELECTED</a:t>
            </a:r>
            <a:endParaRPr lang="en-US" sz="900" dirty="0"/>
          </a:p>
        </p:txBody>
      </p:sp>
      <p:sp>
        <p:nvSpPr>
          <p:cNvPr id="7" name="Text 5"/>
          <p:cNvSpPr/>
          <p:nvPr/>
        </p:nvSpPr>
        <p:spPr>
          <a:xfrm>
            <a:off x="640080" y="2331720"/>
            <a:ext cx="5042916" cy="365760"/>
          </a:xfrm>
          <a:prstGeom prst="rect">
            <a:avLst/>
          </a:prstGeom>
          <a:noFill/>
          <a:ln/>
        </p:spPr>
        <p:txBody>
          <a:bodyPr wrap="square" lIns="0" tIns="0" rIns="0" bIns="0" rtlCol="0" anchor="ctr"/>
          <a:lstStyle/>
          <a:p>
            <a:pPr marL="0" indent="0">
              <a:buNone/>
            </a:pPr>
            <a:r>
              <a:rPr lang="en-US" sz="1600" b="1" dirty="0">
                <a:solidFill>
                  <a:srgbClr val="1A5C38"/>
                </a:solidFill>
                <a:latin typeface="Calibri" pitchFamily="34" charset="0"/>
                <a:ea typeface="Calibri" pitchFamily="34" charset="-122"/>
                <a:cs typeface="Calibri" pitchFamily="34" charset="-120"/>
              </a:rPr>
              <a:t>Build from generated data</a:t>
            </a:r>
            <a:endParaRPr lang="en-US" sz="1600" dirty="0"/>
          </a:p>
        </p:txBody>
      </p:sp>
      <p:sp>
        <p:nvSpPr>
          <p:cNvPr id="8" name="Text 6"/>
          <p:cNvSpPr/>
          <p:nvPr/>
        </p:nvSpPr>
        <p:spPr>
          <a:xfrm>
            <a:off x="640080" y="2788920"/>
            <a:ext cx="5042916" cy="1280160"/>
          </a:xfrm>
          <a:prstGeom prst="rect">
            <a:avLst/>
          </a:prstGeom>
          <a:noFill/>
          <a:ln/>
        </p:spPr>
        <p:txBody>
          <a:bodyPr wrap="square" lIns="0" tIns="0" rIns="0" bIns="0" rtlCol="0" anchor="ctr"/>
          <a:lstStyle/>
          <a:p>
            <a:pPr marL="0" indent="0">
              <a:buNone/>
            </a:pPr>
            <a:r>
              <a:rPr lang="en-US" sz="1150" dirty="0">
                <a:solidFill>
                  <a:srgbClr val="1A2B22"/>
                </a:solidFill>
                <a:latin typeface="Calibri" pitchFamily="34" charset="0"/>
                <a:ea typeface="Calibri" pitchFamily="34" charset="-122"/>
                <a:cs typeface="Calibri" pitchFamily="34" charset="-120"/>
              </a:rPr>
              <a:t>Risk-generated data is already in Databricks. Conformity work begins from the produced side. Entities are inferred from what apps already publish. Product-group and Risk-level entities build on top. CDM alignment is taken up as each Risk-level entity matures — proceeding in parallel with the bank-wide CDM effort.</a:t>
            </a:r>
            <a:endParaRPr lang="en-US" sz="1150" dirty="0"/>
          </a:p>
        </p:txBody>
      </p:sp>
      <p:sp>
        <p:nvSpPr>
          <p:cNvPr id="9" name="Shape 7"/>
          <p:cNvSpPr/>
          <p:nvPr/>
        </p:nvSpPr>
        <p:spPr>
          <a:xfrm>
            <a:off x="6323076" y="1920240"/>
            <a:ext cx="5408676" cy="2286000"/>
          </a:xfrm>
          <a:prstGeom prst="rect">
            <a:avLst/>
          </a:prstGeom>
          <a:solidFill>
            <a:srgbClr val="FAF8F3"/>
          </a:solidFill>
          <a:ln w="12700">
            <a:solidFill>
              <a:srgbClr val="3D5247"/>
            </a:solidFill>
            <a:prstDash val="solid"/>
          </a:ln>
        </p:spPr>
        <p:txBody>
          <a:bodyPr lIns="0" tIns="0" rIns="0" bIns="0"/>
          <a:lstStyle/>
          <a:p>
            <a:endParaRPr lang="en-US"/>
          </a:p>
        </p:txBody>
      </p:sp>
      <p:sp>
        <p:nvSpPr>
          <p:cNvPr id="10" name="Text 8"/>
          <p:cNvSpPr/>
          <p:nvPr/>
        </p:nvSpPr>
        <p:spPr>
          <a:xfrm>
            <a:off x="6505956" y="2057400"/>
            <a:ext cx="5042916" cy="228600"/>
          </a:xfrm>
          <a:prstGeom prst="rect">
            <a:avLst/>
          </a:prstGeom>
          <a:noFill/>
          <a:ln/>
        </p:spPr>
        <p:txBody>
          <a:bodyPr wrap="square" lIns="0" tIns="0" rIns="0" bIns="0" rtlCol="0" anchor="ctr"/>
          <a:lstStyle/>
          <a:p>
            <a:pPr marL="0" indent="0">
              <a:buNone/>
            </a:pPr>
            <a:r>
              <a:rPr lang="en-US" sz="900" b="1" kern="0" spc="0" dirty="0">
                <a:solidFill>
                  <a:srgbClr val="3D5247"/>
                </a:solidFill>
                <a:latin typeface="Calibri" pitchFamily="34" charset="0"/>
                <a:ea typeface="Calibri" pitchFamily="34" charset="-122"/>
                <a:cs typeface="Calibri" pitchFamily="34" charset="-120"/>
              </a:rPr>
              <a:t>ALSO VIABLE</a:t>
            </a:r>
            <a:endParaRPr lang="en-US" sz="900" dirty="0"/>
          </a:p>
        </p:txBody>
      </p:sp>
      <p:sp>
        <p:nvSpPr>
          <p:cNvPr id="11" name="Text 9"/>
          <p:cNvSpPr/>
          <p:nvPr/>
        </p:nvSpPr>
        <p:spPr>
          <a:xfrm>
            <a:off x="6505956" y="2331720"/>
            <a:ext cx="5042916" cy="365760"/>
          </a:xfrm>
          <a:prstGeom prst="rect">
            <a:avLst/>
          </a:prstGeom>
          <a:noFill/>
          <a:ln/>
        </p:spPr>
        <p:txBody>
          <a:bodyPr wrap="square" lIns="0" tIns="0" rIns="0" bIns="0" rtlCol="0" anchor="ctr"/>
          <a:lstStyle/>
          <a:p>
            <a:pPr marL="0" indent="0">
              <a:buNone/>
            </a:pPr>
            <a:r>
              <a:rPr lang="en-US" sz="1600" b="1" dirty="0">
                <a:solidFill>
                  <a:srgbClr val="1A2B22"/>
                </a:solidFill>
                <a:latin typeface="Calibri" pitchFamily="34" charset="0"/>
                <a:ea typeface="Calibri" pitchFamily="34" charset="-122"/>
                <a:cs typeface="Calibri" pitchFamily="34" charset="-120"/>
              </a:rPr>
              <a:t>Build from CDM down</a:t>
            </a:r>
            <a:endParaRPr lang="en-US" sz="1600" dirty="0"/>
          </a:p>
        </p:txBody>
      </p:sp>
      <p:sp>
        <p:nvSpPr>
          <p:cNvPr id="12" name="Text 10"/>
          <p:cNvSpPr/>
          <p:nvPr/>
        </p:nvSpPr>
        <p:spPr>
          <a:xfrm>
            <a:off x="6505956" y="2788920"/>
            <a:ext cx="5042916" cy="1280160"/>
          </a:xfrm>
          <a:prstGeom prst="rect">
            <a:avLst/>
          </a:prstGeom>
          <a:noFill/>
          <a:ln/>
        </p:spPr>
        <p:txBody>
          <a:bodyPr wrap="square" lIns="0" tIns="0" rIns="0" bIns="0" rtlCol="0" anchor="ctr"/>
          <a:lstStyle/>
          <a:p>
            <a:pPr marL="0" indent="0">
              <a:buNone/>
            </a:pPr>
            <a:r>
              <a:rPr lang="en-US" sz="1150" dirty="0">
                <a:solidFill>
                  <a:srgbClr val="1A2B22"/>
                </a:solidFill>
                <a:latin typeface="Calibri" pitchFamily="34" charset="0"/>
                <a:ea typeface="Calibri" pitchFamily="34" charset="-122"/>
                <a:cs typeface="Calibri" pitchFamily="34" charset="-120"/>
              </a:rPr>
              <a:t>Define Risk entities by reference to CDM canonical definitions. Build out as CDM coverage expands for the entities Risk uses. A natural path for any entity where CDM has mature coverage at the point Risk is ready to adopt.</a:t>
            </a:r>
            <a:endParaRPr lang="en-US" sz="1150" dirty="0"/>
          </a:p>
        </p:txBody>
      </p:sp>
      <p:sp>
        <p:nvSpPr>
          <p:cNvPr id="13" name="Shape 11"/>
          <p:cNvSpPr/>
          <p:nvPr/>
        </p:nvSpPr>
        <p:spPr>
          <a:xfrm>
            <a:off x="457200" y="4480560"/>
            <a:ext cx="11274552" cy="914400"/>
          </a:xfrm>
          <a:prstGeom prst="rect">
            <a:avLst/>
          </a:prstGeom>
          <a:solidFill>
            <a:srgbClr val="FAF8F3"/>
          </a:solidFill>
          <a:ln/>
        </p:spPr>
        <p:txBody>
          <a:bodyPr lIns="0" tIns="0" rIns="0" bIns="0"/>
          <a:lstStyle/>
          <a:p>
            <a:endParaRPr lang="en-US"/>
          </a:p>
        </p:txBody>
      </p:sp>
      <p:sp>
        <p:nvSpPr>
          <p:cNvPr id="14" name="Shape 12"/>
          <p:cNvSpPr/>
          <p:nvPr/>
        </p:nvSpPr>
        <p:spPr>
          <a:xfrm>
            <a:off x="457200" y="4480560"/>
            <a:ext cx="45720" cy="914400"/>
          </a:xfrm>
          <a:prstGeom prst="rect">
            <a:avLst/>
          </a:prstGeom>
          <a:solidFill>
            <a:srgbClr val="2E8B57"/>
          </a:solidFill>
          <a:ln/>
        </p:spPr>
        <p:txBody>
          <a:bodyPr lIns="0" tIns="0" rIns="0" bIns="0"/>
          <a:lstStyle/>
          <a:p>
            <a:endParaRPr lang="en-US"/>
          </a:p>
        </p:txBody>
      </p:sp>
      <p:sp>
        <p:nvSpPr>
          <p:cNvPr id="15" name="Text 13"/>
          <p:cNvSpPr/>
          <p:nvPr/>
        </p:nvSpPr>
        <p:spPr>
          <a:xfrm>
            <a:off x="640080" y="4590288"/>
            <a:ext cx="4572000" cy="228600"/>
          </a:xfrm>
          <a:prstGeom prst="rect">
            <a:avLst/>
          </a:prstGeom>
          <a:noFill/>
          <a:ln/>
        </p:spPr>
        <p:txBody>
          <a:bodyPr wrap="square" lIns="0" tIns="0" rIns="0" bIns="0" rtlCol="0" anchor="ctr"/>
          <a:lstStyle/>
          <a:p>
            <a:pPr marL="0" indent="0">
              <a:buNone/>
            </a:pPr>
            <a:r>
              <a:rPr lang="en-US" sz="900" b="1" kern="0" spc="0" dirty="0">
                <a:solidFill>
                  <a:srgbClr val="2E8B57"/>
                </a:solidFill>
                <a:latin typeface="Calibri" pitchFamily="34" charset="0"/>
                <a:ea typeface="Calibri" pitchFamily="34" charset="-122"/>
                <a:cs typeface="Calibri" pitchFamily="34" charset="-120"/>
              </a:rPr>
              <a:t>COMPLEMENTARY, NOT EXCLUSIVE</a:t>
            </a:r>
            <a:endParaRPr lang="en-US" sz="900" dirty="0"/>
          </a:p>
        </p:txBody>
      </p:sp>
      <p:sp>
        <p:nvSpPr>
          <p:cNvPr id="16" name="Text 14"/>
          <p:cNvSpPr/>
          <p:nvPr/>
        </p:nvSpPr>
        <p:spPr>
          <a:xfrm>
            <a:off x="640080" y="4846320"/>
            <a:ext cx="10908792" cy="502920"/>
          </a:xfrm>
          <a:prstGeom prst="rect">
            <a:avLst/>
          </a:prstGeom>
          <a:noFill/>
          <a:ln/>
        </p:spPr>
        <p:txBody>
          <a:bodyPr wrap="square" lIns="0" tIns="0" rIns="0" bIns="0" rtlCol="0" anchor="ctr"/>
          <a:lstStyle/>
          <a:p>
            <a:pPr marL="0" indent="0">
              <a:buNone/>
            </a:pPr>
            <a:r>
              <a:rPr lang="en-US" sz="1150" dirty="0">
                <a:solidFill>
                  <a:srgbClr val="1A2B22"/>
                </a:solidFill>
                <a:latin typeface="Calibri" pitchFamily="34" charset="0"/>
                <a:ea typeface="Calibri" pitchFamily="34" charset="-122"/>
                <a:cs typeface="Calibri" pitchFamily="34" charset="-120"/>
              </a:rPr>
              <a:t>New applications starting CDM-native effectively use the second approach for their consumption side. Their generated data still feeds the shared model the same way every other app's data does. Both paths converge at the Risk Conformed Entity.</a:t>
            </a:r>
            <a:endParaRPr lang="en-US" sz="1150" dirty="0"/>
          </a:p>
        </p:txBody>
      </p:sp>
      <p:sp>
        <p:nvSpPr>
          <p:cNvPr id="17" name="Text 15"/>
          <p:cNvSpPr/>
          <p:nvPr/>
        </p:nvSpPr>
        <p:spPr>
          <a:xfrm>
            <a:off x="457200" y="6565392"/>
            <a:ext cx="8229600" cy="201168"/>
          </a:xfrm>
          <a:prstGeom prst="rect">
            <a:avLst/>
          </a:prstGeom>
          <a:noFill/>
          <a:ln/>
        </p:spPr>
        <p:txBody>
          <a:bodyPr wrap="square" lIns="0" tIns="0" rIns="0" bIns="0" rtlCol="0" anchor="ctr"/>
          <a:lstStyle/>
          <a:p>
            <a:pPr marL="0" indent="0">
              <a:buNone/>
            </a:pPr>
            <a:r>
              <a:rPr lang="en-US" sz="900" i="1" dirty="0">
                <a:solidFill>
                  <a:srgbClr val="7F8C84"/>
                </a:solidFill>
                <a:latin typeface="Calibri" pitchFamily="34" charset="0"/>
                <a:ea typeface="Calibri" pitchFamily="34" charset="-122"/>
                <a:cs typeface="Calibri" pitchFamily="34" charset="-120"/>
              </a:rPr>
              <a:t>TD Securities · Risk Data Platform · Working Draft</a:t>
            </a:r>
            <a:endParaRPr lang="en-US" sz="900" dirty="0"/>
          </a:p>
        </p:txBody>
      </p:sp>
      <p:sp>
        <p:nvSpPr>
          <p:cNvPr id="18" name="Text 16"/>
          <p:cNvSpPr/>
          <p:nvPr/>
        </p:nvSpPr>
        <p:spPr>
          <a:xfrm>
            <a:off x="11548872" y="6565392"/>
            <a:ext cx="365760" cy="201168"/>
          </a:xfrm>
          <a:prstGeom prst="rect">
            <a:avLst/>
          </a:prstGeom>
          <a:noFill/>
          <a:ln/>
        </p:spPr>
        <p:txBody>
          <a:bodyPr wrap="square" lIns="0" tIns="0" rIns="0" bIns="0" rtlCol="0" anchor="ctr"/>
          <a:lstStyle/>
          <a:p>
            <a:pPr marL="0" indent="0" algn="r">
              <a:buNone/>
            </a:pPr>
            <a:r>
              <a:rPr lang="en-US" sz="900" dirty="0">
                <a:solidFill>
                  <a:srgbClr val="7F8C84"/>
                </a:solidFill>
                <a:latin typeface="Calibri" pitchFamily="34" charset="0"/>
                <a:ea typeface="Calibri" pitchFamily="34" charset="-122"/>
                <a:cs typeface="Calibri" pitchFamily="34" charset="-120"/>
              </a:rPr>
              <a:t>A1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TotalTime>
  <Words>2450</Words>
  <Application>Microsoft Macintosh PowerPoint</Application>
  <PresentationFormat>Widescreen</PresentationFormat>
  <Paragraphs>350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Data Operating Model v4</dc:title>
  <dc:subject>PptxGenJS Presentation</dc:subject>
  <dc:creator>Risk Data Platform</dc:creator>
  <cp:lastModifiedBy>Reena Cheema</cp:lastModifiedBy>
  <cp:revision>3</cp:revision>
  <dcterms:created xsi:type="dcterms:W3CDTF">2026-06-10T17:57:28Z</dcterms:created>
  <dcterms:modified xsi:type="dcterms:W3CDTF">2026-06-10T23:54:32Z</dcterms:modified>
</cp:coreProperties>
</file>