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6534"/>
        </a:solidFill>
      </p:bgPr>
    </p:bg>
    <p:spTree>
      <p:nvGrpSpPr>
        <p:cNvPr id="1" name=""/>
        <p:cNvGrpSpPr/>
        <p:nvPr/>
      </p:nvGrpSpPr>
      <p:grpSpPr>
        <a:xfrm>
          <a:off x="0" y="0"/>
          <a:ext cx="0" cy="0"/>
          <a:chOff x="0" y="0"/>
          <a:chExt cx="0" cy="0"/>
        </a:xfrm>
      </p:grpSpPr>
      <p:sp>
        <p:nvSpPr>
          <p:cNvPr id="2" name="Shape 0"/>
          <p:cNvSpPr/>
          <p:nvPr/>
        </p:nvSpPr>
        <p:spPr>
          <a:xfrm>
            <a:off x="365760" y="1371600"/>
            <a:ext cx="8412480" cy="36576"/>
          </a:xfrm>
          <a:prstGeom prst="rect">
            <a:avLst/>
          </a:prstGeom>
          <a:solidFill>
            <a:srgbClr val="16A34A"/>
          </a:solidFill>
          <a:ln w="12700">
            <a:solidFill>
              <a:srgbClr val="16A34A"/>
            </a:solidFill>
            <a:prstDash val="solid"/>
          </a:ln>
        </p:spPr>
      </p:sp>
      <p:sp>
        <p:nvSpPr>
          <p:cNvPr id="3" name="Text 1"/>
          <p:cNvSpPr/>
          <p:nvPr/>
        </p:nvSpPr>
        <p:spPr>
          <a:xfrm>
            <a:off x="365760" y="1508760"/>
            <a:ext cx="8412480" cy="7772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Risk Data Operating Model</a:t>
            </a:r>
            <a:endParaRPr lang="en-US" sz="3400" dirty="0"/>
          </a:p>
        </p:txBody>
      </p:sp>
      <p:sp>
        <p:nvSpPr>
          <p:cNvPr id="4" name="Text 2"/>
          <p:cNvSpPr/>
          <p:nvPr/>
        </p:nvSpPr>
        <p:spPr>
          <a:xfrm>
            <a:off x="365760" y="2331720"/>
            <a:ext cx="8412480" cy="384048"/>
          </a:xfrm>
          <a:prstGeom prst="rect">
            <a:avLst/>
          </a:prstGeom>
          <a:noFill/>
          <a:ln/>
        </p:spPr>
        <p:txBody>
          <a:bodyPr wrap="square" lIns="0" tIns="0" rIns="0" bIns="0" rtlCol="0" anchor="ctr"/>
          <a:lstStyle/>
          <a:p>
            <a:pPr indent="0" marL="0">
              <a:buNone/>
            </a:pPr>
            <a:r>
              <a:rPr lang="en-US" sz="1600" dirty="0">
                <a:solidFill>
                  <a:srgbClr val="86EFAC"/>
                </a:solidFill>
                <a:latin typeface="Calibri" pitchFamily="34" charset="0"/>
                <a:ea typeface="Calibri" pitchFamily="34" charset="-122"/>
                <a:cs typeface="Calibri" pitchFamily="34" charset="-120"/>
              </a:rPr>
              <a:t>Entity Conformity  →  Risk Confirmed Entity  →  CDM Adoption</a:t>
            </a:r>
            <a:endParaRPr lang="en-US" sz="1600" dirty="0"/>
          </a:p>
        </p:txBody>
      </p:sp>
      <p:sp>
        <p:nvSpPr>
          <p:cNvPr id="5" name="Text 3"/>
          <p:cNvSpPr/>
          <p:nvPr/>
        </p:nvSpPr>
        <p:spPr>
          <a:xfrm>
            <a:off x="365760" y="2834640"/>
            <a:ext cx="8412480" cy="274320"/>
          </a:xfrm>
          <a:prstGeom prst="rect">
            <a:avLst/>
          </a:prstGeom>
          <a:noFill/>
          <a:ln/>
        </p:spPr>
        <p:txBody>
          <a:bodyPr wrap="square" lIns="0" tIns="0" rIns="0" bIns="0" rtlCol="0" anchor="ctr"/>
          <a:lstStyle/>
          <a:p>
            <a:pPr indent="0" marL="0">
              <a:buNone/>
            </a:pPr>
            <a:r>
              <a:rPr lang="en-US" sz="1200" dirty="0">
                <a:solidFill>
                  <a:srgbClr val="6EE7B7"/>
                </a:solidFill>
                <a:latin typeface="Calibri" pitchFamily="34" charset="0"/>
                <a:ea typeface="Calibri" pitchFamily="34" charset="-122"/>
                <a:cs typeface="Calibri" pitchFamily="34" charset="-120"/>
              </a:rPr>
              <a:t>TD Securities · Risk Data Platform</a:t>
            </a:r>
            <a:endParaRPr lang="en-US" sz="1200" dirty="0"/>
          </a:p>
        </p:txBody>
      </p:sp>
      <p:sp>
        <p:nvSpPr>
          <p:cNvPr id="6" name="Text 4"/>
          <p:cNvSpPr/>
          <p:nvPr/>
        </p:nvSpPr>
        <p:spPr>
          <a:xfrm>
            <a:off x="365760" y="3200400"/>
            <a:ext cx="3657600" cy="228600"/>
          </a:xfrm>
          <a:prstGeom prst="rect">
            <a:avLst/>
          </a:prstGeom>
          <a:noFill/>
          <a:ln/>
        </p:spPr>
        <p:txBody>
          <a:bodyPr wrap="square" lIns="0" tIns="0" rIns="0" bIns="0"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Working Draft — For Review</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228600"/>
            <a:ext cx="8412480" cy="384048"/>
          </a:xfrm>
          <a:prstGeom prst="rect">
            <a:avLst/>
          </a:prstGeom>
          <a:noFill/>
          <a:ln/>
        </p:spPr>
        <p:txBody>
          <a:bodyPr wrap="square" lIns="0" tIns="0" rIns="0" bIns="0" rtlCol="0" anchor="ctr"/>
          <a:lstStyle/>
          <a:p>
            <a:pPr indent="0" marL="0">
              <a:buNone/>
            </a:pPr>
            <a:r>
              <a:rPr lang="en-US" sz="2200" b="1" dirty="0">
                <a:solidFill>
                  <a:srgbClr val="166534"/>
                </a:solidFill>
                <a:latin typeface="Calibri" pitchFamily="34" charset="0"/>
                <a:ea typeface="Calibri" pitchFamily="34" charset="-122"/>
                <a:cs typeface="Calibri" pitchFamily="34" charset="-120"/>
              </a:rPr>
              <a:t>What This Deck Covers</a:t>
            </a:r>
            <a:endParaRPr lang="en-US" sz="2200" dirty="0"/>
          </a:p>
        </p:txBody>
      </p:sp>
      <p:sp>
        <p:nvSpPr>
          <p:cNvPr id="3" name="Text 1"/>
          <p:cNvSpPr/>
          <p:nvPr/>
        </p:nvSpPr>
        <p:spPr>
          <a:xfrm>
            <a:off x="365760" y="658368"/>
            <a:ext cx="8412480" cy="20116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Audience: Central CDM Team  ·  Risk Stakeholders  ·  Risk Team Leads</a:t>
            </a:r>
            <a:endParaRPr lang="en-US" sz="950" dirty="0"/>
          </a:p>
        </p:txBody>
      </p:sp>
      <p:sp>
        <p:nvSpPr>
          <p:cNvPr id="4" name="Shape 2"/>
          <p:cNvSpPr/>
          <p:nvPr/>
        </p:nvSpPr>
        <p:spPr>
          <a:xfrm>
            <a:off x="365760" y="960120"/>
            <a:ext cx="4206240" cy="1170432"/>
          </a:xfrm>
          <a:prstGeom prst="rect">
            <a:avLst/>
          </a:prstGeom>
          <a:solidFill>
            <a:srgbClr val="FFFFFF"/>
          </a:solidFill>
          <a:ln w="9525">
            <a:solidFill>
              <a:srgbClr val="1D6FA4"/>
            </a:solidFill>
            <a:prstDash val="solid"/>
          </a:ln>
        </p:spPr>
      </p:sp>
      <p:sp>
        <p:nvSpPr>
          <p:cNvPr id="5" name="Shape 3"/>
          <p:cNvSpPr/>
          <p:nvPr/>
        </p:nvSpPr>
        <p:spPr>
          <a:xfrm>
            <a:off x="365760" y="960120"/>
            <a:ext cx="45720" cy="1170432"/>
          </a:xfrm>
          <a:prstGeom prst="rect">
            <a:avLst/>
          </a:prstGeom>
          <a:solidFill>
            <a:srgbClr val="1D6FA4"/>
          </a:solidFill>
          <a:ln w="12700">
            <a:solidFill>
              <a:srgbClr val="1D6FA4"/>
            </a:solidFill>
            <a:prstDash val="solid"/>
          </a:ln>
        </p:spPr>
      </p:sp>
      <p:sp>
        <p:nvSpPr>
          <p:cNvPr id="6" name="Shape 4"/>
          <p:cNvSpPr/>
          <p:nvPr/>
        </p:nvSpPr>
        <p:spPr>
          <a:xfrm>
            <a:off x="475488" y="1069848"/>
            <a:ext cx="256032" cy="256032"/>
          </a:xfrm>
          <a:prstGeom prst="oval">
            <a:avLst/>
          </a:prstGeom>
          <a:solidFill>
            <a:srgbClr val="1D6FA4"/>
          </a:solidFill>
          <a:ln w="12700">
            <a:solidFill>
              <a:srgbClr val="1D6FA4"/>
            </a:solidFill>
            <a:prstDash val="solid"/>
          </a:ln>
        </p:spPr>
      </p:sp>
      <p:sp>
        <p:nvSpPr>
          <p:cNvPr id="7" name="Text 5"/>
          <p:cNvSpPr/>
          <p:nvPr/>
        </p:nvSpPr>
        <p:spPr>
          <a:xfrm>
            <a:off x="475488" y="10698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804672" y="1069848"/>
            <a:ext cx="3657600" cy="237744"/>
          </a:xfrm>
          <a:prstGeom prst="rect">
            <a:avLst/>
          </a:prstGeom>
          <a:noFill/>
          <a:ln/>
        </p:spPr>
        <p:txBody>
          <a:bodyPr wrap="square" lIns="0" tIns="0" rIns="0" bIns="0" rtlCol="0" anchor="ctr"/>
          <a:lstStyle/>
          <a:p>
            <a:pPr indent="0" marL="0">
              <a:buNone/>
            </a:pPr>
            <a:r>
              <a:rPr lang="en-US" sz="1050" b="1" dirty="0">
                <a:solidFill>
                  <a:srgbClr val="1D6FA4"/>
                </a:solidFill>
                <a:latin typeface="Calibri" pitchFamily="34" charset="0"/>
                <a:ea typeface="Calibri" pitchFamily="34" charset="-122"/>
                <a:cs typeface="Calibri" pitchFamily="34" charset="-120"/>
              </a:rPr>
              <a:t>The Starting Point</a:t>
            </a:r>
            <a:endParaRPr lang="en-US" sz="1050" dirty="0"/>
          </a:p>
        </p:txBody>
      </p:sp>
      <p:sp>
        <p:nvSpPr>
          <p:cNvPr id="9" name="Text 7"/>
          <p:cNvSpPr/>
          <p:nvPr/>
        </p:nvSpPr>
        <p:spPr>
          <a:xfrm>
            <a:off x="502920" y="1362456"/>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Why a shared Risk data model matters. The opportunity to build conformity, shared entities, and governed analytics from the data Risk applications already generate.</a:t>
            </a:r>
            <a:endParaRPr lang="en-US" sz="850" dirty="0"/>
          </a:p>
        </p:txBody>
      </p:sp>
      <p:sp>
        <p:nvSpPr>
          <p:cNvPr id="10" name="Shape 8"/>
          <p:cNvSpPr/>
          <p:nvPr/>
        </p:nvSpPr>
        <p:spPr>
          <a:xfrm>
            <a:off x="4773168" y="960120"/>
            <a:ext cx="4206240" cy="1170432"/>
          </a:xfrm>
          <a:prstGeom prst="rect">
            <a:avLst/>
          </a:prstGeom>
          <a:solidFill>
            <a:srgbClr val="FFFFFF"/>
          </a:solidFill>
          <a:ln w="9525">
            <a:solidFill>
              <a:srgbClr val="6941A8"/>
            </a:solidFill>
            <a:prstDash val="solid"/>
          </a:ln>
        </p:spPr>
      </p:sp>
      <p:sp>
        <p:nvSpPr>
          <p:cNvPr id="11" name="Shape 9"/>
          <p:cNvSpPr/>
          <p:nvPr/>
        </p:nvSpPr>
        <p:spPr>
          <a:xfrm>
            <a:off x="4773168" y="960120"/>
            <a:ext cx="45720" cy="1170432"/>
          </a:xfrm>
          <a:prstGeom prst="rect">
            <a:avLst/>
          </a:prstGeom>
          <a:solidFill>
            <a:srgbClr val="6941A8"/>
          </a:solidFill>
          <a:ln w="12700">
            <a:solidFill>
              <a:srgbClr val="6941A8"/>
            </a:solidFill>
            <a:prstDash val="solid"/>
          </a:ln>
        </p:spPr>
      </p:sp>
      <p:sp>
        <p:nvSpPr>
          <p:cNvPr id="12" name="Shape 10"/>
          <p:cNvSpPr/>
          <p:nvPr/>
        </p:nvSpPr>
        <p:spPr>
          <a:xfrm>
            <a:off x="4882896" y="1069848"/>
            <a:ext cx="256032" cy="256032"/>
          </a:xfrm>
          <a:prstGeom prst="oval">
            <a:avLst/>
          </a:prstGeom>
          <a:solidFill>
            <a:srgbClr val="6941A8"/>
          </a:solidFill>
          <a:ln w="12700">
            <a:solidFill>
              <a:srgbClr val="6941A8"/>
            </a:solidFill>
            <a:prstDash val="solid"/>
          </a:ln>
        </p:spPr>
      </p:sp>
      <p:sp>
        <p:nvSpPr>
          <p:cNvPr id="13" name="Text 11"/>
          <p:cNvSpPr/>
          <p:nvPr/>
        </p:nvSpPr>
        <p:spPr>
          <a:xfrm>
            <a:off x="4882896" y="106984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02</a:t>
            </a:r>
            <a:endParaRPr lang="en-US" sz="900" dirty="0"/>
          </a:p>
        </p:txBody>
      </p:sp>
      <p:sp>
        <p:nvSpPr>
          <p:cNvPr id="14" name="Text 12"/>
          <p:cNvSpPr/>
          <p:nvPr/>
        </p:nvSpPr>
        <p:spPr>
          <a:xfrm>
            <a:off x="5212080" y="1069848"/>
            <a:ext cx="3657600" cy="237744"/>
          </a:xfrm>
          <a:prstGeom prst="rect">
            <a:avLst/>
          </a:prstGeom>
          <a:noFill/>
          <a:ln/>
        </p:spPr>
        <p:txBody>
          <a:bodyPr wrap="square" lIns="0" tIns="0" rIns="0" bIns="0" rtlCol="0" anchor="ctr"/>
          <a:lstStyle/>
          <a:p>
            <a:pPr indent="0" marL="0">
              <a:buNone/>
            </a:pPr>
            <a:r>
              <a:rPr lang="en-US" sz="1050" b="1" dirty="0">
                <a:solidFill>
                  <a:srgbClr val="6941A8"/>
                </a:solidFill>
                <a:latin typeface="Calibri" pitchFamily="34" charset="0"/>
                <a:ea typeface="Calibri" pitchFamily="34" charset="-122"/>
                <a:cs typeface="Calibri" pitchFamily="34" charset="-120"/>
              </a:rPr>
              <a:t>Phase Progression</a:t>
            </a:r>
            <a:endParaRPr lang="en-US" sz="1050" dirty="0"/>
          </a:p>
        </p:txBody>
      </p:sp>
      <p:sp>
        <p:nvSpPr>
          <p:cNvPr id="15" name="Text 13"/>
          <p:cNvSpPr/>
          <p:nvPr/>
        </p:nvSpPr>
        <p:spPr>
          <a:xfrm>
            <a:off x="4910328" y="1362456"/>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Four phases: Risk Generated Data into Databricks → Risk Warehouse Confirmed Entities → App Consumption of RCE → Risk Warehouse Analytics.</a:t>
            </a:r>
            <a:endParaRPr lang="en-US" sz="850" dirty="0"/>
          </a:p>
        </p:txBody>
      </p:sp>
      <p:sp>
        <p:nvSpPr>
          <p:cNvPr id="16" name="Shape 14"/>
          <p:cNvSpPr/>
          <p:nvPr/>
        </p:nvSpPr>
        <p:spPr>
          <a:xfrm>
            <a:off x="365760" y="2221992"/>
            <a:ext cx="4206240" cy="1170432"/>
          </a:xfrm>
          <a:prstGeom prst="rect">
            <a:avLst/>
          </a:prstGeom>
          <a:solidFill>
            <a:srgbClr val="FFFFFF"/>
          </a:solidFill>
          <a:ln w="9525">
            <a:solidFill>
              <a:srgbClr val="0F766E"/>
            </a:solidFill>
            <a:prstDash val="solid"/>
          </a:ln>
        </p:spPr>
      </p:sp>
      <p:sp>
        <p:nvSpPr>
          <p:cNvPr id="17" name="Shape 15"/>
          <p:cNvSpPr/>
          <p:nvPr/>
        </p:nvSpPr>
        <p:spPr>
          <a:xfrm>
            <a:off x="365760" y="2221992"/>
            <a:ext cx="45720" cy="1170432"/>
          </a:xfrm>
          <a:prstGeom prst="rect">
            <a:avLst/>
          </a:prstGeom>
          <a:solidFill>
            <a:srgbClr val="0F766E"/>
          </a:solidFill>
          <a:ln w="12700">
            <a:solidFill>
              <a:srgbClr val="0F766E"/>
            </a:solidFill>
            <a:prstDash val="solid"/>
          </a:ln>
        </p:spPr>
      </p:sp>
      <p:sp>
        <p:nvSpPr>
          <p:cNvPr id="18" name="Shape 16"/>
          <p:cNvSpPr/>
          <p:nvPr/>
        </p:nvSpPr>
        <p:spPr>
          <a:xfrm>
            <a:off x="475488" y="2331720"/>
            <a:ext cx="256032" cy="256032"/>
          </a:xfrm>
          <a:prstGeom prst="oval">
            <a:avLst/>
          </a:prstGeom>
          <a:solidFill>
            <a:srgbClr val="0F766E"/>
          </a:solidFill>
          <a:ln w="12700">
            <a:solidFill>
              <a:srgbClr val="0F766E"/>
            </a:solidFill>
            <a:prstDash val="solid"/>
          </a:ln>
        </p:spPr>
      </p:sp>
      <p:sp>
        <p:nvSpPr>
          <p:cNvPr id="19" name="Text 17"/>
          <p:cNvSpPr/>
          <p:nvPr/>
        </p:nvSpPr>
        <p:spPr>
          <a:xfrm>
            <a:off x="475488" y="23317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03</a:t>
            </a:r>
            <a:endParaRPr lang="en-US" sz="900" dirty="0"/>
          </a:p>
        </p:txBody>
      </p:sp>
      <p:sp>
        <p:nvSpPr>
          <p:cNvPr id="20" name="Text 18"/>
          <p:cNvSpPr/>
          <p:nvPr/>
        </p:nvSpPr>
        <p:spPr>
          <a:xfrm>
            <a:off x="804672" y="2331720"/>
            <a:ext cx="3657600" cy="237744"/>
          </a:xfrm>
          <a:prstGeom prst="rect">
            <a:avLst/>
          </a:prstGeom>
          <a:noFill/>
          <a:ln/>
        </p:spPr>
        <p:txBody>
          <a:bodyPr wrap="square" lIns="0" tIns="0" rIns="0" bIns="0" rtlCol="0" anchor="ctr"/>
          <a:lstStyle/>
          <a:p>
            <a:pPr indent="0" marL="0">
              <a:buNone/>
            </a:pPr>
            <a:r>
              <a:rPr lang="en-US" sz="1050" b="1" dirty="0">
                <a:solidFill>
                  <a:srgbClr val="0F766E"/>
                </a:solidFill>
                <a:latin typeface="Calibri" pitchFamily="34" charset="0"/>
                <a:ea typeface="Calibri" pitchFamily="34" charset="-122"/>
                <a:cs typeface="Calibri" pitchFamily="34" charset="-120"/>
              </a:rPr>
              <a:t>Contract ID — The Linking Mechanism</a:t>
            </a:r>
            <a:endParaRPr lang="en-US" sz="1050" dirty="0"/>
          </a:p>
        </p:txBody>
      </p:sp>
      <p:sp>
        <p:nvSpPr>
          <p:cNvPr id="21" name="Text 19"/>
          <p:cNvSpPr/>
          <p:nvPr/>
        </p:nvSpPr>
        <p:spPr>
          <a:xfrm>
            <a:off x="502920" y="2624328"/>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How Contract IDs connect ingested data to confirmed entities, CDM alignment, frequency, and lineage across every layer.</a:t>
            </a:r>
            <a:endParaRPr lang="en-US" sz="850" dirty="0"/>
          </a:p>
        </p:txBody>
      </p:sp>
      <p:sp>
        <p:nvSpPr>
          <p:cNvPr id="22" name="Shape 20"/>
          <p:cNvSpPr/>
          <p:nvPr/>
        </p:nvSpPr>
        <p:spPr>
          <a:xfrm>
            <a:off x="4773168" y="2221992"/>
            <a:ext cx="4206240" cy="1170432"/>
          </a:xfrm>
          <a:prstGeom prst="rect">
            <a:avLst/>
          </a:prstGeom>
          <a:solidFill>
            <a:srgbClr val="FFFFFF"/>
          </a:solidFill>
          <a:ln w="9525">
            <a:solidFill>
              <a:srgbClr val="166534"/>
            </a:solidFill>
            <a:prstDash val="solid"/>
          </a:ln>
        </p:spPr>
      </p:sp>
      <p:sp>
        <p:nvSpPr>
          <p:cNvPr id="23" name="Shape 21"/>
          <p:cNvSpPr/>
          <p:nvPr/>
        </p:nvSpPr>
        <p:spPr>
          <a:xfrm>
            <a:off x="4773168" y="2221992"/>
            <a:ext cx="45720" cy="1170432"/>
          </a:xfrm>
          <a:prstGeom prst="rect">
            <a:avLst/>
          </a:prstGeom>
          <a:solidFill>
            <a:srgbClr val="166534"/>
          </a:solidFill>
          <a:ln w="12700">
            <a:solidFill>
              <a:srgbClr val="166534"/>
            </a:solidFill>
            <a:prstDash val="solid"/>
          </a:ln>
        </p:spPr>
      </p:sp>
      <p:sp>
        <p:nvSpPr>
          <p:cNvPr id="24" name="Shape 22"/>
          <p:cNvSpPr/>
          <p:nvPr/>
        </p:nvSpPr>
        <p:spPr>
          <a:xfrm>
            <a:off x="4882896" y="2331720"/>
            <a:ext cx="256032" cy="256032"/>
          </a:xfrm>
          <a:prstGeom prst="oval">
            <a:avLst/>
          </a:prstGeom>
          <a:solidFill>
            <a:srgbClr val="166534"/>
          </a:solidFill>
          <a:ln w="12700">
            <a:solidFill>
              <a:srgbClr val="166534"/>
            </a:solidFill>
            <a:prstDash val="solid"/>
          </a:ln>
        </p:spPr>
      </p:sp>
      <p:sp>
        <p:nvSpPr>
          <p:cNvPr id="25" name="Text 23"/>
          <p:cNvSpPr/>
          <p:nvPr/>
        </p:nvSpPr>
        <p:spPr>
          <a:xfrm>
            <a:off x="4882896" y="233172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04</a:t>
            </a:r>
            <a:endParaRPr lang="en-US" sz="900" dirty="0"/>
          </a:p>
        </p:txBody>
      </p:sp>
      <p:sp>
        <p:nvSpPr>
          <p:cNvPr id="26" name="Text 24"/>
          <p:cNvSpPr/>
          <p:nvPr/>
        </p:nvSpPr>
        <p:spPr>
          <a:xfrm>
            <a:off x="5212080" y="2331720"/>
            <a:ext cx="3657600" cy="237744"/>
          </a:xfrm>
          <a:prstGeom prst="rect">
            <a:avLst/>
          </a:prstGeom>
          <a:noFill/>
          <a:ln/>
        </p:spPr>
        <p:txBody>
          <a:bodyPr wrap="square" lIns="0" tIns="0" rIns="0" bIns="0" rtlCol="0" anchor="ctr"/>
          <a:lstStyle/>
          <a:p>
            <a:pPr indent="0" marL="0">
              <a:buNone/>
            </a:pPr>
            <a:r>
              <a:rPr lang="en-US" sz="1050" b="1" dirty="0">
                <a:solidFill>
                  <a:srgbClr val="166534"/>
                </a:solidFill>
                <a:latin typeface="Calibri" pitchFamily="34" charset="0"/>
                <a:ea typeface="Calibri" pitchFamily="34" charset="-122"/>
                <a:cs typeface="Calibri" pitchFamily="34" charset="-120"/>
              </a:rPr>
              <a:t>The Three-Artifact Model</a:t>
            </a:r>
            <a:endParaRPr lang="en-US" sz="1050" dirty="0"/>
          </a:p>
        </p:txBody>
      </p:sp>
      <p:sp>
        <p:nvSpPr>
          <p:cNvPr id="27" name="Text 25"/>
          <p:cNvSpPr/>
          <p:nvPr/>
        </p:nvSpPr>
        <p:spPr>
          <a:xfrm>
            <a:off x="4910328" y="2624328"/>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Ingestion Contract · Risk Data Catalog · Resolution Table. Operational mechanics kept separate from semantic conformance.</a:t>
            </a:r>
            <a:endParaRPr lang="en-US" sz="850" dirty="0"/>
          </a:p>
        </p:txBody>
      </p:sp>
      <p:sp>
        <p:nvSpPr>
          <p:cNvPr id="28" name="Shape 26"/>
          <p:cNvSpPr/>
          <p:nvPr/>
        </p:nvSpPr>
        <p:spPr>
          <a:xfrm>
            <a:off x="365760" y="3483864"/>
            <a:ext cx="4206240" cy="1170432"/>
          </a:xfrm>
          <a:prstGeom prst="rect">
            <a:avLst/>
          </a:prstGeom>
          <a:solidFill>
            <a:srgbClr val="FFFFFF"/>
          </a:solidFill>
          <a:ln w="9525">
            <a:solidFill>
              <a:srgbClr val="0D9488"/>
            </a:solidFill>
            <a:prstDash val="solid"/>
          </a:ln>
        </p:spPr>
      </p:sp>
      <p:sp>
        <p:nvSpPr>
          <p:cNvPr id="29" name="Shape 27"/>
          <p:cNvSpPr/>
          <p:nvPr/>
        </p:nvSpPr>
        <p:spPr>
          <a:xfrm>
            <a:off x="365760" y="3483864"/>
            <a:ext cx="45720" cy="1170432"/>
          </a:xfrm>
          <a:prstGeom prst="rect">
            <a:avLst/>
          </a:prstGeom>
          <a:solidFill>
            <a:srgbClr val="0D9488"/>
          </a:solidFill>
          <a:ln w="12700">
            <a:solidFill>
              <a:srgbClr val="0D9488"/>
            </a:solidFill>
            <a:prstDash val="solid"/>
          </a:ln>
        </p:spPr>
      </p:sp>
      <p:sp>
        <p:nvSpPr>
          <p:cNvPr id="30" name="Shape 28"/>
          <p:cNvSpPr/>
          <p:nvPr/>
        </p:nvSpPr>
        <p:spPr>
          <a:xfrm>
            <a:off x="475488" y="3593592"/>
            <a:ext cx="256032" cy="256032"/>
          </a:xfrm>
          <a:prstGeom prst="oval">
            <a:avLst/>
          </a:prstGeom>
          <a:solidFill>
            <a:srgbClr val="0D9488"/>
          </a:solidFill>
          <a:ln w="12700">
            <a:solidFill>
              <a:srgbClr val="0D9488"/>
            </a:solidFill>
            <a:prstDash val="solid"/>
          </a:ln>
        </p:spPr>
      </p:sp>
      <p:sp>
        <p:nvSpPr>
          <p:cNvPr id="31" name="Text 29"/>
          <p:cNvSpPr/>
          <p:nvPr/>
        </p:nvSpPr>
        <p:spPr>
          <a:xfrm>
            <a:off x="475488" y="35935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05</a:t>
            </a:r>
            <a:endParaRPr lang="en-US" sz="900" dirty="0"/>
          </a:p>
        </p:txBody>
      </p:sp>
      <p:sp>
        <p:nvSpPr>
          <p:cNvPr id="32" name="Text 30"/>
          <p:cNvSpPr/>
          <p:nvPr/>
        </p:nvSpPr>
        <p:spPr>
          <a:xfrm>
            <a:off x="804672" y="3593592"/>
            <a:ext cx="3657600" cy="237744"/>
          </a:xfrm>
          <a:prstGeom prst="rect">
            <a:avLst/>
          </a:prstGeom>
          <a:noFill/>
          <a:ln/>
        </p:spPr>
        <p:txBody>
          <a:bodyPr wrap="square" lIns="0" tIns="0" rIns="0" bIns="0" rtlCol="0" anchor="ctr"/>
          <a:lstStyle/>
          <a:p>
            <a:pPr indent="0" marL="0">
              <a:buNone/>
            </a:pPr>
            <a:r>
              <a:rPr lang="en-US" sz="1050" b="1" dirty="0">
                <a:solidFill>
                  <a:srgbClr val="0D9488"/>
                </a:solidFill>
                <a:latin typeface="Calibri" pitchFamily="34" charset="0"/>
                <a:ea typeface="Calibri" pitchFamily="34" charset="-122"/>
                <a:cs typeface="Calibri" pitchFamily="34" charset="-120"/>
              </a:rPr>
              <a:t>Databricks Storage Layer Map</a:t>
            </a:r>
            <a:endParaRPr lang="en-US" sz="1050" dirty="0"/>
          </a:p>
        </p:txBody>
      </p:sp>
      <p:sp>
        <p:nvSpPr>
          <p:cNvPr id="33" name="Text 31"/>
          <p:cNvSpPr/>
          <p:nvPr/>
        </p:nvSpPr>
        <p:spPr>
          <a:xfrm>
            <a:off x="502920" y="3886200"/>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What sits where across app catalog and risk warehouse catalog. Clear ownership at every layer from bronze through to gold.</a:t>
            </a:r>
            <a:endParaRPr lang="en-US" sz="850" dirty="0"/>
          </a:p>
        </p:txBody>
      </p:sp>
      <p:sp>
        <p:nvSpPr>
          <p:cNvPr id="34" name="Shape 32"/>
          <p:cNvSpPr/>
          <p:nvPr/>
        </p:nvSpPr>
        <p:spPr>
          <a:xfrm>
            <a:off x="4773168" y="3483864"/>
            <a:ext cx="4206240" cy="1170432"/>
          </a:xfrm>
          <a:prstGeom prst="rect">
            <a:avLst/>
          </a:prstGeom>
          <a:solidFill>
            <a:srgbClr val="FFFFFF"/>
          </a:solidFill>
          <a:ln w="9525">
            <a:solidFill>
              <a:srgbClr val="3730A3"/>
            </a:solidFill>
            <a:prstDash val="solid"/>
          </a:ln>
        </p:spPr>
      </p:sp>
      <p:sp>
        <p:nvSpPr>
          <p:cNvPr id="35" name="Shape 33"/>
          <p:cNvSpPr/>
          <p:nvPr/>
        </p:nvSpPr>
        <p:spPr>
          <a:xfrm>
            <a:off x="4773168" y="3483864"/>
            <a:ext cx="45720" cy="1170432"/>
          </a:xfrm>
          <a:prstGeom prst="rect">
            <a:avLst/>
          </a:prstGeom>
          <a:solidFill>
            <a:srgbClr val="3730A3"/>
          </a:solidFill>
          <a:ln w="12700">
            <a:solidFill>
              <a:srgbClr val="3730A3"/>
            </a:solidFill>
            <a:prstDash val="solid"/>
          </a:ln>
        </p:spPr>
      </p:sp>
      <p:sp>
        <p:nvSpPr>
          <p:cNvPr id="36" name="Shape 34"/>
          <p:cNvSpPr/>
          <p:nvPr/>
        </p:nvSpPr>
        <p:spPr>
          <a:xfrm>
            <a:off x="4882896" y="3593592"/>
            <a:ext cx="256032" cy="256032"/>
          </a:xfrm>
          <a:prstGeom prst="oval">
            <a:avLst/>
          </a:prstGeom>
          <a:solidFill>
            <a:srgbClr val="3730A3"/>
          </a:solidFill>
          <a:ln w="12700">
            <a:solidFill>
              <a:srgbClr val="3730A3"/>
            </a:solidFill>
            <a:prstDash val="solid"/>
          </a:ln>
        </p:spPr>
      </p:sp>
      <p:sp>
        <p:nvSpPr>
          <p:cNvPr id="37" name="Text 35"/>
          <p:cNvSpPr/>
          <p:nvPr/>
        </p:nvSpPr>
        <p:spPr>
          <a:xfrm>
            <a:off x="4882896" y="35935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06</a:t>
            </a:r>
            <a:endParaRPr lang="en-US" sz="900" dirty="0"/>
          </a:p>
        </p:txBody>
      </p:sp>
      <p:sp>
        <p:nvSpPr>
          <p:cNvPr id="38" name="Text 36"/>
          <p:cNvSpPr/>
          <p:nvPr/>
        </p:nvSpPr>
        <p:spPr>
          <a:xfrm>
            <a:off x="5212080" y="3593592"/>
            <a:ext cx="3657600" cy="237744"/>
          </a:xfrm>
          <a:prstGeom prst="rect">
            <a:avLst/>
          </a:prstGeom>
          <a:noFill/>
          <a:ln/>
        </p:spPr>
        <p:txBody>
          <a:bodyPr wrap="square" lIns="0" tIns="0" rIns="0" bIns="0" rtlCol="0" anchor="ctr"/>
          <a:lstStyle/>
          <a:p>
            <a:pPr indent="0" marL="0">
              <a:buNone/>
            </a:pPr>
            <a:r>
              <a:rPr lang="en-US" sz="1050" b="1" dirty="0">
                <a:solidFill>
                  <a:srgbClr val="3730A3"/>
                </a:solidFill>
                <a:latin typeface="Calibri" pitchFamily="34" charset="0"/>
                <a:ea typeface="Calibri" pitchFamily="34" charset="-122"/>
                <a:cs typeface="Calibri" pitchFamily="34" charset="-120"/>
              </a:rPr>
              <a:t>Data Model Layer Map + Migration Pattern</a:t>
            </a:r>
            <a:endParaRPr lang="en-US" sz="1050" dirty="0"/>
          </a:p>
        </p:txBody>
      </p:sp>
      <p:sp>
        <p:nvSpPr>
          <p:cNvPr id="39" name="Text 37"/>
          <p:cNvSpPr/>
          <p:nvPr/>
        </p:nvSpPr>
        <p:spPr>
          <a:xfrm>
            <a:off x="4910328" y="3886200"/>
            <a:ext cx="3931920" cy="676656"/>
          </a:xfrm>
          <a:prstGeom prst="rect">
            <a:avLst/>
          </a:prstGeom>
          <a:noFill/>
          <a:ln/>
        </p:spPr>
        <p:txBody>
          <a:bodyPr wrap="square" lIns="0" tIns="0" rIns="0" bIns="0" rtlCol="0" anchor="t"/>
          <a:lstStyle/>
          <a:p>
            <a:pPr indent="0" marL="0">
              <a:buNone/>
            </a:pPr>
            <a:r>
              <a:rPr lang="en-US" sz="850" dirty="0">
                <a:solidFill>
                  <a:srgbClr val="6B7280"/>
                </a:solidFill>
                <a:latin typeface="Calibri" pitchFamily="34" charset="0"/>
                <a:ea typeface="Calibri" pitchFamily="34" charset="-122"/>
                <a:cs typeface="Calibri" pitchFamily="34" charset="-120"/>
              </a:rPr>
              <a:t>App ERD · Risk ERD · Risk CDM contribution · Star schema · Semantic model. Populate-forward migrate-backward.</a:t>
            </a:r>
            <a:endParaRPr lang="en-US" sz="850" dirty="0"/>
          </a:p>
        </p:txBody>
      </p:sp>
      <p:sp>
        <p:nvSpPr>
          <p:cNvPr id="40" name="Text 38"/>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41" name="Text 39"/>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182880"/>
            <a:ext cx="8412480" cy="365760"/>
          </a:xfrm>
          <a:prstGeom prst="rect">
            <a:avLst/>
          </a:prstGeom>
          <a:noFill/>
          <a:ln/>
        </p:spPr>
        <p:txBody>
          <a:bodyPr wrap="square" lIns="0" tIns="0" rIns="0" bIns="0" rtlCol="0" anchor="ctr"/>
          <a:lstStyle/>
          <a:p>
            <a:pPr indent="0" marL="0">
              <a:buNone/>
            </a:pPr>
            <a:r>
              <a:rPr lang="en-US" sz="2000" b="1" dirty="0">
                <a:solidFill>
                  <a:srgbClr val="166534"/>
                </a:solidFill>
                <a:latin typeface="Calibri" pitchFamily="34" charset="0"/>
                <a:ea typeface="Calibri" pitchFamily="34" charset="-122"/>
                <a:cs typeface="Calibri" pitchFamily="34" charset="-120"/>
              </a:rPr>
              <a:t>The Starting Point</a:t>
            </a:r>
            <a:endParaRPr lang="en-US" sz="2000" dirty="0"/>
          </a:p>
        </p:txBody>
      </p:sp>
      <p:sp>
        <p:nvSpPr>
          <p:cNvPr id="3" name="Text 1"/>
          <p:cNvSpPr/>
          <p:nvPr/>
        </p:nvSpPr>
        <p:spPr>
          <a:xfrm>
            <a:off x="365760" y="576072"/>
            <a:ext cx="8412480" cy="201168"/>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Risk applications generate valuable data. The opportunity is to structure it into a shared, governed analytics layer.</a:t>
            </a:r>
            <a:endParaRPr lang="en-US" sz="950" dirty="0"/>
          </a:p>
        </p:txBody>
      </p:sp>
      <p:sp>
        <p:nvSpPr>
          <p:cNvPr id="4" name="Shape 2"/>
          <p:cNvSpPr/>
          <p:nvPr/>
        </p:nvSpPr>
        <p:spPr>
          <a:xfrm>
            <a:off x="320040" y="841248"/>
            <a:ext cx="3977640" cy="4005072"/>
          </a:xfrm>
          <a:prstGeom prst="rect">
            <a:avLst/>
          </a:prstGeom>
          <a:solidFill>
            <a:srgbClr val="FEF3C7"/>
          </a:solidFill>
          <a:ln w="12700">
            <a:solidFill>
              <a:srgbClr val="FCD34D"/>
            </a:solidFill>
            <a:prstDash val="solid"/>
          </a:ln>
        </p:spPr>
      </p:sp>
      <p:sp>
        <p:nvSpPr>
          <p:cNvPr id="5" name="Text 3"/>
          <p:cNvSpPr/>
          <p:nvPr/>
        </p:nvSpPr>
        <p:spPr>
          <a:xfrm>
            <a:off x="438912" y="896112"/>
            <a:ext cx="3749040" cy="237744"/>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Today</a:t>
            </a:r>
            <a:endParaRPr lang="en-US" sz="1100" dirty="0"/>
          </a:p>
        </p:txBody>
      </p:sp>
      <p:sp>
        <p:nvSpPr>
          <p:cNvPr id="6" name="Shape 4"/>
          <p:cNvSpPr/>
          <p:nvPr/>
        </p:nvSpPr>
        <p:spPr>
          <a:xfrm>
            <a:off x="411480" y="1207008"/>
            <a:ext cx="3794760" cy="640080"/>
          </a:xfrm>
          <a:prstGeom prst="rect">
            <a:avLst/>
          </a:prstGeom>
          <a:solidFill>
            <a:srgbClr val="FFFFFF"/>
          </a:solidFill>
          <a:ln w="6350">
            <a:solidFill>
              <a:srgbClr val="FCD34D"/>
            </a:solidFill>
            <a:prstDash val="solid"/>
          </a:ln>
        </p:spPr>
      </p:sp>
      <p:sp>
        <p:nvSpPr>
          <p:cNvPr id="7" name="Text 5"/>
          <p:cNvSpPr/>
          <p:nvPr/>
        </p:nvSpPr>
        <p:spPr>
          <a:xfrm>
            <a:off x="502920" y="1261872"/>
            <a:ext cx="3611880" cy="182880"/>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Independent ingestion per application</a:t>
            </a:r>
            <a:endParaRPr lang="en-US" sz="900" dirty="0"/>
          </a:p>
        </p:txBody>
      </p:sp>
      <p:sp>
        <p:nvSpPr>
          <p:cNvPr id="8" name="Text 6"/>
          <p:cNvSpPr/>
          <p:nvPr/>
        </p:nvSpPr>
        <p:spPr>
          <a:xfrm>
            <a:off x="502920" y="1463040"/>
            <a:ext cx="361188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Each app sources counterparty, issuer, and legal entity from upstream systems using its own conventions and timing.</a:t>
            </a:r>
            <a:endParaRPr lang="en-US" sz="800" dirty="0"/>
          </a:p>
        </p:txBody>
      </p:sp>
      <p:sp>
        <p:nvSpPr>
          <p:cNvPr id="9" name="Shape 7"/>
          <p:cNvSpPr/>
          <p:nvPr/>
        </p:nvSpPr>
        <p:spPr>
          <a:xfrm>
            <a:off x="411480" y="1901952"/>
            <a:ext cx="3794760" cy="640080"/>
          </a:xfrm>
          <a:prstGeom prst="rect">
            <a:avLst/>
          </a:prstGeom>
          <a:solidFill>
            <a:srgbClr val="FFFFFF"/>
          </a:solidFill>
          <a:ln w="6350">
            <a:solidFill>
              <a:srgbClr val="FCD34D"/>
            </a:solidFill>
            <a:prstDash val="solid"/>
          </a:ln>
        </p:spPr>
      </p:sp>
      <p:sp>
        <p:nvSpPr>
          <p:cNvPr id="10" name="Text 8"/>
          <p:cNvSpPr/>
          <p:nvPr/>
        </p:nvSpPr>
        <p:spPr>
          <a:xfrm>
            <a:off x="502920" y="1956816"/>
            <a:ext cx="3611880" cy="182880"/>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Entity values vary across apps</a:t>
            </a:r>
            <a:endParaRPr lang="en-US" sz="900" dirty="0"/>
          </a:p>
        </p:txBody>
      </p:sp>
      <p:sp>
        <p:nvSpPr>
          <p:cNvPr id="11" name="Text 9"/>
          <p:cNvSpPr/>
          <p:nvPr/>
        </p:nvSpPr>
        <p:spPr>
          <a:xfrm>
            <a:off x="502920" y="2157984"/>
            <a:ext cx="361188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The same real-world concept appears with different names and formats across CMOS, ALFA, XVALA, and other applications.</a:t>
            </a:r>
            <a:endParaRPr lang="en-US" sz="800" dirty="0"/>
          </a:p>
        </p:txBody>
      </p:sp>
      <p:sp>
        <p:nvSpPr>
          <p:cNvPr id="12" name="Shape 10"/>
          <p:cNvSpPr/>
          <p:nvPr/>
        </p:nvSpPr>
        <p:spPr>
          <a:xfrm>
            <a:off x="411480" y="2596896"/>
            <a:ext cx="3794760" cy="640080"/>
          </a:xfrm>
          <a:prstGeom prst="rect">
            <a:avLst/>
          </a:prstGeom>
          <a:solidFill>
            <a:srgbClr val="FFFFFF"/>
          </a:solidFill>
          <a:ln w="6350">
            <a:solidFill>
              <a:srgbClr val="FCD34D"/>
            </a:solidFill>
            <a:prstDash val="solid"/>
          </a:ln>
        </p:spPr>
      </p:sp>
      <p:sp>
        <p:nvSpPr>
          <p:cNvPr id="13" name="Text 11"/>
          <p:cNvSpPr/>
          <p:nvPr/>
        </p:nvSpPr>
        <p:spPr>
          <a:xfrm>
            <a:off x="502920" y="2651760"/>
            <a:ext cx="3611880" cy="182880"/>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Lineage to be established</a:t>
            </a:r>
            <a:endParaRPr lang="en-US" sz="900" dirty="0"/>
          </a:p>
        </p:txBody>
      </p:sp>
      <p:sp>
        <p:nvSpPr>
          <p:cNvPr id="14" name="Text 12"/>
          <p:cNvSpPr/>
          <p:nvPr/>
        </p:nvSpPr>
        <p:spPr>
          <a:xfrm>
            <a:off x="502920" y="2852928"/>
            <a:ext cx="361188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Source systems, frequencies, and authoritative sources are known at the app level but not recorded in a shared catalog.</a:t>
            </a:r>
            <a:endParaRPr lang="en-US" sz="800" dirty="0"/>
          </a:p>
        </p:txBody>
      </p:sp>
      <p:sp>
        <p:nvSpPr>
          <p:cNvPr id="15" name="Shape 13"/>
          <p:cNvSpPr/>
          <p:nvPr/>
        </p:nvSpPr>
        <p:spPr>
          <a:xfrm>
            <a:off x="411480" y="3291840"/>
            <a:ext cx="3794760" cy="640080"/>
          </a:xfrm>
          <a:prstGeom prst="rect">
            <a:avLst/>
          </a:prstGeom>
          <a:solidFill>
            <a:srgbClr val="FFFFFF"/>
          </a:solidFill>
          <a:ln w="6350">
            <a:solidFill>
              <a:srgbClr val="FCD34D"/>
            </a:solidFill>
            <a:prstDash val="solid"/>
          </a:ln>
        </p:spPr>
      </p:sp>
      <p:sp>
        <p:nvSpPr>
          <p:cNvPr id="16" name="Text 14"/>
          <p:cNvSpPr/>
          <p:nvPr/>
        </p:nvSpPr>
        <p:spPr>
          <a:xfrm>
            <a:off x="502920" y="3346704"/>
            <a:ext cx="3611880" cy="182880"/>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Structured CDM engagement to define</a:t>
            </a:r>
            <a:endParaRPr lang="en-US" sz="900" dirty="0"/>
          </a:p>
        </p:txBody>
      </p:sp>
      <p:sp>
        <p:nvSpPr>
          <p:cNvPr id="17" name="Text 15"/>
          <p:cNvSpPr/>
          <p:nvPr/>
        </p:nvSpPr>
        <p:spPr>
          <a:xfrm>
            <a:off x="502920" y="3547872"/>
            <a:ext cx="361188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A process for Risk to align with the enterprise CDM as a domain — contributing Domain #5 — is being established.</a:t>
            </a:r>
            <a:endParaRPr lang="en-US" sz="800" dirty="0"/>
          </a:p>
        </p:txBody>
      </p:sp>
      <p:sp>
        <p:nvSpPr>
          <p:cNvPr id="18" name="Shape 16"/>
          <p:cNvSpPr/>
          <p:nvPr/>
        </p:nvSpPr>
        <p:spPr>
          <a:xfrm>
            <a:off x="411480" y="3986784"/>
            <a:ext cx="3794760" cy="640080"/>
          </a:xfrm>
          <a:prstGeom prst="rect">
            <a:avLst/>
          </a:prstGeom>
          <a:solidFill>
            <a:srgbClr val="FFFFFF"/>
          </a:solidFill>
          <a:ln w="6350">
            <a:solidFill>
              <a:srgbClr val="FCD34D"/>
            </a:solidFill>
            <a:prstDash val="solid"/>
          </a:ln>
        </p:spPr>
      </p:sp>
      <p:sp>
        <p:nvSpPr>
          <p:cNvPr id="19" name="Text 17"/>
          <p:cNvSpPr/>
          <p:nvPr/>
        </p:nvSpPr>
        <p:spPr>
          <a:xfrm>
            <a:off x="502920" y="4041648"/>
            <a:ext cx="3611880" cy="182880"/>
          </a:xfrm>
          <a:prstGeom prst="rect">
            <a:avLst/>
          </a:prstGeom>
          <a:noFill/>
          <a:ln/>
        </p:spPr>
        <p:txBody>
          <a:bodyPr wrap="square" lIns="0" tIns="0" rIns="0" bIns="0" rtlCol="0" anchor="ctr"/>
          <a:lstStyle/>
          <a:p>
            <a:pPr indent="0" marL="0">
              <a:buNone/>
            </a:pPr>
            <a:r>
              <a:rPr lang="en-US" sz="900" b="1" dirty="0">
                <a:solidFill>
                  <a:srgbClr val="92400E"/>
                </a:solidFill>
                <a:latin typeface="Calibri" pitchFamily="34" charset="0"/>
                <a:ea typeface="Calibri" pitchFamily="34" charset="-122"/>
                <a:cs typeface="Calibri" pitchFamily="34" charset="-120"/>
              </a:rPr>
              <a:t>Reconciliation effort across apps</a:t>
            </a:r>
            <a:endParaRPr lang="en-US" sz="900" dirty="0"/>
          </a:p>
        </p:txBody>
      </p:sp>
      <p:sp>
        <p:nvSpPr>
          <p:cNvPr id="20" name="Text 18"/>
          <p:cNvSpPr/>
          <p:nvPr/>
        </p:nvSpPr>
        <p:spPr>
          <a:xfrm>
            <a:off x="502920" y="4242816"/>
            <a:ext cx="361188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Cross-application questions require manual alignment of reports from separate systems.</a:t>
            </a:r>
            <a:endParaRPr lang="en-US" sz="800" dirty="0"/>
          </a:p>
        </p:txBody>
      </p:sp>
      <p:sp>
        <p:nvSpPr>
          <p:cNvPr id="21" name="Text 19"/>
          <p:cNvSpPr/>
          <p:nvPr/>
        </p:nvSpPr>
        <p:spPr>
          <a:xfrm>
            <a:off x="4370832" y="2468880"/>
            <a:ext cx="402336" cy="384048"/>
          </a:xfrm>
          <a:prstGeom prst="rect">
            <a:avLst/>
          </a:prstGeom>
          <a:noFill/>
          <a:ln/>
        </p:spPr>
        <p:txBody>
          <a:bodyPr wrap="square" lIns="0" tIns="0" rIns="0" bIns="0" rtlCol="0" anchor="ctr"/>
          <a:lstStyle/>
          <a:p>
            <a:pPr algn="ctr" indent="0" marL="0">
              <a:buNone/>
            </a:pPr>
            <a:r>
              <a:rPr lang="en-US" sz="2400" dirty="0">
                <a:solidFill>
                  <a:srgbClr val="16A34A"/>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4800600" y="841248"/>
            <a:ext cx="4023360" cy="4005072"/>
          </a:xfrm>
          <a:prstGeom prst="rect">
            <a:avLst/>
          </a:prstGeom>
          <a:solidFill>
            <a:srgbClr val="DCFCE7"/>
          </a:solidFill>
          <a:ln w="12700">
            <a:solidFill>
              <a:srgbClr val="86EFAC"/>
            </a:solidFill>
            <a:prstDash val="solid"/>
          </a:ln>
        </p:spPr>
      </p:sp>
      <p:sp>
        <p:nvSpPr>
          <p:cNvPr id="23" name="Text 21"/>
          <p:cNvSpPr/>
          <p:nvPr/>
        </p:nvSpPr>
        <p:spPr>
          <a:xfrm>
            <a:off x="4919472" y="896112"/>
            <a:ext cx="3794760" cy="237744"/>
          </a:xfrm>
          <a:prstGeom prst="rect">
            <a:avLst/>
          </a:prstGeom>
          <a:noFill/>
          <a:ln/>
        </p:spPr>
        <p:txBody>
          <a:bodyPr wrap="square" lIns="0" tIns="0" rIns="0" bIns="0" rtlCol="0" anchor="ctr"/>
          <a:lstStyle/>
          <a:p>
            <a:pPr indent="0" marL="0">
              <a:buNone/>
            </a:pPr>
            <a:r>
              <a:rPr lang="en-US" sz="1100" b="1" dirty="0">
                <a:solidFill>
                  <a:srgbClr val="166534"/>
                </a:solidFill>
                <a:latin typeface="Calibri" pitchFamily="34" charset="0"/>
                <a:ea typeface="Calibri" pitchFamily="34" charset="-122"/>
                <a:cs typeface="Calibri" pitchFamily="34" charset="-120"/>
              </a:rPr>
              <a:t>Target State</a:t>
            </a:r>
            <a:endParaRPr lang="en-US" sz="1100" dirty="0"/>
          </a:p>
        </p:txBody>
      </p:sp>
      <p:sp>
        <p:nvSpPr>
          <p:cNvPr id="24" name="Shape 22"/>
          <p:cNvSpPr/>
          <p:nvPr/>
        </p:nvSpPr>
        <p:spPr>
          <a:xfrm>
            <a:off x="4892040" y="1207008"/>
            <a:ext cx="3840480" cy="640080"/>
          </a:xfrm>
          <a:prstGeom prst="rect">
            <a:avLst/>
          </a:prstGeom>
          <a:solidFill>
            <a:srgbClr val="FFFFFF"/>
          </a:solidFill>
          <a:ln w="6350">
            <a:solidFill>
              <a:srgbClr val="86EFAC"/>
            </a:solidFill>
            <a:prstDash val="solid"/>
          </a:ln>
        </p:spPr>
      </p:sp>
      <p:sp>
        <p:nvSpPr>
          <p:cNvPr id="25" name="Text 23"/>
          <p:cNvSpPr/>
          <p:nvPr/>
        </p:nvSpPr>
        <p:spPr>
          <a:xfrm>
            <a:off x="4983480" y="1261872"/>
            <a:ext cx="3657600" cy="182880"/>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Risk Confirmed Entity (RCE)</a:t>
            </a:r>
            <a:endParaRPr lang="en-US" sz="900" dirty="0"/>
          </a:p>
        </p:txBody>
      </p:sp>
      <p:sp>
        <p:nvSpPr>
          <p:cNvPr id="26" name="Text 24"/>
          <p:cNvSpPr/>
          <p:nvPr/>
        </p:nvSpPr>
        <p:spPr>
          <a:xfrm>
            <a:off x="4983480" y="1463040"/>
            <a:ext cx="365760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Single canonical entity layer for Risk. CDM-aligned base attributes plus Risk-owned enrichments (netting set, CSA terms).</a:t>
            </a:r>
            <a:endParaRPr lang="en-US" sz="800" dirty="0"/>
          </a:p>
        </p:txBody>
      </p:sp>
      <p:sp>
        <p:nvSpPr>
          <p:cNvPr id="27" name="Shape 25"/>
          <p:cNvSpPr/>
          <p:nvPr/>
        </p:nvSpPr>
        <p:spPr>
          <a:xfrm>
            <a:off x="4892040" y="1901952"/>
            <a:ext cx="3840480" cy="640080"/>
          </a:xfrm>
          <a:prstGeom prst="rect">
            <a:avLst/>
          </a:prstGeom>
          <a:solidFill>
            <a:srgbClr val="FFFFFF"/>
          </a:solidFill>
          <a:ln w="6350">
            <a:solidFill>
              <a:srgbClr val="86EFAC"/>
            </a:solidFill>
            <a:prstDash val="solid"/>
          </a:ln>
        </p:spPr>
      </p:sp>
      <p:sp>
        <p:nvSpPr>
          <p:cNvPr id="28" name="Text 26"/>
          <p:cNvSpPr/>
          <p:nvPr/>
        </p:nvSpPr>
        <p:spPr>
          <a:xfrm>
            <a:off x="4983480" y="1956816"/>
            <a:ext cx="3657600" cy="182880"/>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Consistent entity definitions across apps</a:t>
            </a:r>
            <a:endParaRPr lang="en-US" sz="900" dirty="0"/>
          </a:p>
        </p:txBody>
      </p:sp>
      <p:sp>
        <p:nvSpPr>
          <p:cNvPr id="29" name="Text 27"/>
          <p:cNvSpPr/>
          <p:nvPr/>
        </p:nvSpPr>
        <p:spPr>
          <a:xfrm>
            <a:off x="4983480" y="2157984"/>
            <a:ext cx="365760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Counterparty, issuer, legal entity, and product type mean the same thing across every Risk application and report.</a:t>
            </a:r>
            <a:endParaRPr lang="en-US" sz="800" dirty="0"/>
          </a:p>
        </p:txBody>
      </p:sp>
      <p:sp>
        <p:nvSpPr>
          <p:cNvPr id="30" name="Shape 28"/>
          <p:cNvSpPr/>
          <p:nvPr/>
        </p:nvSpPr>
        <p:spPr>
          <a:xfrm>
            <a:off x="4892040" y="2596896"/>
            <a:ext cx="3840480" cy="640080"/>
          </a:xfrm>
          <a:prstGeom prst="rect">
            <a:avLst/>
          </a:prstGeom>
          <a:solidFill>
            <a:srgbClr val="FFFFFF"/>
          </a:solidFill>
          <a:ln w="6350">
            <a:solidFill>
              <a:srgbClr val="86EFAC"/>
            </a:solidFill>
            <a:prstDash val="solid"/>
          </a:ln>
        </p:spPr>
      </p:sp>
      <p:sp>
        <p:nvSpPr>
          <p:cNvPr id="31" name="Text 29"/>
          <p:cNvSpPr/>
          <p:nvPr/>
        </p:nvSpPr>
        <p:spPr>
          <a:xfrm>
            <a:off x="4983480" y="2651760"/>
            <a:ext cx="3657600" cy="182880"/>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Full lineage via Risk Data Catalog</a:t>
            </a:r>
            <a:endParaRPr lang="en-US" sz="900" dirty="0"/>
          </a:p>
        </p:txBody>
      </p:sp>
      <p:sp>
        <p:nvSpPr>
          <p:cNvPr id="32" name="Text 30"/>
          <p:cNvSpPr/>
          <p:nvPr/>
        </p:nvSpPr>
        <p:spPr>
          <a:xfrm>
            <a:off x="4983480" y="2852928"/>
            <a:ext cx="365760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Every entity linked to its source system, ingestion frequency, CDM alignment status, and contributing applications.</a:t>
            </a:r>
            <a:endParaRPr lang="en-US" sz="800" dirty="0"/>
          </a:p>
        </p:txBody>
      </p:sp>
      <p:sp>
        <p:nvSpPr>
          <p:cNvPr id="33" name="Shape 31"/>
          <p:cNvSpPr/>
          <p:nvPr/>
        </p:nvSpPr>
        <p:spPr>
          <a:xfrm>
            <a:off x="4892040" y="3291840"/>
            <a:ext cx="3840480" cy="640080"/>
          </a:xfrm>
          <a:prstGeom prst="rect">
            <a:avLst/>
          </a:prstGeom>
          <a:solidFill>
            <a:srgbClr val="FFFFFF"/>
          </a:solidFill>
          <a:ln w="6350">
            <a:solidFill>
              <a:srgbClr val="86EFAC"/>
            </a:solidFill>
            <a:prstDash val="solid"/>
          </a:ln>
        </p:spPr>
      </p:sp>
      <p:sp>
        <p:nvSpPr>
          <p:cNvPr id="34" name="Text 32"/>
          <p:cNvSpPr/>
          <p:nvPr/>
        </p:nvSpPr>
        <p:spPr>
          <a:xfrm>
            <a:off x="4983480" y="3346704"/>
            <a:ext cx="3657600" cy="182880"/>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Structured CDM alignment</a:t>
            </a:r>
            <a:endParaRPr lang="en-US" sz="900" dirty="0"/>
          </a:p>
        </p:txBody>
      </p:sp>
      <p:sp>
        <p:nvSpPr>
          <p:cNvPr id="35" name="Text 33"/>
          <p:cNvSpPr/>
          <p:nvPr/>
        </p:nvSpPr>
        <p:spPr>
          <a:xfrm>
            <a:off x="4983480" y="3547872"/>
            <a:ext cx="365760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Risk presents a consolidated entity position to CDM — one governed conversation per entity, with clear adoption path.</a:t>
            </a:r>
            <a:endParaRPr lang="en-US" sz="800" dirty="0"/>
          </a:p>
        </p:txBody>
      </p:sp>
      <p:sp>
        <p:nvSpPr>
          <p:cNvPr id="36" name="Shape 34"/>
          <p:cNvSpPr/>
          <p:nvPr/>
        </p:nvSpPr>
        <p:spPr>
          <a:xfrm>
            <a:off x="4892040" y="3986784"/>
            <a:ext cx="3840480" cy="640080"/>
          </a:xfrm>
          <a:prstGeom prst="rect">
            <a:avLst/>
          </a:prstGeom>
          <a:solidFill>
            <a:srgbClr val="FFFFFF"/>
          </a:solidFill>
          <a:ln w="6350">
            <a:solidFill>
              <a:srgbClr val="86EFAC"/>
            </a:solidFill>
            <a:prstDash val="solid"/>
          </a:ln>
        </p:spPr>
      </p:sp>
      <p:sp>
        <p:nvSpPr>
          <p:cNvPr id="37" name="Text 35"/>
          <p:cNvSpPr/>
          <p:nvPr/>
        </p:nvSpPr>
        <p:spPr>
          <a:xfrm>
            <a:off x="4983480" y="4041648"/>
            <a:ext cx="3657600" cy="182880"/>
          </a:xfrm>
          <a:prstGeom prst="rect">
            <a:avLst/>
          </a:prstGeom>
          <a:noFill/>
          <a:ln/>
        </p:spPr>
        <p:txBody>
          <a:bodyPr wrap="square" lIns="0" tIns="0" rIns="0" bIns="0" rtlCol="0" anchor="ctr"/>
          <a:lstStyle/>
          <a:p>
            <a:pPr indent="0" marL="0">
              <a:buNone/>
            </a:pPr>
            <a:r>
              <a:rPr lang="en-US" sz="900" b="1" dirty="0">
                <a:solidFill>
                  <a:srgbClr val="166534"/>
                </a:solidFill>
                <a:latin typeface="Calibri" pitchFamily="34" charset="0"/>
                <a:ea typeface="Calibri" pitchFamily="34" charset="-122"/>
                <a:cs typeface="Calibri" pitchFamily="34" charset="-120"/>
              </a:rPr>
              <a:t>Governed analytics layer</a:t>
            </a:r>
            <a:endParaRPr lang="en-US" sz="900" dirty="0"/>
          </a:p>
        </p:txBody>
      </p:sp>
      <p:sp>
        <p:nvSpPr>
          <p:cNvPr id="38" name="Text 36"/>
          <p:cNvSpPr/>
          <p:nvPr/>
        </p:nvSpPr>
        <p:spPr>
          <a:xfrm>
            <a:off x="4983480" y="4242816"/>
            <a:ext cx="3657600" cy="329184"/>
          </a:xfrm>
          <a:prstGeom prst="rect">
            <a:avLst/>
          </a:prstGeom>
          <a:noFill/>
          <a:ln/>
        </p:spPr>
        <p:txBody>
          <a:bodyPr wrap="square" lIns="0" tIns="0" rIns="0" bIns="0" rtlCol="0" anchor="t"/>
          <a:lstStyle/>
          <a:p>
            <a:pPr indent="0" marL="0">
              <a:buNone/>
            </a:pPr>
            <a:r>
              <a:rPr lang="en-US" sz="800" dirty="0">
                <a:solidFill>
                  <a:srgbClr val="6B7280"/>
                </a:solidFill>
                <a:latin typeface="Calibri" pitchFamily="34" charset="0"/>
                <a:ea typeface="Calibri" pitchFamily="34" charset="-122"/>
                <a:cs typeface="Calibri" pitchFamily="34" charset="-120"/>
              </a:rPr>
              <a:t>Cross-application views, star schema, and semantic model built on confirmed entities. Trusted, reusable, scalable.</a:t>
            </a:r>
            <a:endParaRPr lang="en-US" sz="800" dirty="0"/>
          </a:p>
        </p:txBody>
      </p:sp>
      <p:sp>
        <p:nvSpPr>
          <p:cNvPr id="39" name="Text 37"/>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40" name="Text 38"/>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274320" y="164592"/>
            <a:ext cx="8686800" cy="329184"/>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Phase Progression: Risk Generated Data → Risk Confirmed Entity + CDM → Analytics</a:t>
            </a:r>
            <a:endParaRPr lang="en-US" sz="1600" dirty="0"/>
          </a:p>
        </p:txBody>
      </p:sp>
      <p:sp>
        <p:nvSpPr>
          <p:cNvPr id="3" name="Shape 1"/>
          <p:cNvSpPr/>
          <p:nvPr/>
        </p:nvSpPr>
        <p:spPr>
          <a:xfrm>
            <a:off x="256032" y="566928"/>
            <a:ext cx="2084832" cy="274320"/>
          </a:xfrm>
          <a:prstGeom prst="rect">
            <a:avLst/>
          </a:prstGeom>
          <a:solidFill>
            <a:srgbClr val="1D6FA4"/>
          </a:solidFill>
          <a:ln w="12700">
            <a:solidFill>
              <a:srgbClr val="1D6FA4"/>
            </a:solidFill>
            <a:prstDash val="solid"/>
          </a:ln>
        </p:spPr>
      </p:sp>
      <p:sp>
        <p:nvSpPr>
          <p:cNvPr id="4" name="Text 2"/>
          <p:cNvSpPr/>
          <p:nvPr/>
        </p:nvSpPr>
        <p:spPr>
          <a:xfrm>
            <a:off x="320040" y="603504"/>
            <a:ext cx="475488" cy="201168"/>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Phase 1</a:t>
            </a:r>
            <a:endParaRPr lang="en-US" sz="700" dirty="0"/>
          </a:p>
        </p:txBody>
      </p:sp>
      <p:sp>
        <p:nvSpPr>
          <p:cNvPr id="5" name="Text 3"/>
          <p:cNvSpPr/>
          <p:nvPr/>
        </p:nvSpPr>
        <p:spPr>
          <a:xfrm>
            <a:off x="822960" y="603504"/>
            <a:ext cx="1463040"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Risk Generated Data into Databricks</a:t>
            </a:r>
            <a:endParaRPr lang="en-US" sz="750" dirty="0"/>
          </a:p>
        </p:txBody>
      </p:sp>
      <p:sp>
        <p:nvSpPr>
          <p:cNvPr id="6" name="Shape 4"/>
          <p:cNvSpPr/>
          <p:nvPr/>
        </p:nvSpPr>
        <p:spPr>
          <a:xfrm>
            <a:off x="256032" y="896112"/>
            <a:ext cx="2084832" cy="987552"/>
          </a:xfrm>
          <a:prstGeom prst="rect">
            <a:avLst/>
          </a:prstGeom>
          <a:solidFill>
            <a:srgbClr val="FFFFFF"/>
          </a:solidFill>
          <a:ln w="7620">
            <a:solidFill>
              <a:srgbClr val="1D6FA4"/>
            </a:solidFill>
            <a:prstDash val="solid"/>
          </a:ln>
        </p:spPr>
      </p:sp>
      <p:sp>
        <p:nvSpPr>
          <p:cNvPr id="7" name="Shape 5"/>
          <p:cNvSpPr/>
          <p:nvPr/>
        </p:nvSpPr>
        <p:spPr>
          <a:xfrm>
            <a:off x="256032" y="896112"/>
            <a:ext cx="36576" cy="987552"/>
          </a:xfrm>
          <a:prstGeom prst="rect">
            <a:avLst/>
          </a:prstGeom>
          <a:solidFill>
            <a:srgbClr val="1D6FA4"/>
          </a:solidFill>
          <a:ln w="12700">
            <a:solidFill>
              <a:srgbClr val="1D6FA4"/>
            </a:solidFill>
            <a:prstDash val="solid"/>
          </a:ln>
        </p:spPr>
      </p:sp>
      <p:sp>
        <p:nvSpPr>
          <p:cNvPr id="8" name="Shape 6"/>
          <p:cNvSpPr/>
          <p:nvPr/>
        </p:nvSpPr>
        <p:spPr>
          <a:xfrm>
            <a:off x="329184" y="960120"/>
            <a:ext cx="155448" cy="155448"/>
          </a:xfrm>
          <a:prstGeom prst="oval">
            <a:avLst/>
          </a:prstGeom>
          <a:solidFill>
            <a:srgbClr val="1D6FA4"/>
          </a:solidFill>
          <a:ln w="12700">
            <a:solidFill>
              <a:srgbClr val="1D6FA4"/>
            </a:solidFill>
            <a:prstDash val="solid"/>
          </a:ln>
        </p:spPr>
      </p:sp>
      <p:sp>
        <p:nvSpPr>
          <p:cNvPr id="9" name="Text 7"/>
          <p:cNvSpPr/>
          <p:nvPr/>
        </p:nvSpPr>
        <p:spPr>
          <a:xfrm>
            <a:off x="329184" y="960120"/>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1.1</a:t>
            </a:r>
            <a:endParaRPr lang="en-US" sz="650" dirty="0"/>
          </a:p>
        </p:txBody>
      </p:sp>
      <p:sp>
        <p:nvSpPr>
          <p:cNvPr id="10" name="Text 8"/>
          <p:cNvSpPr/>
          <p:nvPr/>
        </p:nvSpPr>
        <p:spPr>
          <a:xfrm>
            <a:off x="521208" y="960120"/>
            <a:ext cx="1764792" cy="164592"/>
          </a:xfrm>
          <a:prstGeom prst="rect">
            <a:avLst/>
          </a:prstGeom>
          <a:noFill/>
          <a:ln/>
        </p:spPr>
        <p:txBody>
          <a:bodyPr wrap="square" lIns="0" tIns="0" rIns="0" bIns="0" rtlCol="0" anchor="ctr"/>
          <a:lstStyle/>
          <a:p>
            <a:pPr indent="0" marL="0">
              <a:buNone/>
            </a:pPr>
            <a:r>
              <a:rPr lang="en-US" sz="780" b="1" dirty="0">
                <a:solidFill>
                  <a:srgbClr val="1D6FA4"/>
                </a:solidFill>
                <a:latin typeface="Calibri" pitchFamily="34" charset="0"/>
                <a:ea typeface="Calibri" pitchFamily="34" charset="-122"/>
                <a:cs typeface="Calibri" pitchFamily="34" charset="-120"/>
              </a:rPr>
              <a:t>Land Risk Generated Data</a:t>
            </a:r>
            <a:endParaRPr lang="en-US" sz="780" dirty="0"/>
          </a:p>
        </p:txBody>
      </p:sp>
      <p:sp>
        <p:nvSpPr>
          <p:cNvPr id="11" name="Text 9"/>
          <p:cNvSpPr/>
          <p:nvPr/>
        </p:nvSpPr>
        <p:spPr>
          <a:xfrm>
            <a:off x="329184" y="1143000"/>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Reports / Data Extracts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No transformation</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App schema · bronze zone</a:t>
            </a:r>
            <a:endParaRPr lang="en-US" sz="700" dirty="0"/>
          </a:p>
        </p:txBody>
      </p:sp>
      <p:sp>
        <p:nvSpPr>
          <p:cNvPr id="12" name="Shape 10"/>
          <p:cNvSpPr/>
          <p:nvPr/>
        </p:nvSpPr>
        <p:spPr>
          <a:xfrm>
            <a:off x="256032" y="1700784"/>
            <a:ext cx="2084832" cy="182880"/>
          </a:xfrm>
          <a:prstGeom prst="rect">
            <a:avLst/>
          </a:prstGeom>
          <a:solidFill>
            <a:srgbClr val="000000"/>
          </a:solidFill>
          <a:ln w="5080">
            <a:solidFill>
              <a:srgbClr val="1D6FA4"/>
            </a:solidFill>
            <a:prstDash val="solid"/>
          </a:ln>
        </p:spPr>
      </p:sp>
      <p:sp>
        <p:nvSpPr>
          <p:cNvPr id="13" name="Shape 11"/>
          <p:cNvSpPr/>
          <p:nvPr/>
        </p:nvSpPr>
        <p:spPr>
          <a:xfrm>
            <a:off x="256032" y="1700784"/>
            <a:ext cx="2084832" cy="182880"/>
          </a:xfrm>
          <a:prstGeom prst="rect">
            <a:avLst/>
          </a:prstGeom>
          <a:solidFill>
            <a:srgbClr val="DBEAFE"/>
          </a:solidFill>
          <a:ln w="5080">
            <a:solidFill>
              <a:srgbClr val="1D6FA4"/>
            </a:solidFill>
            <a:prstDash val="solid"/>
          </a:ln>
        </p:spPr>
      </p:sp>
      <p:sp>
        <p:nvSpPr>
          <p:cNvPr id="14" name="Text 12"/>
          <p:cNvSpPr/>
          <p:nvPr/>
        </p:nvSpPr>
        <p:spPr>
          <a:xfrm>
            <a:off x="320040" y="1700784"/>
            <a:ext cx="1993392" cy="182880"/>
          </a:xfrm>
          <a:prstGeom prst="rect">
            <a:avLst/>
          </a:prstGeom>
          <a:noFill/>
          <a:ln/>
        </p:spPr>
        <p:txBody>
          <a:bodyPr wrap="square" lIns="0" tIns="0" rIns="0" bIns="0" rtlCol="0" anchor="ctr"/>
          <a:lstStyle/>
          <a:p>
            <a:pPr indent="0" marL="0">
              <a:buNone/>
            </a:pPr>
            <a:r>
              <a:rPr lang="en-US" sz="650" b="1" dirty="0">
                <a:solidFill>
                  <a:srgbClr val="1D6FA4"/>
                </a:solidFill>
                <a:latin typeface="Calibri" pitchFamily="34" charset="0"/>
                <a:ea typeface="Calibri" pitchFamily="34" charset="-122"/>
                <a:cs typeface="Calibri" pitchFamily="34" charset="-120"/>
              </a:rPr>
              <a:t>↳ App schema · bronze zone</a:t>
            </a:r>
            <a:endParaRPr lang="en-US" sz="650" dirty="0"/>
          </a:p>
        </p:txBody>
      </p:sp>
      <p:sp>
        <p:nvSpPr>
          <p:cNvPr id="15" name="Shape 13"/>
          <p:cNvSpPr/>
          <p:nvPr/>
        </p:nvSpPr>
        <p:spPr>
          <a:xfrm>
            <a:off x="256032" y="1933956"/>
            <a:ext cx="2084832" cy="987552"/>
          </a:xfrm>
          <a:prstGeom prst="rect">
            <a:avLst/>
          </a:prstGeom>
          <a:solidFill>
            <a:srgbClr val="FFFFFF"/>
          </a:solidFill>
          <a:ln w="7620">
            <a:solidFill>
              <a:srgbClr val="1D6FA4"/>
            </a:solidFill>
            <a:prstDash val="solid"/>
          </a:ln>
        </p:spPr>
      </p:sp>
      <p:sp>
        <p:nvSpPr>
          <p:cNvPr id="16" name="Shape 14"/>
          <p:cNvSpPr/>
          <p:nvPr/>
        </p:nvSpPr>
        <p:spPr>
          <a:xfrm>
            <a:off x="256032" y="1933956"/>
            <a:ext cx="36576" cy="987552"/>
          </a:xfrm>
          <a:prstGeom prst="rect">
            <a:avLst/>
          </a:prstGeom>
          <a:solidFill>
            <a:srgbClr val="1D6FA4"/>
          </a:solidFill>
          <a:ln w="12700">
            <a:solidFill>
              <a:srgbClr val="1D6FA4"/>
            </a:solidFill>
            <a:prstDash val="solid"/>
          </a:ln>
        </p:spPr>
      </p:sp>
      <p:sp>
        <p:nvSpPr>
          <p:cNvPr id="17" name="Shape 15"/>
          <p:cNvSpPr/>
          <p:nvPr/>
        </p:nvSpPr>
        <p:spPr>
          <a:xfrm>
            <a:off x="329184" y="1997964"/>
            <a:ext cx="155448" cy="155448"/>
          </a:xfrm>
          <a:prstGeom prst="oval">
            <a:avLst/>
          </a:prstGeom>
          <a:solidFill>
            <a:srgbClr val="1D6FA4"/>
          </a:solidFill>
          <a:ln w="12700">
            <a:solidFill>
              <a:srgbClr val="1D6FA4"/>
            </a:solidFill>
            <a:prstDash val="solid"/>
          </a:ln>
        </p:spPr>
      </p:sp>
      <p:sp>
        <p:nvSpPr>
          <p:cNvPr id="18" name="Text 16"/>
          <p:cNvSpPr/>
          <p:nvPr/>
        </p:nvSpPr>
        <p:spPr>
          <a:xfrm>
            <a:off x="329184" y="1997964"/>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1.2</a:t>
            </a:r>
            <a:endParaRPr lang="en-US" sz="650" dirty="0"/>
          </a:p>
        </p:txBody>
      </p:sp>
      <p:sp>
        <p:nvSpPr>
          <p:cNvPr id="19" name="Text 17"/>
          <p:cNvSpPr/>
          <p:nvPr/>
        </p:nvSpPr>
        <p:spPr>
          <a:xfrm>
            <a:off x="521208" y="1997964"/>
            <a:ext cx="1764792" cy="164592"/>
          </a:xfrm>
          <a:prstGeom prst="rect">
            <a:avLst/>
          </a:prstGeom>
          <a:noFill/>
          <a:ln/>
        </p:spPr>
        <p:txBody>
          <a:bodyPr wrap="square" lIns="0" tIns="0" rIns="0" bIns="0" rtlCol="0" anchor="ctr"/>
          <a:lstStyle/>
          <a:p>
            <a:pPr indent="0" marL="0">
              <a:buNone/>
            </a:pPr>
            <a:r>
              <a:rPr lang="en-US" sz="780" b="1" dirty="0">
                <a:solidFill>
                  <a:srgbClr val="1D6FA4"/>
                </a:solidFill>
                <a:latin typeface="Calibri" pitchFamily="34" charset="0"/>
                <a:ea typeface="Calibri" pitchFamily="34" charset="-122"/>
                <a:cs typeface="Calibri" pitchFamily="34" charset="-120"/>
              </a:rPr>
              <a:t>Conformed entities</a:t>
            </a:r>
            <a:endParaRPr lang="en-US" sz="780" dirty="0"/>
          </a:p>
        </p:txBody>
      </p:sp>
      <p:sp>
        <p:nvSpPr>
          <p:cNvPr id="20" name="Text 18"/>
          <p:cNvSpPr/>
          <p:nvPr/>
        </p:nvSpPr>
        <p:spPr>
          <a:xfrm>
            <a:off x="329184" y="2180844"/>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Identify entities across reports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Build conformed entities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Link Data Source to Risk Data Catalog</a:t>
            </a:r>
            <a:endParaRPr lang="en-US" sz="700" dirty="0"/>
          </a:p>
        </p:txBody>
      </p:sp>
      <p:sp>
        <p:nvSpPr>
          <p:cNvPr id="21" name="Shape 19"/>
          <p:cNvSpPr/>
          <p:nvPr/>
        </p:nvSpPr>
        <p:spPr>
          <a:xfrm>
            <a:off x="256032" y="2738628"/>
            <a:ext cx="2084832" cy="182880"/>
          </a:xfrm>
          <a:prstGeom prst="rect">
            <a:avLst/>
          </a:prstGeom>
          <a:solidFill>
            <a:srgbClr val="000000"/>
          </a:solidFill>
          <a:ln w="5080">
            <a:solidFill>
              <a:srgbClr val="1D6FA4"/>
            </a:solidFill>
            <a:prstDash val="solid"/>
          </a:ln>
        </p:spPr>
      </p:sp>
      <p:sp>
        <p:nvSpPr>
          <p:cNvPr id="22" name="Shape 20"/>
          <p:cNvSpPr/>
          <p:nvPr/>
        </p:nvSpPr>
        <p:spPr>
          <a:xfrm>
            <a:off x="256032" y="2738628"/>
            <a:ext cx="2084832" cy="182880"/>
          </a:xfrm>
          <a:prstGeom prst="rect">
            <a:avLst/>
          </a:prstGeom>
          <a:solidFill>
            <a:srgbClr val="DBEAFE"/>
          </a:solidFill>
          <a:ln w="5080">
            <a:solidFill>
              <a:srgbClr val="1D6FA4"/>
            </a:solidFill>
            <a:prstDash val="solid"/>
          </a:ln>
        </p:spPr>
      </p:sp>
      <p:sp>
        <p:nvSpPr>
          <p:cNvPr id="23" name="Text 21"/>
          <p:cNvSpPr/>
          <p:nvPr/>
        </p:nvSpPr>
        <p:spPr>
          <a:xfrm>
            <a:off x="320040" y="2738628"/>
            <a:ext cx="1993392" cy="182880"/>
          </a:xfrm>
          <a:prstGeom prst="rect">
            <a:avLst/>
          </a:prstGeom>
          <a:noFill/>
          <a:ln/>
        </p:spPr>
        <p:txBody>
          <a:bodyPr wrap="square" lIns="0" tIns="0" rIns="0" bIns="0" rtlCol="0" anchor="ctr"/>
          <a:lstStyle/>
          <a:p>
            <a:pPr indent="0" marL="0">
              <a:buNone/>
            </a:pPr>
            <a:r>
              <a:rPr lang="en-US" sz="650" b="1" dirty="0">
                <a:solidFill>
                  <a:srgbClr val="1D6FA4"/>
                </a:solidFill>
                <a:latin typeface="Calibri" pitchFamily="34" charset="0"/>
                <a:ea typeface="Calibri" pitchFamily="34" charset="-122"/>
                <a:cs typeface="Calibri" pitchFamily="34" charset="-120"/>
              </a:rPr>
              <a:t>↳ App schema · silver zone</a:t>
            </a:r>
            <a:endParaRPr lang="en-US" sz="650" dirty="0"/>
          </a:p>
        </p:txBody>
      </p:sp>
      <p:sp>
        <p:nvSpPr>
          <p:cNvPr id="24" name="Shape 22"/>
          <p:cNvSpPr/>
          <p:nvPr/>
        </p:nvSpPr>
        <p:spPr>
          <a:xfrm>
            <a:off x="256032" y="2971800"/>
            <a:ext cx="2084832" cy="987552"/>
          </a:xfrm>
          <a:prstGeom prst="rect">
            <a:avLst/>
          </a:prstGeom>
          <a:solidFill>
            <a:srgbClr val="FFFFFF"/>
          </a:solidFill>
          <a:ln w="7620">
            <a:solidFill>
              <a:srgbClr val="1D6FA4"/>
            </a:solidFill>
            <a:prstDash val="solid"/>
          </a:ln>
        </p:spPr>
      </p:sp>
      <p:sp>
        <p:nvSpPr>
          <p:cNvPr id="25" name="Shape 23"/>
          <p:cNvSpPr/>
          <p:nvPr/>
        </p:nvSpPr>
        <p:spPr>
          <a:xfrm>
            <a:off x="256032" y="2971800"/>
            <a:ext cx="36576" cy="987552"/>
          </a:xfrm>
          <a:prstGeom prst="rect">
            <a:avLst/>
          </a:prstGeom>
          <a:solidFill>
            <a:srgbClr val="1D6FA4"/>
          </a:solidFill>
          <a:ln w="12700">
            <a:solidFill>
              <a:srgbClr val="1D6FA4"/>
            </a:solidFill>
            <a:prstDash val="solid"/>
          </a:ln>
        </p:spPr>
      </p:sp>
      <p:sp>
        <p:nvSpPr>
          <p:cNvPr id="26" name="Shape 24"/>
          <p:cNvSpPr/>
          <p:nvPr/>
        </p:nvSpPr>
        <p:spPr>
          <a:xfrm>
            <a:off x="329184" y="3035808"/>
            <a:ext cx="155448" cy="155448"/>
          </a:xfrm>
          <a:prstGeom prst="oval">
            <a:avLst/>
          </a:prstGeom>
          <a:solidFill>
            <a:srgbClr val="1D6FA4"/>
          </a:solidFill>
          <a:ln w="12700">
            <a:solidFill>
              <a:srgbClr val="1D6FA4"/>
            </a:solidFill>
            <a:prstDash val="solid"/>
          </a:ln>
        </p:spPr>
      </p:sp>
      <p:sp>
        <p:nvSpPr>
          <p:cNvPr id="27" name="Text 25"/>
          <p:cNvSpPr/>
          <p:nvPr/>
        </p:nvSpPr>
        <p:spPr>
          <a:xfrm>
            <a:off x="329184" y="3035808"/>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1.3</a:t>
            </a:r>
            <a:endParaRPr lang="en-US" sz="650" dirty="0"/>
          </a:p>
        </p:txBody>
      </p:sp>
      <p:sp>
        <p:nvSpPr>
          <p:cNvPr id="28" name="Text 26"/>
          <p:cNvSpPr/>
          <p:nvPr/>
        </p:nvSpPr>
        <p:spPr>
          <a:xfrm>
            <a:off x="521208" y="3035808"/>
            <a:ext cx="1764792" cy="164592"/>
          </a:xfrm>
          <a:prstGeom prst="rect">
            <a:avLst/>
          </a:prstGeom>
          <a:noFill/>
          <a:ln/>
        </p:spPr>
        <p:txBody>
          <a:bodyPr wrap="square" lIns="0" tIns="0" rIns="0" bIns="0" rtlCol="0" anchor="ctr"/>
          <a:lstStyle/>
          <a:p>
            <a:pPr indent="0" marL="0">
              <a:buNone/>
            </a:pPr>
            <a:r>
              <a:rPr lang="en-US" sz="780" b="1" dirty="0">
                <a:solidFill>
                  <a:srgbClr val="1D6FA4"/>
                </a:solidFill>
                <a:latin typeface="Calibri" pitchFamily="34" charset="0"/>
                <a:ea typeface="Calibri" pitchFamily="34" charset="-122"/>
                <a:cs typeface="Calibri" pitchFamily="34" charset="-120"/>
              </a:rPr>
              <a:t>Conformed reports</a:t>
            </a:r>
            <a:endParaRPr lang="en-US" sz="780" dirty="0"/>
          </a:p>
        </p:txBody>
      </p:sp>
      <p:sp>
        <p:nvSpPr>
          <p:cNvPr id="29" name="Text 27"/>
          <p:cNvSpPr/>
          <p:nvPr/>
        </p:nvSpPr>
        <p:spPr>
          <a:xfrm>
            <a:off x="329184" y="3218688"/>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Report structure &amp; data adjusted</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Consistent columns &amp; types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Use app conformed entities</a:t>
            </a:r>
            <a:endParaRPr lang="en-US" sz="700" dirty="0"/>
          </a:p>
        </p:txBody>
      </p:sp>
      <p:sp>
        <p:nvSpPr>
          <p:cNvPr id="30" name="Shape 28"/>
          <p:cNvSpPr/>
          <p:nvPr/>
        </p:nvSpPr>
        <p:spPr>
          <a:xfrm>
            <a:off x="256032" y="3776472"/>
            <a:ext cx="2084832" cy="182880"/>
          </a:xfrm>
          <a:prstGeom prst="rect">
            <a:avLst/>
          </a:prstGeom>
          <a:solidFill>
            <a:srgbClr val="000000"/>
          </a:solidFill>
          <a:ln w="5080">
            <a:solidFill>
              <a:srgbClr val="1D6FA4"/>
            </a:solidFill>
            <a:prstDash val="solid"/>
          </a:ln>
        </p:spPr>
      </p:sp>
      <p:sp>
        <p:nvSpPr>
          <p:cNvPr id="31" name="Shape 29"/>
          <p:cNvSpPr/>
          <p:nvPr/>
        </p:nvSpPr>
        <p:spPr>
          <a:xfrm>
            <a:off x="256032" y="3776472"/>
            <a:ext cx="2084832" cy="182880"/>
          </a:xfrm>
          <a:prstGeom prst="rect">
            <a:avLst/>
          </a:prstGeom>
          <a:solidFill>
            <a:srgbClr val="DBEAFE"/>
          </a:solidFill>
          <a:ln w="5080">
            <a:solidFill>
              <a:srgbClr val="1D6FA4"/>
            </a:solidFill>
            <a:prstDash val="solid"/>
          </a:ln>
        </p:spPr>
      </p:sp>
      <p:sp>
        <p:nvSpPr>
          <p:cNvPr id="32" name="Text 30"/>
          <p:cNvSpPr/>
          <p:nvPr/>
        </p:nvSpPr>
        <p:spPr>
          <a:xfrm>
            <a:off x="320040" y="3776472"/>
            <a:ext cx="1993392" cy="182880"/>
          </a:xfrm>
          <a:prstGeom prst="rect">
            <a:avLst/>
          </a:prstGeom>
          <a:noFill/>
          <a:ln/>
        </p:spPr>
        <p:txBody>
          <a:bodyPr wrap="square" lIns="0" tIns="0" rIns="0" bIns="0" rtlCol="0" anchor="ctr"/>
          <a:lstStyle/>
          <a:p>
            <a:pPr indent="0" marL="0">
              <a:buNone/>
            </a:pPr>
            <a:r>
              <a:rPr lang="en-US" sz="650" b="1" dirty="0">
                <a:solidFill>
                  <a:srgbClr val="1D6FA4"/>
                </a:solidFill>
                <a:latin typeface="Calibri" pitchFamily="34" charset="0"/>
                <a:ea typeface="Calibri" pitchFamily="34" charset="-122"/>
                <a:cs typeface="Calibri" pitchFamily="34" charset="-120"/>
              </a:rPr>
              <a:t>↳ App schema · silver</a:t>
            </a:r>
            <a:endParaRPr lang="en-US" sz="650" dirty="0"/>
          </a:p>
        </p:txBody>
      </p:sp>
      <p:sp>
        <p:nvSpPr>
          <p:cNvPr id="33" name="Text 31"/>
          <p:cNvSpPr/>
          <p:nvPr/>
        </p:nvSpPr>
        <p:spPr>
          <a:xfrm>
            <a:off x="2345436" y="2011680"/>
            <a:ext cx="118872" cy="256032"/>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2404872" y="566928"/>
            <a:ext cx="2084832" cy="274320"/>
          </a:xfrm>
          <a:prstGeom prst="rect">
            <a:avLst/>
          </a:prstGeom>
          <a:solidFill>
            <a:srgbClr val="6941A8"/>
          </a:solidFill>
          <a:ln w="12700">
            <a:solidFill>
              <a:srgbClr val="6941A8"/>
            </a:solidFill>
            <a:prstDash val="solid"/>
          </a:ln>
        </p:spPr>
      </p:sp>
      <p:sp>
        <p:nvSpPr>
          <p:cNvPr id="35" name="Text 33"/>
          <p:cNvSpPr/>
          <p:nvPr/>
        </p:nvSpPr>
        <p:spPr>
          <a:xfrm>
            <a:off x="2468880" y="603504"/>
            <a:ext cx="475488" cy="201168"/>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Phase 2</a:t>
            </a:r>
            <a:endParaRPr lang="en-US" sz="700" dirty="0"/>
          </a:p>
        </p:txBody>
      </p:sp>
      <p:sp>
        <p:nvSpPr>
          <p:cNvPr id="36" name="Text 34"/>
          <p:cNvSpPr/>
          <p:nvPr/>
        </p:nvSpPr>
        <p:spPr>
          <a:xfrm>
            <a:off x="2971800" y="603504"/>
            <a:ext cx="1463040"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RW Conformed Entities</a:t>
            </a:r>
            <a:endParaRPr lang="en-US" sz="750" dirty="0"/>
          </a:p>
        </p:txBody>
      </p:sp>
      <p:sp>
        <p:nvSpPr>
          <p:cNvPr id="37" name="Shape 35"/>
          <p:cNvSpPr/>
          <p:nvPr/>
        </p:nvSpPr>
        <p:spPr>
          <a:xfrm>
            <a:off x="2404872" y="896112"/>
            <a:ext cx="2084832" cy="987552"/>
          </a:xfrm>
          <a:prstGeom prst="rect">
            <a:avLst/>
          </a:prstGeom>
          <a:solidFill>
            <a:srgbClr val="FFFFFF"/>
          </a:solidFill>
          <a:ln w="7620">
            <a:solidFill>
              <a:srgbClr val="6941A8"/>
            </a:solidFill>
            <a:prstDash val="solid"/>
          </a:ln>
        </p:spPr>
      </p:sp>
      <p:sp>
        <p:nvSpPr>
          <p:cNvPr id="38" name="Shape 36"/>
          <p:cNvSpPr/>
          <p:nvPr/>
        </p:nvSpPr>
        <p:spPr>
          <a:xfrm>
            <a:off x="2404872" y="896112"/>
            <a:ext cx="36576" cy="987552"/>
          </a:xfrm>
          <a:prstGeom prst="rect">
            <a:avLst/>
          </a:prstGeom>
          <a:solidFill>
            <a:srgbClr val="6941A8"/>
          </a:solidFill>
          <a:ln w="12700">
            <a:solidFill>
              <a:srgbClr val="6941A8"/>
            </a:solidFill>
            <a:prstDash val="solid"/>
          </a:ln>
        </p:spPr>
      </p:sp>
      <p:sp>
        <p:nvSpPr>
          <p:cNvPr id="39" name="Shape 37"/>
          <p:cNvSpPr/>
          <p:nvPr/>
        </p:nvSpPr>
        <p:spPr>
          <a:xfrm>
            <a:off x="2478024" y="960120"/>
            <a:ext cx="155448" cy="155448"/>
          </a:xfrm>
          <a:prstGeom prst="oval">
            <a:avLst/>
          </a:prstGeom>
          <a:solidFill>
            <a:srgbClr val="6941A8"/>
          </a:solidFill>
          <a:ln w="12700">
            <a:solidFill>
              <a:srgbClr val="6941A8"/>
            </a:solidFill>
            <a:prstDash val="solid"/>
          </a:ln>
        </p:spPr>
      </p:sp>
      <p:sp>
        <p:nvSpPr>
          <p:cNvPr id="40" name="Text 38"/>
          <p:cNvSpPr/>
          <p:nvPr/>
        </p:nvSpPr>
        <p:spPr>
          <a:xfrm>
            <a:off x="2478024" y="960120"/>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2.1</a:t>
            </a:r>
            <a:endParaRPr lang="en-US" sz="650" dirty="0"/>
          </a:p>
        </p:txBody>
      </p:sp>
      <p:sp>
        <p:nvSpPr>
          <p:cNvPr id="41" name="Text 39"/>
          <p:cNvSpPr/>
          <p:nvPr/>
        </p:nvSpPr>
        <p:spPr>
          <a:xfrm>
            <a:off x="2670048" y="960120"/>
            <a:ext cx="1764792" cy="164592"/>
          </a:xfrm>
          <a:prstGeom prst="rect">
            <a:avLst/>
          </a:prstGeom>
          <a:noFill/>
          <a:ln/>
        </p:spPr>
        <p:txBody>
          <a:bodyPr wrap="square" lIns="0" tIns="0" rIns="0" bIns="0" rtlCol="0" anchor="ctr"/>
          <a:lstStyle/>
          <a:p>
            <a:pPr indent="0" marL="0">
              <a:buNone/>
            </a:pPr>
            <a:r>
              <a:rPr lang="en-US" sz="780" b="1" dirty="0">
                <a:solidFill>
                  <a:srgbClr val="6941A8"/>
                </a:solidFill>
                <a:latin typeface="Calibri" pitchFamily="34" charset="0"/>
                <a:ea typeface="Calibri" pitchFamily="34" charset="-122"/>
                <a:cs typeface="Calibri" pitchFamily="34" charset="-120"/>
              </a:rPr>
              <a:t>Cross-app review</a:t>
            </a:r>
            <a:endParaRPr lang="en-US" sz="780" dirty="0"/>
          </a:p>
        </p:txBody>
      </p:sp>
      <p:sp>
        <p:nvSpPr>
          <p:cNvPr id="42" name="Text 40"/>
          <p:cNvSpPr/>
          <p:nvPr/>
        </p:nvSpPr>
        <p:spPr>
          <a:xfrm>
            <a:off x="2478024" y="1143000"/>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App conformed entities shared in RW sandbox</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Side-by-side comparison</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Conflicts resolved at Risk level</a:t>
            </a:r>
            <a:endParaRPr lang="en-US" sz="700" dirty="0"/>
          </a:p>
        </p:txBody>
      </p:sp>
      <p:sp>
        <p:nvSpPr>
          <p:cNvPr id="43" name="Shape 41"/>
          <p:cNvSpPr/>
          <p:nvPr/>
        </p:nvSpPr>
        <p:spPr>
          <a:xfrm>
            <a:off x="2404872" y="1700784"/>
            <a:ext cx="2084832" cy="182880"/>
          </a:xfrm>
          <a:prstGeom prst="rect">
            <a:avLst/>
          </a:prstGeom>
          <a:solidFill>
            <a:srgbClr val="000000"/>
          </a:solidFill>
          <a:ln w="5080">
            <a:solidFill>
              <a:srgbClr val="6941A8"/>
            </a:solidFill>
            <a:prstDash val="solid"/>
          </a:ln>
        </p:spPr>
      </p:sp>
      <p:sp>
        <p:nvSpPr>
          <p:cNvPr id="44" name="Shape 42"/>
          <p:cNvSpPr/>
          <p:nvPr/>
        </p:nvSpPr>
        <p:spPr>
          <a:xfrm>
            <a:off x="2404872" y="1700784"/>
            <a:ext cx="2084832" cy="182880"/>
          </a:xfrm>
          <a:prstGeom prst="rect">
            <a:avLst/>
          </a:prstGeom>
          <a:solidFill>
            <a:srgbClr val="EDE9FE"/>
          </a:solidFill>
          <a:ln w="5080">
            <a:solidFill>
              <a:srgbClr val="6941A8"/>
            </a:solidFill>
            <a:prstDash val="solid"/>
          </a:ln>
        </p:spPr>
      </p:sp>
      <p:sp>
        <p:nvSpPr>
          <p:cNvPr id="45" name="Text 43"/>
          <p:cNvSpPr/>
          <p:nvPr/>
        </p:nvSpPr>
        <p:spPr>
          <a:xfrm>
            <a:off x="2468880" y="1700784"/>
            <a:ext cx="1993392" cy="182880"/>
          </a:xfrm>
          <a:prstGeom prst="rect">
            <a:avLst/>
          </a:prstGeom>
          <a:noFill/>
          <a:ln/>
        </p:spPr>
        <p:txBody>
          <a:bodyPr wrap="square" lIns="0" tIns="0" rIns="0" bIns="0" rtlCol="0" anchor="ctr"/>
          <a:lstStyle/>
          <a:p>
            <a:pPr indent="0" marL="0">
              <a:buNone/>
            </a:pPr>
            <a:r>
              <a:rPr lang="en-US" sz="650" b="1" dirty="0">
                <a:solidFill>
                  <a:srgbClr val="6941A8"/>
                </a:solidFill>
                <a:latin typeface="Calibri" pitchFamily="34" charset="0"/>
                <a:ea typeface="Calibri" pitchFamily="34" charset="-122"/>
                <a:cs typeface="Calibri" pitchFamily="34" charset="-120"/>
              </a:rPr>
              <a:t>↳ Risk WH · sandbox</a:t>
            </a:r>
            <a:endParaRPr lang="en-US" sz="650" dirty="0"/>
          </a:p>
        </p:txBody>
      </p:sp>
      <p:sp>
        <p:nvSpPr>
          <p:cNvPr id="46" name="Shape 44"/>
          <p:cNvSpPr/>
          <p:nvPr/>
        </p:nvSpPr>
        <p:spPr>
          <a:xfrm>
            <a:off x="2404872" y="1933956"/>
            <a:ext cx="2084832" cy="987552"/>
          </a:xfrm>
          <a:prstGeom prst="rect">
            <a:avLst/>
          </a:prstGeom>
          <a:solidFill>
            <a:srgbClr val="FFFFFF"/>
          </a:solidFill>
          <a:ln w="7620">
            <a:solidFill>
              <a:srgbClr val="6941A8"/>
            </a:solidFill>
            <a:prstDash val="solid"/>
          </a:ln>
        </p:spPr>
      </p:sp>
      <p:sp>
        <p:nvSpPr>
          <p:cNvPr id="47" name="Shape 45"/>
          <p:cNvSpPr/>
          <p:nvPr/>
        </p:nvSpPr>
        <p:spPr>
          <a:xfrm>
            <a:off x="2404872" y="1933956"/>
            <a:ext cx="36576" cy="987552"/>
          </a:xfrm>
          <a:prstGeom prst="rect">
            <a:avLst/>
          </a:prstGeom>
          <a:solidFill>
            <a:srgbClr val="6941A8"/>
          </a:solidFill>
          <a:ln w="12700">
            <a:solidFill>
              <a:srgbClr val="6941A8"/>
            </a:solidFill>
            <a:prstDash val="solid"/>
          </a:ln>
        </p:spPr>
      </p:sp>
      <p:sp>
        <p:nvSpPr>
          <p:cNvPr id="48" name="Shape 46"/>
          <p:cNvSpPr/>
          <p:nvPr/>
        </p:nvSpPr>
        <p:spPr>
          <a:xfrm>
            <a:off x="2478024" y="1997964"/>
            <a:ext cx="155448" cy="155448"/>
          </a:xfrm>
          <a:prstGeom prst="oval">
            <a:avLst/>
          </a:prstGeom>
          <a:solidFill>
            <a:srgbClr val="6941A8"/>
          </a:solidFill>
          <a:ln w="12700">
            <a:solidFill>
              <a:srgbClr val="6941A8"/>
            </a:solidFill>
            <a:prstDash val="solid"/>
          </a:ln>
        </p:spPr>
      </p:sp>
      <p:sp>
        <p:nvSpPr>
          <p:cNvPr id="49" name="Text 47"/>
          <p:cNvSpPr/>
          <p:nvPr/>
        </p:nvSpPr>
        <p:spPr>
          <a:xfrm>
            <a:off x="2478024" y="1997964"/>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2.2</a:t>
            </a:r>
            <a:endParaRPr lang="en-US" sz="650" dirty="0"/>
          </a:p>
        </p:txBody>
      </p:sp>
      <p:sp>
        <p:nvSpPr>
          <p:cNvPr id="50" name="Text 48"/>
          <p:cNvSpPr/>
          <p:nvPr/>
        </p:nvSpPr>
        <p:spPr>
          <a:xfrm>
            <a:off x="2670048" y="1997964"/>
            <a:ext cx="1764792" cy="164592"/>
          </a:xfrm>
          <a:prstGeom prst="rect">
            <a:avLst/>
          </a:prstGeom>
          <a:noFill/>
          <a:ln/>
        </p:spPr>
        <p:txBody>
          <a:bodyPr wrap="square" lIns="0" tIns="0" rIns="0" bIns="0" rtlCol="0" anchor="ctr"/>
          <a:lstStyle/>
          <a:p>
            <a:pPr indent="0" marL="0">
              <a:buNone/>
            </a:pPr>
            <a:r>
              <a:rPr lang="en-US" sz="780" b="1" dirty="0">
                <a:solidFill>
                  <a:srgbClr val="6941A8"/>
                </a:solidFill>
                <a:latin typeface="Calibri" pitchFamily="34" charset="0"/>
                <a:ea typeface="Calibri" pitchFamily="34" charset="-122"/>
                <a:cs typeface="Calibri" pitchFamily="34" charset="-120"/>
              </a:rPr>
              <a:t>CDM conversation</a:t>
            </a:r>
            <a:endParaRPr lang="en-US" sz="780" dirty="0"/>
          </a:p>
        </p:txBody>
      </p:sp>
      <p:sp>
        <p:nvSpPr>
          <p:cNvPr id="51" name="Text 49"/>
          <p:cNvSpPr/>
          <p:nvPr/>
        </p:nvSpPr>
        <p:spPr>
          <a:xfrm>
            <a:off x="2478024" y="2180844"/>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One Risk position to CDM</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CDM match → adopt</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CDM gap → flag &amp; source independently</a:t>
            </a:r>
            <a:endParaRPr lang="en-US" sz="700" dirty="0"/>
          </a:p>
        </p:txBody>
      </p:sp>
      <p:sp>
        <p:nvSpPr>
          <p:cNvPr id="52" name="Shape 50"/>
          <p:cNvSpPr/>
          <p:nvPr/>
        </p:nvSpPr>
        <p:spPr>
          <a:xfrm>
            <a:off x="2404872" y="2738628"/>
            <a:ext cx="2084832" cy="182880"/>
          </a:xfrm>
          <a:prstGeom prst="rect">
            <a:avLst/>
          </a:prstGeom>
          <a:solidFill>
            <a:srgbClr val="000000"/>
          </a:solidFill>
          <a:ln w="5080">
            <a:solidFill>
              <a:srgbClr val="6941A8"/>
            </a:solidFill>
            <a:prstDash val="solid"/>
          </a:ln>
        </p:spPr>
      </p:sp>
      <p:sp>
        <p:nvSpPr>
          <p:cNvPr id="53" name="Shape 51"/>
          <p:cNvSpPr/>
          <p:nvPr/>
        </p:nvSpPr>
        <p:spPr>
          <a:xfrm>
            <a:off x="2404872" y="2738628"/>
            <a:ext cx="2084832" cy="182880"/>
          </a:xfrm>
          <a:prstGeom prst="rect">
            <a:avLst/>
          </a:prstGeom>
          <a:solidFill>
            <a:srgbClr val="EDE9FE"/>
          </a:solidFill>
          <a:ln w="5080">
            <a:solidFill>
              <a:srgbClr val="6941A8"/>
            </a:solidFill>
            <a:prstDash val="solid"/>
          </a:ln>
        </p:spPr>
      </p:sp>
      <p:sp>
        <p:nvSpPr>
          <p:cNvPr id="54" name="Text 52"/>
          <p:cNvSpPr/>
          <p:nvPr/>
        </p:nvSpPr>
        <p:spPr>
          <a:xfrm>
            <a:off x="2468880" y="2738628"/>
            <a:ext cx="1993392" cy="182880"/>
          </a:xfrm>
          <a:prstGeom prst="rect">
            <a:avLst/>
          </a:prstGeom>
          <a:noFill/>
          <a:ln/>
        </p:spPr>
        <p:txBody>
          <a:bodyPr wrap="square" lIns="0" tIns="0" rIns="0" bIns="0" rtlCol="0" anchor="ctr"/>
          <a:lstStyle/>
          <a:p>
            <a:pPr indent="0" marL="0">
              <a:buNone/>
            </a:pPr>
            <a:r>
              <a:rPr lang="en-US" sz="650" b="1" dirty="0">
                <a:solidFill>
                  <a:srgbClr val="6941A8"/>
                </a:solidFill>
                <a:latin typeface="Calibri" pitchFamily="34" charset="0"/>
                <a:ea typeface="Calibri" pitchFamily="34" charset="-122"/>
                <a:cs typeface="Calibri" pitchFamily="34" charset="-120"/>
              </a:rPr>
              <a:t>↳ CDM alignment record</a:t>
            </a:r>
            <a:endParaRPr lang="en-US" sz="650" dirty="0"/>
          </a:p>
        </p:txBody>
      </p:sp>
      <p:sp>
        <p:nvSpPr>
          <p:cNvPr id="55" name="Shape 53"/>
          <p:cNvSpPr/>
          <p:nvPr/>
        </p:nvSpPr>
        <p:spPr>
          <a:xfrm>
            <a:off x="2404872" y="2971800"/>
            <a:ext cx="2084832" cy="987552"/>
          </a:xfrm>
          <a:prstGeom prst="rect">
            <a:avLst/>
          </a:prstGeom>
          <a:solidFill>
            <a:srgbClr val="FFFFFF"/>
          </a:solidFill>
          <a:ln w="7620">
            <a:solidFill>
              <a:srgbClr val="6941A8"/>
            </a:solidFill>
            <a:prstDash val="solid"/>
          </a:ln>
        </p:spPr>
      </p:sp>
      <p:sp>
        <p:nvSpPr>
          <p:cNvPr id="56" name="Shape 54"/>
          <p:cNvSpPr/>
          <p:nvPr/>
        </p:nvSpPr>
        <p:spPr>
          <a:xfrm>
            <a:off x="2404872" y="2971800"/>
            <a:ext cx="36576" cy="987552"/>
          </a:xfrm>
          <a:prstGeom prst="rect">
            <a:avLst/>
          </a:prstGeom>
          <a:solidFill>
            <a:srgbClr val="6941A8"/>
          </a:solidFill>
          <a:ln w="12700">
            <a:solidFill>
              <a:srgbClr val="6941A8"/>
            </a:solidFill>
            <a:prstDash val="solid"/>
          </a:ln>
        </p:spPr>
      </p:sp>
      <p:sp>
        <p:nvSpPr>
          <p:cNvPr id="57" name="Shape 55"/>
          <p:cNvSpPr/>
          <p:nvPr/>
        </p:nvSpPr>
        <p:spPr>
          <a:xfrm>
            <a:off x="2478024" y="3035808"/>
            <a:ext cx="155448" cy="155448"/>
          </a:xfrm>
          <a:prstGeom prst="oval">
            <a:avLst/>
          </a:prstGeom>
          <a:solidFill>
            <a:srgbClr val="6941A8"/>
          </a:solidFill>
          <a:ln w="12700">
            <a:solidFill>
              <a:srgbClr val="6941A8"/>
            </a:solidFill>
            <a:prstDash val="solid"/>
          </a:ln>
        </p:spPr>
      </p:sp>
      <p:sp>
        <p:nvSpPr>
          <p:cNvPr id="58" name="Text 56"/>
          <p:cNvSpPr/>
          <p:nvPr/>
        </p:nvSpPr>
        <p:spPr>
          <a:xfrm>
            <a:off x="2478024" y="3035808"/>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2.3</a:t>
            </a:r>
            <a:endParaRPr lang="en-US" sz="650" dirty="0"/>
          </a:p>
        </p:txBody>
      </p:sp>
      <p:sp>
        <p:nvSpPr>
          <p:cNvPr id="59" name="Text 57"/>
          <p:cNvSpPr/>
          <p:nvPr/>
        </p:nvSpPr>
        <p:spPr>
          <a:xfrm>
            <a:off x="2670048" y="3035808"/>
            <a:ext cx="1764792" cy="164592"/>
          </a:xfrm>
          <a:prstGeom prst="rect">
            <a:avLst/>
          </a:prstGeom>
          <a:noFill/>
          <a:ln/>
        </p:spPr>
        <p:txBody>
          <a:bodyPr wrap="square" lIns="0" tIns="0" rIns="0" bIns="0" rtlCol="0" anchor="ctr"/>
          <a:lstStyle/>
          <a:p>
            <a:pPr indent="0" marL="0">
              <a:buNone/>
            </a:pPr>
            <a:r>
              <a:rPr lang="en-US" sz="780" b="1" dirty="0">
                <a:solidFill>
                  <a:srgbClr val="6941A8"/>
                </a:solidFill>
                <a:latin typeface="Calibri" pitchFamily="34" charset="0"/>
                <a:ea typeface="Calibri" pitchFamily="34" charset="-122"/>
                <a:cs typeface="Calibri" pitchFamily="34" charset="-120"/>
              </a:rPr>
              <a:t>Risk Conformed Entity Created</a:t>
            </a:r>
            <a:endParaRPr lang="en-US" sz="780" dirty="0"/>
          </a:p>
        </p:txBody>
      </p:sp>
      <p:sp>
        <p:nvSpPr>
          <p:cNvPr id="60" name="Text 58"/>
          <p:cNvSpPr/>
          <p:nvPr/>
        </p:nvSpPr>
        <p:spPr>
          <a:xfrm>
            <a:off x="2478024" y="3218688"/>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Mapping from App Entity to RCE created</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Mapping owned by Ingestion team</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Data Product Owner sign-off</a:t>
            </a:r>
            <a:endParaRPr lang="en-US" sz="700" dirty="0"/>
          </a:p>
        </p:txBody>
      </p:sp>
      <p:sp>
        <p:nvSpPr>
          <p:cNvPr id="61" name="Shape 59"/>
          <p:cNvSpPr/>
          <p:nvPr/>
        </p:nvSpPr>
        <p:spPr>
          <a:xfrm>
            <a:off x="2404872" y="3776472"/>
            <a:ext cx="2084832" cy="182880"/>
          </a:xfrm>
          <a:prstGeom prst="rect">
            <a:avLst/>
          </a:prstGeom>
          <a:solidFill>
            <a:srgbClr val="000000"/>
          </a:solidFill>
          <a:ln w="5080">
            <a:solidFill>
              <a:srgbClr val="6941A8"/>
            </a:solidFill>
            <a:prstDash val="solid"/>
          </a:ln>
        </p:spPr>
      </p:sp>
      <p:sp>
        <p:nvSpPr>
          <p:cNvPr id="62" name="Shape 60"/>
          <p:cNvSpPr/>
          <p:nvPr/>
        </p:nvSpPr>
        <p:spPr>
          <a:xfrm>
            <a:off x="2404872" y="3776472"/>
            <a:ext cx="2084832" cy="182880"/>
          </a:xfrm>
          <a:prstGeom prst="rect">
            <a:avLst/>
          </a:prstGeom>
          <a:solidFill>
            <a:srgbClr val="EDE9FE"/>
          </a:solidFill>
          <a:ln w="5080">
            <a:solidFill>
              <a:srgbClr val="6941A8"/>
            </a:solidFill>
            <a:prstDash val="solid"/>
          </a:ln>
        </p:spPr>
      </p:sp>
      <p:sp>
        <p:nvSpPr>
          <p:cNvPr id="63" name="Text 61"/>
          <p:cNvSpPr/>
          <p:nvPr/>
        </p:nvSpPr>
        <p:spPr>
          <a:xfrm>
            <a:off x="2468880" y="3776472"/>
            <a:ext cx="1993392" cy="182880"/>
          </a:xfrm>
          <a:prstGeom prst="rect">
            <a:avLst/>
          </a:prstGeom>
          <a:noFill/>
          <a:ln/>
        </p:spPr>
        <p:txBody>
          <a:bodyPr wrap="square" lIns="0" tIns="0" rIns="0" bIns="0" rtlCol="0" anchor="ctr"/>
          <a:lstStyle/>
          <a:p>
            <a:pPr indent="0" marL="0">
              <a:buNone/>
            </a:pPr>
            <a:r>
              <a:rPr lang="en-US" sz="650" b="1" dirty="0">
                <a:solidFill>
                  <a:srgbClr val="6941A8"/>
                </a:solidFill>
                <a:latin typeface="Calibri" pitchFamily="34" charset="0"/>
                <a:ea typeface="Calibri" pitchFamily="34" charset="-122"/>
                <a:cs typeface="Calibri" pitchFamily="34" charset="-120"/>
              </a:rPr>
              <a:t>↳ riskwh.confirmed metadata</a:t>
            </a:r>
            <a:endParaRPr lang="en-US" sz="650" dirty="0"/>
          </a:p>
        </p:txBody>
      </p:sp>
      <p:sp>
        <p:nvSpPr>
          <p:cNvPr id="64" name="Text 62"/>
          <p:cNvSpPr/>
          <p:nvPr/>
        </p:nvSpPr>
        <p:spPr>
          <a:xfrm>
            <a:off x="4494276" y="2011680"/>
            <a:ext cx="118872" cy="256032"/>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p>
        </p:txBody>
      </p:sp>
      <p:sp>
        <p:nvSpPr>
          <p:cNvPr id="65" name="Shape 63"/>
          <p:cNvSpPr/>
          <p:nvPr/>
        </p:nvSpPr>
        <p:spPr>
          <a:xfrm>
            <a:off x="4553712" y="566928"/>
            <a:ext cx="2084832" cy="274320"/>
          </a:xfrm>
          <a:prstGeom prst="rect">
            <a:avLst/>
          </a:prstGeom>
          <a:solidFill>
            <a:srgbClr val="0F766E"/>
          </a:solidFill>
          <a:ln w="12700">
            <a:solidFill>
              <a:srgbClr val="0F766E"/>
            </a:solidFill>
            <a:prstDash val="solid"/>
          </a:ln>
        </p:spPr>
      </p:sp>
      <p:sp>
        <p:nvSpPr>
          <p:cNvPr id="66" name="Text 64"/>
          <p:cNvSpPr/>
          <p:nvPr/>
        </p:nvSpPr>
        <p:spPr>
          <a:xfrm>
            <a:off x="4617720" y="603504"/>
            <a:ext cx="475488" cy="201168"/>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Phase 3</a:t>
            </a:r>
            <a:endParaRPr lang="en-US" sz="700" dirty="0"/>
          </a:p>
        </p:txBody>
      </p:sp>
      <p:sp>
        <p:nvSpPr>
          <p:cNvPr id="67" name="Text 65"/>
          <p:cNvSpPr/>
          <p:nvPr/>
        </p:nvSpPr>
        <p:spPr>
          <a:xfrm>
            <a:off x="5120640" y="603504"/>
            <a:ext cx="1463040"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App Consumes from RCE</a:t>
            </a:r>
            <a:endParaRPr lang="en-US" sz="750" dirty="0"/>
          </a:p>
        </p:txBody>
      </p:sp>
      <p:sp>
        <p:nvSpPr>
          <p:cNvPr id="68" name="Shape 66"/>
          <p:cNvSpPr/>
          <p:nvPr/>
        </p:nvSpPr>
        <p:spPr>
          <a:xfrm>
            <a:off x="4553712" y="896112"/>
            <a:ext cx="2084832" cy="987552"/>
          </a:xfrm>
          <a:prstGeom prst="rect">
            <a:avLst/>
          </a:prstGeom>
          <a:solidFill>
            <a:srgbClr val="FFFFFF"/>
          </a:solidFill>
          <a:ln w="7620">
            <a:solidFill>
              <a:srgbClr val="0F766E"/>
            </a:solidFill>
            <a:prstDash val="solid"/>
          </a:ln>
        </p:spPr>
      </p:sp>
      <p:sp>
        <p:nvSpPr>
          <p:cNvPr id="69" name="Shape 67"/>
          <p:cNvSpPr/>
          <p:nvPr/>
        </p:nvSpPr>
        <p:spPr>
          <a:xfrm>
            <a:off x="4553712" y="896112"/>
            <a:ext cx="36576" cy="987552"/>
          </a:xfrm>
          <a:prstGeom prst="rect">
            <a:avLst/>
          </a:prstGeom>
          <a:solidFill>
            <a:srgbClr val="0F766E"/>
          </a:solidFill>
          <a:ln w="12700">
            <a:solidFill>
              <a:srgbClr val="0F766E"/>
            </a:solidFill>
            <a:prstDash val="solid"/>
          </a:ln>
        </p:spPr>
      </p:sp>
      <p:sp>
        <p:nvSpPr>
          <p:cNvPr id="70" name="Shape 68"/>
          <p:cNvSpPr/>
          <p:nvPr/>
        </p:nvSpPr>
        <p:spPr>
          <a:xfrm>
            <a:off x="4626864" y="960120"/>
            <a:ext cx="155448" cy="155448"/>
          </a:xfrm>
          <a:prstGeom prst="oval">
            <a:avLst/>
          </a:prstGeom>
          <a:solidFill>
            <a:srgbClr val="0F766E"/>
          </a:solidFill>
          <a:ln w="12700">
            <a:solidFill>
              <a:srgbClr val="0F766E"/>
            </a:solidFill>
            <a:prstDash val="solid"/>
          </a:ln>
        </p:spPr>
      </p:sp>
      <p:sp>
        <p:nvSpPr>
          <p:cNvPr id="71" name="Text 69"/>
          <p:cNvSpPr/>
          <p:nvPr/>
        </p:nvSpPr>
        <p:spPr>
          <a:xfrm>
            <a:off x="4626864" y="960120"/>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3.1</a:t>
            </a:r>
            <a:endParaRPr lang="en-US" sz="650" dirty="0"/>
          </a:p>
        </p:txBody>
      </p:sp>
      <p:sp>
        <p:nvSpPr>
          <p:cNvPr id="72" name="Text 70"/>
          <p:cNvSpPr/>
          <p:nvPr/>
        </p:nvSpPr>
        <p:spPr>
          <a:xfrm>
            <a:off x="4818888" y="960120"/>
            <a:ext cx="1764792" cy="164592"/>
          </a:xfrm>
          <a:prstGeom prst="rect">
            <a:avLst/>
          </a:prstGeom>
          <a:noFill/>
          <a:ln/>
        </p:spPr>
        <p:txBody>
          <a:bodyPr wrap="square" lIns="0" tIns="0" rIns="0" bIns="0" rtlCol="0" anchor="ctr"/>
          <a:lstStyle/>
          <a:p>
            <a:pPr indent="0" marL="0">
              <a:buNone/>
            </a:pPr>
            <a:r>
              <a:rPr lang="en-US" sz="780" b="1" dirty="0">
                <a:solidFill>
                  <a:srgbClr val="0F766E"/>
                </a:solidFill>
                <a:latin typeface="Calibri" pitchFamily="34" charset="0"/>
                <a:ea typeface="Calibri" pitchFamily="34" charset="-122"/>
                <a:cs typeface="Calibri" pitchFamily="34" charset="-120"/>
              </a:rPr>
              <a:t>Risk Ingestion team maintains RCE</a:t>
            </a:r>
            <a:endParaRPr lang="en-US" sz="780" dirty="0"/>
          </a:p>
        </p:txBody>
      </p:sp>
      <p:sp>
        <p:nvSpPr>
          <p:cNvPr id="73" name="Text 71"/>
          <p:cNvSpPr/>
          <p:nvPr/>
        </p:nvSpPr>
        <p:spPr>
          <a:xfrm>
            <a:off x="4626864" y="1143000"/>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Ingestion team populates RCE</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RCE = CDM or superset of CDM</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Contract ID maintained throughout</a:t>
            </a:r>
            <a:endParaRPr lang="en-US" sz="700" dirty="0"/>
          </a:p>
        </p:txBody>
      </p:sp>
      <p:sp>
        <p:nvSpPr>
          <p:cNvPr id="74" name="Shape 72"/>
          <p:cNvSpPr/>
          <p:nvPr/>
        </p:nvSpPr>
        <p:spPr>
          <a:xfrm>
            <a:off x="4553712" y="1700784"/>
            <a:ext cx="2084832" cy="182880"/>
          </a:xfrm>
          <a:prstGeom prst="rect">
            <a:avLst/>
          </a:prstGeom>
          <a:solidFill>
            <a:srgbClr val="000000"/>
          </a:solidFill>
          <a:ln w="5080">
            <a:solidFill>
              <a:srgbClr val="0F766E"/>
            </a:solidFill>
            <a:prstDash val="solid"/>
          </a:ln>
        </p:spPr>
      </p:sp>
      <p:sp>
        <p:nvSpPr>
          <p:cNvPr id="75" name="Shape 73"/>
          <p:cNvSpPr/>
          <p:nvPr/>
        </p:nvSpPr>
        <p:spPr>
          <a:xfrm>
            <a:off x="4553712" y="1700784"/>
            <a:ext cx="2084832" cy="182880"/>
          </a:xfrm>
          <a:prstGeom prst="rect">
            <a:avLst/>
          </a:prstGeom>
          <a:solidFill>
            <a:srgbClr val="CCFBF1"/>
          </a:solidFill>
          <a:ln w="5080">
            <a:solidFill>
              <a:srgbClr val="0F766E"/>
            </a:solidFill>
            <a:prstDash val="solid"/>
          </a:ln>
        </p:spPr>
      </p:sp>
      <p:sp>
        <p:nvSpPr>
          <p:cNvPr id="76" name="Text 74"/>
          <p:cNvSpPr/>
          <p:nvPr/>
        </p:nvSpPr>
        <p:spPr>
          <a:xfrm>
            <a:off x="4617720" y="1700784"/>
            <a:ext cx="1993392" cy="182880"/>
          </a:xfrm>
          <a:prstGeom prst="rect">
            <a:avLst/>
          </a:prstGeom>
          <a:noFill/>
          <a:ln/>
        </p:spPr>
        <p:txBody>
          <a:bodyPr wrap="square" lIns="0" tIns="0" rIns="0" bIns="0" rtlCol="0" anchor="ctr"/>
          <a:lstStyle/>
          <a:p>
            <a:pPr indent="0" marL="0">
              <a:buNone/>
            </a:pPr>
            <a:r>
              <a:rPr lang="en-US" sz="650" b="1" dirty="0">
                <a:solidFill>
                  <a:srgbClr val="0F766E"/>
                </a:solidFill>
                <a:latin typeface="Calibri" pitchFamily="34" charset="0"/>
                <a:ea typeface="Calibri" pitchFamily="34" charset="-122"/>
                <a:cs typeface="Calibri" pitchFamily="34" charset="-120"/>
              </a:rPr>
              <a:t>↳ Resolution table</a:t>
            </a:r>
            <a:endParaRPr lang="en-US" sz="650" dirty="0"/>
          </a:p>
        </p:txBody>
      </p:sp>
      <p:sp>
        <p:nvSpPr>
          <p:cNvPr id="77" name="Shape 75"/>
          <p:cNvSpPr/>
          <p:nvPr/>
        </p:nvSpPr>
        <p:spPr>
          <a:xfrm>
            <a:off x="4553712" y="1933956"/>
            <a:ext cx="2084832" cy="987552"/>
          </a:xfrm>
          <a:prstGeom prst="rect">
            <a:avLst/>
          </a:prstGeom>
          <a:solidFill>
            <a:srgbClr val="FFFFFF"/>
          </a:solidFill>
          <a:ln w="7620">
            <a:solidFill>
              <a:srgbClr val="0F766E"/>
            </a:solidFill>
            <a:prstDash val="solid"/>
          </a:ln>
        </p:spPr>
      </p:sp>
      <p:sp>
        <p:nvSpPr>
          <p:cNvPr id="78" name="Shape 76"/>
          <p:cNvSpPr/>
          <p:nvPr/>
        </p:nvSpPr>
        <p:spPr>
          <a:xfrm>
            <a:off x="4553712" y="1933956"/>
            <a:ext cx="36576" cy="987552"/>
          </a:xfrm>
          <a:prstGeom prst="rect">
            <a:avLst/>
          </a:prstGeom>
          <a:solidFill>
            <a:srgbClr val="0F766E"/>
          </a:solidFill>
          <a:ln w="12700">
            <a:solidFill>
              <a:srgbClr val="0F766E"/>
            </a:solidFill>
            <a:prstDash val="solid"/>
          </a:ln>
        </p:spPr>
      </p:sp>
      <p:sp>
        <p:nvSpPr>
          <p:cNvPr id="79" name="Shape 77"/>
          <p:cNvSpPr/>
          <p:nvPr/>
        </p:nvSpPr>
        <p:spPr>
          <a:xfrm>
            <a:off x="4626864" y="1997964"/>
            <a:ext cx="155448" cy="155448"/>
          </a:xfrm>
          <a:prstGeom prst="oval">
            <a:avLst/>
          </a:prstGeom>
          <a:solidFill>
            <a:srgbClr val="0F766E"/>
          </a:solidFill>
          <a:ln w="12700">
            <a:solidFill>
              <a:srgbClr val="0F766E"/>
            </a:solidFill>
            <a:prstDash val="solid"/>
          </a:ln>
        </p:spPr>
      </p:sp>
      <p:sp>
        <p:nvSpPr>
          <p:cNvPr id="80" name="Text 78"/>
          <p:cNvSpPr/>
          <p:nvPr/>
        </p:nvSpPr>
        <p:spPr>
          <a:xfrm>
            <a:off x="4626864" y="1997964"/>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3.2</a:t>
            </a:r>
            <a:endParaRPr lang="en-US" sz="650" dirty="0"/>
          </a:p>
        </p:txBody>
      </p:sp>
      <p:sp>
        <p:nvSpPr>
          <p:cNvPr id="81" name="Text 79"/>
          <p:cNvSpPr/>
          <p:nvPr/>
        </p:nvSpPr>
        <p:spPr>
          <a:xfrm>
            <a:off x="4818888" y="1997964"/>
            <a:ext cx="1764792" cy="164592"/>
          </a:xfrm>
          <a:prstGeom prst="rect">
            <a:avLst/>
          </a:prstGeom>
          <a:noFill/>
          <a:ln/>
        </p:spPr>
        <p:txBody>
          <a:bodyPr wrap="square" lIns="0" tIns="0" rIns="0" bIns="0" rtlCol="0" anchor="ctr"/>
          <a:lstStyle/>
          <a:p>
            <a:pPr indent="0" marL="0">
              <a:buNone/>
            </a:pPr>
            <a:r>
              <a:rPr lang="en-US" sz="780" b="1" dirty="0">
                <a:solidFill>
                  <a:srgbClr val="0F766E"/>
                </a:solidFill>
                <a:latin typeface="Calibri" pitchFamily="34" charset="0"/>
                <a:ea typeface="Calibri" pitchFamily="34" charset="-122"/>
                <a:cs typeface="Calibri" pitchFamily="34" charset="-120"/>
              </a:rPr>
              <a:t>Risk app consumes from RCE</a:t>
            </a:r>
            <a:endParaRPr lang="en-US" sz="780" dirty="0"/>
          </a:p>
        </p:txBody>
      </p:sp>
      <p:sp>
        <p:nvSpPr>
          <p:cNvPr id="82" name="Text 80"/>
          <p:cNvSpPr/>
          <p:nvPr/>
        </p:nvSpPr>
        <p:spPr>
          <a:xfrm>
            <a:off x="4626864" y="2180844"/>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RCE naming → app-internal naming</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One bridge per app · app team owned</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App internals unchanged permanently</a:t>
            </a:r>
            <a:endParaRPr lang="en-US" sz="700" dirty="0"/>
          </a:p>
        </p:txBody>
      </p:sp>
      <p:sp>
        <p:nvSpPr>
          <p:cNvPr id="83" name="Shape 81"/>
          <p:cNvSpPr/>
          <p:nvPr/>
        </p:nvSpPr>
        <p:spPr>
          <a:xfrm>
            <a:off x="4553712" y="2738628"/>
            <a:ext cx="2084832" cy="182880"/>
          </a:xfrm>
          <a:prstGeom prst="rect">
            <a:avLst/>
          </a:prstGeom>
          <a:solidFill>
            <a:srgbClr val="000000"/>
          </a:solidFill>
          <a:ln w="5080">
            <a:solidFill>
              <a:srgbClr val="0F766E"/>
            </a:solidFill>
            <a:prstDash val="solid"/>
          </a:ln>
        </p:spPr>
      </p:sp>
      <p:sp>
        <p:nvSpPr>
          <p:cNvPr id="84" name="Shape 82"/>
          <p:cNvSpPr/>
          <p:nvPr/>
        </p:nvSpPr>
        <p:spPr>
          <a:xfrm>
            <a:off x="4553712" y="2738628"/>
            <a:ext cx="2084832" cy="182880"/>
          </a:xfrm>
          <a:prstGeom prst="rect">
            <a:avLst/>
          </a:prstGeom>
          <a:solidFill>
            <a:srgbClr val="CCFBF1"/>
          </a:solidFill>
          <a:ln w="5080">
            <a:solidFill>
              <a:srgbClr val="0F766E"/>
            </a:solidFill>
            <a:prstDash val="solid"/>
          </a:ln>
        </p:spPr>
      </p:sp>
      <p:sp>
        <p:nvSpPr>
          <p:cNvPr id="85" name="Text 83"/>
          <p:cNvSpPr/>
          <p:nvPr/>
        </p:nvSpPr>
        <p:spPr>
          <a:xfrm>
            <a:off x="4617720" y="2738628"/>
            <a:ext cx="1993392" cy="182880"/>
          </a:xfrm>
          <a:prstGeom prst="rect">
            <a:avLst/>
          </a:prstGeom>
          <a:noFill/>
          <a:ln/>
        </p:spPr>
        <p:txBody>
          <a:bodyPr wrap="square" lIns="0" tIns="0" rIns="0" bIns="0" rtlCol="0" anchor="ctr"/>
          <a:lstStyle/>
          <a:p>
            <a:pPr indent="0" marL="0">
              <a:buNone/>
            </a:pPr>
            <a:r>
              <a:rPr lang="en-US" sz="650" b="1" dirty="0">
                <a:solidFill>
                  <a:srgbClr val="0F766E"/>
                </a:solidFill>
                <a:latin typeface="Calibri" pitchFamily="34" charset="0"/>
                <a:ea typeface="Calibri" pitchFamily="34" charset="-122"/>
                <a:cs typeface="Calibri" pitchFamily="34" charset="-120"/>
              </a:rPr>
              <a:t>↳ App schema · bridge</a:t>
            </a:r>
            <a:endParaRPr lang="en-US" sz="650" dirty="0"/>
          </a:p>
        </p:txBody>
      </p:sp>
      <p:sp>
        <p:nvSpPr>
          <p:cNvPr id="86" name="Shape 84"/>
          <p:cNvSpPr/>
          <p:nvPr/>
        </p:nvSpPr>
        <p:spPr>
          <a:xfrm>
            <a:off x="4553712" y="2971800"/>
            <a:ext cx="2084832" cy="987552"/>
          </a:xfrm>
          <a:prstGeom prst="rect">
            <a:avLst/>
          </a:prstGeom>
          <a:solidFill>
            <a:srgbClr val="FFFFFF"/>
          </a:solidFill>
          <a:ln w="7620">
            <a:solidFill>
              <a:srgbClr val="0F766E"/>
            </a:solidFill>
            <a:prstDash val="solid"/>
          </a:ln>
        </p:spPr>
      </p:sp>
      <p:sp>
        <p:nvSpPr>
          <p:cNvPr id="87" name="Shape 85"/>
          <p:cNvSpPr/>
          <p:nvPr/>
        </p:nvSpPr>
        <p:spPr>
          <a:xfrm>
            <a:off x="4553712" y="2971800"/>
            <a:ext cx="36576" cy="987552"/>
          </a:xfrm>
          <a:prstGeom prst="rect">
            <a:avLst/>
          </a:prstGeom>
          <a:solidFill>
            <a:srgbClr val="0F766E"/>
          </a:solidFill>
          <a:ln w="12700">
            <a:solidFill>
              <a:srgbClr val="0F766E"/>
            </a:solidFill>
            <a:prstDash val="solid"/>
          </a:ln>
        </p:spPr>
      </p:sp>
      <p:sp>
        <p:nvSpPr>
          <p:cNvPr id="88" name="Shape 86"/>
          <p:cNvSpPr/>
          <p:nvPr/>
        </p:nvSpPr>
        <p:spPr>
          <a:xfrm>
            <a:off x="4626864" y="3035808"/>
            <a:ext cx="155448" cy="155448"/>
          </a:xfrm>
          <a:prstGeom prst="oval">
            <a:avLst/>
          </a:prstGeom>
          <a:solidFill>
            <a:srgbClr val="0F766E"/>
          </a:solidFill>
          <a:ln w="12700">
            <a:solidFill>
              <a:srgbClr val="0F766E"/>
            </a:solidFill>
            <a:prstDash val="solid"/>
          </a:ln>
        </p:spPr>
      </p:sp>
      <p:sp>
        <p:nvSpPr>
          <p:cNvPr id="89" name="Text 87"/>
          <p:cNvSpPr/>
          <p:nvPr/>
        </p:nvSpPr>
        <p:spPr>
          <a:xfrm>
            <a:off x="4626864" y="3035808"/>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3.3</a:t>
            </a:r>
            <a:endParaRPr lang="en-US" sz="650" dirty="0"/>
          </a:p>
        </p:txBody>
      </p:sp>
      <p:sp>
        <p:nvSpPr>
          <p:cNvPr id="90" name="Text 88"/>
          <p:cNvSpPr/>
          <p:nvPr/>
        </p:nvSpPr>
        <p:spPr>
          <a:xfrm>
            <a:off x="4818888" y="3035808"/>
            <a:ext cx="1764792" cy="164592"/>
          </a:xfrm>
          <a:prstGeom prst="rect">
            <a:avLst/>
          </a:prstGeom>
          <a:noFill/>
          <a:ln/>
        </p:spPr>
        <p:txBody>
          <a:bodyPr wrap="square" lIns="0" tIns="0" rIns="0" bIns="0" rtlCol="0" anchor="ctr"/>
          <a:lstStyle/>
          <a:p>
            <a:pPr indent="0" marL="0">
              <a:buNone/>
            </a:pPr>
            <a:r>
              <a:rPr lang="en-US" sz="780" b="1" dirty="0">
                <a:solidFill>
                  <a:srgbClr val="0F766E"/>
                </a:solidFill>
                <a:latin typeface="Calibri" pitchFamily="34" charset="0"/>
                <a:ea typeface="Calibri" pitchFamily="34" charset="-122"/>
                <a:cs typeface="Calibri" pitchFamily="34" charset="-120"/>
              </a:rPr>
              <a:t>Risk App generated data</a:t>
            </a:r>
            <a:endParaRPr lang="en-US" sz="780" dirty="0"/>
          </a:p>
        </p:txBody>
      </p:sp>
      <p:sp>
        <p:nvSpPr>
          <p:cNvPr id="91" name="Text 89"/>
          <p:cNvSpPr/>
          <p:nvPr/>
        </p:nvSpPr>
        <p:spPr>
          <a:xfrm>
            <a:off x="4626864" y="3218688"/>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Conformed Entities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Conformed Reports</a:t>
            </a:r>
            <a:endParaRPr lang="en-US" sz="700" dirty="0"/>
          </a:p>
        </p:txBody>
      </p:sp>
      <p:sp>
        <p:nvSpPr>
          <p:cNvPr id="92" name="Shape 90"/>
          <p:cNvSpPr/>
          <p:nvPr/>
        </p:nvSpPr>
        <p:spPr>
          <a:xfrm>
            <a:off x="4553712" y="3776472"/>
            <a:ext cx="2084832" cy="182880"/>
          </a:xfrm>
          <a:prstGeom prst="rect">
            <a:avLst/>
          </a:prstGeom>
          <a:solidFill>
            <a:srgbClr val="000000"/>
          </a:solidFill>
          <a:ln w="5080">
            <a:solidFill>
              <a:srgbClr val="0F766E"/>
            </a:solidFill>
            <a:prstDash val="solid"/>
          </a:ln>
        </p:spPr>
      </p:sp>
      <p:sp>
        <p:nvSpPr>
          <p:cNvPr id="93" name="Shape 91"/>
          <p:cNvSpPr/>
          <p:nvPr/>
        </p:nvSpPr>
        <p:spPr>
          <a:xfrm>
            <a:off x="4553712" y="3776472"/>
            <a:ext cx="2084832" cy="182880"/>
          </a:xfrm>
          <a:prstGeom prst="rect">
            <a:avLst/>
          </a:prstGeom>
          <a:solidFill>
            <a:srgbClr val="CCFBF1"/>
          </a:solidFill>
          <a:ln w="5080">
            <a:solidFill>
              <a:srgbClr val="0F766E"/>
            </a:solidFill>
            <a:prstDash val="solid"/>
          </a:ln>
        </p:spPr>
      </p:sp>
      <p:sp>
        <p:nvSpPr>
          <p:cNvPr id="94" name="Text 92"/>
          <p:cNvSpPr/>
          <p:nvPr/>
        </p:nvSpPr>
        <p:spPr>
          <a:xfrm>
            <a:off x="4617720" y="3776472"/>
            <a:ext cx="1993392" cy="182880"/>
          </a:xfrm>
          <a:prstGeom prst="rect">
            <a:avLst/>
          </a:prstGeom>
          <a:noFill/>
          <a:ln/>
        </p:spPr>
        <p:txBody>
          <a:bodyPr wrap="square" lIns="0" tIns="0" rIns="0" bIns="0" rtlCol="0" anchor="ctr"/>
          <a:lstStyle/>
          <a:p>
            <a:pPr indent="0" marL="0">
              <a:buNone/>
            </a:pPr>
            <a:r>
              <a:rPr lang="en-US" sz="650" b="1" dirty="0">
                <a:solidFill>
                  <a:srgbClr val="0F766E"/>
                </a:solidFill>
                <a:latin typeface="Calibri" pitchFamily="34" charset="0"/>
                <a:ea typeface="Calibri" pitchFamily="34" charset="-122"/>
                <a:cs typeface="Calibri" pitchFamily="34" charset="-120"/>
              </a:rPr>
              <a:t>↳ Consumption contract</a:t>
            </a:r>
            <a:endParaRPr lang="en-US" sz="650" dirty="0"/>
          </a:p>
        </p:txBody>
      </p:sp>
      <p:sp>
        <p:nvSpPr>
          <p:cNvPr id="95" name="Text 93"/>
          <p:cNvSpPr/>
          <p:nvPr/>
        </p:nvSpPr>
        <p:spPr>
          <a:xfrm>
            <a:off x="6643116" y="2011680"/>
            <a:ext cx="118872" cy="256032"/>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p>
        </p:txBody>
      </p:sp>
      <p:sp>
        <p:nvSpPr>
          <p:cNvPr id="96" name="Shape 94"/>
          <p:cNvSpPr/>
          <p:nvPr/>
        </p:nvSpPr>
        <p:spPr>
          <a:xfrm>
            <a:off x="6702552" y="566928"/>
            <a:ext cx="2084832" cy="274320"/>
          </a:xfrm>
          <a:prstGeom prst="rect">
            <a:avLst/>
          </a:prstGeom>
          <a:solidFill>
            <a:srgbClr val="16A34A"/>
          </a:solidFill>
          <a:ln w="12700">
            <a:solidFill>
              <a:srgbClr val="16A34A"/>
            </a:solidFill>
            <a:prstDash val="solid"/>
          </a:ln>
        </p:spPr>
      </p:sp>
      <p:sp>
        <p:nvSpPr>
          <p:cNvPr id="97" name="Text 95"/>
          <p:cNvSpPr/>
          <p:nvPr/>
        </p:nvSpPr>
        <p:spPr>
          <a:xfrm>
            <a:off x="6766560" y="603504"/>
            <a:ext cx="475488" cy="201168"/>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Phase 4</a:t>
            </a:r>
            <a:endParaRPr lang="en-US" sz="700" dirty="0"/>
          </a:p>
        </p:txBody>
      </p:sp>
      <p:sp>
        <p:nvSpPr>
          <p:cNvPr id="98" name="Text 96"/>
          <p:cNvSpPr/>
          <p:nvPr/>
        </p:nvSpPr>
        <p:spPr>
          <a:xfrm>
            <a:off x="7269480" y="603504"/>
            <a:ext cx="1463040" cy="201168"/>
          </a:xfrm>
          <a:prstGeom prst="rect">
            <a:avLst/>
          </a:prstGeom>
          <a:noFill/>
          <a:ln/>
        </p:spPr>
        <p:txBody>
          <a:bodyPr wrap="square" lIns="0" tIns="0" rIns="0" bIns="0" rtlCol="0" anchor="ctr"/>
          <a:lstStyle/>
          <a:p>
            <a:pPr indent="0" marL="0">
              <a:buNone/>
            </a:pPr>
            <a:r>
              <a:rPr lang="en-US" sz="750" b="1" dirty="0">
                <a:solidFill>
                  <a:srgbClr val="FFFFFF"/>
                </a:solidFill>
                <a:latin typeface="Calibri" pitchFamily="34" charset="0"/>
                <a:ea typeface="Calibri" pitchFamily="34" charset="-122"/>
                <a:cs typeface="Calibri" pitchFamily="34" charset="-120"/>
              </a:rPr>
              <a:t>Risk WH Analytics</a:t>
            </a:r>
            <a:endParaRPr lang="en-US" sz="750" dirty="0"/>
          </a:p>
        </p:txBody>
      </p:sp>
      <p:sp>
        <p:nvSpPr>
          <p:cNvPr id="99" name="Shape 97"/>
          <p:cNvSpPr/>
          <p:nvPr/>
        </p:nvSpPr>
        <p:spPr>
          <a:xfrm>
            <a:off x="6702552" y="896112"/>
            <a:ext cx="2084832" cy="987552"/>
          </a:xfrm>
          <a:prstGeom prst="rect">
            <a:avLst/>
          </a:prstGeom>
          <a:solidFill>
            <a:srgbClr val="FFFFFF"/>
          </a:solidFill>
          <a:ln w="7620">
            <a:solidFill>
              <a:srgbClr val="16A34A"/>
            </a:solidFill>
            <a:prstDash val="solid"/>
          </a:ln>
        </p:spPr>
      </p:sp>
      <p:sp>
        <p:nvSpPr>
          <p:cNvPr id="100" name="Shape 98"/>
          <p:cNvSpPr/>
          <p:nvPr/>
        </p:nvSpPr>
        <p:spPr>
          <a:xfrm>
            <a:off x="6702552" y="896112"/>
            <a:ext cx="36576" cy="987552"/>
          </a:xfrm>
          <a:prstGeom prst="rect">
            <a:avLst/>
          </a:prstGeom>
          <a:solidFill>
            <a:srgbClr val="16A34A"/>
          </a:solidFill>
          <a:ln w="12700">
            <a:solidFill>
              <a:srgbClr val="16A34A"/>
            </a:solidFill>
            <a:prstDash val="solid"/>
          </a:ln>
        </p:spPr>
      </p:sp>
      <p:sp>
        <p:nvSpPr>
          <p:cNvPr id="101" name="Shape 99"/>
          <p:cNvSpPr/>
          <p:nvPr/>
        </p:nvSpPr>
        <p:spPr>
          <a:xfrm>
            <a:off x="6775704" y="960120"/>
            <a:ext cx="155448" cy="155448"/>
          </a:xfrm>
          <a:prstGeom prst="oval">
            <a:avLst/>
          </a:prstGeom>
          <a:solidFill>
            <a:srgbClr val="16A34A"/>
          </a:solidFill>
          <a:ln w="12700">
            <a:solidFill>
              <a:srgbClr val="16A34A"/>
            </a:solidFill>
            <a:prstDash val="solid"/>
          </a:ln>
        </p:spPr>
      </p:sp>
      <p:sp>
        <p:nvSpPr>
          <p:cNvPr id="102" name="Text 100"/>
          <p:cNvSpPr/>
          <p:nvPr/>
        </p:nvSpPr>
        <p:spPr>
          <a:xfrm>
            <a:off x="6775704" y="960120"/>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4.1</a:t>
            </a:r>
            <a:endParaRPr lang="en-US" sz="650" dirty="0"/>
          </a:p>
        </p:txBody>
      </p:sp>
      <p:sp>
        <p:nvSpPr>
          <p:cNvPr id="103" name="Text 101"/>
          <p:cNvSpPr/>
          <p:nvPr/>
        </p:nvSpPr>
        <p:spPr>
          <a:xfrm>
            <a:off x="6967728" y="960120"/>
            <a:ext cx="1764792" cy="164592"/>
          </a:xfrm>
          <a:prstGeom prst="rect">
            <a:avLst/>
          </a:prstGeom>
          <a:noFill/>
          <a:ln/>
        </p:spPr>
        <p:txBody>
          <a:bodyPr wrap="square" lIns="0" tIns="0" rIns="0" bIns="0" rtlCol="0" anchor="ctr"/>
          <a:lstStyle/>
          <a:p>
            <a:pPr indent="0" marL="0">
              <a:buNone/>
            </a:pPr>
            <a:r>
              <a:rPr lang="en-US" sz="780" b="1" dirty="0">
                <a:solidFill>
                  <a:srgbClr val="16A34A"/>
                </a:solidFill>
                <a:latin typeface="Calibri" pitchFamily="34" charset="0"/>
                <a:ea typeface="Calibri" pitchFamily="34" charset="-122"/>
                <a:cs typeface="Calibri" pitchFamily="34" charset="-120"/>
              </a:rPr>
              <a:t>Cross-application joins</a:t>
            </a:r>
            <a:endParaRPr lang="en-US" sz="780" dirty="0"/>
          </a:p>
        </p:txBody>
      </p:sp>
      <p:sp>
        <p:nvSpPr>
          <p:cNvPr id="104" name="Text 102"/>
          <p:cNvSpPr/>
          <p:nvPr/>
        </p:nvSpPr>
        <p:spPr>
          <a:xfrm>
            <a:off x="6775704" y="1143000"/>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Views to join data across apps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Physical tables where needed for performance</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Unity Catalog tracks lineage</a:t>
            </a:r>
            <a:endParaRPr lang="en-US" sz="700" dirty="0"/>
          </a:p>
        </p:txBody>
      </p:sp>
      <p:sp>
        <p:nvSpPr>
          <p:cNvPr id="105" name="Shape 103"/>
          <p:cNvSpPr/>
          <p:nvPr/>
        </p:nvSpPr>
        <p:spPr>
          <a:xfrm>
            <a:off x="6702552" y="1700784"/>
            <a:ext cx="2084832" cy="182880"/>
          </a:xfrm>
          <a:prstGeom prst="rect">
            <a:avLst/>
          </a:prstGeom>
          <a:solidFill>
            <a:srgbClr val="000000"/>
          </a:solidFill>
          <a:ln w="5080">
            <a:solidFill>
              <a:srgbClr val="16A34A"/>
            </a:solidFill>
            <a:prstDash val="solid"/>
          </a:ln>
        </p:spPr>
      </p:sp>
      <p:sp>
        <p:nvSpPr>
          <p:cNvPr id="106" name="Shape 104"/>
          <p:cNvSpPr/>
          <p:nvPr/>
        </p:nvSpPr>
        <p:spPr>
          <a:xfrm>
            <a:off x="6702552" y="1700784"/>
            <a:ext cx="2084832" cy="182880"/>
          </a:xfrm>
          <a:prstGeom prst="rect">
            <a:avLst/>
          </a:prstGeom>
          <a:solidFill>
            <a:srgbClr val="DCFCE7"/>
          </a:solidFill>
          <a:ln w="5080">
            <a:solidFill>
              <a:srgbClr val="16A34A"/>
            </a:solidFill>
            <a:prstDash val="solid"/>
          </a:ln>
        </p:spPr>
      </p:sp>
      <p:sp>
        <p:nvSpPr>
          <p:cNvPr id="107" name="Text 105"/>
          <p:cNvSpPr/>
          <p:nvPr/>
        </p:nvSpPr>
        <p:spPr>
          <a:xfrm>
            <a:off x="6766560" y="1700784"/>
            <a:ext cx="1993392" cy="182880"/>
          </a:xfrm>
          <a:prstGeom prst="rect">
            <a:avLst/>
          </a:prstGeom>
          <a:noFill/>
          <a:ln/>
        </p:spPr>
        <p:txBody>
          <a:bodyPr wrap="square" lIns="0" tIns="0" rIns="0" bIns="0" rtlCol="0" anchor="ctr"/>
          <a:lstStyle/>
          <a:p>
            <a:pPr indent="0" marL="0">
              <a:buNone/>
            </a:pPr>
            <a:r>
              <a:rPr lang="en-US" sz="650" b="1" dirty="0">
                <a:solidFill>
                  <a:srgbClr val="16A34A"/>
                </a:solidFill>
                <a:latin typeface="Calibri" pitchFamily="34" charset="0"/>
                <a:ea typeface="Calibri" pitchFamily="34" charset="-122"/>
                <a:cs typeface="Calibri" pitchFamily="34" charset="-120"/>
              </a:rPr>
              <a:t>↳ Risk WH · gold</a:t>
            </a:r>
            <a:endParaRPr lang="en-US" sz="650" dirty="0"/>
          </a:p>
        </p:txBody>
      </p:sp>
      <p:sp>
        <p:nvSpPr>
          <p:cNvPr id="108" name="Shape 106"/>
          <p:cNvSpPr/>
          <p:nvPr/>
        </p:nvSpPr>
        <p:spPr>
          <a:xfrm>
            <a:off x="6702552" y="1933956"/>
            <a:ext cx="2084832" cy="987552"/>
          </a:xfrm>
          <a:prstGeom prst="rect">
            <a:avLst/>
          </a:prstGeom>
          <a:solidFill>
            <a:srgbClr val="FFFFFF"/>
          </a:solidFill>
          <a:ln w="7620">
            <a:solidFill>
              <a:srgbClr val="16A34A"/>
            </a:solidFill>
            <a:prstDash val="solid"/>
          </a:ln>
        </p:spPr>
      </p:sp>
      <p:sp>
        <p:nvSpPr>
          <p:cNvPr id="109" name="Shape 107"/>
          <p:cNvSpPr/>
          <p:nvPr/>
        </p:nvSpPr>
        <p:spPr>
          <a:xfrm>
            <a:off x="6702552" y="1933956"/>
            <a:ext cx="36576" cy="987552"/>
          </a:xfrm>
          <a:prstGeom prst="rect">
            <a:avLst/>
          </a:prstGeom>
          <a:solidFill>
            <a:srgbClr val="16A34A"/>
          </a:solidFill>
          <a:ln w="12700">
            <a:solidFill>
              <a:srgbClr val="16A34A"/>
            </a:solidFill>
            <a:prstDash val="solid"/>
          </a:ln>
        </p:spPr>
      </p:sp>
      <p:sp>
        <p:nvSpPr>
          <p:cNvPr id="110" name="Shape 108"/>
          <p:cNvSpPr/>
          <p:nvPr/>
        </p:nvSpPr>
        <p:spPr>
          <a:xfrm>
            <a:off x="6775704" y="1997964"/>
            <a:ext cx="155448" cy="155448"/>
          </a:xfrm>
          <a:prstGeom prst="oval">
            <a:avLst/>
          </a:prstGeom>
          <a:solidFill>
            <a:srgbClr val="16A34A"/>
          </a:solidFill>
          <a:ln w="12700">
            <a:solidFill>
              <a:srgbClr val="16A34A"/>
            </a:solidFill>
            <a:prstDash val="solid"/>
          </a:ln>
        </p:spPr>
      </p:sp>
      <p:sp>
        <p:nvSpPr>
          <p:cNvPr id="111" name="Text 109"/>
          <p:cNvSpPr/>
          <p:nvPr/>
        </p:nvSpPr>
        <p:spPr>
          <a:xfrm>
            <a:off x="6775704" y="1997964"/>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4.2</a:t>
            </a:r>
            <a:endParaRPr lang="en-US" sz="650" dirty="0"/>
          </a:p>
        </p:txBody>
      </p:sp>
      <p:sp>
        <p:nvSpPr>
          <p:cNvPr id="112" name="Text 110"/>
          <p:cNvSpPr/>
          <p:nvPr/>
        </p:nvSpPr>
        <p:spPr>
          <a:xfrm>
            <a:off x="6967728" y="1997964"/>
            <a:ext cx="1764792" cy="164592"/>
          </a:xfrm>
          <a:prstGeom prst="rect">
            <a:avLst/>
          </a:prstGeom>
          <a:noFill/>
          <a:ln/>
        </p:spPr>
        <p:txBody>
          <a:bodyPr wrap="square" lIns="0" tIns="0" rIns="0" bIns="0" rtlCol="0" anchor="ctr"/>
          <a:lstStyle/>
          <a:p>
            <a:pPr indent="0" marL="0">
              <a:buNone/>
            </a:pPr>
            <a:r>
              <a:rPr lang="en-US" sz="780" b="1" dirty="0">
                <a:solidFill>
                  <a:srgbClr val="16A34A"/>
                </a:solidFill>
                <a:latin typeface="Calibri" pitchFamily="34" charset="0"/>
                <a:ea typeface="Calibri" pitchFamily="34" charset="-122"/>
                <a:cs typeface="Calibri" pitchFamily="34" charset="-120"/>
              </a:rPr>
              <a:t>Conformed dimensions</a:t>
            </a:r>
            <a:endParaRPr lang="en-US" sz="780" dirty="0"/>
          </a:p>
        </p:txBody>
      </p:sp>
      <p:sp>
        <p:nvSpPr>
          <p:cNvPr id="113" name="Text 111"/>
          <p:cNvSpPr/>
          <p:nvPr/>
        </p:nvSpPr>
        <p:spPr>
          <a:xfrm>
            <a:off x="6775704" y="2180844"/>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Risk conformed entities</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Derived (cross-app joins) entities</a:t>
            </a:r>
            <a:endParaRPr lang="en-US" sz="700" dirty="0"/>
          </a:p>
        </p:txBody>
      </p:sp>
      <p:sp>
        <p:nvSpPr>
          <p:cNvPr id="114" name="Shape 112"/>
          <p:cNvSpPr/>
          <p:nvPr/>
        </p:nvSpPr>
        <p:spPr>
          <a:xfrm>
            <a:off x="6702552" y="2738628"/>
            <a:ext cx="2084832" cy="182880"/>
          </a:xfrm>
          <a:prstGeom prst="rect">
            <a:avLst/>
          </a:prstGeom>
          <a:solidFill>
            <a:srgbClr val="000000"/>
          </a:solidFill>
          <a:ln w="5080">
            <a:solidFill>
              <a:srgbClr val="16A34A"/>
            </a:solidFill>
            <a:prstDash val="solid"/>
          </a:ln>
        </p:spPr>
      </p:sp>
      <p:sp>
        <p:nvSpPr>
          <p:cNvPr id="115" name="Shape 113"/>
          <p:cNvSpPr/>
          <p:nvPr/>
        </p:nvSpPr>
        <p:spPr>
          <a:xfrm>
            <a:off x="6702552" y="2738628"/>
            <a:ext cx="2084832" cy="182880"/>
          </a:xfrm>
          <a:prstGeom prst="rect">
            <a:avLst/>
          </a:prstGeom>
          <a:solidFill>
            <a:srgbClr val="DCFCE7"/>
          </a:solidFill>
          <a:ln w="5080">
            <a:solidFill>
              <a:srgbClr val="16A34A"/>
            </a:solidFill>
            <a:prstDash val="solid"/>
          </a:ln>
        </p:spPr>
      </p:sp>
      <p:sp>
        <p:nvSpPr>
          <p:cNvPr id="116" name="Text 114"/>
          <p:cNvSpPr/>
          <p:nvPr/>
        </p:nvSpPr>
        <p:spPr>
          <a:xfrm>
            <a:off x="6766560" y="2738628"/>
            <a:ext cx="1993392" cy="182880"/>
          </a:xfrm>
          <a:prstGeom prst="rect">
            <a:avLst/>
          </a:prstGeom>
          <a:noFill/>
          <a:ln/>
        </p:spPr>
        <p:txBody>
          <a:bodyPr wrap="square" lIns="0" tIns="0" rIns="0" bIns="0" rtlCol="0" anchor="ctr"/>
          <a:lstStyle/>
          <a:p>
            <a:pPr indent="0" marL="0">
              <a:buNone/>
            </a:pPr>
            <a:r>
              <a:rPr lang="en-US" sz="650" b="1" dirty="0">
                <a:solidFill>
                  <a:srgbClr val="16A34A"/>
                </a:solidFill>
                <a:latin typeface="Calibri" pitchFamily="34" charset="0"/>
                <a:ea typeface="Calibri" pitchFamily="34" charset="-122"/>
                <a:cs typeface="Calibri" pitchFamily="34" charset="-120"/>
              </a:rPr>
              <a:t>↳ Risk WH · conformed</a:t>
            </a:r>
            <a:endParaRPr lang="en-US" sz="650" dirty="0"/>
          </a:p>
        </p:txBody>
      </p:sp>
      <p:sp>
        <p:nvSpPr>
          <p:cNvPr id="117" name="Shape 115"/>
          <p:cNvSpPr/>
          <p:nvPr/>
        </p:nvSpPr>
        <p:spPr>
          <a:xfrm>
            <a:off x="6702552" y="2971800"/>
            <a:ext cx="2084832" cy="987552"/>
          </a:xfrm>
          <a:prstGeom prst="rect">
            <a:avLst/>
          </a:prstGeom>
          <a:solidFill>
            <a:srgbClr val="FFFFFF"/>
          </a:solidFill>
          <a:ln w="7620">
            <a:solidFill>
              <a:srgbClr val="16A34A"/>
            </a:solidFill>
            <a:prstDash val="solid"/>
          </a:ln>
        </p:spPr>
      </p:sp>
      <p:sp>
        <p:nvSpPr>
          <p:cNvPr id="118" name="Shape 116"/>
          <p:cNvSpPr/>
          <p:nvPr/>
        </p:nvSpPr>
        <p:spPr>
          <a:xfrm>
            <a:off x="6702552" y="2971800"/>
            <a:ext cx="36576" cy="987552"/>
          </a:xfrm>
          <a:prstGeom prst="rect">
            <a:avLst/>
          </a:prstGeom>
          <a:solidFill>
            <a:srgbClr val="16A34A"/>
          </a:solidFill>
          <a:ln w="12700">
            <a:solidFill>
              <a:srgbClr val="16A34A"/>
            </a:solidFill>
            <a:prstDash val="solid"/>
          </a:ln>
        </p:spPr>
      </p:sp>
      <p:sp>
        <p:nvSpPr>
          <p:cNvPr id="119" name="Shape 117"/>
          <p:cNvSpPr/>
          <p:nvPr/>
        </p:nvSpPr>
        <p:spPr>
          <a:xfrm>
            <a:off x="6775704" y="3035808"/>
            <a:ext cx="155448" cy="155448"/>
          </a:xfrm>
          <a:prstGeom prst="oval">
            <a:avLst/>
          </a:prstGeom>
          <a:solidFill>
            <a:srgbClr val="16A34A"/>
          </a:solidFill>
          <a:ln w="12700">
            <a:solidFill>
              <a:srgbClr val="16A34A"/>
            </a:solidFill>
            <a:prstDash val="solid"/>
          </a:ln>
        </p:spPr>
      </p:sp>
      <p:sp>
        <p:nvSpPr>
          <p:cNvPr id="120" name="Text 118"/>
          <p:cNvSpPr/>
          <p:nvPr/>
        </p:nvSpPr>
        <p:spPr>
          <a:xfrm>
            <a:off x="6775704" y="3035808"/>
            <a:ext cx="155448" cy="155448"/>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4.3</a:t>
            </a:r>
            <a:endParaRPr lang="en-US" sz="650" dirty="0"/>
          </a:p>
        </p:txBody>
      </p:sp>
      <p:sp>
        <p:nvSpPr>
          <p:cNvPr id="121" name="Text 119"/>
          <p:cNvSpPr/>
          <p:nvPr/>
        </p:nvSpPr>
        <p:spPr>
          <a:xfrm>
            <a:off x="6967728" y="3035808"/>
            <a:ext cx="1764792" cy="164592"/>
          </a:xfrm>
          <a:prstGeom prst="rect">
            <a:avLst/>
          </a:prstGeom>
          <a:noFill/>
          <a:ln/>
        </p:spPr>
        <p:txBody>
          <a:bodyPr wrap="square" lIns="0" tIns="0" rIns="0" bIns="0" rtlCol="0" anchor="ctr"/>
          <a:lstStyle/>
          <a:p>
            <a:pPr indent="0" marL="0">
              <a:buNone/>
            </a:pPr>
            <a:r>
              <a:rPr lang="en-US" sz="780" b="1" dirty="0">
                <a:solidFill>
                  <a:srgbClr val="16A34A"/>
                </a:solidFill>
                <a:latin typeface="Calibri" pitchFamily="34" charset="0"/>
                <a:ea typeface="Calibri" pitchFamily="34" charset="-122"/>
                <a:cs typeface="Calibri" pitchFamily="34" charset="-120"/>
              </a:rPr>
              <a:t>Analytics &amp; BI</a:t>
            </a:r>
            <a:endParaRPr lang="en-US" sz="780" dirty="0"/>
          </a:p>
        </p:txBody>
      </p:sp>
      <p:sp>
        <p:nvSpPr>
          <p:cNvPr id="122" name="Text 120"/>
          <p:cNvSpPr/>
          <p:nvPr/>
        </p:nvSpPr>
        <p:spPr>
          <a:xfrm>
            <a:off x="6775704" y="3218688"/>
            <a:ext cx="1956816" cy="530352"/>
          </a:xfrm>
          <a:prstGeom prst="rect">
            <a:avLst/>
          </a:prstGeom>
          <a:noFill/>
          <a:ln/>
        </p:spPr>
        <p:txBody>
          <a:bodyPr wrap="square" lIns="0" tIns="0" rIns="0" bIns="0" rtlCol="0" anchor="t"/>
          <a:lstStyle/>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Star schema on riskwh.gold</a:t>
            </a:r>
            <a:endParaRPr lang="en-US" sz="700" dirty="0"/>
          </a:p>
          <a:p>
            <a:pPr marL="342900" indent="-342900">
              <a:buSzPct val="100000"/>
              <a:buChar char="•"/>
            </a:pPr>
            <a:r>
              <a:rPr lang="en-US" sz="700" dirty="0">
                <a:solidFill>
                  <a:srgbClr val="6B7280"/>
                </a:solidFill>
                <a:latin typeface="Calibri" pitchFamily="34" charset="0"/>
                <a:ea typeface="Calibri" pitchFamily="34" charset="-122"/>
                <a:cs typeface="Calibri" pitchFamily="34" charset="-120"/>
              </a:rPr>
              <a:t>Semantic model in Strategy (BI tool)</a:t>
            </a:r>
            <a:endParaRPr lang="en-US" sz="700" dirty="0"/>
          </a:p>
        </p:txBody>
      </p:sp>
      <p:sp>
        <p:nvSpPr>
          <p:cNvPr id="123" name="Shape 121"/>
          <p:cNvSpPr/>
          <p:nvPr/>
        </p:nvSpPr>
        <p:spPr>
          <a:xfrm>
            <a:off x="6702552" y="3776472"/>
            <a:ext cx="2084832" cy="182880"/>
          </a:xfrm>
          <a:prstGeom prst="rect">
            <a:avLst/>
          </a:prstGeom>
          <a:solidFill>
            <a:srgbClr val="000000"/>
          </a:solidFill>
          <a:ln w="5080">
            <a:solidFill>
              <a:srgbClr val="16A34A"/>
            </a:solidFill>
            <a:prstDash val="solid"/>
          </a:ln>
        </p:spPr>
      </p:sp>
      <p:sp>
        <p:nvSpPr>
          <p:cNvPr id="124" name="Shape 122"/>
          <p:cNvSpPr/>
          <p:nvPr/>
        </p:nvSpPr>
        <p:spPr>
          <a:xfrm>
            <a:off x="6702552" y="3776472"/>
            <a:ext cx="2084832" cy="182880"/>
          </a:xfrm>
          <a:prstGeom prst="rect">
            <a:avLst/>
          </a:prstGeom>
          <a:solidFill>
            <a:srgbClr val="DCFCE7"/>
          </a:solidFill>
          <a:ln w="5080">
            <a:solidFill>
              <a:srgbClr val="16A34A"/>
            </a:solidFill>
            <a:prstDash val="solid"/>
          </a:ln>
        </p:spPr>
      </p:sp>
      <p:sp>
        <p:nvSpPr>
          <p:cNvPr id="125" name="Text 123"/>
          <p:cNvSpPr/>
          <p:nvPr/>
        </p:nvSpPr>
        <p:spPr>
          <a:xfrm>
            <a:off x="6766560" y="3776472"/>
            <a:ext cx="1993392" cy="182880"/>
          </a:xfrm>
          <a:prstGeom prst="rect">
            <a:avLst/>
          </a:prstGeom>
          <a:noFill/>
          <a:ln/>
        </p:spPr>
        <p:txBody>
          <a:bodyPr wrap="square" lIns="0" tIns="0" rIns="0" bIns="0" rtlCol="0" anchor="ctr"/>
          <a:lstStyle/>
          <a:p>
            <a:pPr indent="0" marL="0">
              <a:buNone/>
            </a:pPr>
            <a:r>
              <a:rPr lang="en-US" sz="650" b="1" dirty="0">
                <a:solidFill>
                  <a:srgbClr val="16A34A"/>
                </a:solidFill>
                <a:latin typeface="Calibri" pitchFamily="34" charset="0"/>
                <a:ea typeface="Calibri" pitchFamily="34" charset="-122"/>
                <a:cs typeface="Calibri" pitchFamily="34" charset="-120"/>
              </a:rPr>
              <a:t>↳ Risk WH · gold</a:t>
            </a:r>
            <a:endParaRPr lang="en-US" sz="650" dirty="0"/>
          </a:p>
        </p:txBody>
      </p:sp>
      <p:sp>
        <p:nvSpPr>
          <p:cNvPr id="126" name="Shape 124"/>
          <p:cNvSpPr/>
          <p:nvPr/>
        </p:nvSpPr>
        <p:spPr>
          <a:xfrm>
            <a:off x="256032" y="4224528"/>
            <a:ext cx="8796528" cy="347472"/>
          </a:xfrm>
          <a:prstGeom prst="rect">
            <a:avLst/>
          </a:prstGeom>
          <a:solidFill>
            <a:srgbClr val="DCFCE7"/>
          </a:solidFill>
          <a:ln w="6350">
            <a:solidFill>
              <a:srgbClr val="86EFAC"/>
            </a:solidFill>
            <a:prstDash val="solid"/>
          </a:ln>
        </p:spPr>
      </p:sp>
      <p:sp>
        <p:nvSpPr>
          <p:cNvPr id="127" name="Shape 125"/>
          <p:cNvSpPr/>
          <p:nvPr/>
        </p:nvSpPr>
        <p:spPr>
          <a:xfrm>
            <a:off x="329184" y="4315968"/>
            <a:ext cx="109728" cy="164592"/>
          </a:xfrm>
          <a:prstGeom prst="rect">
            <a:avLst/>
          </a:prstGeom>
          <a:solidFill>
            <a:srgbClr val="1D6FA4"/>
          </a:solidFill>
          <a:ln w="12700">
            <a:solidFill>
              <a:srgbClr val="1D6FA4"/>
            </a:solidFill>
            <a:prstDash val="solid"/>
          </a:ln>
        </p:spPr>
      </p:sp>
      <p:sp>
        <p:nvSpPr>
          <p:cNvPr id="128" name="Text 126"/>
          <p:cNvSpPr/>
          <p:nvPr/>
        </p:nvSpPr>
        <p:spPr>
          <a:xfrm>
            <a:off x="475488" y="4297680"/>
            <a:ext cx="1892808" cy="201168"/>
          </a:xfrm>
          <a:prstGeom prst="rect">
            <a:avLst/>
          </a:prstGeom>
          <a:noFill/>
          <a:ln/>
        </p:spPr>
        <p:txBody>
          <a:bodyPr wrap="square" lIns="0" tIns="0" rIns="0" bIns="0" rtlCol="0" anchor="ctr"/>
          <a:lstStyle/>
          <a:p>
            <a:pPr indent="0" marL="0">
              <a:buNone/>
            </a:pPr>
            <a:r>
              <a:rPr lang="en-US" sz="800" b="1" dirty="0">
                <a:solidFill>
                  <a:srgbClr val="1D6FA4"/>
                </a:solidFill>
                <a:latin typeface="Calibri" pitchFamily="34" charset="0"/>
                <a:ea typeface="Calibri" pitchFamily="34" charset="-122"/>
                <a:cs typeface="Calibri" pitchFamily="34" charset="-120"/>
              </a:rPr>
              <a:t>App Owned</a:t>
            </a:r>
            <a:endParaRPr lang="en-US" sz="800" dirty="0"/>
          </a:p>
        </p:txBody>
      </p:sp>
      <p:sp>
        <p:nvSpPr>
          <p:cNvPr id="129" name="Shape 127"/>
          <p:cNvSpPr/>
          <p:nvPr/>
        </p:nvSpPr>
        <p:spPr>
          <a:xfrm>
            <a:off x="2542032" y="4315968"/>
            <a:ext cx="109728" cy="164592"/>
          </a:xfrm>
          <a:prstGeom prst="rect">
            <a:avLst/>
          </a:prstGeom>
          <a:solidFill>
            <a:srgbClr val="6941A8"/>
          </a:solidFill>
          <a:ln w="12700">
            <a:solidFill>
              <a:srgbClr val="6941A8"/>
            </a:solidFill>
            <a:prstDash val="solid"/>
          </a:ln>
        </p:spPr>
      </p:sp>
      <p:sp>
        <p:nvSpPr>
          <p:cNvPr id="130" name="Text 128"/>
          <p:cNvSpPr/>
          <p:nvPr/>
        </p:nvSpPr>
        <p:spPr>
          <a:xfrm>
            <a:off x="2688336" y="4297680"/>
            <a:ext cx="1892808" cy="201168"/>
          </a:xfrm>
          <a:prstGeom prst="rect">
            <a:avLst/>
          </a:prstGeom>
          <a:noFill/>
          <a:ln/>
        </p:spPr>
        <p:txBody>
          <a:bodyPr wrap="square" lIns="0" tIns="0" rIns="0" bIns="0" rtlCol="0" anchor="ctr"/>
          <a:lstStyle/>
          <a:p>
            <a:pPr indent="0" marL="0">
              <a:buNone/>
            </a:pPr>
            <a:r>
              <a:rPr lang="en-US" sz="800" b="1" dirty="0">
                <a:solidFill>
                  <a:srgbClr val="6941A8"/>
                </a:solidFill>
                <a:latin typeface="Calibri" pitchFamily="34" charset="0"/>
                <a:ea typeface="Calibri" pitchFamily="34" charset="-122"/>
                <a:cs typeface="Calibri" pitchFamily="34" charset="-120"/>
              </a:rPr>
              <a:t>Risk Data Product + CDM Owned</a:t>
            </a:r>
            <a:endParaRPr lang="en-US" sz="800" dirty="0"/>
          </a:p>
        </p:txBody>
      </p:sp>
      <p:sp>
        <p:nvSpPr>
          <p:cNvPr id="131" name="Shape 129"/>
          <p:cNvSpPr/>
          <p:nvPr/>
        </p:nvSpPr>
        <p:spPr>
          <a:xfrm>
            <a:off x="4690872" y="4315968"/>
            <a:ext cx="109728" cy="164592"/>
          </a:xfrm>
          <a:prstGeom prst="rect">
            <a:avLst/>
          </a:prstGeom>
          <a:solidFill>
            <a:srgbClr val="0F766E"/>
          </a:solidFill>
          <a:ln w="12700">
            <a:solidFill>
              <a:srgbClr val="0F766E"/>
            </a:solidFill>
            <a:prstDash val="solid"/>
          </a:ln>
        </p:spPr>
      </p:sp>
      <p:sp>
        <p:nvSpPr>
          <p:cNvPr id="132" name="Text 130"/>
          <p:cNvSpPr/>
          <p:nvPr/>
        </p:nvSpPr>
        <p:spPr>
          <a:xfrm>
            <a:off x="4837176" y="4297680"/>
            <a:ext cx="1892808" cy="201168"/>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App + Ingestion Owned</a:t>
            </a:r>
            <a:endParaRPr lang="en-US" sz="800" dirty="0"/>
          </a:p>
        </p:txBody>
      </p:sp>
      <p:sp>
        <p:nvSpPr>
          <p:cNvPr id="133" name="Shape 131"/>
          <p:cNvSpPr/>
          <p:nvPr/>
        </p:nvSpPr>
        <p:spPr>
          <a:xfrm>
            <a:off x="6858000" y="4315968"/>
            <a:ext cx="109728" cy="164592"/>
          </a:xfrm>
          <a:prstGeom prst="rect">
            <a:avLst/>
          </a:prstGeom>
          <a:solidFill>
            <a:srgbClr val="16A34A"/>
          </a:solidFill>
          <a:ln w="12700">
            <a:solidFill>
              <a:srgbClr val="16A34A"/>
            </a:solidFill>
            <a:prstDash val="solid"/>
          </a:ln>
        </p:spPr>
      </p:sp>
      <p:sp>
        <p:nvSpPr>
          <p:cNvPr id="134" name="Text 132"/>
          <p:cNvSpPr/>
          <p:nvPr/>
        </p:nvSpPr>
        <p:spPr>
          <a:xfrm>
            <a:off x="7004304" y="4297680"/>
            <a:ext cx="2011680" cy="201168"/>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Risk Data Platform</a:t>
            </a:r>
            <a:endParaRPr lang="en-US" sz="800" dirty="0"/>
          </a:p>
        </p:txBody>
      </p:sp>
      <p:sp>
        <p:nvSpPr>
          <p:cNvPr id="135" name="Text 133"/>
          <p:cNvSpPr/>
          <p:nvPr/>
        </p:nvSpPr>
        <p:spPr>
          <a:xfrm>
            <a:off x="274320" y="4645152"/>
            <a:ext cx="5486400" cy="164592"/>
          </a:xfrm>
          <a:prstGeom prst="rect">
            <a:avLst/>
          </a:prstGeom>
          <a:noFill/>
          <a:ln/>
        </p:spPr>
        <p:txBody>
          <a:bodyPr wrap="square" lIns="0" tIns="0" rIns="0" bIns="0" rtlCol="0" anchor="ctr"/>
          <a:lstStyle/>
          <a:p>
            <a:pPr indent="0" marL="0">
              <a:buNone/>
            </a:pPr>
            <a:r>
              <a:rPr lang="en-US" sz="750" i="1" dirty="0">
                <a:solidFill>
                  <a:srgbClr val="6B7280"/>
                </a:solidFill>
                <a:latin typeface="Calibri" pitchFamily="34" charset="0"/>
                <a:ea typeface="Calibri" pitchFamily="34" charset="-122"/>
                <a:cs typeface="Calibri" pitchFamily="34" charset="-120"/>
              </a:rPr>
              <a:t>Index: RW — Risk Warehouse · RCE — Risk Conformed Entity</a:t>
            </a:r>
            <a:endParaRPr lang="en-US" sz="750" dirty="0"/>
          </a:p>
        </p:txBody>
      </p:sp>
      <p:sp>
        <p:nvSpPr>
          <p:cNvPr id="136" name="Text 134"/>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137" name="Text 135"/>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lIns="0" tIns="0" rIns="0" bIns="0" rtlCol="0" anchor="ctr"/>
          <a:lstStyle/>
          <a:p>
            <a:pPr indent="0" marL="0">
              <a:buNone/>
            </a:pPr>
            <a:r>
              <a:rPr lang="en-US" sz="2000" b="1" dirty="0">
                <a:solidFill>
                  <a:srgbClr val="166534"/>
                </a:solidFill>
                <a:latin typeface="Calibri" pitchFamily="34" charset="0"/>
                <a:ea typeface="Calibri" pitchFamily="34" charset="-122"/>
                <a:cs typeface="Calibri" pitchFamily="34" charset="-120"/>
              </a:rPr>
              <a:t>Contract ID — The Linking Mechanism</a:t>
            </a:r>
            <a:endParaRPr lang="en-US" sz="2000" dirty="0"/>
          </a:p>
        </p:txBody>
      </p:sp>
      <p:sp>
        <p:nvSpPr>
          <p:cNvPr id="3" name="Text 1"/>
          <p:cNvSpPr/>
          <p:nvPr/>
        </p:nvSpPr>
        <p:spPr>
          <a:xfrm>
            <a:off x="365760" y="530352"/>
            <a:ext cx="841248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The Contract ID is the thread connecting ingested data to confirmed entities, CDM alignment, and downstream consumption across every layer</a:t>
            </a:r>
            <a:endParaRPr lang="en-US" sz="900" dirty="0"/>
          </a:p>
        </p:txBody>
      </p:sp>
      <p:sp>
        <p:nvSpPr>
          <p:cNvPr id="4" name="Shape 2"/>
          <p:cNvSpPr/>
          <p:nvPr/>
        </p:nvSpPr>
        <p:spPr>
          <a:xfrm>
            <a:off x="274320" y="822960"/>
            <a:ext cx="2084832" cy="3291840"/>
          </a:xfrm>
          <a:prstGeom prst="rect">
            <a:avLst/>
          </a:prstGeom>
          <a:solidFill>
            <a:srgbClr val="FFFFFF"/>
          </a:solidFill>
          <a:ln w="12700">
            <a:solidFill>
              <a:srgbClr val="1D6FA4"/>
            </a:solidFill>
            <a:prstDash val="solid"/>
          </a:ln>
        </p:spPr>
      </p:sp>
      <p:sp>
        <p:nvSpPr>
          <p:cNvPr id="5" name="Shape 3"/>
          <p:cNvSpPr/>
          <p:nvPr/>
        </p:nvSpPr>
        <p:spPr>
          <a:xfrm>
            <a:off x="274320" y="822960"/>
            <a:ext cx="2084832" cy="329184"/>
          </a:xfrm>
          <a:prstGeom prst="rect">
            <a:avLst/>
          </a:prstGeom>
          <a:solidFill>
            <a:srgbClr val="1D6FA4"/>
          </a:solidFill>
          <a:ln w="12700">
            <a:solidFill>
              <a:srgbClr val="1D6FA4"/>
            </a:solidFill>
            <a:prstDash val="solid"/>
          </a:ln>
        </p:spPr>
      </p:sp>
      <p:sp>
        <p:nvSpPr>
          <p:cNvPr id="6" name="Text 4"/>
          <p:cNvSpPr/>
          <p:nvPr/>
        </p:nvSpPr>
        <p:spPr>
          <a:xfrm>
            <a:off x="365760" y="859536"/>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Origin</a:t>
            </a:r>
            <a:endParaRPr lang="en-US" sz="700" dirty="0"/>
          </a:p>
        </p:txBody>
      </p:sp>
      <p:sp>
        <p:nvSpPr>
          <p:cNvPr id="7" name="Text 5"/>
          <p:cNvSpPr/>
          <p:nvPr/>
        </p:nvSpPr>
        <p:spPr>
          <a:xfrm>
            <a:off x="365760" y="978408"/>
            <a:ext cx="1947672" cy="16459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Risk Data Contract</a:t>
            </a:r>
            <a:endParaRPr lang="en-US" sz="900" dirty="0"/>
          </a:p>
        </p:txBody>
      </p:sp>
      <p:sp>
        <p:nvSpPr>
          <p:cNvPr id="8" name="Text 6"/>
          <p:cNvSpPr/>
          <p:nvPr/>
        </p:nvSpPr>
        <p:spPr>
          <a:xfrm>
            <a:off x="365760" y="1225296"/>
            <a:ext cx="1938528" cy="2468880"/>
          </a:xfrm>
          <a:prstGeom prst="rect">
            <a:avLst/>
          </a:prstGeom>
          <a:noFill/>
          <a:ln/>
        </p:spPr>
        <p:txBody>
          <a:bodyPr wrap="square" lIns="0" tIns="0" rIns="0" bIns="0" rtlCol="0" anchor="t"/>
          <a:lstStyle/>
          <a:p>
            <a:pPr indent="0" marL="0">
              <a:buNone/>
            </a:pPr>
            <a:r>
              <a:rPr lang="en-US" sz="850" dirty="0">
                <a:solidFill>
                  <a:srgbClr val="1A3530"/>
                </a:solidFill>
                <a:latin typeface="Calibri" pitchFamily="34" charset="0"/>
                <a:ea typeface="Calibri" pitchFamily="34" charset="-122"/>
                <a:cs typeface="Calibri" pitchFamily="34" charset="-120"/>
              </a:rPr>
              <a:t>Risk apps have captured Data Sources, SLA, and Frequency in the Risk Data Contract. Contract metadata loaded into Databricks. A Contract ID is created per source feed.</a:t>
            </a:r>
            <a:endParaRPr lang="en-US" sz="850" dirty="0"/>
          </a:p>
        </p:txBody>
      </p:sp>
      <p:sp>
        <p:nvSpPr>
          <p:cNvPr id="9" name="Shape 7"/>
          <p:cNvSpPr/>
          <p:nvPr/>
        </p:nvSpPr>
        <p:spPr>
          <a:xfrm>
            <a:off x="365760" y="3730752"/>
            <a:ext cx="1938528" cy="329184"/>
          </a:xfrm>
          <a:prstGeom prst="rect">
            <a:avLst/>
          </a:prstGeom>
          <a:solidFill>
            <a:srgbClr val="DBEAFE"/>
          </a:solidFill>
          <a:ln w="5080">
            <a:solidFill>
              <a:srgbClr val="1D6FA4"/>
            </a:solidFill>
            <a:prstDash val="solid"/>
          </a:ln>
        </p:spPr>
      </p:sp>
      <p:sp>
        <p:nvSpPr>
          <p:cNvPr id="10" name="Text 8"/>
          <p:cNvSpPr/>
          <p:nvPr/>
        </p:nvSpPr>
        <p:spPr>
          <a:xfrm>
            <a:off x="402336" y="3749040"/>
            <a:ext cx="1883664" cy="292608"/>
          </a:xfrm>
          <a:prstGeom prst="rect">
            <a:avLst/>
          </a:prstGeom>
          <a:noFill/>
          <a:ln/>
        </p:spPr>
        <p:txBody>
          <a:bodyPr wrap="square" lIns="0" tIns="0" rIns="0" bIns="0" rtlCol="0" anchor="ctr"/>
          <a:lstStyle/>
          <a:p>
            <a:pPr indent="0" marL="0">
              <a:buNone/>
            </a:pPr>
            <a:r>
              <a:rPr lang="en-US" sz="750" i="1" dirty="0">
                <a:solidFill>
                  <a:srgbClr val="1D6FA4"/>
                </a:solidFill>
                <a:latin typeface="Calibri" pitchFamily="34" charset="0"/>
                <a:ea typeface="Calibri" pitchFamily="34" charset="-122"/>
                <a:cs typeface="Calibri" pitchFamily="34" charset="-120"/>
              </a:rPr>
              <a:t>Owned: App team + Ingestion team</a:t>
            </a:r>
            <a:endParaRPr lang="en-US" sz="750" dirty="0"/>
          </a:p>
        </p:txBody>
      </p:sp>
      <p:sp>
        <p:nvSpPr>
          <p:cNvPr id="11" name="Text 9"/>
          <p:cNvSpPr/>
          <p:nvPr/>
        </p:nvSpPr>
        <p:spPr>
          <a:xfrm>
            <a:off x="2377440" y="2331720"/>
            <a:ext cx="146304" cy="2743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487168" y="822960"/>
            <a:ext cx="2084832" cy="3291840"/>
          </a:xfrm>
          <a:prstGeom prst="rect">
            <a:avLst/>
          </a:prstGeom>
          <a:solidFill>
            <a:srgbClr val="FFFFFF"/>
          </a:solidFill>
          <a:ln w="12700">
            <a:solidFill>
              <a:srgbClr val="6941A8"/>
            </a:solidFill>
            <a:prstDash val="solid"/>
          </a:ln>
        </p:spPr>
      </p:sp>
      <p:sp>
        <p:nvSpPr>
          <p:cNvPr id="13" name="Shape 11"/>
          <p:cNvSpPr/>
          <p:nvPr/>
        </p:nvSpPr>
        <p:spPr>
          <a:xfrm>
            <a:off x="2487168" y="822960"/>
            <a:ext cx="2084832" cy="329184"/>
          </a:xfrm>
          <a:prstGeom prst="rect">
            <a:avLst/>
          </a:prstGeom>
          <a:solidFill>
            <a:srgbClr val="6941A8"/>
          </a:solidFill>
          <a:ln w="12700">
            <a:solidFill>
              <a:srgbClr val="6941A8"/>
            </a:solidFill>
            <a:prstDash val="solid"/>
          </a:ln>
        </p:spPr>
      </p:sp>
      <p:sp>
        <p:nvSpPr>
          <p:cNvPr id="14" name="Text 12"/>
          <p:cNvSpPr/>
          <p:nvPr/>
        </p:nvSpPr>
        <p:spPr>
          <a:xfrm>
            <a:off x="2578608" y="859536"/>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Travels with entity</a:t>
            </a:r>
            <a:endParaRPr lang="en-US" sz="700" dirty="0"/>
          </a:p>
        </p:txBody>
      </p:sp>
      <p:sp>
        <p:nvSpPr>
          <p:cNvPr id="15" name="Text 13"/>
          <p:cNvSpPr/>
          <p:nvPr/>
        </p:nvSpPr>
        <p:spPr>
          <a:xfrm>
            <a:off x="2578608" y="978408"/>
            <a:ext cx="1947672" cy="16459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App Conformed Entity (silver)</a:t>
            </a:r>
            <a:endParaRPr lang="en-US" sz="900" dirty="0"/>
          </a:p>
        </p:txBody>
      </p:sp>
      <p:sp>
        <p:nvSpPr>
          <p:cNvPr id="16" name="Text 14"/>
          <p:cNvSpPr/>
          <p:nvPr/>
        </p:nvSpPr>
        <p:spPr>
          <a:xfrm>
            <a:off x="2578608" y="1225296"/>
            <a:ext cx="1938528" cy="2468880"/>
          </a:xfrm>
          <a:prstGeom prst="rect">
            <a:avLst/>
          </a:prstGeom>
          <a:noFill/>
          <a:ln/>
        </p:spPr>
        <p:txBody>
          <a:bodyPr wrap="square" lIns="0" tIns="0" rIns="0" bIns="0" rtlCol="0" anchor="t"/>
          <a:lstStyle/>
          <a:p>
            <a:pPr indent="0" marL="0">
              <a:buNone/>
            </a:pPr>
            <a:r>
              <a:rPr lang="en-US" sz="850" dirty="0">
                <a:solidFill>
                  <a:srgbClr val="1A3530"/>
                </a:solidFill>
                <a:latin typeface="Calibri" pitchFamily="34" charset="0"/>
                <a:ea typeface="Calibri" pitchFamily="34" charset="-122"/>
                <a:cs typeface="Calibri" pitchFamily="34" charset="-120"/>
              </a:rPr>
              <a:t>App conformed entities in the silver layer carry the Contract ID. This links the entity to its current sourcing contract. CDM conformance is built whilst honoring the existing contract.</a:t>
            </a:r>
            <a:endParaRPr lang="en-US" sz="850" dirty="0"/>
          </a:p>
        </p:txBody>
      </p:sp>
      <p:sp>
        <p:nvSpPr>
          <p:cNvPr id="17" name="Shape 15"/>
          <p:cNvSpPr/>
          <p:nvPr/>
        </p:nvSpPr>
        <p:spPr>
          <a:xfrm>
            <a:off x="2578608" y="3730752"/>
            <a:ext cx="1938528" cy="329184"/>
          </a:xfrm>
          <a:prstGeom prst="rect">
            <a:avLst/>
          </a:prstGeom>
          <a:solidFill>
            <a:srgbClr val="EDE9FE"/>
          </a:solidFill>
          <a:ln w="5080">
            <a:solidFill>
              <a:srgbClr val="6941A8"/>
            </a:solidFill>
            <a:prstDash val="solid"/>
          </a:ln>
        </p:spPr>
      </p:sp>
      <p:sp>
        <p:nvSpPr>
          <p:cNvPr id="18" name="Text 16"/>
          <p:cNvSpPr/>
          <p:nvPr/>
        </p:nvSpPr>
        <p:spPr>
          <a:xfrm>
            <a:off x="2615184" y="3749040"/>
            <a:ext cx="1883664" cy="292608"/>
          </a:xfrm>
          <a:prstGeom prst="rect">
            <a:avLst/>
          </a:prstGeom>
          <a:noFill/>
          <a:ln/>
        </p:spPr>
        <p:txBody>
          <a:bodyPr wrap="square" lIns="0" tIns="0" rIns="0" bIns="0" rtlCol="0" anchor="ctr"/>
          <a:lstStyle/>
          <a:p>
            <a:pPr indent="0" marL="0">
              <a:buNone/>
            </a:pPr>
            <a:r>
              <a:rPr lang="en-US" sz="750" i="1" dirty="0">
                <a:solidFill>
                  <a:srgbClr val="6941A8"/>
                </a:solidFill>
                <a:latin typeface="Calibri" pitchFamily="34" charset="0"/>
                <a:ea typeface="Calibri" pitchFamily="34" charset="-122"/>
                <a:cs typeface="Calibri" pitchFamily="34" charset="-120"/>
              </a:rPr>
              <a:t>Owned: App team</a:t>
            </a:r>
            <a:endParaRPr lang="en-US" sz="750" dirty="0"/>
          </a:p>
        </p:txBody>
      </p:sp>
      <p:sp>
        <p:nvSpPr>
          <p:cNvPr id="19" name="Text 17"/>
          <p:cNvSpPr/>
          <p:nvPr/>
        </p:nvSpPr>
        <p:spPr>
          <a:xfrm>
            <a:off x="4590288" y="2331720"/>
            <a:ext cx="146304" cy="2743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4700016" y="822960"/>
            <a:ext cx="2084832" cy="3291840"/>
          </a:xfrm>
          <a:prstGeom prst="rect">
            <a:avLst/>
          </a:prstGeom>
          <a:solidFill>
            <a:srgbClr val="FFFFFF"/>
          </a:solidFill>
          <a:ln w="12700">
            <a:solidFill>
              <a:srgbClr val="0F766E"/>
            </a:solidFill>
            <a:prstDash val="solid"/>
          </a:ln>
        </p:spPr>
      </p:sp>
      <p:sp>
        <p:nvSpPr>
          <p:cNvPr id="21" name="Shape 19"/>
          <p:cNvSpPr/>
          <p:nvPr/>
        </p:nvSpPr>
        <p:spPr>
          <a:xfrm>
            <a:off x="4700016" y="822960"/>
            <a:ext cx="2084832" cy="329184"/>
          </a:xfrm>
          <a:prstGeom prst="rect">
            <a:avLst/>
          </a:prstGeom>
          <a:solidFill>
            <a:srgbClr val="0F766E"/>
          </a:solidFill>
          <a:ln w="12700">
            <a:solidFill>
              <a:srgbClr val="0F766E"/>
            </a:solidFill>
            <a:prstDash val="solid"/>
          </a:ln>
        </p:spPr>
      </p:sp>
      <p:sp>
        <p:nvSpPr>
          <p:cNvPr id="22" name="Text 20"/>
          <p:cNvSpPr/>
          <p:nvPr/>
        </p:nvSpPr>
        <p:spPr>
          <a:xfrm>
            <a:off x="4791456" y="859536"/>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Maintained through ingestion</a:t>
            </a:r>
            <a:endParaRPr lang="en-US" sz="700" dirty="0"/>
          </a:p>
        </p:txBody>
      </p:sp>
      <p:sp>
        <p:nvSpPr>
          <p:cNvPr id="23" name="Text 21"/>
          <p:cNvSpPr/>
          <p:nvPr/>
        </p:nvSpPr>
        <p:spPr>
          <a:xfrm>
            <a:off x="4791456" y="978408"/>
            <a:ext cx="1947672" cy="16459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Risk Conformed Entity (RCE)</a:t>
            </a:r>
            <a:endParaRPr lang="en-US" sz="900" dirty="0"/>
          </a:p>
        </p:txBody>
      </p:sp>
      <p:sp>
        <p:nvSpPr>
          <p:cNvPr id="24" name="Text 22"/>
          <p:cNvSpPr/>
          <p:nvPr/>
        </p:nvSpPr>
        <p:spPr>
          <a:xfrm>
            <a:off x="4791456" y="1225296"/>
            <a:ext cx="1938528" cy="2468880"/>
          </a:xfrm>
          <a:prstGeom prst="rect">
            <a:avLst/>
          </a:prstGeom>
          <a:noFill/>
          <a:ln/>
        </p:spPr>
        <p:txBody>
          <a:bodyPr wrap="square" lIns="0" tIns="0" rIns="0" bIns="0" rtlCol="0" anchor="t"/>
          <a:lstStyle/>
          <a:p>
            <a:pPr indent="0" marL="0">
              <a:buNone/>
            </a:pPr>
            <a:r>
              <a:rPr lang="en-US" sz="850" dirty="0">
                <a:solidFill>
                  <a:srgbClr val="1A3530"/>
                </a:solidFill>
                <a:latin typeface="Calibri" pitchFamily="34" charset="0"/>
                <a:ea typeface="Calibri" pitchFamily="34" charset="-122"/>
                <a:cs typeface="Calibri" pitchFamily="34" charset="-120"/>
              </a:rPr>
              <a:t>When the Ingestion team populates the RCE, the Contract ID is maintained. The RCE carries the Contract ID for every attribute it holds. Contract ID travels with data when apps consume from RCE.</a:t>
            </a:r>
            <a:endParaRPr lang="en-US" sz="850" dirty="0"/>
          </a:p>
        </p:txBody>
      </p:sp>
      <p:sp>
        <p:nvSpPr>
          <p:cNvPr id="25" name="Shape 23"/>
          <p:cNvSpPr/>
          <p:nvPr/>
        </p:nvSpPr>
        <p:spPr>
          <a:xfrm>
            <a:off x="4791456" y="3730752"/>
            <a:ext cx="1938528" cy="329184"/>
          </a:xfrm>
          <a:prstGeom prst="rect">
            <a:avLst/>
          </a:prstGeom>
          <a:solidFill>
            <a:srgbClr val="CCFBF1"/>
          </a:solidFill>
          <a:ln w="5080">
            <a:solidFill>
              <a:srgbClr val="0F766E"/>
            </a:solidFill>
            <a:prstDash val="solid"/>
          </a:ln>
        </p:spPr>
      </p:sp>
      <p:sp>
        <p:nvSpPr>
          <p:cNvPr id="26" name="Text 24"/>
          <p:cNvSpPr/>
          <p:nvPr/>
        </p:nvSpPr>
        <p:spPr>
          <a:xfrm>
            <a:off x="4828032" y="3749040"/>
            <a:ext cx="1883664" cy="292608"/>
          </a:xfrm>
          <a:prstGeom prst="rect">
            <a:avLst/>
          </a:prstGeom>
          <a:noFill/>
          <a:ln/>
        </p:spPr>
        <p:txBody>
          <a:bodyPr wrap="square" lIns="0" tIns="0" rIns="0" bIns="0" rtlCol="0" anchor="ctr"/>
          <a:lstStyle/>
          <a:p>
            <a:pPr indent="0" marL="0">
              <a:buNone/>
            </a:pPr>
            <a:r>
              <a:rPr lang="en-US" sz="750" i="1" dirty="0">
                <a:solidFill>
                  <a:srgbClr val="0F766E"/>
                </a:solidFill>
                <a:latin typeface="Calibri" pitchFamily="34" charset="0"/>
                <a:ea typeface="Calibri" pitchFamily="34" charset="-122"/>
                <a:cs typeface="Calibri" pitchFamily="34" charset="-120"/>
              </a:rPr>
              <a:t>Owned: Ingestion team</a:t>
            </a:r>
            <a:endParaRPr lang="en-US" sz="750" dirty="0"/>
          </a:p>
        </p:txBody>
      </p:sp>
      <p:sp>
        <p:nvSpPr>
          <p:cNvPr id="27" name="Text 25"/>
          <p:cNvSpPr/>
          <p:nvPr/>
        </p:nvSpPr>
        <p:spPr>
          <a:xfrm>
            <a:off x="6803136" y="2331720"/>
            <a:ext cx="146304" cy="274320"/>
          </a:xfrm>
          <a:prstGeom prst="rect">
            <a:avLst/>
          </a:prstGeom>
          <a:noFill/>
          <a:ln/>
        </p:spPr>
        <p:txBody>
          <a:bodyPr wrap="square" lIns="0" tIns="0" rIns="0" bIns="0" rtlCol="0" anchor="ctr"/>
          <a:lstStyle/>
          <a:p>
            <a:pPr algn="ctr" indent="0" marL="0">
              <a:buNone/>
            </a:pPr>
            <a:r>
              <a:rPr lang="en-US" sz="1400" dirty="0">
                <a:solidFill>
                  <a:srgbClr val="6B7280"/>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6912864" y="822960"/>
            <a:ext cx="2084832" cy="3291840"/>
          </a:xfrm>
          <a:prstGeom prst="rect">
            <a:avLst/>
          </a:prstGeom>
          <a:solidFill>
            <a:srgbClr val="FFFFFF"/>
          </a:solidFill>
          <a:ln w="12700">
            <a:solidFill>
              <a:srgbClr val="16A34A"/>
            </a:solidFill>
            <a:prstDash val="solid"/>
          </a:ln>
        </p:spPr>
      </p:sp>
      <p:sp>
        <p:nvSpPr>
          <p:cNvPr id="29" name="Shape 27"/>
          <p:cNvSpPr/>
          <p:nvPr/>
        </p:nvSpPr>
        <p:spPr>
          <a:xfrm>
            <a:off x="6912864" y="822960"/>
            <a:ext cx="2084832" cy="329184"/>
          </a:xfrm>
          <a:prstGeom prst="rect">
            <a:avLst/>
          </a:prstGeom>
          <a:solidFill>
            <a:srgbClr val="16A34A"/>
          </a:solidFill>
          <a:ln w="12700">
            <a:solidFill>
              <a:srgbClr val="16A34A"/>
            </a:solidFill>
            <a:prstDash val="solid"/>
          </a:ln>
        </p:spPr>
      </p:sp>
      <p:sp>
        <p:nvSpPr>
          <p:cNvPr id="30" name="Text 28"/>
          <p:cNvSpPr/>
          <p:nvPr/>
        </p:nvSpPr>
        <p:spPr>
          <a:xfrm>
            <a:off x="7004304" y="859536"/>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Published upward</a:t>
            </a:r>
            <a:endParaRPr lang="en-US" sz="700" dirty="0"/>
          </a:p>
        </p:txBody>
      </p:sp>
      <p:sp>
        <p:nvSpPr>
          <p:cNvPr id="31" name="Text 29"/>
          <p:cNvSpPr/>
          <p:nvPr/>
        </p:nvSpPr>
        <p:spPr>
          <a:xfrm>
            <a:off x="7004304" y="978408"/>
            <a:ext cx="1947672" cy="164592"/>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CDM</a:t>
            </a:r>
            <a:endParaRPr lang="en-US" sz="900" dirty="0"/>
          </a:p>
        </p:txBody>
      </p:sp>
      <p:sp>
        <p:nvSpPr>
          <p:cNvPr id="32" name="Text 30"/>
          <p:cNvSpPr/>
          <p:nvPr/>
        </p:nvSpPr>
        <p:spPr>
          <a:xfrm>
            <a:off x="7004304" y="1225296"/>
            <a:ext cx="1938528" cy="2468880"/>
          </a:xfrm>
          <a:prstGeom prst="rect">
            <a:avLst/>
          </a:prstGeom>
          <a:noFill/>
          <a:ln/>
        </p:spPr>
        <p:txBody>
          <a:bodyPr wrap="square" lIns="0" tIns="0" rIns="0" bIns="0" rtlCol="0" anchor="t"/>
          <a:lstStyle/>
          <a:p>
            <a:pPr indent="0" marL="0">
              <a:buNone/>
            </a:pPr>
            <a:r>
              <a:rPr lang="en-US" sz="850" dirty="0">
                <a:solidFill>
                  <a:srgbClr val="1A3530"/>
                </a:solidFill>
                <a:latin typeface="Calibri" pitchFamily="34" charset="0"/>
                <a:ea typeface="Calibri" pitchFamily="34" charset="-122"/>
                <a:cs typeface="Calibri" pitchFamily="34" charset="-120"/>
              </a:rPr>
              <a:t>CDM holds the Contract ID for the data it ingests and provisions to downstream consumers. Contract ID provides end-to-end lineage from source through Risk Confirmed Entity to enterprise CDM.</a:t>
            </a:r>
            <a:endParaRPr lang="en-US" sz="850" dirty="0"/>
          </a:p>
        </p:txBody>
      </p:sp>
      <p:sp>
        <p:nvSpPr>
          <p:cNvPr id="33" name="Shape 31"/>
          <p:cNvSpPr/>
          <p:nvPr/>
        </p:nvSpPr>
        <p:spPr>
          <a:xfrm>
            <a:off x="7004304" y="3730752"/>
            <a:ext cx="1938528" cy="329184"/>
          </a:xfrm>
          <a:prstGeom prst="rect">
            <a:avLst/>
          </a:prstGeom>
          <a:solidFill>
            <a:srgbClr val="DCFCE7"/>
          </a:solidFill>
          <a:ln w="5080">
            <a:solidFill>
              <a:srgbClr val="16A34A"/>
            </a:solidFill>
            <a:prstDash val="solid"/>
          </a:ln>
        </p:spPr>
      </p:sp>
      <p:sp>
        <p:nvSpPr>
          <p:cNvPr id="34" name="Text 32"/>
          <p:cNvSpPr/>
          <p:nvPr/>
        </p:nvSpPr>
        <p:spPr>
          <a:xfrm>
            <a:off x="7040880" y="3749040"/>
            <a:ext cx="1883664" cy="292608"/>
          </a:xfrm>
          <a:prstGeom prst="rect">
            <a:avLst/>
          </a:prstGeom>
          <a:noFill/>
          <a:ln/>
        </p:spPr>
        <p:txBody>
          <a:bodyPr wrap="square" lIns="0" tIns="0" rIns="0" bIns="0" rtlCol="0" anchor="ctr"/>
          <a:lstStyle/>
          <a:p>
            <a:pPr indent="0" marL="0">
              <a:buNone/>
            </a:pPr>
            <a:r>
              <a:rPr lang="en-US" sz="750" i="1" dirty="0">
                <a:solidFill>
                  <a:srgbClr val="16A34A"/>
                </a:solidFill>
                <a:latin typeface="Calibri" pitchFamily="34" charset="0"/>
                <a:ea typeface="Calibri" pitchFamily="34" charset="-122"/>
                <a:cs typeface="Calibri" pitchFamily="34" charset="-120"/>
              </a:rPr>
              <a:t>Owned: CDM team</a:t>
            </a:r>
            <a:endParaRPr lang="en-US" sz="750" dirty="0"/>
          </a:p>
        </p:txBody>
      </p:sp>
      <p:sp>
        <p:nvSpPr>
          <p:cNvPr id="35" name="Shape 33"/>
          <p:cNvSpPr/>
          <p:nvPr/>
        </p:nvSpPr>
        <p:spPr>
          <a:xfrm>
            <a:off x="274320" y="4224528"/>
            <a:ext cx="8641080" cy="585216"/>
          </a:xfrm>
          <a:prstGeom prst="rect">
            <a:avLst/>
          </a:prstGeom>
          <a:solidFill>
            <a:srgbClr val="DCFCE7"/>
          </a:solidFill>
          <a:ln w="9525">
            <a:solidFill>
              <a:srgbClr val="86EFAC"/>
            </a:solidFill>
            <a:prstDash val="solid"/>
          </a:ln>
        </p:spPr>
      </p:sp>
      <p:sp>
        <p:nvSpPr>
          <p:cNvPr id="36" name="Text 34"/>
          <p:cNvSpPr/>
          <p:nvPr/>
        </p:nvSpPr>
        <p:spPr>
          <a:xfrm>
            <a:off x="384048" y="4261104"/>
            <a:ext cx="1097280" cy="182880"/>
          </a:xfrm>
          <a:prstGeom prst="rect">
            <a:avLst/>
          </a:prstGeom>
          <a:noFill/>
          <a:ln/>
        </p:spPr>
        <p:txBody>
          <a:bodyPr wrap="square" lIns="0" tIns="0" rIns="0" bIns="0" rtlCol="0" anchor="ctr"/>
          <a:lstStyle/>
          <a:p>
            <a:pPr indent="0" marL="0">
              <a:buNone/>
            </a:pPr>
            <a:r>
              <a:rPr lang="en-US" sz="850" b="1" dirty="0">
                <a:solidFill>
                  <a:srgbClr val="166534"/>
                </a:solidFill>
                <a:latin typeface="Calibri" pitchFamily="34" charset="0"/>
                <a:ea typeface="Calibri" pitchFamily="34" charset="-122"/>
                <a:cs typeface="Calibri" pitchFamily="34" charset="-120"/>
              </a:rPr>
              <a:t>Key Principle</a:t>
            </a:r>
            <a:endParaRPr lang="en-US" sz="850" dirty="0"/>
          </a:p>
        </p:txBody>
      </p:sp>
      <p:sp>
        <p:nvSpPr>
          <p:cNvPr id="37" name="Text 35"/>
          <p:cNvSpPr/>
          <p:nvPr/>
        </p:nvSpPr>
        <p:spPr>
          <a:xfrm>
            <a:off x="384048" y="4453128"/>
            <a:ext cx="8467344" cy="320040"/>
          </a:xfrm>
          <a:prstGeom prst="rect">
            <a:avLst/>
          </a:prstGeom>
          <a:noFill/>
          <a:ln/>
        </p:spPr>
        <p:txBody>
          <a:bodyPr wrap="square" lIns="0" tIns="0" rIns="0" bIns="0" rtlCol="0" anchor="t"/>
          <a:lstStyle/>
          <a:p>
            <a:pPr marL="342900" indent="-342900">
              <a:buSzPct val="100000"/>
              <a:buChar char="•"/>
            </a:pPr>
            <a:r>
              <a:rPr lang="en-US" sz="800" dirty="0">
                <a:solidFill>
                  <a:srgbClr val="166534"/>
                </a:solidFill>
                <a:latin typeface="Calibri" pitchFamily="34" charset="0"/>
                <a:ea typeface="Calibri" pitchFamily="34" charset="-122"/>
                <a:cs typeface="Calibri" pitchFamily="34" charset="-120"/>
              </a:rPr>
              <a:t>Contract ID is the persistent identifier linking data sourcing (ingestion contract) to entity semantics (Risk Data Catalog) across every layer.</a:t>
            </a:r>
            <a:endParaRPr lang="en-US" sz="800" dirty="0"/>
          </a:p>
          <a:p>
            <a:pPr marL="342900" indent="-342900">
              <a:buSzPct val="100000"/>
              <a:buChar char="•"/>
            </a:pPr>
            <a:r>
              <a:rPr lang="en-US" sz="800" dirty="0">
                <a:solidFill>
                  <a:srgbClr val="166534"/>
                </a:solidFill>
                <a:latin typeface="Calibri" pitchFamily="34" charset="0"/>
                <a:ea typeface="Calibri" pitchFamily="34" charset="-122"/>
                <a:cs typeface="Calibri" pitchFamily="34" charset="-120"/>
              </a:rPr>
              <a:t>When sourcing switches from a current feed to CDM, only the Contract ID reference in the Resolution Table changes — the entity definition and app consumption are unchanged.</a:t>
            </a:r>
            <a:endParaRPr lang="en-US" sz="800" dirty="0"/>
          </a:p>
          <a:p>
            <a:pPr marL="342900" indent="-342900">
              <a:buSzPct val="100000"/>
              <a:buChar char="•"/>
            </a:pPr>
            <a:r>
              <a:rPr lang="en-US" sz="800" dirty="0">
                <a:solidFill>
                  <a:srgbClr val="166534"/>
                </a:solidFill>
                <a:latin typeface="Calibri" pitchFamily="34" charset="0"/>
                <a:ea typeface="Calibri" pitchFamily="34" charset="-122"/>
                <a:cs typeface="Calibri" pitchFamily="34" charset="-120"/>
              </a:rPr>
              <a:t>Risk-owned enrichments (netting set, CSA terms) carry their own Contract ID permanently — these never migrate to CDM.</a:t>
            </a:r>
            <a:endParaRPr lang="en-US" sz="800" dirty="0"/>
          </a:p>
        </p:txBody>
      </p:sp>
      <p:sp>
        <p:nvSpPr>
          <p:cNvPr id="38" name="Text 36"/>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39" name="Text 37"/>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lIns="0" tIns="0" rIns="0" bIns="0" rtlCol="0" anchor="ctr"/>
          <a:lstStyle/>
          <a:p>
            <a:pPr indent="0" marL="0">
              <a:buNone/>
            </a:pPr>
            <a:r>
              <a:rPr lang="en-US" sz="2000" b="1" dirty="0">
                <a:solidFill>
                  <a:srgbClr val="166534"/>
                </a:solidFill>
                <a:latin typeface="Calibri" pitchFamily="34" charset="0"/>
                <a:ea typeface="Calibri" pitchFamily="34" charset="-122"/>
                <a:cs typeface="Calibri" pitchFamily="34" charset="-120"/>
              </a:rPr>
              <a:t>The Three-Artifact Model</a:t>
            </a:r>
            <a:endParaRPr lang="en-US" sz="2000" dirty="0"/>
          </a:p>
        </p:txBody>
      </p:sp>
      <p:sp>
        <p:nvSpPr>
          <p:cNvPr id="3" name="Text 1"/>
          <p:cNvSpPr/>
          <p:nvPr/>
        </p:nvSpPr>
        <p:spPr>
          <a:xfrm>
            <a:off x="365760" y="530352"/>
            <a:ext cx="8412480" cy="201168"/>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Operational mechanics (how &amp; when data moves) kept separate from semantic conformance (what data means)</a:t>
            </a:r>
            <a:endParaRPr lang="en-US" sz="900" dirty="0"/>
          </a:p>
        </p:txBody>
      </p:sp>
      <p:sp>
        <p:nvSpPr>
          <p:cNvPr id="4" name="Shape 2"/>
          <p:cNvSpPr/>
          <p:nvPr/>
        </p:nvSpPr>
        <p:spPr>
          <a:xfrm>
            <a:off x="256032" y="822960"/>
            <a:ext cx="2084832" cy="3977640"/>
          </a:xfrm>
          <a:prstGeom prst="rect">
            <a:avLst/>
          </a:prstGeom>
          <a:solidFill>
            <a:srgbClr val="FFFFFF"/>
          </a:solidFill>
          <a:ln w="12700">
            <a:solidFill>
              <a:srgbClr val="1D6FA4"/>
            </a:solidFill>
            <a:prstDash val="solid"/>
          </a:ln>
        </p:spPr>
      </p:sp>
      <p:sp>
        <p:nvSpPr>
          <p:cNvPr id="5" name="Shape 3"/>
          <p:cNvSpPr/>
          <p:nvPr/>
        </p:nvSpPr>
        <p:spPr>
          <a:xfrm>
            <a:off x="256032" y="822960"/>
            <a:ext cx="2084832" cy="347472"/>
          </a:xfrm>
          <a:prstGeom prst="rect">
            <a:avLst/>
          </a:prstGeom>
          <a:solidFill>
            <a:srgbClr val="1D6FA4"/>
          </a:solidFill>
          <a:ln w="12700">
            <a:solidFill>
              <a:srgbClr val="1D6FA4"/>
            </a:solidFill>
            <a:prstDash val="solid"/>
          </a:ln>
        </p:spPr>
      </p:sp>
      <p:sp>
        <p:nvSpPr>
          <p:cNvPr id="6" name="Text 4"/>
          <p:cNvSpPr/>
          <p:nvPr/>
        </p:nvSpPr>
        <p:spPr>
          <a:xfrm>
            <a:off x="347472" y="868680"/>
            <a:ext cx="194767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①  Ingestion Contract</a:t>
            </a:r>
            <a:endParaRPr lang="en-US" sz="950" dirty="0"/>
          </a:p>
        </p:txBody>
      </p:sp>
      <p:sp>
        <p:nvSpPr>
          <p:cNvPr id="7" name="Text 5"/>
          <p:cNvSpPr/>
          <p:nvPr/>
        </p:nvSpPr>
        <p:spPr>
          <a:xfrm>
            <a:off x="347472" y="1051560"/>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Operational · per app-to-source feed · Risk Ingestion Team</a:t>
            </a:r>
            <a:endParaRPr lang="en-US" sz="700" dirty="0"/>
          </a:p>
        </p:txBody>
      </p:sp>
      <p:sp>
        <p:nvSpPr>
          <p:cNvPr id="8" name="Shape 6"/>
          <p:cNvSpPr/>
          <p:nvPr/>
        </p:nvSpPr>
        <p:spPr>
          <a:xfrm>
            <a:off x="329184" y="1261872"/>
            <a:ext cx="1938528" cy="566928"/>
          </a:xfrm>
          <a:prstGeom prst="rect">
            <a:avLst/>
          </a:prstGeom>
          <a:solidFill>
            <a:srgbClr val="EFF6FF"/>
          </a:solidFill>
          <a:ln w="5080">
            <a:solidFill>
              <a:srgbClr val="93C5FD"/>
            </a:solidFill>
            <a:prstDash val="solid"/>
          </a:ln>
        </p:spPr>
      </p:sp>
      <p:sp>
        <p:nvSpPr>
          <p:cNvPr id="9" name="Text 7"/>
          <p:cNvSpPr/>
          <p:nvPr/>
        </p:nvSpPr>
        <p:spPr>
          <a:xfrm>
            <a:off x="384048" y="1307592"/>
            <a:ext cx="1847088" cy="164592"/>
          </a:xfrm>
          <a:prstGeom prst="rect">
            <a:avLst/>
          </a:prstGeom>
          <a:noFill/>
          <a:ln/>
        </p:spPr>
        <p:txBody>
          <a:bodyPr wrap="square" lIns="0" tIns="0" rIns="0" bIns="0" rtlCol="0" anchor="ctr"/>
          <a:lstStyle/>
          <a:p>
            <a:pPr indent="0" marL="0">
              <a:buNone/>
            </a:pPr>
            <a:r>
              <a:rPr lang="en-US" sz="800" b="1" dirty="0">
                <a:solidFill>
                  <a:srgbClr val="1D6FA4"/>
                </a:solidFill>
                <a:latin typeface="Calibri" pitchFamily="34" charset="0"/>
                <a:ea typeface="Calibri" pitchFamily="34" charset="-122"/>
                <a:cs typeface="Calibri" pitchFamily="34" charset="-120"/>
              </a:rPr>
              <a:t>Contract ID</a:t>
            </a:r>
            <a:endParaRPr lang="en-US" sz="800" dirty="0"/>
          </a:p>
        </p:txBody>
      </p:sp>
      <p:sp>
        <p:nvSpPr>
          <p:cNvPr id="10" name="Text 8"/>
          <p:cNvSpPr/>
          <p:nvPr/>
        </p:nvSpPr>
        <p:spPr>
          <a:xfrm>
            <a:off x="384048" y="1481328"/>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Unique ID linking contract to app conformed entity and Risk Data Catalog</a:t>
            </a:r>
            <a:endParaRPr lang="en-US" sz="750" dirty="0"/>
          </a:p>
        </p:txBody>
      </p:sp>
      <p:sp>
        <p:nvSpPr>
          <p:cNvPr id="11" name="Shape 9"/>
          <p:cNvSpPr/>
          <p:nvPr/>
        </p:nvSpPr>
        <p:spPr>
          <a:xfrm>
            <a:off x="329184" y="1883664"/>
            <a:ext cx="1938528" cy="566928"/>
          </a:xfrm>
          <a:prstGeom prst="rect">
            <a:avLst/>
          </a:prstGeom>
          <a:solidFill>
            <a:srgbClr val="EFF6FF"/>
          </a:solidFill>
          <a:ln w="5080">
            <a:solidFill>
              <a:srgbClr val="93C5FD"/>
            </a:solidFill>
            <a:prstDash val="solid"/>
          </a:ln>
        </p:spPr>
      </p:sp>
      <p:sp>
        <p:nvSpPr>
          <p:cNvPr id="12" name="Text 10"/>
          <p:cNvSpPr/>
          <p:nvPr/>
        </p:nvSpPr>
        <p:spPr>
          <a:xfrm>
            <a:off x="384048" y="1929384"/>
            <a:ext cx="1847088" cy="164592"/>
          </a:xfrm>
          <a:prstGeom prst="rect">
            <a:avLst/>
          </a:prstGeom>
          <a:noFill/>
          <a:ln/>
        </p:spPr>
        <p:txBody>
          <a:bodyPr wrap="square" lIns="0" tIns="0" rIns="0" bIns="0" rtlCol="0" anchor="ctr"/>
          <a:lstStyle/>
          <a:p>
            <a:pPr indent="0" marL="0">
              <a:buNone/>
            </a:pPr>
            <a:r>
              <a:rPr lang="en-US" sz="800" b="1" dirty="0">
                <a:solidFill>
                  <a:srgbClr val="1D6FA4"/>
                </a:solidFill>
                <a:latin typeface="Calibri" pitchFamily="34" charset="0"/>
                <a:ea typeface="Calibri" pitchFamily="34" charset="-122"/>
                <a:cs typeface="Calibri" pitchFamily="34" charset="-120"/>
              </a:rPr>
              <a:t>Source / malcode</a:t>
            </a:r>
            <a:endParaRPr lang="en-US" sz="800" dirty="0"/>
          </a:p>
        </p:txBody>
      </p:sp>
      <p:sp>
        <p:nvSpPr>
          <p:cNvPr id="13" name="Text 11"/>
          <p:cNvSpPr/>
          <p:nvPr/>
        </p:nvSpPr>
        <p:spPr>
          <a:xfrm>
            <a:off x="384048" y="2103120"/>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Which upstream system and feed identifier</a:t>
            </a:r>
            <a:endParaRPr lang="en-US" sz="750" dirty="0"/>
          </a:p>
        </p:txBody>
      </p:sp>
      <p:sp>
        <p:nvSpPr>
          <p:cNvPr id="14" name="Shape 12"/>
          <p:cNvSpPr/>
          <p:nvPr/>
        </p:nvSpPr>
        <p:spPr>
          <a:xfrm>
            <a:off x="329184" y="2505456"/>
            <a:ext cx="1938528" cy="566928"/>
          </a:xfrm>
          <a:prstGeom prst="rect">
            <a:avLst/>
          </a:prstGeom>
          <a:solidFill>
            <a:srgbClr val="EFF6FF"/>
          </a:solidFill>
          <a:ln w="5080">
            <a:solidFill>
              <a:srgbClr val="93C5FD"/>
            </a:solidFill>
            <a:prstDash val="solid"/>
          </a:ln>
        </p:spPr>
      </p:sp>
      <p:sp>
        <p:nvSpPr>
          <p:cNvPr id="15" name="Text 13"/>
          <p:cNvSpPr/>
          <p:nvPr/>
        </p:nvSpPr>
        <p:spPr>
          <a:xfrm>
            <a:off x="384048" y="2551176"/>
            <a:ext cx="1847088" cy="164592"/>
          </a:xfrm>
          <a:prstGeom prst="rect">
            <a:avLst/>
          </a:prstGeom>
          <a:noFill/>
          <a:ln/>
        </p:spPr>
        <p:txBody>
          <a:bodyPr wrap="square" lIns="0" tIns="0" rIns="0" bIns="0" rtlCol="0" anchor="ctr"/>
          <a:lstStyle/>
          <a:p>
            <a:pPr indent="0" marL="0">
              <a:buNone/>
            </a:pPr>
            <a:r>
              <a:rPr lang="en-US" sz="800" b="1" dirty="0">
                <a:solidFill>
                  <a:srgbClr val="1D6FA4"/>
                </a:solidFill>
                <a:latin typeface="Calibri" pitchFamily="34" charset="0"/>
                <a:ea typeface="Calibri" pitchFamily="34" charset="-122"/>
                <a:cs typeface="Calibri" pitchFamily="34" charset="-120"/>
              </a:rPr>
              <a:t>Frequency &amp; latency</a:t>
            </a:r>
            <a:endParaRPr lang="en-US" sz="800" dirty="0"/>
          </a:p>
        </p:txBody>
      </p:sp>
      <p:sp>
        <p:nvSpPr>
          <p:cNvPr id="16" name="Text 14"/>
          <p:cNvSpPr/>
          <p:nvPr/>
        </p:nvSpPr>
        <p:spPr>
          <a:xfrm>
            <a:off x="384048" y="2724912"/>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How often data arrives, expected delivery SLA</a:t>
            </a:r>
            <a:endParaRPr lang="en-US" sz="750" dirty="0"/>
          </a:p>
        </p:txBody>
      </p:sp>
      <p:sp>
        <p:nvSpPr>
          <p:cNvPr id="17" name="Shape 15"/>
          <p:cNvSpPr/>
          <p:nvPr/>
        </p:nvSpPr>
        <p:spPr>
          <a:xfrm>
            <a:off x="329184" y="3127248"/>
            <a:ext cx="1938528" cy="566928"/>
          </a:xfrm>
          <a:prstGeom prst="rect">
            <a:avLst/>
          </a:prstGeom>
          <a:solidFill>
            <a:srgbClr val="EFF6FF"/>
          </a:solidFill>
          <a:ln w="5080">
            <a:solidFill>
              <a:srgbClr val="93C5FD"/>
            </a:solidFill>
            <a:prstDash val="solid"/>
          </a:ln>
        </p:spPr>
      </p:sp>
      <p:sp>
        <p:nvSpPr>
          <p:cNvPr id="18" name="Text 16"/>
          <p:cNvSpPr/>
          <p:nvPr/>
        </p:nvSpPr>
        <p:spPr>
          <a:xfrm>
            <a:off x="384048" y="3172968"/>
            <a:ext cx="1847088" cy="164592"/>
          </a:xfrm>
          <a:prstGeom prst="rect">
            <a:avLst/>
          </a:prstGeom>
          <a:noFill/>
          <a:ln/>
        </p:spPr>
        <p:txBody>
          <a:bodyPr wrap="square" lIns="0" tIns="0" rIns="0" bIns="0" rtlCol="0" anchor="ctr"/>
          <a:lstStyle/>
          <a:p>
            <a:pPr indent="0" marL="0">
              <a:buNone/>
            </a:pPr>
            <a:r>
              <a:rPr lang="en-US" sz="800" b="1" dirty="0">
                <a:solidFill>
                  <a:srgbClr val="1D6FA4"/>
                </a:solidFill>
                <a:latin typeface="Calibri" pitchFamily="34" charset="0"/>
                <a:ea typeface="Calibri" pitchFamily="34" charset="-122"/>
                <a:cs typeface="Calibri" pitchFamily="34" charset="-120"/>
              </a:rPr>
              <a:t>Status</a:t>
            </a:r>
            <a:endParaRPr lang="en-US" sz="800" dirty="0"/>
          </a:p>
        </p:txBody>
      </p:sp>
      <p:sp>
        <p:nvSpPr>
          <p:cNvPr id="19" name="Text 17"/>
          <p:cNvSpPr/>
          <p:nvPr/>
        </p:nvSpPr>
        <p:spPr>
          <a:xfrm>
            <a:off x="384048" y="3346704"/>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Active · migrating-to-CDM · deprecated (with effective date)</a:t>
            </a:r>
            <a:endParaRPr lang="en-US" sz="750" dirty="0"/>
          </a:p>
        </p:txBody>
      </p:sp>
      <p:sp>
        <p:nvSpPr>
          <p:cNvPr id="20" name="Shape 18"/>
          <p:cNvSpPr/>
          <p:nvPr/>
        </p:nvSpPr>
        <p:spPr>
          <a:xfrm>
            <a:off x="329184" y="4288536"/>
            <a:ext cx="1938528" cy="457200"/>
          </a:xfrm>
          <a:prstGeom prst="rect">
            <a:avLst/>
          </a:prstGeom>
          <a:solidFill>
            <a:srgbClr val="DBEAFE"/>
          </a:solidFill>
          <a:ln w="5080">
            <a:solidFill>
              <a:srgbClr val="1D6FA4"/>
            </a:solidFill>
            <a:prstDash val="solid"/>
          </a:ln>
        </p:spPr>
      </p:sp>
      <p:sp>
        <p:nvSpPr>
          <p:cNvPr id="21" name="Text 19"/>
          <p:cNvSpPr/>
          <p:nvPr/>
        </p:nvSpPr>
        <p:spPr>
          <a:xfrm>
            <a:off x="384048" y="4306824"/>
            <a:ext cx="1847088" cy="420624"/>
          </a:xfrm>
          <a:prstGeom prst="rect">
            <a:avLst/>
          </a:prstGeom>
          <a:noFill/>
          <a:ln/>
        </p:spPr>
        <p:txBody>
          <a:bodyPr wrap="square" lIns="0" tIns="0" rIns="0" bIns="0" rtlCol="0" anchor="t"/>
          <a:lstStyle/>
          <a:p>
            <a:pPr indent="0" marL="0">
              <a:buNone/>
            </a:pPr>
            <a:r>
              <a:rPr lang="en-US" sz="700" i="1" dirty="0">
                <a:solidFill>
                  <a:srgbClr val="1D6FA4"/>
                </a:solidFill>
                <a:latin typeface="Calibri" pitchFamily="34" charset="0"/>
                <a:ea typeface="Calibri" pitchFamily="34" charset="-122"/>
                <a:cs typeface="Calibri" pitchFamily="34" charset="-120"/>
              </a:rPr>
              <a:t>Separate lifecycle from entity definitions.</a:t>
            </a:r>
            <a:endParaRPr lang="en-US" sz="700" dirty="0"/>
          </a:p>
          <a:p>
            <a:pPr indent="0" marL="0">
              <a:buNone/>
            </a:pPr>
            <a:r>
              <a:rPr lang="en-US" sz="700" i="1" dirty="0">
                <a:solidFill>
                  <a:srgbClr val="1D6FA4"/>
                </a:solidFill>
                <a:latin typeface="Calibri" pitchFamily="34" charset="0"/>
                <a:ea typeface="Calibri" pitchFamily="34" charset="-122"/>
                <a:cs typeface="Calibri" pitchFamily="34" charset="-120"/>
              </a:rPr>
              <a:t>Updating a pipeline does not change the entity.</a:t>
            </a:r>
            <a:endParaRPr lang="en-US" sz="700" dirty="0"/>
          </a:p>
          <a:p>
            <a:pPr indent="0" marL="0">
              <a:buNone/>
            </a:pPr>
            <a:r>
              <a:rPr lang="en-US" sz="700" i="1" dirty="0">
                <a:solidFill>
                  <a:srgbClr val="1D6FA4"/>
                </a:solidFill>
                <a:latin typeface="Calibri" pitchFamily="34" charset="0"/>
                <a:ea typeface="Calibri" pitchFamily="34" charset="-122"/>
                <a:cs typeface="Calibri" pitchFamily="34" charset="-120"/>
              </a:rPr>
              <a:t>Details captured in the Risk Data Catalog.</a:t>
            </a:r>
            <a:endParaRPr lang="en-US" sz="700" dirty="0"/>
          </a:p>
        </p:txBody>
      </p:sp>
      <p:sp>
        <p:nvSpPr>
          <p:cNvPr id="22" name="Shape 20"/>
          <p:cNvSpPr/>
          <p:nvPr/>
        </p:nvSpPr>
        <p:spPr>
          <a:xfrm>
            <a:off x="2450592" y="822960"/>
            <a:ext cx="2084832" cy="3977640"/>
          </a:xfrm>
          <a:prstGeom prst="rect">
            <a:avLst/>
          </a:prstGeom>
          <a:solidFill>
            <a:srgbClr val="FFFFFF"/>
          </a:solidFill>
          <a:ln w="12700">
            <a:solidFill>
              <a:srgbClr val="0F766E"/>
            </a:solidFill>
            <a:prstDash val="solid"/>
          </a:ln>
        </p:spPr>
      </p:sp>
      <p:sp>
        <p:nvSpPr>
          <p:cNvPr id="23" name="Shape 21"/>
          <p:cNvSpPr/>
          <p:nvPr/>
        </p:nvSpPr>
        <p:spPr>
          <a:xfrm>
            <a:off x="2450592" y="822960"/>
            <a:ext cx="2084832" cy="347472"/>
          </a:xfrm>
          <a:prstGeom prst="rect">
            <a:avLst/>
          </a:prstGeom>
          <a:solidFill>
            <a:srgbClr val="0F766E"/>
          </a:solidFill>
          <a:ln w="12700">
            <a:solidFill>
              <a:srgbClr val="0F766E"/>
            </a:solidFill>
            <a:prstDash val="solid"/>
          </a:ln>
        </p:spPr>
      </p:sp>
      <p:sp>
        <p:nvSpPr>
          <p:cNvPr id="24" name="Text 22"/>
          <p:cNvSpPr/>
          <p:nvPr/>
        </p:nvSpPr>
        <p:spPr>
          <a:xfrm>
            <a:off x="2542032" y="868680"/>
            <a:ext cx="194767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②  Risk Data Contract / Catalog</a:t>
            </a:r>
            <a:endParaRPr lang="en-US" sz="950" dirty="0"/>
          </a:p>
        </p:txBody>
      </p:sp>
      <p:sp>
        <p:nvSpPr>
          <p:cNvPr id="25" name="Text 23"/>
          <p:cNvSpPr/>
          <p:nvPr/>
        </p:nvSpPr>
        <p:spPr>
          <a:xfrm>
            <a:off x="2542032" y="1051560"/>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Governance · entity-level view · Risk Data Platform + Ingestion Team</a:t>
            </a:r>
            <a:endParaRPr lang="en-US" sz="700" dirty="0"/>
          </a:p>
        </p:txBody>
      </p:sp>
      <p:sp>
        <p:nvSpPr>
          <p:cNvPr id="26" name="Shape 24"/>
          <p:cNvSpPr/>
          <p:nvPr/>
        </p:nvSpPr>
        <p:spPr>
          <a:xfrm>
            <a:off x="2523744" y="1261872"/>
            <a:ext cx="1938528" cy="566928"/>
          </a:xfrm>
          <a:prstGeom prst="rect">
            <a:avLst/>
          </a:prstGeom>
          <a:solidFill>
            <a:srgbClr val="F0FDFA"/>
          </a:solidFill>
          <a:ln w="5080">
            <a:solidFill>
              <a:srgbClr val="5EEAD4"/>
            </a:solidFill>
            <a:prstDash val="solid"/>
          </a:ln>
        </p:spPr>
      </p:sp>
      <p:sp>
        <p:nvSpPr>
          <p:cNvPr id="27" name="Text 25"/>
          <p:cNvSpPr/>
          <p:nvPr/>
        </p:nvSpPr>
        <p:spPr>
          <a:xfrm>
            <a:off x="2578608" y="1307592"/>
            <a:ext cx="1847088" cy="164592"/>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Entity reference</a:t>
            </a:r>
            <a:endParaRPr lang="en-US" sz="800" dirty="0"/>
          </a:p>
        </p:txBody>
      </p:sp>
      <p:sp>
        <p:nvSpPr>
          <p:cNvPr id="28" name="Text 26"/>
          <p:cNvSpPr/>
          <p:nvPr/>
        </p:nvSpPr>
        <p:spPr>
          <a:xfrm>
            <a:off x="2578608" y="1481328"/>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Links to Risk Confirmed Entity in riskwh.confirmed</a:t>
            </a:r>
            <a:endParaRPr lang="en-US" sz="750" dirty="0"/>
          </a:p>
        </p:txBody>
      </p:sp>
      <p:sp>
        <p:nvSpPr>
          <p:cNvPr id="29" name="Shape 27"/>
          <p:cNvSpPr/>
          <p:nvPr/>
        </p:nvSpPr>
        <p:spPr>
          <a:xfrm>
            <a:off x="2523744" y="1883664"/>
            <a:ext cx="1938528" cy="566928"/>
          </a:xfrm>
          <a:prstGeom prst="rect">
            <a:avLst/>
          </a:prstGeom>
          <a:solidFill>
            <a:srgbClr val="F0FDFA"/>
          </a:solidFill>
          <a:ln w="5080">
            <a:solidFill>
              <a:srgbClr val="5EEAD4"/>
            </a:solidFill>
            <a:prstDash val="solid"/>
          </a:ln>
        </p:spPr>
      </p:sp>
      <p:sp>
        <p:nvSpPr>
          <p:cNvPr id="30" name="Text 28"/>
          <p:cNvSpPr/>
          <p:nvPr/>
        </p:nvSpPr>
        <p:spPr>
          <a:xfrm>
            <a:off x="2578608" y="1929384"/>
            <a:ext cx="1847088" cy="164592"/>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Contract ID(s)</a:t>
            </a:r>
            <a:endParaRPr lang="en-US" sz="800" dirty="0"/>
          </a:p>
        </p:txBody>
      </p:sp>
      <p:sp>
        <p:nvSpPr>
          <p:cNvPr id="31" name="Text 29"/>
          <p:cNvSpPr/>
          <p:nvPr/>
        </p:nvSpPr>
        <p:spPr>
          <a:xfrm>
            <a:off x="2578608" y="2103120"/>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Which ingestion contracts feed this entity's attributes</a:t>
            </a:r>
            <a:endParaRPr lang="en-US" sz="750" dirty="0"/>
          </a:p>
        </p:txBody>
      </p:sp>
      <p:sp>
        <p:nvSpPr>
          <p:cNvPr id="32" name="Shape 30"/>
          <p:cNvSpPr/>
          <p:nvPr/>
        </p:nvSpPr>
        <p:spPr>
          <a:xfrm>
            <a:off x="2523744" y="2505456"/>
            <a:ext cx="1938528" cy="566928"/>
          </a:xfrm>
          <a:prstGeom prst="rect">
            <a:avLst/>
          </a:prstGeom>
          <a:solidFill>
            <a:srgbClr val="F0FDFA"/>
          </a:solidFill>
          <a:ln w="5080">
            <a:solidFill>
              <a:srgbClr val="5EEAD4"/>
            </a:solidFill>
            <a:prstDash val="solid"/>
          </a:ln>
        </p:spPr>
      </p:sp>
      <p:sp>
        <p:nvSpPr>
          <p:cNvPr id="33" name="Text 31"/>
          <p:cNvSpPr/>
          <p:nvPr/>
        </p:nvSpPr>
        <p:spPr>
          <a:xfrm>
            <a:off x="2578608" y="2551176"/>
            <a:ext cx="1847088" cy="164592"/>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CDM alignment</a:t>
            </a:r>
            <a:endParaRPr lang="en-US" sz="800" dirty="0"/>
          </a:p>
        </p:txBody>
      </p:sp>
      <p:sp>
        <p:nvSpPr>
          <p:cNvPr id="34" name="Text 32"/>
          <p:cNvSpPr/>
          <p:nvPr/>
        </p:nvSpPr>
        <p:spPr>
          <a:xfrm>
            <a:off x="2578608" y="2724912"/>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CDM-matched / CDM-gap / Risk-owned enrichment</a:t>
            </a:r>
            <a:endParaRPr lang="en-US" sz="750" dirty="0"/>
          </a:p>
        </p:txBody>
      </p:sp>
      <p:sp>
        <p:nvSpPr>
          <p:cNvPr id="35" name="Shape 33"/>
          <p:cNvSpPr/>
          <p:nvPr/>
        </p:nvSpPr>
        <p:spPr>
          <a:xfrm>
            <a:off x="2523744" y="3127248"/>
            <a:ext cx="1938528" cy="566928"/>
          </a:xfrm>
          <a:prstGeom prst="rect">
            <a:avLst/>
          </a:prstGeom>
          <a:solidFill>
            <a:srgbClr val="F0FDFA"/>
          </a:solidFill>
          <a:ln w="5080">
            <a:solidFill>
              <a:srgbClr val="5EEAD4"/>
            </a:solidFill>
            <a:prstDash val="solid"/>
          </a:ln>
        </p:spPr>
      </p:sp>
      <p:sp>
        <p:nvSpPr>
          <p:cNvPr id="36" name="Text 34"/>
          <p:cNvSpPr/>
          <p:nvPr/>
        </p:nvSpPr>
        <p:spPr>
          <a:xfrm>
            <a:off x="2578608" y="3172968"/>
            <a:ext cx="1847088" cy="164592"/>
          </a:xfrm>
          <a:prstGeom prst="rect">
            <a:avLst/>
          </a:prstGeom>
          <a:noFill/>
          <a:ln/>
        </p:spPr>
        <p:txBody>
          <a:bodyPr wrap="square" lIns="0" tIns="0" rIns="0" bIns="0" rtlCol="0" anchor="ctr"/>
          <a:lstStyle/>
          <a:p>
            <a:pPr indent="0" marL="0">
              <a:buNone/>
            </a:pPr>
            <a:r>
              <a:rPr lang="en-US" sz="800" b="1" dirty="0">
                <a:solidFill>
                  <a:srgbClr val="0F766E"/>
                </a:solidFill>
                <a:latin typeface="Calibri" pitchFamily="34" charset="0"/>
                <a:ea typeface="Calibri" pitchFamily="34" charset="-122"/>
                <a:cs typeface="Calibri" pitchFamily="34" charset="-120"/>
              </a:rPr>
              <a:t>Frequency &amp; lineage</a:t>
            </a:r>
            <a:endParaRPr lang="en-US" sz="800" dirty="0"/>
          </a:p>
        </p:txBody>
      </p:sp>
      <p:sp>
        <p:nvSpPr>
          <p:cNvPr id="37" name="Text 35"/>
          <p:cNvSpPr/>
          <p:nvPr/>
        </p:nvSpPr>
        <p:spPr>
          <a:xfrm>
            <a:off x="2578608" y="3346704"/>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Source frequency, contributing apps, attribute lineage</a:t>
            </a:r>
            <a:endParaRPr lang="en-US" sz="750" dirty="0"/>
          </a:p>
        </p:txBody>
      </p:sp>
      <p:sp>
        <p:nvSpPr>
          <p:cNvPr id="38" name="Shape 36"/>
          <p:cNvSpPr/>
          <p:nvPr/>
        </p:nvSpPr>
        <p:spPr>
          <a:xfrm>
            <a:off x="2523744" y="4288536"/>
            <a:ext cx="1938528" cy="457200"/>
          </a:xfrm>
          <a:prstGeom prst="rect">
            <a:avLst/>
          </a:prstGeom>
          <a:solidFill>
            <a:srgbClr val="CCFBF1"/>
          </a:solidFill>
          <a:ln w="5080">
            <a:solidFill>
              <a:srgbClr val="0F766E"/>
            </a:solidFill>
            <a:prstDash val="solid"/>
          </a:ln>
        </p:spPr>
      </p:sp>
      <p:sp>
        <p:nvSpPr>
          <p:cNvPr id="39" name="Text 37"/>
          <p:cNvSpPr/>
          <p:nvPr/>
        </p:nvSpPr>
        <p:spPr>
          <a:xfrm>
            <a:off x="2578608" y="4306824"/>
            <a:ext cx="1847088" cy="420624"/>
          </a:xfrm>
          <a:prstGeom prst="rect">
            <a:avLst/>
          </a:prstGeom>
          <a:noFill/>
          <a:ln/>
        </p:spPr>
        <p:txBody>
          <a:bodyPr wrap="square" lIns="0" tIns="0" rIns="0" bIns="0" rtlCol="0" anchor="t"/>
          <a:lstStyle/>
          <a:p>
            <a:pPr indent="0" marL="0">
              <a:buNone/>
            </a:pPr>
            <a:r>
              <a:rPr lang="en-US" sz="700" i="1" dirty="0">
                <a:solidFill>
                  <a:srgbClr val="0F766E"/>
                </a:solidFill>
                <a:latin typeface="Calibri" pitchFamily="34" charset="0"/>
                <a:ea typeface="Calibri" pitchFamily="34" charset="-122"/>
                <a:cs typeface="Calibri" pitchFamily="34" charset="-120"/>
              </a:rPr>
              <a:t>Lives in riskwh.confirmed metadata.</a:t>
            </a:r>
            <a:endParaRPr lang="en-US" sz="700" dirty="0"/>
          </a:p>
          <a:p>
            <a:pPr indent="0" marL="0">
              <a:buNone/>
            </a:pPr>
            <a:r>
              <a:rPr lang="en-US" sz="700" i="1" dirty="0">
                <a:solidFill>
                  <a:srgbClr val="0F766E"/>
                </a:solidFill>
                <a:latin typeface="Calibri" pitchFamily="34" charset="0"/>
                <a:ea typeface="Calibri" pitchFamily="34" charset="-122"/>
                <a:cs typeface="Calibri" pitchFamily="34" charset="-120"/>
              </a:rPr>
              <a:t>Unity Catalog tags propagated from here.</a:t>
            </a:r>
            <a:endParaRPr lang="en-US" sz="700" dirty="0"/>
          </a:p>
        </p:txBody>
      </p:sp>
      <p:sp>
        <p:nvSpPr>
          <p:cNvPr id="40" name="Shape 38"/>
          <p:cNvSpPr/>
          <p:nvPr/>
        </p:nvSpPr>
        <p:spPr>
          <a:xfrm>
            <a:off x="4645152" y="822960"/>
            <a:ext cx="2084832" cy="3977640"/>
          </a:xfrm>
          <a:prstGeom prst="rect">
            <a:avLst/>
          </a:prstGeom>
          <a:solidFill>
            <a:srgbClr val="FFFFFF"/>
          </a:solidFill>
          <a:ln w="12700">
            <a:solidFill>
              <a:srgbClr val="6941A8"/>
            </a:solidFill>
            <a:prstDash val="solid"/>
          </a:ln>
        </p:spPr>
      </p:sp>
      <p:sp>
        <p:nvSpPr>
          <p:cNvPr id="41" name="Shape 39"/>
          <p:cNvSpPr/>
          <p:nvPr/>
        </p:nvSpPr>
        <p:spPr>
          <a:xfrm>
            <a:off x="4645152" y="822960"/>
            <a:ext cx="2084832" cy="347472"/>
          </a:xfrm>
          <a:prstGeom prst="rect">
            <a:avLst/>
          </a:prstGeom>
          <a:solidFill>
            <a:srgbClr val="6941A8"/>
          </a:solidFill>
          <a:ln w="12700">
            <a:solidFill>
              <a:srgbClr val="6941A8"/>
            </a:solidFill>
            <a:prstDash val="solid"/>
          </a:ln>
        </p:spPr>
      </p:sp>
      <p:sp>
        <p:nvSpPr>
          <p:cNvPr id="42" name="Text 40"/>
          <p:cNvSpPr/>
          <p:nvPr/>
        </p:nvSpPr>
        <p:spPr>
          <a:xfrm>
            <a:off x="4736592" y="868680"/>
            <a:ext cx="194767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③  Resolution Table</a:t>
            </a:r>
            <a:endParaRPr lang="en-US" sz="950" dirty="0"/>
          </a:p>
        </p:txBody>
      </p:sp>
      <p:sp>
        <p:nvSpPr>
          <p:cNvPr id="43" name="Text 41"/>
          <p:cNvSpPr/>
          <p:nvPr/>
        </p:nvSpPr>
        <p:spPr>
          <a:xfrm>
            <a:off x="4736592" y="1051560"/>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Migrate-backward ledger · Risk Ingestion Team</a:t>
            </a:r>
            <a:endParaRPr lang="en-US" sz="700" dirty="0"/>
          </a:p>
        </p:txBody>
      </p:sp>
      <p:sp>
        <p:nvSpPr>
          <p:cNvPr id="44" name="Shape 42"/>
          <p:cNvSpPr/>
          <p:nvPr/>
        </p:nvSpPr>
        <p:spPr>
          <a:xfrm>
            <a:off x="4718304" y="1261872"/>
            <a:ext cx="1938528" cy="566928"/>
          </a:xfrm>
          <a:prstGeom prst="rect">
            <a:avLst/>
          </a:prstGeom>
          <a:solidFill>
            <a:srgbClr val="F5F3FF"/>
          </a:solidFill>
          <a:ln w="5080">
            <a:solidFill>
              <a:srgbClr val="C4B5FD"/>
            </a:solidFill>
            <a:prstDash val="solid"/>
          </a:ln>
        </p:spPr>
      </p:sp>
      <p:sp>
        <p:nvSpPr>
          <p:cNvPr id="45" name="Text 43"/>
          <p:cNvSpPr/>
          <p:nvPr/>
        </p:nvSpPr>
        <p:spPr>
          <a:xfrm>
            <a:off x="4773168" y="1307592"/>
            <a:ext cx="1847088" cy="164592"/>
          </a:xfrm>
          <a:prstGeom prst="rect">
            <a:avLst/>
          </a:prstGeom>
          <a:noFill/>
          <a:ln/>
        </p:spPr>
        <p:txBody>
          <a:bodyPr wrap="square" lIns="0" tIns="0" rIns="0" bIns="0" rtlCol="0" anchor="ctr"/>
          <a:lstStyle/>
          <a:p>
            <a:pPr indent="0" marL="0">
              <a:buNone/>
            </a:pPr>
            <a:r>
              <a:rPr lang="en-US" sz="800" b="1" dirty="0">
                <a:solidFill>
                  <a:srgbClr val="6941A8"/>
                </a:solidFill>
                <a:latin typeface="Calibri" pitchFamily="34" charset="0"/>
                <a:ea typeface="Calibri" pitchFamily="34" charset="-122"/>
                <a:cs typeface="Calibri" pitchFamily="34" charset="-120"/>
              </a:rPr>
              <a:t>RCE entity / attribute</a:t>
            </a:r>
            <a:endParaRPr lang="en-US" sz="800" dirty="0"/>
          </a:p>
        </p:txBody>
      </p:sp>
      <p:sp>
        <p:nvSpPr>
          <p:cNvPr id="46" name="Text 44"/>
          <p:cNvSpPr/>
          <p:nvPr/>
        </p:nvSpPr>
        <p:spPr>
          <a:xfrm>
            <a:off x="4773168" y="1481328"/>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What the Risk Confirmed Entity calls it</a:t>
            </a:r>
            <a:endParaRPr lang="en-US" sz="750" dirty="0"/>
          </a:p>
        </p:txBody>
      </p:sp>
      <p:sp>
        <p:nvSpPr>
          <p:cNvPr id="47" name="Shape 45"/>
          <p:cNvSpPr/>
          <p:nvPr/>
        </p:nvSpPr>
        <p:spPr>
          <a:xfrm>
            <a:off x="4718304" y="1883664"/>
            <a:ext cx="1938528" cy="566928"/>
          </a:xfrm>
          <a:prstGeom prst="rect">
            <a:avLst/>
          </a:prstGeom>
          <a:solidFill>
            <a:srgbClr val="F5F3FF"/>
          </a:solidFill>
          <a:ln w="5080">
            <a:solidFill>
              <a:srgbClr val="C4B5FD"/>
            </a:solidFill>
            <a:prstDash val="solid"/>
          </a:ln>
        </p:spPr>
      </p:sp>
      <p:sp>
        <p:nvSpPr>
          <p:cNvPr id="48" name="Text 46"/>
          <p:cNvSpPr/>
          <p:nvPr/>
        </p:nvSpPr>
        <p:spPr>
          <a:xfrm>
            <a:off x="4773168" y="1929384"/>
            <a:ext cx="1847088" cy="164592"/>
          </a:xfrm>
          <a:prstGeom prst="rect">
            <a:avLst/>
          </a:prstGeom>
          <a:noFill/>
          <a:ln/>
        </p:spPr>
        <p:txBody>
          <a:bodyPr wrap="square" lIns="0" tIns="0" rIns="0" bIns="0" rtlCol="0" anchor="ctr"/>
          <a:lstStyle/>
          <a:p>
            <a:pPr indent="0" marL="0">
              <a:buNone/>
            </a:pPr>
            <a:r>
              <a:rPr lang="en-US" sz="800" b="1" dirty="0">
                <a:solidFill>
                  <a:srgbClr val="6941A8"/>
                </a:solidFill>
                <a:latin typeface="Calibri" pitchFamily="34" charset="0"/>
                <a:ea typeface="Calibri" pitchFamily="34" charset="-122"/>
                <a:cs typeface="Calibri" pitchFamily="34" charset="-120"/>
              </a:rPr>
              <a:t>App entity / attribute</a:t>
            </a:r>
            <a:endParaRPr lang="en-US" sz="800" dirty="0"/>
          </a:p>
        </p:txBody>
      </p:sp>
      <p:sp>
        <p:nvSpPr>
          <p:cNvPr id="49" name="Text 47"/>
          <p:cNvSpPr/>
          <p:nvPr/>
        </p:nvSpPr>
        <p:spPr>
          <a:xfrm>
            <a:off x="4773168" y="2103120"/>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What the contributing app calls it</a:t>
            </a:r>
            <a:endParaRPr lang="en-US" sz="750" dirty="0"/>
          </a:p>
        </p:txBody>
      </p:sp>
      <p:sp>
        <p:nvSpPr>
          <p:cNvPr id="50" name="Shape 48"/>
          <p:cNvSpPr/>
          <p:nvPr/>
        </p:nvSpPr>
        <p:spPr>
          <a:xfrm>
            <a:off x="4718304" y="2505456"/>
            <a:ext cx="1938528" cy="566928"/>
          </a:xfrm>
          <a:prstGeom prst="rect">
            <a:avLst/>
          </a:prstGeom>
          <a:solidFill>
            <a:srgbClr val="F5F3FF"/>
          </a:solidFill>
          <a:ln w="5080">
            <a:solidFill>
              <a:srgbClr val="C4B5FD"/>
            </a:solidFill>
            <a:prstDash val="solid"/>
          </a:ln>
        </p:spPr>
      </p:sp>
      <p:sp>
        <p:nvSpPr>
          <p:cNvPr id="51" name="Text 49"/>
          <p:cNvSpPr/>
          <p:nvPr/>
        </p:nvSpPr>
        <p:spPr>
          <a:xfrm>
            <a:off x="4773168" y="2551176"/>
            <a:ext cx="1847088" cy="164592"/>
          </a:xfrm>
          <a:prstGeom prst="rect">
            <a:avLst/>
          </a:prstGeom>
          <a:noFill/>
          <a:ln/>
        </p:spPr>
        <p:txBody>
          <a:bodyPr wrap="square" lIns="0" tIns="0" rIns="0" bIns="0" rtlCol="0" anchor="ctr"/>
          <a:lstStyle/>
          <a:p>
            <a:pPr indent="0" marL="0">
              <a:buNone/>
            </a:pPr>
            <a:r>
              <a:rPr lang="en-US" sz="800" b="1" dirty="0">
                <a:solidFill>
                  <a:srgbClr val="6941A8"/>
                </a:solidFill>
                <a:latin typeface="Calibri" pitchFamily="34" charset="0"/>
                <a:ea typeface="Calibri" pitchFamily="34" charset="-122"/>
                <a:cs typeface="Calibri" pitchFamily="34" charset="-120"/>
              </a:rPr>
              <a:t>Contract ID</a:t>
            </a:r>
            <a:endParaRPr lang="en-US" sz="800" dirty="0"/>
          </a:p>
        </p:txBody>
      </p:sp>
      <p:sp>
        <p:nvSpPr>
          <p:cNvPr id="52" name="Text 50"/>
          <p:cNvSpPr/>
          <p:nvPr/>
        </p:nvSpPr>
        <p:spPr>
          <a:xfrm>
            <a:off x="4773168" y="2724912"/>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Which ingestion contract feeds this mapping</a:t>
            </a:r>
            <a:endParaRPr lang="en-US" sz="750" dirty="0"/>
          </a:p>
        </p:txBody>
      </p:sp>
      <p:sp>
        <p:nvSpPr>
          <p:cNvPr id="53" name="Shape 51"/>
          <p:cNvSpPr/>
          <p:nvPr/>
        </p:nvSpPr>
        <p:spPr>
          <a:xfrm>
            <a:off x="4718304" y="3127248"/>
            <a:ext cx="1938528" cy="566928"/>
          </a:xfrm>
          <a:prstGeom prst="rect">
            <a:avLst/>
          </a:prstGeom>
          <a:solidFill>
            <a:srgbClr val="F5F3FF"/>
          </a:solidFill>
          <a:ln w="5080">
            <a:solidFill>
              <a:srgbClr val="C4B5FD"/>
            </a:solidFill>
            <a:prstDash val="solid"/>
          </a:ln>
        </p:spPr>
      </p:sp>
      <p:sp>
        <p:nvSpPr>
          <p:cNvPr id="54" name="Text 52"/>
          <p:cNvSpPr/>
          <p:nvPr/>
        </p:nvSpPr>
        <p:spPr>
          <a:xfrm>
            <a:off x="4773168" y="3172968"/>
            <a:ext cx="1847088" cy="164592"/>
          </a:xfrm>
          <a:prstGeom prst="rect">
            <a:avLst/>
          </a:prstGeom>
          <a:noFill/>
          <a:ln/>
        </p:spPr>
        <p:txBody>
          <a:bodyPr wrap="square" lIns="0" tIns="0" rIns="0" bIns="0" rtlCol="0" anchor="ctr"/>
          <a:lstStyle/>
          <a:p>
            <a:pPr indent="0" marL="0">
              <a:buNone/>
            </a:pPr>
            <a:r>
              <a:rPr lang="en-US" sz="800" b="1" dirty="0">
                <a:solidFill>
                  <a:srgbClr val="6941A8"/>
                </a:solidFill>
                <a:latin typeface="Calibri" pitchFamily="34" charset="0"/>
                <a:ea typeface="Calibri" pitchFamily="34" charset="-122"/>
                <a:cs typeface="Calibri" pitchFamily="34" charset="-120"/>
              </a:rPr>
              <a:t>Status + dates</a:t>
            </a:r>
            <a:endParaRPr lang="en-US" sz="800" dirty="0"/>
          </a:p>
        </p:txBody>
      </p:sp>
      <p:sp>
        <p:nvSpPr>
          <p:cNvPr id="55" name="Text 53"/>
          <p:cNvSpPr/>
          <p:nvPr/>
        </p:nvSpPr>
        <p:spPr>
          <a:xfrm>
            <a:off x="4773168" y="3346704"/>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Active / switching-to-CDM / deprecated + effective dates</a:t>
            </a:r>
            <a:endParaRPr lang="en-US" sz="750" dirty="0"/>
          </a:p>
        </p:txBody>
      </p:sp>
      <p:sp>
        <p:nvSpPr>
          <p:cNvPr id="56" name="Shape 54"/>
          <p:cNvSpPr/>
          <p:nvPr/>
        </p:nvSpPr>
        <p:spPr>
          <a:xfrm>
            <a:off x="4718304" y="4288536"/>
            <a:ext cx="1938528" cy="457200"/>
          </a:xfrm>
          <a:prstGeom prst="rect">
            <a:avLst/>
          </a:prstGeom>
          <a:solidFill>
            <a:srgbClr val="EDE9FE"/>
          </a:solidFill>
          <a:ln w="5080">
            <a:solidFill>
              <a:srgbClr val="6941A8"/>
            </a:solidFill>
            <a:prstDash val="solid"/>
          </a:ln>
        </p:spPr>
      </p:sp>
      <p:sp>
        <p:nvSpPr>
          <p:cNvPr id="57" name="Text 55"/>
          <p:cNvSpPr/>
          <p:nvPr/>
        </p:nvSpPr>
        <p:spPr>
          <a:xfrm>
            <a:off x="4773168" y="4306824"/>
            <a:ext cx="1847088" cy="420624"/>
          </a:xfrm>
          <a:prstGeom prst="rect">
            <a:avLst/>
          </a:prstGeom>
          <a:noFill/>
          <a:ln/>
        </p:spPr>
        <p:txBody>
          <a:bodyPr wrap="square" lIns="0" tIns="0" rIns="0" bIns="0" rtlCol="0" anchor="t"/>
          <a:lstStyle/>
          <a:p>
            <a:pPr indent="0" marL="0">
              <a:buNone/>
            </a:pPr>
            <a:r>
              <a:rPr lang="en-US" sz="700" i="1" dirty="0">
                <a:solidFill>
                  <a:srgbClr val="6941A8"/>
                </a:solidFill>
                <a:latin typeface="Calibri" pitchFamily="34" charset="0"/>
                <a:ea typeface="Calibri" pitchFamily="34" charset="-122"/>
                <a:cs typeface="Calibri" pitchFamily="34" charset="-120"/>
              </a:rPr>
              <a:t>Update here to switch sourcing to CDM.</a:t>
            </a:r>
            <a:endParaRPr lang="en-US" sz="700" dirty="0"/>
          </a:p>
          <a:p>
            <a:pPr indent="0" marL="0">
              <a:buNone/>
            </a:pPr>
            <a:r>
              <a:rPr lang="en-US" sz="700" i="1" dirty="0">
                <a:solidFill>
                  <a:srgbClr val="6941A8"/>
                </a:solidFill>
                <a:latin typeface="Calibri" pitchFamily="34" charset="0"/>
                <a:ea typeface="Calibri" pitchFamily="34" charset="-122"/>
                <a:cs typeface="Calibri" pitchFamily="34" charset="-120"/>
              </a:rPr>
              <a:t>App entities and RCE definition unchanged.</a:t>
            </a:r>
            <a:endParaRPr lang="en-US" sz="700" dirty="0"/>
          </a:p>
          <a:p>
            <a:pPr indent="0" marL="0">
              <a:buNone/>
            </a:pPr>
            <a:r>
              <a:rPr lang="en-US" sz="700" i="1" dirty="0">
                <a:solidFill>
                  <a:srgbClr val="6941A8"/>
                </a:solidFill>
                <a:latin typeface="Calibri" pitchFamily="34" charset="0"/>
                <a:ea typeface="Calibri" pitchFamily="34" charset="-122"/>
                <a:cs typeface="Calibri" pitchFamily="34" charset="-120"/>
              </a:rPr>
              <a:t>Complete audit trail of all source migrations.</a:t>
            </a:r>
            <a:endParaRPr lang="en-US" sz="700" dirty="0"/>
          </a:p>
        </p:txBody>
      </p:sp>
      <p:sp>
        <p:nvSpPr>
          <p:cNvPr id="58" name="Shape 56"/>
          <p:cNvSpPr/>
          <p:nvPr/>
        </p:nvSpPr>
        <p:spPr>
          <a:xfrm>
            <a:off x="6839712" y="822960"/>
            <a:ext cx="2084832" cy="3977640"/>
          </a:xfrm>
          <a:prstGeom prst="rect">
            <a:avLst/>
          </a:prstGeom>
          <a:solidFill>
            <a:srgbClr val="FFFFFF"/>
          </a:solidFill>
          <a:ln w="12700">
            <a:solidFill>
              <a:srgbClr val="16A34A"/>
            </a:solidFill>
            <a:prstDash val="solid"/>
          </a:ln>
        </p:spPr>
      </p:sp>
      <p:sp>
        <p:nvSpPr>
          <p:cNvPr id="59" name="Shape 57"/>
          <p:cNvSpPr/>
          <p:nvPr/>
        </p:nvSpPr>
        <p:spPr>
          <a:xfrm>
            <a:off x="6839712" y="822960"/>
            <a:ext cx="2084832" cy="347472"/>
          </a:xfrm>
          <a:prstGeom prst="rect">
            <a:avLst/>
          </a:prstGeom>
          <a:solidFill>
            <a:srgbClr val="16A34A"/>
          </a:solidFill>
          <a:ln w="12700">
            <a:solidFill>
              <a:srgbClr val="16A34A"/>
            </a:solidFill>
            <a:prstDash val="solid"/>
          </a:ln>
        </p:spPr>
      </p:sp>
      <p:sp>
        <p:nvSpPr>
          <p:cNvPr id="60" name="Text 58"/>
          <p:cNvSpPr/>
          <p:nvPr/>
        </p:nvSpPr>
        <p:spPr>
          <a:xfrm>
            <a:off x="6931152" y="868680"/>
            <a:ext cx="1947672" cy="18288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④  Bridges (Two Types)</a:t>
            </a:r>
            <a:endParaRPr lang="en-US" sz="950" dirty="0"/>
          </a:p>
        </p:txBody>
      </p:sp>
      <p:sp>
        <p:nvSpPr>
          <p:cNvPr id="61" name="Text 59"/>
          <p:cNvSpPr/>
          <p:nvPr/>
        </p:nvSpPr>
        <p:spPr>
          <a:xfrm>
            <a:off x="6931152" y="1051560"/>
            <a:ext cx="1947672" cy="128016"/>
          </a:xfrm>
          <a:prstGeom prst="rect">
            <a:avLst/>
          </a:prstGeom>
          <a:noFill/>
          <a:ln/>
        </p:spPr>
        <p:txBody>
          <a:bodyPr wrap="square" lIns="0" tIns="0" rIns="0" bIns="0" rtlCol="0" anchor="ctr"/>
          <a:lstStyle/>
          <a:p>
            <a:pPr indent="0" marL="0">
              <a:buNone/>
            </a:pPr>
            <a:r>
              <a:rPr lang="en-US" sz="700" i="1" dirty="0">
                <a:solidFill>
                  <a:srgbClr val="D1FAE5"/>
                </a:solidFill>
                <a:latin typeface="Calibri" pitchFamily="34" charset="0"/>
                <a:ea typeface="Calibri" pitchFamily="34" charset="-122"/>
                <a:cs typeface="Calibri" pitchFamily="34" charset="-120"/>
              </a:rPr>
              <a:t>Anti-corruption layers at each boundary · permanent</a:t>
            </a:r>
            <a:endParaRPr lang="en-US" sz="700" dirty="0"/>
          </a:p>
        </p:txBody>
      </p:sp>
      <p:sp>
        <p:nvSpPr>
          <p:cNvPr id="62" name="Shape 60"/>
          <p:cNvSpPr/>
          <p:nvPr/>
        </p:nvSpPr>
        <p:spPr>
          <a:xfrm>
            <a:off x="6912864" y="1261872"/>
            <a:ext cx="1938528" cy="566928"/>
          </a:xfrm>
          <a:prstGeom prst="rect">
            <a:avLst/>
          </a:prstGeom>
          <a:solidFill>
            <a:srgbClr val="F0FDF4"/>
          </a:solidFill>
          <a:ln w="5080">
            <a:solidFill>
              <a:srgbClr val="86EFAC"/>
            </a:solidFill>
            <a:prstDash val="solid"/>
          </a:ln>
        </p:spPr>
      </p:sp>
      <p:sp>
        <p:nvSpPr>
          <p:cNvPr id="63" name="Text 61"/>
          <p:cNvSpPr/>
          <p:nvPr/>
        </p:nvSpPr>
        <p:spPr>
          <a:xfrm>
            <a:off x="6967728" y="1307592"/>
            <a:ext cx="1847088" cy="164592"/>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Source-side bridge</a:t>
            </a:r>
            <a:endParaRPr lang="en-US" sz="800" dirty="0"/>
          </a:p>
        </p:txBody>
      </p:sp>
      <p:sp>
        <p:nvSpPr>
          <p:cNvPr id="64" name="Text 62"/>
          <p:cNvSpPr/>
          <p:nvPr/>
        </p:nvSpPr>
        <p:spPr>
          <a:xfrm>
            <a:off x="6967728" y="1481328"/>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Upstream source naming → RCE naming. Embedded in resolution table. Ingestion team owned.</a:t>
            </a:r>
            <a:endParaRPr lang="en-US" sz="750" dirty="0"/>
          </a:p>
        </p:txBody>
      </p:sp>
      <p:sp>
        <p:nvSpPr>
          <p:cNvPr id="65" name="Shape 63"/>
          <p:cNvSpPr/>
          <p:nvPr/>
        </p:nvSpPr>
        <p:spPr>
          <a:xfrm>
            <a:off x="6912864" y="1883664"/>
            <a:ext cx="1938528" cy="566928"/>
          </a:xfrm>
          <a:prstGeom prst="rect">
            <a:avLst/>
          </a:prstGeom>
          <a:solidFill>
            <a:srgbClr val="F0FDF4"/>
          </a:solidFill>
          <a:ln w="5080">
            <a:solidFill>
              <a:srgbClr val="86EFAC"/>
            </a:solidFill>
            <a:prstDash val="solid"/>
          </a:ln>
        </p:spPr>
      </p:sp>
      <p:sp>
        <p:nvSpPr>
          <p:cNvPr id="66" name="Text 64"/>
          <p:cNvSpPr/>
          <p:nvPr/>
        </p:nvSpPr>
        <p:spPr>
          <a:xfrm>
            <a:off x="6967728" y="1929384"/>
            <a:ext cx="1847088" cy="164592"/>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Consumption bridge</a:t>
            </a:r>
            <a:endParaRPr lang="en-US" sz="800" dirty="0"/>
          </a:p>
        </p:txBody>
      </p:sp>
      <p:sp>
        <p:nvSpPr>
          <p:cNvPr id="67" name="Text 65"/>
          <p:cNvSpPr/>
          <p:nvPr/>
        </p:nvSpPr>
        <p:spPr>
          <a:xfrm>
            <a:off x="6967728" y="2103120"/>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RCE naming → app-internal naming. One per app. App team owned.</a:t>
            </a:r>
            <a:endParaRPr lang="en-US" sz="750" dirty="0"/>
          </a:p>
        </p:txBody>
      </p:sp>
      <p:sp>
        <p:nvSpPr>
          <p:cNvPr id="68" name="Shape 66"/>
          <p:cNvSpPr/>
          <p:nvPr/>
        </p:nvSpPr>
        <p:spPr>
          <a:xfrm>
            <a:off x="6912864" y="2505456"/>
            <a:ext cx="1938528" cy="566928"/>
          </a:xfrm>
          <a:prstGeom prst="rect">
            <a:avLst/>
          </a:prstGeom>
          <a:solidFill>
            <a:srgbClr val="F0FDF4"/>
          </a:solidFill>
          <a:ln w="5080">
            <a:solidFill>
              <a:srgbClr val="86EFAC"/>
            </a:solidFill>
            <a:prstDash val="solid"/>
          </a:ln>
        </p:spPr>
      </p:sp>
      <p:sp>
        <p:nvSpPr>
          <p:cNvPr id="69" name="Text 67"/>
          <p:cNvSpPr/>
          <p:nvPr/>
        </p:nvSpPr>
        <p:spPr>
          <a:xfrm>
            <a:off x="6967728" y="2551176"/>
            <a:ext cx="1847088" cy="164592"/>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App internals unchanged</a:t>
            </a:r>
            <a:endParaRPr lang="en-US" sz="800" dirty="0"/>
          </a:p>
        </p:txBody>
      </p:sp>
      <p:sp>
        <p:nvSpPr>
          <p:cNvPr id="70" name="Text 68"/>
          <p:cNvSpPr/>
          <p:nvPr/>
        </p:nvSpPr>
        <p:spPr>
          <a:xfrm>
            <a:off x="6967728" y="2724912"/>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No refactoring required. Bridge absorbs all naming differences at the boundary.</a:t>
            </a:r>
            <a:endParaRPr lang="en-US" sz="750" dirty="0"/>
          </a:p>
        </p:txBody>
      </p:sp>
      <p:sp>
        <p:nvSpPr>
          <p:cNvPr id="71" name="Shape 69"/>
          <p:cNvSpPr/>
          <p:nvPr/>
        </p:nvSpPr>
        <p:spPr>
          <a:xfrm>
            <a:off x="6912864" y="3127248"/>
            <a:ext cx="1938528" cy="566928"/>
          </a:xfrm>
          <a:prstGeom prst="rect">
            <a:avLst/>
          </a:prstGeom>
          <a:solidFill>
            <a:srgbClr val="F0FDF4"/>
          </a:solidFill>
          <a:ln w="5080">
            <a:solidFill>
              <a:srgbClr val="86EFAC"/>
            </a:solidFill>
            <a:prstDash val="solid"/>
          </a:ln>
        </p:spPr>
      </p:sp>
      <p:sp>
        <p:nvSpPr>
          <p:cNvPr id="72" name="Text 70"/>
          <p:cNvSpPr/>
          <p:nvPr/>
        </p:nvSpPr>
        <p:spPr>
          <a:xfrm>
            <a:off x="6967728" y="3172968"/>
            <a:ext cx="1847088" cy="164592"/>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Consumption contract</a:t>
            </a:r>
            <a:endParaRPr lang="en-US" sz="800" dirty="0"/>
          </a:p>
        </p:txBody>
      </p:sp>
      <p:sp>
        <p:nvSpPr>
          <p:cNvPr id="73" name="Text 71"/>
          <p:cNvSpPr/>
          <p:nvPr/>
        </p:nvSpPr>
        <p:spPr>
          <a:xfrm>
            <a:off x="6967728" y="3346704"/>
            <a:ext cx="1847088" cy="29260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Formal schema, SLA, versioning agreement. App as consumer, RCE as product.</a:t>
            </a:r>
            <a:endParaRPr lang="en-US" sz="750" dirty="0"/>
          </a:p>
        </p:txBody>
      </p:sp>
      <p:sp>
        <p:nvSpPr>
          <p:cNvPr id="74" name="Shape 72"/>
          <p:cNvSpPr/>
          <p:nvPr/>
        </p:nvSpPr>
        <p:spPr>
          <a:xfrm>
            <a:off x="6912864" y="4288536"/>
            <a:ext cx="1938528" cy="457200"/>
          </a:xfrm>
          <a:prstGeom prst="rect">
            <a:avLst/>
          </a:prstGeom>
          <a:solidFill>
            <a:srgbClr val="DCFCE7"/>
          </a:solidFill>
          <a:ln w="5080">
            <a:solidFill>
              <a:srgbClr val="16A34A"/>
            </a:solidFill>
            <a:prstDash val="solid"/>
          </a:ln>
        </p:spPr>
      </p:sp>
      <p:sp>
        <p:nvSpPr>
          <p:cNvPr id="75" name="Text 73"/>
          <p:cNvSpPr/>
          <p:nvPr/>
        </p:nvSpPr>
        <p:spPr>
          <a:xfrm>
            <a:off x="6967728" y="4306824"/>
            <a:ext cx="1847088" cy="420624"/>
          </a:xfrm>
          <a:prstGeom prst="rect">
            <a:avLst/>
          </a:prstGeom>
          <a:noFill/>
          <a:ln/>
        </p:spPr>
        <p:txBody>
          <a:bodyPr wrap="square" lIns="0" tIns="0" rIns="0" bIns="0" rtlCol="0" anchor="t"/>
          <a:lstStyle/>
          <a:p>
            <a:pPr indent="0" marL="0">
              <a:buNone/>
            </a:pPr>
            <a:r>
              <a:rPr lang="en-US" sz="700" i="1" dirty="0">
                <a:solidFill>
                  <a:srgbClr val="16A34A"/>
                </a:solidFill>
                <a:latin typeface="Calibri" pitchFamily="34" charset="0"/>
                <a:ea typeface="Calibri" pitchFamily="34" charset="-122"/>
                <a:cs typeface="Calibri" pitchFamily="34" charset="-120"/>
              </a:rPr>
              <a:t>Consumption bridges are permanent interface contracts.</a:t>
            </a:r>
            <a:endParaRPr lang="en-US" sz="700" dirty="0"/>
          </a:p>
          <a:p>
            <a:pPr indent="0" marL="0">
              <a:buNone/>
            </a:pPr>
            <a:r>
              <a:rPr lang="en-US" sz="700" i="1" dirty="0">
                <a:solidFill>
                  <a:srgbClr val="16A34A"/>
                </a:solidFill>
                <a:latin typeface="Calibri" pitchFamily="34" charset="0"/>
                <a:ea typeface="Calibri" pitchFamily="34" charset="-122"/>
                <a:cs typeface="Calibri" pitchFamily="34" charset="-120"/>
              </a:rPr>
              <a:t>App internals stay as-is — no forced migration.</a:t>
            </a:r>
            <a:endParaRPr lang="en-US" sz="700" dirty="0"/>
          </a:p>
        </p:txBody>
      </p:sp>
      <p:sp>
        <p:nvSpPr>
          <p:cNvPr id="76" name="Text 74"/>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77" name="Text 75"/>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lIns="0" tIns="0" rIns="0" bIns="0" rtlCol="0" anchor="ctr"/>
          <a:lstStyle/>
          <a:p>
            <a:pPr indent="0" marL="0">
              <a:buNone/>
            </a:pPr>
            <a:r>
              <a:rPr lang="en-US" sz="2000" b="1" dirty="0">
                <a:solidFill>
                  <a:srgbClr val="166534"/>
                </a:solidFill>
                <a:latin typeface="Calibri" pitchFamily="34" charset="0"/>
                <a:ea typeface="Calibri" pitchFamily="34" charset="-122"/>
                <a:cs typeface="Calibri" pitchFamily="34" charset="-120"/>
              </a:rPr>
              <a:t>Databricks Storage Layer Map</a:t>
            </a:r>
            <a:endParaRPr lang="en-US" sz="2000" dirty="0"/>
          </a:p>
        </p:txBody>
      </p:sp>
      <p:sp>
        <p:nvSpPr>
          <p:cNvPr id="3" name="Text 1"/>
          <p:cNvSpPr/>
          <p:nvPr/>
        </p:nvSpPr>
        <p:spPr>
          <a:xfrm>
            <a:off x="365760" y="530352"/>
            <a:ext cx="8412480" cy="182880"/>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What sits where, who owns it, and why — across app catalog and risk warehouse catalog</a:t>
            </a:r>
            <a:endParaRPr lang="en-US" sz="900" dirty="0"/>
          </a:p>
        </p:txBody>
      </p:sp>
      <p:sp>
        <p:nvSpPr>
          <p:cNvPr id="4" name="Shape 2"/>
          <p:cNvSpPr/>
          <p:nvPr/>
        </p:nvSpPr>
        <p:spPr>
          <a:xfrm>
            <a:off x="320040" y="777240"/>
            <a:ext cx="4224528" cy="237744"/>
          </a:xfrm>
          <a:prstGeom prst="rect">
            <a:avLst/>
          </a:prstGeom>
          <a:solidFill>
            <a:srgbClr val="1D6FA4"/>
          </a:solidFill>
          <a:ln w="12700">
            <a:solidFill>
              <a:srgbClr val="1D6FA4"/>
            </a:solidFill>
            <a:prstDash val="solid"/>
          </a:ln>
        </p:spPr>
      </p:sp>
      <p:sp>
        <p:nvSpPr>
          <p:cNvPr id="5" name="Text 3"/>
          <p:cNvSpPr/>
          <p:nvPr/>
        </p:nvSpPr>
        <p:spPr>
          <a:xfrm>
            <a:off x="411480" y="777240"/>
            <a:ext cx="4059936"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APP CATALOG  (CMOS · ALFA · XVALA · CRS · TAMS · LRM)</a:t>
            </a:r>
            <a:endParaRPr lang="en-US" sz="800" dirty="0"/>
          </a:p>
        </p:txBody>
      </p:sp>
      <p:sp>
        <p:nvSpPr>
          <p:cNvPr id="6" name="Shape 4"/>
          <p:cNvSpPr/>
          <p:nvPr/>
        </p:nvSpPr>
        <p:spPr>
          <a:xfrm>
            <a:off x="320040" y="1042416"/>
            <a:ext cx="4224528" cy="493776"/>
          </a:xfrm>
          <a:prstGeom prst="rect">
            <a:avLst/>
          </a:prstGeom>
          <a:solidFill>
            <a:srgbClr val="F8FAFC"/>
          </a:solidFill>
          <a:ln w="5080">
            <a:solidFill>
              <a:srgbClr val="C8DDD6"/>
            </a:solidFill>
            <a:prstDash val="solid"/>
          </a:ln>
        </p:spPr>
      </p:sp>
      <p:sp>
        <p:nvSpPr>
          <p:cNvPr id="7" name="Shape 5"/>
          <p:cNvSpPr/>
          <p:nvPr/>
        </p:nvSpPr>
        <p:spPr>
          <a:xfrm>
            <a:off x="320040" y="1042416"/>
            <a:ext cx="566928" cy="493776"/>
          </a:xfrm>
          <a:prstGeom prst="rect">
            <a:avLst/>
          </a:prstGeom>
          <a:solidFill>
            <a:srgbClr val="000000"/>
          </a:solidFill>
          <a:ln w="5080">
            <a:solidFill>
              <a:srgbClr val="C8DDD6"/>
            </a:solidFill>
            <a:prstDash val="solid"/>
          </a:ln>
        </p:spPr>
      </p:sp>
      <p:sp>
        <p:nvSpPr>
          <p:cNvPr id="8" name="Shape 6"/>
          <p:cNvSpPr/>
          <p:nvPr/>
        </p:nvSpPr>
        <p:spPr>
          <a:xfrm>
            <a:off x="320040" y="1042416"/>
            <a:ext cx="566928" cy="493776"/>
          </a:xfrm>
          <a:prstGeom prst="rect">
            <a:avLst/>
          </a:prstGeom>
          <a:solidFill>
            <a:srgbClr val="E2E8F0"/>
          </a:solidFill>
          <a:ln w="5080">
            <a:solidFill>
              <a:srgbClr val="C8DDD6"/>
            </a:solidFill>
            <a:prstDash val="solid"/>
          </a:ln>
        </p:spPr>
      </p:sp>
      <p:sp>
        <p:nvSpPr>
          <p:cNvPr id="9" name="Text 7"/>
          <p:cNvSpPr/>
          <p:nvPr/>
        </p:nvSpPr>
        <p:spPr>
          <a:xfrm>
            <a:off x="356616" y="1088136"/>
            <a:ext cx="512064" cy="420624"/>
          </a:xfrm>
          <a:prstGeom prst="rect">
            <a:avLst/>
          </a:prstGeom>
          <a:noFill/>
          <a:ln/>
        </p:spPr>
        <p:txBody>
          <a:bodyPr wrap="square" lIns="0" tIns="0" rIns="0" bIns="0" rtlCol="0" anchor="t"/>
          <a:lstStyle/>
          <a:p>
            <a:pPr indent="0" marL="0">
              <a:buNone/>
            </a:pPr>
            <a:r>
              <a:rPr lang="en-US" sz="750" b="1" dirty="0">
                <a:solidFill>
                  <a:srgbClr val="374151"/>
                </a:solidFill>
                <a:latin typeface="Calibri" pitchFamily="34" charset="0"/>
                <a:ea typeface="Calibri" pitchFamily="34" charset="-122"/>
                <a:cs typeface="Calibri" pitchFamily="34" charset="-120"/>
              </a:rPr>
              <a:t>bronze</a:t>
            </a:r>
            <a:endParaRPr lang="en-US" sz="750" dirty="0"/>
          </a:p>
        </p:txBody>
      </p:sp>
      <p:sp>
        <p:nvSpPr>
          <p:cNvPr id="10" name="Text 8"/>
          <p:cNvSpPr/>
          <p:nvPr/>
        </p:nvSpPr>
        <p:spPr>
          <a:xfrm>
            <a:off x="932688" y="1088136"/>
            <a:ext cx="1371600" cy="420624"/>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Raw reports · Data extracts · as-is landing</a:t>
            </a:r>
            <a:endParaRPr lang="en-US" sz="750" dirty="0"/>
          </a:p>
        </p:txBody>
      </p:sp>
      <p:sp>
        <p:nvSpPr>
          <p:cNvPr id="11" name="Text 9"/>
          <p:cNvSpPr/>
          <p:nvPr/>
        </p:nvSpPr>
        <p:spPr>
          <a:xfrm>
            <a:off x="2340864" y="1088136"/>
            <a:ext cx="914400" cy="420624"/>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App team</a:t>
            </a:r>
            <a:endParaRPr lang="en-US" sz="750" dirty="0"/>
          </a:p>
        </p:txBody>
      </p:sp>
      <p:sp>
        <p:nvSpPr>
          <p:cNvPr id="12" name="Text 10"/>
          <p:cNvSpPr/>
          <p:nvPr/>
        </p:nvSpPr>
        <p:spPr>
          <a:xfrm>
            <a:off x="3273552" y="1088136"/>
            <a:ext cx="1207008" cy="42062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Immutable evidence layer. No transformation. Starting point for all processing.</a:t>
            </a:r>
            <a:endParaRPr lang="en-US" sz="700" dirty="0"/>
          </a:p>
        </p:txBody>
      </p:sp>
      <p:sp>
        <p:nvSpPr>
          <p:cNvPr id="13" name="Shape 11"/>
          <p:cNvSpPr/>
          <p:nvPr/>
        </p:nvSpPr>
        <p:spPr>
          <a:xfrm>
            <a:off x="320040" y="1536192"/>
            <a:ext cx="4224528" cy="694944"/>
          </a:xfrm>
          <a:prstGeom prst="rect">
            <a:avLst/>
          </a:prstGeom>
          <a:solidFill>
            <a:srgbClr val="EFF6FF"/>
          </a:solidFill>
          <a:ln w="5080">
            <a:solidFill>
              <a:srgbClr val="C8DDD6"/>
            </a:solidFill>
            <a:prstDash val="solid"/>
          </a:ln>
        </p:spPr>
      </p:sp>
      <p:sp>
        <p:nvSpPr>
          <p:cNvPr id="14" name="Shape 12"/>
          <p:cNvSpPr/>
          <p:nvPr/>
        </p:nvSpPr>
        <p:spPr>
          <a:xfrm>
            <a:off x="320040" y="1536192"/>
            <a:ext cx="566928" cy="694944"/>
          </a:xfrm>
          <a:prstGeom prst="rect">
            <a:avLst/>
          </a:prstGeom>
          <a:solidFill>
            <a:srgbClr val="000000"/>
          </a:solidFill>
          <a:ln w="5080">
            <a:solidFill>
              <a:srgbClr val="C8DDD6"/>
            </a:solidFill>
            <a:prstDash val="solid"/>
          </a:ln>
        </p:spPr>
      </p:sp>
      <p:sp>
        <p:nvSpPr>
          <p:cNvPr id="15" name="Shape 13"/>
          <p:cNvSpPr/>
          <p:nvPr/>
        </p:nvSpPr>
        <p:spPr>
          <a:xfrm>
            <a:off x="320040" y="1536192"/>
            <a:ext cx="566928" cy="694944"/>
          </a:xfrm>
          <a:prstGeom prst="rect">
            <a:avLst/>
          </a:prstGeom>
          <a:solidFill>
            <a:srgbClr val="DBEAFE"/>
          </a:solidFill>
          <a:ln w="5080">
            <a:solidFill>
              <a:srgbClr val="C8DDD6"/>
            </a:solidFill>
            <a:prstDash val="solid"/>
          </a:ln>
        </p:spPr>
      </p:sp>
      <p:sp>
        <p:nvSpPr>
          <p:cNvPr id="16" name="Text 14"/>
          <p:cNvSpPr/>
          <p:nvPr/>
        </p:nvSpPr>
        <p:spPr>
          <a:xfrm>
            <a:off x="356616" y="1581912"/>
            <a:ext cx="512064" cy="621792"/>
          </a:xfrm>
          <a:prstGeom prst="rect">
            <a:avLst/>
          </a:prstGeom>
          <a:noFill/>
          <a:ln/>
        </p:spPr>
        <p:txBody>
          <a:bodyPr wrap="square" lIns="0" tIns="0" rIns="0" bIns="0" rtlCol="0" anchor="t"/>
          <a:lstStyle/>
          <a:p>
            <a:pPr indent="0" marL="0">
              <a:buNone/>
            </a:pPr>
            <a:r>
              <a:rPr lang="en-US" sz="750" b="1" dirty="0">
                <a:solidFill>
                  <a:srgbClr val="1D6FA4"/>
                </a:solidFill>
                <a:latin typeface="Calibri" pitchFamily="34" charset="0"/>
                <a:ea typeface="Calibri" pitchFamily="34" charset="-122"/>
                <a:cs typeface="Calibri" pitchFamily="34" charset="-120"/>
              </a:rPr>
              <a:t>silver / core</a:t>
            </a:r>
            <a:endParaRPr lang="en-US" sz="750" dirty="0"/>
          </a:p>
        </p:txBody>
      </p:sp>
      <p:sp>
        <p:nvSpPr>
          <p:cNvPr id="17" name="Text 15"/>
          <p:cNvSpPr/>
          <p:nvPr/>
        </p:nvSpPr>
        <p:spPr>
          <a:xfrm>
            <a:off x="932688" y="1581912"/>
            <a:ext cx="1371600" cy="621792"/>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Conformed entities (app-local + Contract ID ref) · Conformed reports using app-local entity values</a:t>
            </a:r>
            <a:endParaRPr lang="en-US" sz="750" dirty="0"/>
          </a:p>
        </p:txBody>
      </p:sp>
      <p:sp>
        <p:nvSpPr>
          <p:cNvPr id="18" name="Text 16"/>
          <p:cNvSpPr/>
          <p:nvPr/>
        </p:nvSpPr>
        <p:spPr>
          <a:xfrm>
            <a:off x="2340864" y="1581912"/>
            <a:ext cx="914400" cy="621792"/>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App team</a:t>
            </a:r>
            <a:endParaRPr lang="en-US" sz="750" dirty="0"/>
          </a:p>
        </p:txBody>
      </p:sp>
      <p:sp>
        <p:nvSpPr>
          <p:cNvPr id="19" name="Text 17"/>
          <p:cNvSpPr/>
          <p:nvPr/>
        </p:nvSpPr>
        <p:spPr>
          <a:xfrm>
            <a:off x="3273552" y="1581912"/>
            <a:ext cx="1207008" cy="621792"/>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App-level conformity. Feeds sandbox for cross-app entity review. Not yet RCE-dimensioned.</a:t>
            </a:r>
            <a:endParaRPr lang="en-US" sz="700" dirty="0"/>
          </a:p>
        </p:txBody>
      </p:sp>
      <p:sp>
        <p:nvSpPr>
          <p:cNvPr id="20" name="Shape 18"/>
          <p:cNvSpPr/>
          <p:nvPr/>
        </p:nvSpPr>
        <p:spPr>
          <a:xfrm>
            <a:off x="320040" y="2231136"/>
            <a:ext cx="4224528" cy="566928"/>
          </a:xfrm>
          <a:prstGeom prst="rect">
            <a:avLst/>
          </a:prstGeom>
          <a:solidFill>
            <a:srgbClr val="F0FDFA"/>
          </a:solidFill>
          <a:ln w="5080">
            <a:solidFill>
              <a:srgbClr val="C8DDD6"/>
            </a:solidFill>
            <a:prstDash val="solid"/>
          </a:ln>
        </p:spPr>
      </p:sp>
      <p:sp>
        <p:nvSpPr>
          <p:cNvPr id="21" name="Shape 19"/>
          <p:cNvSpPr/>
          <p:nvPr/>
        </p:nvSpPr>
        <p:spPr>
          <a:xfrm>
            <a:off x="320040" y="2231136"/>
            <a:ext cx="566928" cy="566928"/>
          </a:xfrm>
          <a:prstGeom prst="rect">
            <a:avLst/>
          </a:prstGeom>
          <a:solidFill>
            <a:srgbClr val="000000"/>
          </a:solidFill>
          <a:ln w="5080">
            <a:solidFill>
              <a:srgbClr val="C8DDD6"/>
            </a:solidFill>
            <a:prstDash val="solid"/>
          </a:ln>
        </p:spPr>
      </p:sp>
      <p:sp>
        <p:nvSpPr>
          <p:cNvPr id="22" name="Shape 20"/>
          <p:cNvSpPr/>
          <p:nvPr/>
        </p:nvSpPr>
        <p:spPr>
          <a:xfrm>
            <a:off x="320040" y="2231136"/>
            <a:ext cx="566928" cy="566928"/>
          </a:xfrm>
          <a:prstGeom prst="rect">
            <a:avLst/>
          </a:prstGeom>
          <a:solidFill>
            <a:srgbClr val="CCFBF1"/>
          </a:solidFill>
          <a:ln w="5080">
            <a:solidFill>
              <a:srgbClr val="C8DDD6"/>
            </a:solidFill>
            <a:prstDash val="solid"/>
          </a:ln>
        </p:spPr>
      </p:sp>
      <p:sp>
        <p:nvSpPr>
          <p:cNvPr id="23" name="Text 21"/>
          <p:cNvSpPr/>
          <p:nvPr/>
        </p:nvSpPr>
        <p:spPr>
          <a:xfrm>
            <a:off x="356616" y="2276856"/>
            <a:ext cx="512064" cy="493776"/>
          </a:xfrm>
          <a:prstGeom prst="rect">
            <a:avLst/>
          </a:prstGeom>
          <a:noFill/>
          <a:ln/>
        </p:spPr>
        <p:txBody>
          <a:bodyPr wrap="square" lIns="0" tIns="0" rIns="0" bIns="0" rtlCol="0" anchor="t"/>
          <a:lstStyle/>
          <a:p>
            <a:pPr indent="0" marL="0">
              <a:buNone/>
            </a:pPr>
            <a:r>
              <a:rPr lang="en-US" sz="750" b="1" dirty="0">
                <a:solidFill>
                  <a:srgbClr val="0F766E"/>
                </a:solidFill>
                <a:latin typeface="Calibri" pitchFamily="34" charset="0"/>
                <a:ea typeface="Calibri" pitchFamily="34" charset="-122"/>
                <a:cs typeface="Calibri" pitchFamily="34" charset="-120"/>
              </a:rPr>
              <a:t>bridge (per app)</a:t>
            </a:r>
            <a:endParaRPr lang="en-US" sz="750" dirty="0"/>
          </a:p>
        </p:txBody>
      </p:sp>
      <p:sp>
        <p:nvSpPr>
          <p:cNvPr id="24" name="Text 22"/>
          <p:cNvSpPr/>
          <p:nvPr/>
        </p:nvSpPr>
        <p:spPr>
          <a:xfrm>
            <a:off x="932688" y="2276856"/>
            <a:ext cx="1371600" cy="493776"/>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RCE naming → app-internal naming. View or mapping table. One per app.</a:t>
            </a:r>
            <a:endParaRPr lang="en-US" sz="750" dirty="0"/>
          </a:p>
        </p:txBody>
      </p:sp>
      <p:sp>
        <p:nvSpPr>
          <p:cNvPr id="25" name="Text 23"/>
          <p:cNvSpPr/>
          <p:nvPr/>
        </p:nvSpPr>
        <p:spPr>
          <a:xfrm>
            <a:off x="2340864" y="2276856"/>
            <a:ext cx="914400" cy="493776"/>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App team</a:t>
            </a:r>
            <a:endParaRPr lang="en-US" sz="750" dirty="0"/>
          </a:p>
        </p:txBody>
      </p:sp>
      <p:sp>
        <p:nvSpPr>
          <p:cNvPr id="26" name="Text 24"/>
          <p:cNvSpPr/>
          <p:nvPr/>
        </p:nvSpPr>
        <p:spPr>
          <a:xfrm>
            <a:off x="3273552" y="2276856"/>
            <a:ext cx="1207008" cy="493776"/>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Permanent anti-corruption layer. App internals unchanged. Absorbs all naming differences at boundary.</a:t>
            </a:r>
            <a:endParaRPr lang="en-US" sz="700" dirty="0"/>
          </a:p>
        </p:txBody>
      </p:sp>
      <p:sp>
        <p:nvSpPr>
          <p:cNvPr id="27" name="Shape 25"/>
          <p:cNvSpPr/>
          <p:nvPr/>
        </p:nvSpPr>
        <p:spPr>
          <a:xfrm>
            <a:off x="320040" y="2798064"/>
            <a:ext cx="4224528" cy="493776"/>
          </a:xfrm>
          <a:prstGeom prst="rect">
            <a:avLst/>
          </a:prstGeom>
          <a:solidFill>
            <a:srgbClr val="F0FDF8"/>
          </a:solidFill>
          <a:ln w="5080">
            <a:solidFill>
              <a:srgbClr val="C8DDD6"/>
            </a:solidFill>
            <a:prstDash val="solid"/>
          </a:ln>
        </p:spPr>
      </p:sp>
      <p:sp>
        <p:nvSpPr>
          <p:cNvPr id="28" name="Shape 26"/>
          <p:cNvSpPr/>
          <p:nvPr/>
        </p:nvSpPr>
        <p:spPr>
          <a:xfrm>
            <a:off x="320040" y="2798064"/>
            <a:ext cx="566928" cy="493776"/>
          </a:xfrm>
          <a:prstGeom prst="rect">
            <a:avLst/>
          </a:prstGeom>
          <a:solidFill>
            <a:srgbClr val="000000"/>
          </a:solidFill>
          <a:ln w="5080">
            <a:solidFill>
              <a:srgbClr val="C8DDD6"/>
            </a:solidFill>
            <a:prstDash val="solid"/>
          </a:ln>
        </p:spPr>
      </p:sp>
      <p:sp>
        <p:nvSpPr>
          <p:cNvPr id="29" name="Shape 27"/>
          <p:cNvSpPr/>
          <p:nvPr/>
        </p:nvSpPr>
        <p:spPr>
          <a:xfrm>
            <a:off x="320040" y="2798064"/>
            <a:ext cx="566928" cy="493776"/>
          </a:xfrm>
          <a:prstGeom prst="rect">
            <a:avLst/>
          </a:prstGeom>
          <a:solidFill>
            <a:srgbClr val="CCFBF1"/>
          </a:solidFill>
          <a:ln w="5080">
            <a:solidFill>
              <a:srgbClr val="C8DDD6"/>
            </a:solidFill>
            <a:prstDash val="solid"/>
          </a:ln>
        </p:spPr>
      </p:sp>
      <p:sp>
        <p:nvSpPr>
          <p:cNvPr id="30" name="Text 28"/>
          <p:cNvSpPr/>
          <p:nvPr/>
        </p:nvSpPr>
        <p:spPr>
          <a:xfrm>
            <a:off x="356616" y="2843784"/>
            <a:ext cx="512064" cy="420624"/>
          </a:xfrm>
          <a:prstGeom prst="rect">
            <a:avLst/>
          </a:prstGeom>
          <a:noFill/>
          <a:ln/>
        </p:spPr>
        <p:txBody>
          <a:bodyPr wrap="square" lIns="0" tIns="0" rIns="0" bIns="0" rtlCol="0" anchor="t"/>
          <a:lstStyle/>
          <a:p>
            <a:pPr indent="0" marL="0">
              <a:buNone/>
            </a:pPr>
            <a:r>
              <a:rPr lang="en-US" sz="750" b="1" dirty="0">
                <a:solidFill>
                  <a:srgbClr val="0D9488"/>
                </a:solidFill>
                <a:latin typeface="Calibri" pitchFamily="34" charset="0"/>
                <a:ea typeface="Calibri" pitchFamily="34" charset="-122"/>
                <a:cs typeface="Calibri" pitchFamily="34" charset="-120"/>
              </a:rPr>
              <a:t>gold</a:t>
            </a:r>
            <a:endParaRPr lang="en-US" sz="750" dirty="0"/>
          </a:p>
        </p:txBody>
      </p:sp>
      <p:sp>
        <p:nvSpPr>
          <p:cNvPr id="31" name="Text 29"/>
          <p:cNvSpPr/>
          <p:nvPr/>
        </p:nvSpPr>
        <p:spPr>
          <a:xfrm>
            <a:off x="932688" y="2843784"/>
            <a:ext cx="1371600" cy="420624"/>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App reports joined to RCE via bridge · fully RCE-dimensioned · business-ready outputs</a:t>
            </a:r>
            <a:endParaRPr lang="en-US" sz="750" dirty="0"/>
          </a:p>
        </p:txBody>
      </p:sp>
      <p:sp>
        <p:nvSpPr>
          <p:cNvPr id="32" name="Text 30"/>
          <p:cNvSpPr/>
          <p:nvPr/>
        </p:nvSpPr>
        <p:spPr>
          <a:xfrm>
            <a:off x="2340864" y="2843784"/>
            <a:ext cx="914400" cy="420624"/>
          </a:xfrm>
          <a:prstGeom prst="rect">
            <a:avLst/>
          </a:prstGeom>
          <a:noFill/>
          <a:ln/>
        </p:spPr>
        <p:txBody>
          <a:bodyPr wrap="square" lIns="0" tIns="0" rIns="0" bIns="0" rtlCol="0" anchor="t"/>
          <a:lstStyle/>
          <a:p>
            <a:pPr indent="0" marL="0">
              <a:buNone/>
            </a:pPr>
            <a:r>
              <a:rPr lang="en-US" sz="750" i="1" dirty="0">
                <a:solidFill>
                  <a:srgbClr val="6B7280"/>
                </a:solidFill>
                <a:latin typeface="Calibri" pitchFamily="34" charset="0"/>
                <a:ea typeface="Calibri" pitchFamily="34" charset="-122"/>
                <a:cs typeface="Calibri" pitchFamily="34" charset="-120"/>
              </a:rPr>
              <a:t>App team</a:t>
            </a:r>
            <a:endParaRPr lang="en-US" sz="750" dirty="0"/>
          </a:p>
        </p:txBody>
      </p:sp>
      <p:sp>
        <p:nvSpPr>
          <p:cNvPr id="33" name="Text 31"/>
          <p:cNvSpPr/>
          <p:nvPr/>
        </p:nvSpPr>
        <p:spPr>
          <a:xfrm>
            <a:off x="3273552" y="2843784"/>
            <a:ext cx="1207008" cy="42062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Authoritative app report home. Referenced by riskwh.gold via views. No physical data movement.</a:t>
            </a:r>
            <a:endParaRPr lang="en-US" sz="700" dirty="0"/>
          </a:p>
        </p:txBody>
      </p:sp>
      <p:sp>
        <p:nvSpPr>
          <p:cNvPr id="34" name="Text 32"/>
          <p:cNvSpPr/>
          <p:nvPr/>
        </p:nvSpPr>
        <p:spPr>
          <a:xfrm>
            <a:off x="4590288" y="1572768"/>
            <a:ext cx="585216" cy="164592"/>
          </a:xfrm>
          <a:prstGeom prst="rect">
            <a:avLst/>
          </a:prstGeom>
          <a:noFill/>
          <a:ln/>
        </p:spPr>
        <p:txBody>
          <a:bodyPr wrap="square" lIns="0" tIns="0" rIns="0" bIns="0" rtlCol="0" anchor="ctr"/>
          <a:lstStyle/>
          <a:p>
            <a:pPr indent="0" marL="0">
              <a:buNone/>
            </a:pPr>
            <a:r>
              <a:rPr lang="en-US" sz="700" i="1" dirty="0">
                <a:solidFill>
                  <a:srgbClr val="6941A8"/>
                </a:solidFill>
                <a:latin typeface="Calibri" pitchFamily="34" charset="0"/>
                <a:ea typeface="Calibri" pitchFamily="34" charset="-122"/>
                <a:cs typeface="Calibri" pitchFamily="34" charset="-120"/>
              </a:rPr>
              <a:t>entities →</a:t>
            </a:r>
            <a:endParaRPr lang="en-US" sz="700" dirty="0"/>
          </a:p>
        </p:txBody>
      </p:sp>
      <p:sp>
        <p:nvSpPr>
          <p:cNvPr id="35" name="Text 33"/>
          <p:cNvSpPr/>
          <p:nvPr/>
        </p:nvSpPr>
        <p:spPr>
          <a:xfrm>
            <a:off x="4645152" y="1719072"/>
            <a:ext cx="457200" cy="201168"/>
          </a:xfrm>
          <a:prstGeom prst="rect">
            <a:avLst/>
          </a:prstGeom>
          <a:noFill/>
          <a:ln/>
        </p:spPr>
        <p:txBody>
          <a:bodyPr wrap="square" lIns="0" tIns="0" rIns="0" bIns="0" rtlCol="0" anchor="ctr"/>
          <a:lstStyle/>
          <a:p>
            <a:pPr algn="ctr" indent="0" marL="0">
              <a:buNone/>
            </a:pPr>
            <a:r>
              <a:rPr lang="en-US" sz="1400" dirty="0">
                <a:solidFill>
                  <a:srgbClr val="6941A8"/>
                </a:solidFill>
                <a:latin typeface="Calibri" pitchFamily="34" charset="0"/>
                <a:ea typeface="Calibri" pitchFamily="34" charset="-122"/>
                <a:cs typeface="Calibri" pitchFamily="34" charset="-120"/>
              </a:rPr>
              <a:t>→</a:t>
            </a:r>
            <a:endParaRPr lang="en-US" sz="1400" dirty="0"/>
          </a:p>
        </p:txBody>
      </p:sp>
      <p:sp>
        <p:nvSpPr>
          <p:cNvPr id="36" name="Text 34"/>
          <p:cNvSpPr/>
          <p:nvPr/>
        </p:nvSpPr>
        <p:spPr>
          <a:xfrm>
            <a:off x="4590288" y="2834640"/>
            <a:ext cx="585216" cy="164592"/>
          </a:xfrm>
          <a:prstGeom prst="rect">
            <a:avLst/>
          </a:prstGeom>
          <a:noFill/>
          <a:ln/>
        </p:spPr>
        <p:txBody>
          <a:bodyPr wrap="square" lIns="0" tIns="0" rIns="0" bIns="0" rtlCol="0" anchor="ctr"/>
          <a:lstStyle/>
          <a:p>
            <a:pPr indent="0" marL="0">
              <a:buNone/>
            </a:pPr>
            <a:r>
              <a:rPr lang="en-US" sz="700" i="1" dirty="0">
                <a:solidFill>
                  <a:srgbClr val="0D9488"/>
                </a:solidFill>
                <a:latin typeface="Calibri" pitchFamily="34" charset="0"/>
                <a:ea typeface="Calibri" pitchFamily="34" charset="-122"/>
                <a:cs typeface="Calibri" pitchFamily="34" charset="-120"/>
              </a:rPr>
              <a:t>← views</a:t>
            </a:r>
            <a:endParaRPr lang="en-US" sz="700" dirty="0"/>
          </a:p>
        </p:txBody>
      </p:sp>
      <p:sp>
        <p:nvSpPr>
          <p:cNvPr id="37" name="Text 35"/>
          <p:cNvSpPr/>
          <p:nvPr/>
        </p:nvSpPr>
        <p:spPr>
          <a:xfrm>
            <a:off x="4645152" y="2980944"/>
            <a:ext cx="457200" cy="201168"/>
          </a:xfrm>
          <a:prstGeom prst="rect">
            <a:avLst/>
          </a:prstGeom>
          <a:noFill/>
          <a:ln/>
        </p:spPr>
        <p:txBody>
          <a:bodyPr wrap="square" lIns="0" tIns="0" rIns="0" bIns="0" rtlCol="0" anchor="ctr"/>
          <a:lstStyle/>
          <a:p>
            <a:pPr algn="ctr" indent="0" marL="0">
              <a:buNone/>
            </a:pPr>
            <a:r>
              <a:rPr lang="en-US" sz="1400" dirty="0">
                <a:solidFill>
                  <a:srgbClr val="0D9488"/>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5166360" y="777240"/>
            <a:ext cx="3657600" cy="237744"/>
          </a:xfrm>
          <a:prstGeom prst="rect">
            <a:avLst/>
          </a:prstGeom>
          <a:solidFill>
            <a:srgbClr val="6941A8"/>
          </a:solidFill>
          <a:ln w="12700">
            <a:solidFill>
              <a:srgbClr val="6941A8"/>
            </a:solidFill>
            <a:prstDash val="solid"/>
          </a:ln>
        </p:spPr>
      </p:sp>
      <p:sp>
        <p:nvSpPr>
          <p:cNvPr id="39" name="Text 37"/>
          <p:cNvSpPr/>
          <p:nvPr/>
        </p:nvSpPr>
        <p:spPr>
          <a:xfrm>
            <a:off x="5257800" y="777240"/>
            <a:ext cx="3520440"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RISK WAREHOUSE CATALOG</a:t>
            </a:r>
            <a:endParaRPr lang="en-US" sz="800" dirty="0"/>
          </a:p>
        </p:txBody>
      </p:sp>
      <p:sp>
        <p:nvSpPr>
          <p:cNvPr id="40" name="Shape 38"/>
          <p:cNvSpPr/>
          <p:nvPr/>
        </p:nvSpPr>
        <p:spPr>
          <a:xfrm>
            <a:off x="5166360" y="1042416"/>
            <a:ext cx="3657600" cy="493776"/>
          </a:xfrm>
          <a:prstGeom prst="rect">
            <a:avLst/>
          </a:prstGeom>
          <a:solidFill>
            <a:srgbClr val="FAF8FF"/>
          </a:solidFill>
          <a:ln w="5080">
            <a:solidFill>
              <a:srgbClr val="C8DDD6"/>
            </a:solidFill>
            <a:prstDash val="solid"/>
          </a:ln>
        </p:spPr>
      </p:sp>
      <p:sp>
        <p:nvSpPr>
          <p:cNvPr id="41" name="Shape 39"/>
          <p:cNvSpPr/>
          <p:nvPr/>
        </p:nvSpPr>
        <p:spPr>
          <a:xfrm>
            <a:off x="5166360" y="1042416"/>
            <a:ext cx="658368" cy="493776"/>
          </a:xfrm>
          <a:prstGeom prst="rect">
            <a:avLst/>
          </a:prstGeom>
          <a:solidFill>
            <a:srgbClr val="EDE9FE"/>
          </a:solidFill>
          <a:ln w="5080">
            <a:solidFill>
              <a:srgbClr val="C8DDD6"/>
            </a:solidFill>
            <a:prstDash val="solid"/>
          </a:ln>
        </p:spPr>
      </p:sp>
      <p:sp>
        <p:nvSpPr>
          <p:cNvPr id="42" name="Text 40"/>
          <p:cNvSpPr/>
          <p:nvPr/>
        </p:nvSpPr>
        <p:spPr>
          <a:xfrm>
            <a:off x="5202936" y="1088136"/>
            <a:ext cx="603504" cy="420624"/>
          </a:xfrm>
          <a:prstGeom prst="rect">
            <a:avLst/>
          </a:prstGeom>
          <a:noFill/>
          <a:ln/>
        </p:spPr>
        <p:txBody>
          <a:bodyPr wrap="square" lIns="0" tIns="0" rIns="0" bIns="0" rtlCol="0" anchor="t"/>
          <a:lstStyle/>
          <a:p>
            <a:pPr indent="0" marL="0">
              <a:buNone/>
            </a:pPr>
            <a:r>
              <a:rPr lang="en-US" sz="750" b="1" dirty="0">
                <a:solidFill>
                  <a:srgbClr val="6941A8"/>
                </a:solidFill>
                <a:latin typeface="Calibri" pitchFamily="34" charset="0"/>
                <a:ea typeface="Calibri" pitchFamily="34" charset="-122"/>
                <a:cs typeface="Calibri" pitchFamily="34" charset="-120"/>
              </a:rPr>
              <a:t>sandbox</a:t>
            </a:r>
            <a:endParaRPr lang="en-US" sz="750" dirty="0"/>
          </a:p>
        </p:txBody>
      </p:sp>
      <p:sp>
        <p:nvSpPr>
          <p:cNvPr id="43" name="Text 41"/>
          <p:cNvSpPr/>
          <p:nvPr/>
        </p:nvSpPr>
        <p:spPr>
          <a:xfrm>
            <a:off x="5852160" y="1088136"/>
            <a:ext cx="1408176" cy="420624"/>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Cross-app entity comparison · CDM conversation working tables</a:t>
            </a:r>
            <a:endParaRPr lang="en-US" sz="750" dirty="0"/>
          </a:p>
        </p:txBody>
      </p:sp>
      <p:sp>
        <p:nvSpPr>
          <p:cNvPr id="44" name="Text 42"/>
          <p:cNvSpPr/>
          <p:nvPr/>
        </p:nvSpPr>
        <p:spPr>
          <a:xfrm>
            <a:off x="7287768" y="1088136"/>
            <a:ext cx="804672" cy="420624"/>
          </a:xfrm>
          <a:prstGeom prst="rect">
            <a:avLst/>
          </a:prstGeom>
          <a:noFill/>
          <a:ln/>
        </p:spPr>
        <p:txBody>
          <a:bodyPr wrap="square" lIns="0" tIns="0" rIns="0" bIns="0" rtlCol="0" anchor="t"/>
          <a:lstStyle/>
          <a:p>
            <a:pPr indent="0" marL="0">
              <a:buNone/>
            </a:pPr>
            <a:r>
              <a:rPr lang="en-US" sz="700" i="1" dirty="0">
                <a:solidFill>
                  <a:srgbClr val="6B7280"/>
                </a:solidFill>
                <a:latin typeface="Calibri" pitchFamily="34" charset="0"/>
                <a:ea typeface="Calibri" pitchFamily="34" charset="-122"/>
                <a:cs typeface="Calibri" pitchFamily="34" charset="-120"/>
              </a:rPr>
              <a:t>Risk Data Platform</a:t>
            </a:r>
            <a:endParaRPr lang="en-US" sz="700" dirty="0"/>
          </a:p>
        </p:txBody>
      </p:sp>
      <p:sp>
        <p:nvSpPr>
          <p:cNvPr id="45" name="Text 43"/>
          <p:cNvSpPr/>
          <p:nvPr/>
        </p:nvSpPr>
        <p:spPr>
          <a:xfrm>
            <a:off x="8119872" y="1088136"/>
            <a:ext cx="640080" cy="420624"/>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Working space only. Not permanent. Cleared after promotion to confirmed.</a:t>
            </a:r>
            <a:endParaRPr lang="en-US" sz="700" dirty="0"/>
          </a:p>
        </p:txBody>
      </p:sp>
      <p:sp>
        <p:nvSpPr>
          <p:cNvPr id="46" name="Shape 44"/>
          <p:cNvSpPr/>
          <p:nvPr/>
        </p:nvSpPr>
        <p:spPr>
          <a:xfrm>
            <a:off x="5166360" y="1536192"/>
            <a:ext cx="3657600" cy="1060704"/>
          </a:xfrm>
          <a:prstGeom prst="rect">
            <a:avLst/>
          </a:prstGeom>
          <a:solidFill>
            <a:srgbClr val="F0FDFA"/>
          </a:solidFill>
          <a:ln w="5080">
            <a:solidFill>
              <a:srgbClr val="C8DDD6"/>
            </a:solidFill>
            <a:prstDash val="solid"/>
          </a:ln>
        </p:spPr>
      </p:sp>
      <p:sp>
        <p:nvSpPr>
          <p:cNvPr id="47" name="Shape 45"/>
          <p:cNvSpPr/>
          <p:nvPr/>
        </p:nvSpPr>
        <p:spPr>
          <a:xfrm>
            <a:off x="5166360" y="1536192"/>
            <a:ext cx="658368" cy="1060704"/>
          </a:xfrm>
          <a:prstGeom prst="rect">
            <a:avLst/>
          </a:prstGeom>
          <a:solidFill>
            <a:srgbClr val="CCFBF1"/>
          </a:solidFill>
          <a:ln w="5080">
            <a:solidFill>
              <a:srgbClr val="C8DDD6"/>
            </a:solidFill>
            <a:prstDash val="solid"/>
          </a:ln>
        </p:spPr>
      </p:sp>
      <p:sp>
        <p:nvSpPr>
          <p:cNvPr id="48" name="Text 46"/>
          <p:cNvSpPr/>
          <p:nvPr/>
        </p:nvSpPr>
        <p:spPr>
          <a:xfrm>
            <a:off x="5202936" y="1581912"/>
            <a:ext cx="603504" cy="987552"/>
          </a:xfrm>
          <a:prstGeom prst="rect">
            <a:avLst/>
          </a:prstGeom>
          <a:noFill/>
          <a:ln/>
        </p:spPr>
        <p:txBody>
          <a:bodyPr wrap="square" lIns="0" tIns="0" rIns="0" bIns="0" rtlCol="0" anchor="t"/>
          <a:lstStyle/>
          <a:p>
            <a:pPr indent="0" marL="0">
              <a:buNone/>
            </a:pPr>
            <a:r>
              <a:rPr lang="en-US" sz="750" b="1" dirty="0">
                <a:solidFill>
                  <a:srgbClr val="0F766E"/>
                </a:solidFill>
                <a:latin typeface="Calibri" pitchFamily="34" charset="0"/>
                <a:ea typeface="Calibri" pitchFamily="34" charset="-122"/>
                <a:cs typeface="Calibri" pitchFamily="34" charset="-120"/>
              </a:rPr>
              <a:t>silver / confirmed</a:t>
            </a:r>
            <a:endParaRPr lang="en-US" sz="750" dirty="0"/>
          </a:p>
        </p:txBody>
      </p:sp>
      <p:sp>
        <p:nvSpPr>
          <p:cNvPr id="49" name="Text 47"/>
          <p:cNvSpPr/>
          <p:nvPr/>
        </p:nvSpPr>
        <p:spPr>
          <a:xfrm>
            <a:off x="5852160" y="1581912"/>
            <a:ext cx="1408176" cy="987552"/>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Risk Confirmed Entity (CDM-aligned base + Risk enrichments) · Resolution table · Risk Data Contract/Catalog · Cross-app derived dimensions</a:t>
            </a:r>
            <a:endParaRPr lang="en-US" sz="750" dirty="0"/>
          </a:p>
        </p:txBody>
      </p:sp>
      <p:sp>
        <p:nvSpPr>
          <p:cNvPr id="50" name="Text 48"/>
          <p:cNvSpPr/>
          <p:nvPr/>
        </p:nvSpPr>
        <p:spPr>
          <a:xfrm>
            <a:off x="7287768" y="1581912"/>
            <a:ext cx="804672" cy="987552"/>
          </a:xfrm>
          <a:prstGeom prst="rect">
            <a:avLst/>
          </a:prstGeom>
          <a:noFill/>
          <a:ln/>
        </p:spPr>
        <p:txBody>
          <a:bodyPr wrap="square" lIns="0" tIns="0" rIns="0" bIns="0" rtlCol="0" anchor="t"/>
          <a:lstStyle/>
          <a:p>
            <a:pPr indent="0" marL="0">
              <a:buNone/>
            </a:pPr>
            <a:r>
              <a:rPr lang="en-US" sz="700" i="1" dirty="0">
                <a:solidFill>
                  <a:srgbClr val="6B7280"/>
                </a:solidFill>
                <a:latin typeface="Calibri" pitchFamily="34" charset="0"/>
                <a:ea typeface="Calibri" pitchFamily="34" charset="-122"/>
                <a:cs typeface="Calibri" pitchFamily="34" charset="-120"/>
              </a:rPr>
              <a:t>Ingestion team + Risk Data Platform</a:t>
            </a:r>
            <a:endParaRPr lang="en-US" sz="700" dirty="0"/>
          </a:p>
        </p:txBody>
      </p:sp>
      <p:sp>
        <p:nvSpPr>
          <p:cNvPr id="51" name="Text 49"/>
          <p:cNvSpPr/>
          <p:nvPr/>
        </p:nvSpPr>
        <p:spPr>
          <a:xfrm>
            <a:off x="8119872" y="1581912"/>
            <a:ext cx="640080" cy="987552"/>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Master dimension layer. Stable semantic interface. All Risk apps consume shared entities from here.</a:t>
            </a:r>
            <a:endParaRPr lang="en-US" sz="700" dirty="0"/>
          </a:p>
        </p:txBody>
      </p:sp>
      <p:sp>
        <p:nvSpPr>
          <p:cNvPr id="52" name="Shape 50"/>
          <p:cNvSpPr/>
          <p:nvPr/>
        </p:nvSpPr>
        <p:spPr>
          <a:xfrm>
            <a:off x="5166360" y="2596896"/>
            <a:ext cx="3657600" cy="749808"/>
          </a:xfrm>
          <a:prstGeom prst="rect">
            <a:avLst/>
          </a:prstGeom>
          <a:solidFill>
            <a:srgbClr val="F0FDF4"/>
          </a:solidFill>
          <a:ln w="5080">
            <a:solidFill>
              <a:srgbClr val="C8DDD6"/>
            </a:solidFill>
            <a:prstDash val="solid"/>
          </a:ln>
        </p:spPr>
      </p:sp>
      <p:sp>
        <p:nvSpPr>
          <p:cNvPr id="53" name="Shape 51"/>
          <p:cNvSpPr/>
          <p:nvPr/>
        </p:nvSpPr>
        <p:spPr>
          <a:xfrm>
            <a:off x="5166360" y="2596896"/>
            <a:ext cx="658368" cy="749808"/>
          </a:xfrm>
          <a:prstGeom prst="rect">
            <a:avLst/>
          </a:prstGeom>
          <a:solidFill>
            <a:srgbClr val="DCFCE7"/>
          </a:solidFill>
          <a:ln w="5080">
            <a:solidFill>
              <a:srgbClr val="C8DDD6"/>
            </a:solidFill>
            <a:prstDash val="solid"/>
          </a:ln>
        </p:spPr>
      </p:sp>
      <p:sp>
        <p:nvSpPr>
          <p:cNvPr id="54" name="Text 52"/>
          <p:cNvSpPr/>
          <p:nvPr/>
        </p:nvSpPr>
        <p:spPr>
          <a:xfrm>
            <a:off x="5202936" y="2642616"/>
            <a:ext cx="603504" cy="676656"/>
          </a:xfrm>
          <a:prstGeom prst="rect">
            <a:avLst/>
          </a:prstGeom>
          <a:noFill/>
          <a:ln/>
        </p:spPr>
        <p:txBody>
          <a:bodyPr wrap="square" lIns="0" tIns="0" rIns="0" bIns="0" rtlCol="0" anchor="t"/>
          <a:lstStyle/>
          <a:p>
            <a:pPr indent="0" marL="0">
              <a:buNone/>
            </a:pPr>
            <a:r>
              <a:rPr lang="en-US" sz="750" b="1" dirty="0">
                <a:solidFill>
                  <a:srgbClr val="16A34A"/>
                </a:solidFill>
                <a:latin typeface="Calibri" pitchFamily="34" charset="0"/>
                <a:ea typeface="Calibri" pitchFamily="34" charset="-122"/>
                <a:cs typeface="Calibri" pitchFamily="34" charset="-120"/>
              </a:rPr>
              <a:t>gold</a:t>
            </a:r>
            <a:endParaRPr lang="en-US" sz="750" dirty="0"/>
          </a:p>
        </p:txBody>
      </p:sp>
      <p:sp>
        <p:nvSpPr>
          <p:cNvPr id="55" name="Text 53"/>
          <p:cNvSpPr/>
          <p:nvPr/>
        </p:nvSpPr>
        <p:spPr>
          <a:xfrm>
            <a:off x="5852160" y="2642616"/>
            <a:ext cx="1408176" cy="676656"/>
          </a:xfrm>
          <a:prstGeom prst="rect">
            <a:avLst/>
          </a:prstGeom>
          <a:noFill/>
          <a:ln/>
        </p:spPr>
        <p:txBody>
          <a:bodyPr wrap="square" lIns="0" tIns="0" rIns="0" bIns="0" rtlCol="0" anchor="t"/>
          <a:lstStyle/>
          <a:p>
            <a:pPr indent="0" marL="0">
              <a:buNone/>
            </a:pPr>
            <a:r>
              <a:rPr lang="en-US" sz="750" dirty="0">
                <a:solidFill>
                  <a:srgbClr val="1A3530"/>
                </a:solidFill>
                <a:latin typeface="Calibri" pitchFamily="34" charset="0"/>
                <a:ea typeface="Calibri" pitchFamily="34" charset="-122"/>
                <a:cs typeface="Calibri" pitchFamily="34" charset="-120"/>
              </a:rPr>
              <a:t>Views over app gold: Exposure · XVA · Collateral · Limits · Liquidity · Star schema</a:t>
            </a:r>
            <a:endParaRPr lang="en-US" sz="750" dirty="0"/>
          </a:p>
        </p:txBody>
      </p:sp>
      <p:sp>
        <p:nvSpPr>
          <p:cNvPr id="56" name="Text 54"/>
          <p:cNvSpPr/>
          <p:nvPr/>
        </p:nvSpPr>
        <p:spPr>
          <a:xfrm>
            <a:off x="7287768" y="2642616"/>
            <a:ext cx="804672" cy="676656"/>
          </a:xfrm>
          <a:prstGeom prst="rect">
            <a:avLst/>
          </a:prstGeom>
          <a:noFill/>
          <a:ln/>
        </p:spPr>
        <p:txBody>
          <a:bodyPr wrap="square" lIns="0" tIns="0" rIns="0" bIns="0" rtlCol="0" anchor="t"/>
          <a:lstStyle/>
          <a:p>
            <a:pPr indent="0" marL="0">
              <a:buNone/>
            </a:pPr>
            <a:r>
              <a:rPr lang="en-US" sz="700" i="1" dirty="0">
                <a:solidFill>
                  <a:srgbClr val="6B7280"/>
                </a:solidFill>
                <a:latin typeface="Calibri" pitchFamily="34" charset="0"/>
                <a:ea typeface="Calibri" pitchFamily="34" charset="-122"/>
                <a:cs typeface="Calibri" pitchFamily="34" charset="-120"/>
              </a:rPr>
              <a:t>Risk Data Platform</a:t>
            </a:r>
            <a:endParaRPr lang="en-US" sz="700" dirty="0"/>
          </a:p>
        </p:txBody>
      </p:sp>
      <p:sp>
        <p:nvSpPr>
          <p:cNvPr id="57" name="Text 55"/>
          <p:cNvSpPr/>
          <p:nvPr/>
        </p:nvSpPr>
        <p:spPr>
          <a:xfrm>
            <a:off x="8119872" y="2642616"/>
            <a:ext cx="640080" cy="676656"/>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Views only — no physical data movement. Unity Catalog tracks full lineage.</a:t>
            </a:r>
            <a:endParaRPr lang="en-US" sz="700" dirty="0"/>
          </a:p>
        </p:txBody>
      </p:sp>
      <p:sp>
        <p:nvSpPr>
          <p:cNvPr id="58" name="Shape 56"/>
          <p:cNvSpPr/>
          <p:nvPr/>
        </p:nvSpPr>
        <p:spPr>
          <a:xfrm>
            <a:off x="5166360" y="3401568"/>
            <a:ext cx="1737360" cy="457200"/>
          </a:xfrm>
          <a:prstGeom prst="rect">
            <a:avLst/>
          </a:prstGeom>
          <a:solidFill>
            <a:srgbClr val="FEF3C7"/>
          </a:solidFill>
          <a:ln w="9525">
            <a:solidFill>
              <a:srgbClr val="92400E"/>
            </a:solidFill>
            <a:prstDash val="solid"/>
          </a:ln>
        </p:spPr>
      </p:sp>
      <p:sp>
        <p:nvSpPr>
          <p:cNvPr id="59" name="Text 57"/>
          <p:cNvSpPr/>
          <p:nvPr/>
        </p:nvSpPr>
        <p:spPr>
          <a:xfrm>
            <a:off x="5257800" y="3438144"/>
            <a:ext cx="1554480" cy="164592"/>
          </a:xfrm>
          <a:prstGeom prst="rect">
            <a:avLst/>
          </a:prstGeom>
          <a:noFill/>
          <a:ln/>
        </p:spPr>
        <p:txBody>
          <a:bodyPr wrap="square" lIns="0" tIns="0" rIns="0" bIns="0" rtlCol="0" anchor="ctr"/>
          <a:lstStyle/>
          <a:p>
            <a:pPr indent="0" marL="0">
              <a:buNone/>
            </a:pPr>
            <a:r>
              <a:rPr lang="en-US" sz="800" b="1" dirty="0">
                <a:solidFill>
                  <a:srgbClr val="92400E"/>
                </a:solidFill>
                <a:latin typeface="Calibri" pitchFamily="34" charset="0"/>
                <a:ea typeface="Calibri" pitchFamily="34" charset="-122"/>
                <a:cs typeface="Calibri" pitchFamily="34" charset="-120"/>
              </a:rPr>
              <a:t>Enterprise CDM</a:t>
            </a:r>
            <a:endParaRPr lang="en-US" sz="800" dirty="0"/>
          </a:p>
        </p:txBody>
      </p:sp>
      <p:sp>
        <p:nvSpPr>
          <p:cNvPr id="60" name="Text 58"/>
          <p:cNvSpPr/>
          <p:nvPr/>
        </p:nvSpPr>
        <p:spPr>
          <a:xfrm>
            <a:off x="5257800" y="3602736"/>
            <a:ext cx="1554480" cy="20116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CDM-aligned RCE subset published upward. Ingestion team manages.</a:t>
            </a:r>
            <a:endParaRPr lang="en-US" sz="700" dirty="0"/>
          </a:p>
        </p:txBody>
      </p:sp>
      <p:sp>
        <p:nvSpPr>
          <p:cNvPr id="61" name="Shape 59"/>
          <p:cNvSpPr/>
          <p:nvPr/>
        </p:nvSpPr>
        <p:spPr>
          <a:xfrm>
            <a:off x="6995160" y="3401568"/>
            <a:ext cx="1828800" cy="457200"/>
          </a:xfrm>
          <a:prstGeom prst="rect">
            <a:avLst/>
          </a:prstGeom>
          <a:solidFill>
            <a:srgbClr val="DCFCE7"/>
          </a:solidFill>
          <a:ln w="9525">
            <a:solidFill>
              <a:srgbClr val="16A34A"/>
            </a:solidFill>
            <a:prstDash val="solid"/>
          </a:ln>
        </p:spPr>
      </p:sp>
      <p:sp>
        <p:nvSpPr>
          <p:cNvPr id="62" name="Text 60"/>
          <p:cNvSpPr/>
          <p:nvPr/>
        </p:nvSpPr>
        <p:spPr>
          <a:xfrm>
            <a:off x="7086600" y="3438144"/>
            <a:ext cx="1645920" cy="164592"/>
          </a:xfrm>
          <a:prstGeom prst="rect">
            <a:avLst/>
          </a:prstGeom>
          <a:noFill/>
          <a:ln/>
        </p:spPr>
        <p:txBody>
          <a:bodyPr wrap="square" lIns="0" tIns="0" rIns="0" bIns="0" rtlCol="0" anchor="ctr"/>
          <a:lstStyle/>
          <a:p>
            <a:pPr indent="0" marL="0">
              <a:buNone/>
            </a:pPr>
            <a:r>
              <a:rPr lang="en-US" sz="800" b="1" dirty="0">
                <a:solidFill>
                  <a:srgbClr val="16A34A"/>
                </a:solidFill>
                <a:latin typeface="Calibri" pitchFamily="34" charset="0"/>
                <a:ea typeface="Calibri" pitchFamily="34" charset="-122"/>
                <a:cs typeface="Calibri" pitchFamily="34" charset="-120"/>
              </a:rPr>
              <a:t>BI Layer (Strategy)</a:t>
            </a:r>
            <a:endParaRPr lang="en-US" sz="800" dirty="0"/>
          </a:p>
        </p:txBody>
      </p:sp>
      <p:sp>
        <p:nvSpPr>
          <p:cNvPr id="63" name="Text 61"/>
          <p:cNvSpPr/>
          <p:nvPr/>
        </p:nvSpPr>
        <p:spPr>
          <a:xfrm>
            <a:off x="7086600" y="3602736"/>
            <a:ext cx="1645920" cy="201168"/>
          </a:xfrm>
          <a:prstGeom prst="rect">
            <a:avLst/>
          </a:prstGeom>
          <a:noFill/>
          <a:ln/>
        </p:spPr>
        <p:txBody>
          <a:bodyPr wrap="square" lIns="0" tIns="0" rIns="0" bIns="0" rtlCol="0" anchor="t"/>
          <a:lstStyle/>
          <a:p>
            <a:pPr indent="0" marL="0">
              <a:buNone/>
            </a:pPr>
            <a:r>
              <a:rPr lang="en-US" sz="700" dirty="0">
                <a:solidFill>
                  <a:srgbClr val="6B7280"/>
                </a:solidFill>
                <a:latin typeface="Calibri" pitchFamily="34" charset="0"/>
                <a:ea typeface="Calibri" pitchFamily="34" charset="-122"/>
                <a:cs typeface="Calibri" pitchFamily="34" charset="-120"/>
              </a:rPr>
              <a:t>Semantic model → riskwh.gold via SQL warehouse endpoint. Not stored in Databricks.</a:t>
            </a:r>
            <a:endParaRPr lang="en-US" sz="700" dirty="0"/>
          </a:p>
        </p:txBody>
      </p:sp>
      <p:sp>
        <p:nvSpPr>
          <p:cNvPr id="64" name="Text 62"/>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65" name="Text 63"/>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DF4"/>
        </a:solidFill>
      </p:bgPr>
    </p:bg>
    <p:spTree>
      <p:nvGrpSpPr>
        <p:cNvPr id="1" name=""/>
        <p:cNvGrpSpPr/>
        <p:nvPr/>
      </p:nvGrpSpPr>
      <p:grpSpPr>
        <a:xfrm>
          <a:off x="0" y="0"/>
          <a:ext cx="0" cy="0"/>
          <a:chOff x="0" y="0"/>
          <a:chExt cx="0" cy="0"/>
        </a:xfrm>
      </p:grpSpPr>
      <p:sp>
        <p:nvSpPr>
          <p:cNvPr id="2" name="Text 0"/>
          <p:cNvSpPr/>
          <p:nvPr/>
        </p:nvSpPr>
        <p:spPr>
          <a:xfrm>
            <a:off x="365760" y="164592"/>
            <a:ext cx="8412480" cy="347472"/>
          </a:xfrm>
          <a:prstGeom prst="rect">
            <a:avLst/>
          </a:prstGeom>
          <a:noFill/>
          <a:ln/>
        </p:spPr>
        <p:txBody>
          <a:bodyPr wrap="square" lIns="0" tIns="0" rIns="0" bIns="0" rtlCol="0" anchor="ctr"/>
          <a:lstStyle/>
          <a:p>
            <a:pPr indent="0" marL="0">
              <a:buNone/>
            </a:pPr>
            <a:r>
              <a:rPr lang="en-US" sz="1800" b="1" dirty="0">
                <a:solidFill>
                  <a:srgbClr val="166534"/>
                </a:solidFill>
                <a:latin typeface="Calibri" pitchFamily="34" charset="0"/>
                <a:ea typeface="Calibri" pitchFamily="34" charset="-122"/>
                <a:cs typeface="Calibri" pitchFamily="34" charset="-120"/>
              </a:rPr>
              <a:t>Data Model Layer Map  &amp;  Populate Forward · Migrate Backward</a:t>
            </a:r>
            <a:endParaRPr lang="en-US" sz="1800" dirty="0"/>
          </a:p>
        </p:txBody>
      </p:sp>
      <p:sp>
        <p:nvSpPr>
          <p:cNvPr id="3" name="Shape 1"/>
          <p:cNvSpPr/>
          <p:nvPr/>
        </p:nvSpPr>
        <p:spPr>
          <a:xfrm>
            <a:off x="320040" y="594360"/>
            <a:ext cx="8503920" cy="237744"/>
          </a:xfrm>
          <a:prstGeom prst="rect">
            <a:avLst/>
          </a:prstGeom>
          <a:solidFill>
            <a:srgbClr val="166534"/>
          </a:solidFill>
          <a:ln w="12700">
            <a:solidFill>
              <a:srgbClr val="166534"/>
            </a:solidFill>
            <a:prstDash val="solid"/>
          </a:ln>
        </p:spPr>
      </p:sp>
      <p:sp>
        <p:nvSpPr>
          <p:cNvPr id="4" name="Text 2"/>
          <p:cNvSpPr/>
          <p:nvPr/>
        </p:nvSpPr>
        <p:spPr>
          <a:xfrm>
            <a:off x="384048" y="594360"/>
            <a:ext cx="1280160"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Model</a:t>
            </a:r>
            <a:endParaRPr lang="en-US" sz="800" dirty="0"/>
          </a:p>
        </p:txBody>
      </p:sp>
      <p:sp>
        <p:nvSpPr>
          <p:cNvPr id="5" name="Text 3"/>
          <p:cNvSpPr/>
          <p:nvPr/>
        </p:nvSpPr>
        <p:spPr>
          <a:xfrm>
            <a:off x="1773936" y="594360"/>
            <a:ext cx="1536192"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Physical Home</a:t>
            </a:r>
            <a:endParaRPr lang="en-US" sz="800" dirty="0"/>
          </a:p>
        </p:txBody>
      </p:sp>
      <p:sp>
        <p:nvSpPr>
          <p:cNvPr id="6" name="Text 4"/>
          <p:cNvSpPr/>
          <p:nvPr/>
        </p:nvSpPr>
        <p:spPr>
          <a:xfrm>
            <a:off x="3419856" y="594360"/>
            <a:ext cx="1188720"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Format</a:t>
            </a:r>
            <a:endParaRPr lang="en-US" sz="800" dirty="0"/>
          </a:p>
        </p:txBody>
      </p:sp>
      <p:sp>
        <p:nvSpPr>
          <p:cNvPr id="7" name="Text 5"/>
          <p:cNvSpPr/>
          <p:nvPr/>
        </p:nvSpPr>
        <p:spPr>
          <a:xfrm>
            <a:off x="4718304" y="594360"/>
            <a:ext cx="4005072" cy="237744"/>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Connects to / Feeds</a:t>
            </a:r>
            <a:endParaRPr lang="en-US" sz="800" dirty="0"/>
          </a:p>
        </p:txBody>
      </p:sp>
      <p:sp>
        <p:nvSpPr>
          <p:cNvPr id="8" name="Shape 6"/>
          <p:cNvSpPr/>
          <p:nvPr/>
        </p:nvSpPr>
        <p:spPr>
          <a:xfrm>
            <a:off x="320040" y="859536"/>
            <a:ext cx="8503920" cy="420624"/>
          </a:xfrm>
          <a:prstGeom prst="rect">
            <a:avLst/>
          </a:prstGeom>
          <a:solidFill>
            <a:srgbClr val="FFFFFF"/>
          </a:solidFill>
          <a:ln w="5080">
            <a:solidFill>
              <a:srgbClr val="C8DDD6"/>
            </a:solidFill>
            <a:prstDash val="solid"/>
          </a:ln>
        </p:spPr>
      </p:sp>
      <p:sp>
        <p:nvSpPr>
          <p:cNvPr id="9" name="Shape 7"/>
          <p:cNvSpPr/>
          <p:nvPr/>
        </p:nvSpPr>
        <p:spPr>
          <a:xfrm>
            <a:off x="320040" y="859536"/>
            <a:ext cx="1371600" cy="420624"/>
          </a:xfrm>
          <a:prstGeom prst="rect">
            <a:avLst/>
          </a:prstGeom>
          <a:solidFill>
            <a:srgbClr val="DBEAFE"/>
          </a:solidFill>
          <a:ln w="5080">
            <a:solidFill>
              <a:srgbClr val="C8DDD6"/>
            </a:solidFill>
            <a:prstDash val="solid"/>
          </a:ln>
        </p:spPr>
      </p:sp>
      <p:sp>
        <p:nvSpPr>
          <p:cNvPr id="10" name="Text 8"/>
          <p:cNvSpPr/>
          <p:nvPr/>
        </p:nvSpPr>
        <p:spPr>
          <a:xfrm>
            <a:off x="384048" y="905256"/>
            <a:ext cx="1243584" cy="347472"/>
          </a:xfrm>
          <a:prstGeom prst="rect">
            <a:avLst/>
          </a:prstGeom>
          <a:noFill/>
          <a:ln/>
        </p:spPr>
        <p:txBody>
          <a:bodyPr wrap="square" lIns="0" tIns="0" rIns="0" bIns="0" rtlCol="0" anchor="t"/>
          <a:lstStyle/>
          <a:p>
            <a:pPr indent="0" marL="0">
              <a:buNone/>
            </a:pPr>
            <a:r>
              <a:rPr lang="en-US" sz="750" b="1" dirty="0">
                <a:solidFill>
                  <a:srgbClr val="1D6FA4"/>
                </a:solidFill>
                <a:latin typeface="Calibri" pitchFamily="34" charset="0"/>
                <a:ea typeface="Calibri" pitchFamily="34" charset="-122"/>
                <a:cs typeface="Calibri" pitchFamily="34" charset="-120"/>
              </a:rPr>
              <a:t>App-specific ERD</a:t>
            </a:r>
            <a:endParaRPr lang="en-US" sz="750" dirty="0"/>
          </a:p>
        </p:txBody>
      </p:sp>
      <p:sp>
        <p:nvSpPr>
          <p:cNvPr id="11" name="Text 9"/>
          <p:cNvSpPr/>
          <p:nvPr/>
        </p:nvSpPr>
        <p:spPr>
          <a:xfrm>
            <a:off x="1764792" y="905256"/>
            <a:ext cx="1536192"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Git + Unity Catalog metadata</a:t>
            </a:r>
            <a:endParaRPr lang="en-US" sz="750" dirty="0"/>
          </a:p>
        </p:txBody>
      </p:sp>
      <p:sp>
        <p:nvSpPr>
          <p:cNvPr id="12" name="Text 10"/>
          <p:cNvSpPr/>
          <p:nvPr/>
        </p:nvSpPr>
        <p:spPr>
          <a:xfrm>
            <a:off x="3410712" y="905256"/>
            <a:ext cx="1188720"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PowerDesigner / ERD</a:t>
            </a:r>
            <a:endParaRPr lang="en-US" sz="750" dirty="0"/>
          </a:p>
        </p:txBody>
      </p:sp>
      <p:sp>
        <p:nvSpPr>
          <p:cNvPr id="13" name="Text 11"/>
          <p:cNvSpPr/>
          <p:nvPr/>
        </p:nvSpPr>
        <p:spPr>
          <a:xfrm>
            <a:off x="4709160" y="905256"/>
            <a:ext cx="4041648"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Describes app bronze→silver→gold structure. Physical manifestation is app schema. Unity Catalog tracks lineage.</a:t>
            </a:r>
            <a:endParaRPr lang="en-US" sz="750" dirty="0"/>
          </a:p>
        </p:txBody>
      </p:sp>
      <p:sp>
        <p:nvSpPr>
          <p:cNvPr id="14" name="Shape 12"/>
          <p:cNvSpPr/>
          <p:nvPr/>
        </p:nvSpPr>
        <p:spPr>
          <a:xfrm>
            <a:off x="320040" y="1280160"/>
            <a:ext cx="8503920" cy="420624"/>
          </a:xfrm>
          <a:prstGeom prst="rect">
            <a:avLst/>
          </a:prstGeom>
          <a:solidFill>
            <a:srgbClr val="F0FDF4"/>
          </a:solidFill>
          <a:ln w="5080">
            <a:solidFill>
              <a:srgbClr val="C8DDD6"/>
            </a:solidFill>
            <a:prstDash val="solid"/>
          </a:ln>
        </p:spPr>
      </p:sp>
      <p:sp>
        <p:nvSpPr>
          <p:cNvPr id="15" name="Shape 13"/>
          <p:cNvSpPr/>
          <p:nvPr/>
        </p:nvSpPr>
        <p:spPr>
          <a:xfrm>
            <a:off x="320040" y="1280160"/>
            <a:ext cx="1371600" cy="420624"/>
          </a:xfrm>
          <a:prstGeom prst="rect">
            <a:avLst/>
          </a:prstGeom>
          <a:solidFill>
            <a:srgbClr val="EDE9FE"/>
          </a:solidFill>
          <a:ln w="5080">
            <a:solidFill>
              <a:srgbClr val="C8DDD6"/>
            </a:solidFill>
            <a:prstDash val="solid"/>
          </a:ln>
        </p:spPr>
      </p:sp>
      <p:sp>
        <p:nvSpPr>
          <p:cNvPr id="16" name="Text 14"/>
          <p:cNvSpPr/>
          <p:nvPr/>
        </p:nvSpPr>
        <p:spPr>
          <a:xfrm>
            <a:off x="384048" y="1325880"/>
            <a:ext cx="1243584" cy="347472"/>
          </a:xfrm>
          <a:prstGeom prst="rect">
            <a:avLst/>
          </a:prstGeom>
          <a:noFill/>
          <a:ln/>
        </p:spPr>
        <p:txBody>
          <a:bodyPr wrap="square" lIns="0" tIns="0" rIns="0" bIns="0" rtlCol="0" anchor="t"/>
          <a:lstStyle/>
          <a:p>
            <a:pPr indent="0" marL="0">
              <a:buNone/>
            </a:pPr>
            <a:r>
              <a:rPr lang="en-US" sz="750" b="1" dirty="0">
                <a:solidFill>
                  <a:srgbClr val="6941A8"/>
                </a:solidFill>
                <a:latin typeface="Calibri" pitchFamily="34" charset="0"/>
                <a:ea typeface="Calibri" pitchFamily="34" charset="-122"/>
                <a:cs typeface="Calibri" pitchFamily="34" charset="-120"/>
              </a:rPr>
              <a:t>Risk data model / cross-app ERD</a:t>
            </a:r>
            <a:endParaRPr lang="en-US" sz="750" dirty="0"/>
          </a:p>
        </p:txBody>
      </p:sp>
      <p:sp>
        <p:nvSpPr>
          <p:cNvPr id="17" name="Text 15"/>
          <p:cNvSpPr/>
          <p:nvPr/>
        </p:nvSpPr>
        <p:spPr>
          <a:xfrm>
            <a:off x="1764792" y="1325880"/>
            <a:ext cx="1536192"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Git + Unity Catalog metadata</a:t>
            </a:r>
            <a:endParaRPr lang="en-US" sz="750" dirty="0"/>
          </a:p>
        </p:txBody>
      </p:sp>
      <p:sp>
        <p:nvSpPr>
          <p:cNvPr id="18" name="Text 16"/>
          <p:cNvSpPr/>
          <p:nvPr/>
        </p:nvSpPr>
        <p:spPr>
          <a:xfrm>
            <a:off x="3410712" y="1325880"/>
            <a:ext cx="1188720"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PowerDesigner / ERD</a:t>
            </a:r>
            <a:endParaRPr lang="en-US" sz="750" dirty="0"/>
          </a:p>
        </p:txBody>
      </p:sp>
      <p:sp>
        <p:nvSpPr>
          <p:cNvPr id="19" name="Text 17"/>
          <p:cNvSpPr/>
          <p:nvPr/>
        </p:nvSpPr>
        <p:spPr>
          <a:xfrm>
            <a:off x="4709160" y="1325880"/>
            <a:ext cx="4041648"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Describes all RCE dimension relationships. Physical manifestation is riskwh.confirmed. Feeds star schema design.</a:t>
            </a:r>
            <a:endParaRPr lang="en-US" sz="750" dirty="0"/>
          </a:p>
        </p:txBody>
      </p:sp>
      <p:sp>
        <p:nvSpPr>
          <p:cNvPr id="20" name="Shape 18"/>
          <p:cNvSpPr/>
          <p:nvPr/>
        </p:nvSpPr>
        <p:spPr>
          <a:xfrm>
            <a:off x="320040" y="1700784"/>
            <a:ext cx="8503920" cy="420624"/>
          </a:xfrm>
          <a:prstGeom prst="rect">
            <a:avLst/>
          </a:prstGeom>
          <a:solidFill>
            <a:srgbClr val="FFFFFF"/>
          </a:solidFill>
          <a:ln w="5080">
            <a:solidFill>
              <a:srgbClr val="C8DDD6"/>
            </a:solidFill>
            <a:prstDash val="solid"/>
          </a:ln>
        </p:spPr>
      </p:sp>
      <p:sp>
        <p:nvSpPr>
          <p:cNvPr id="21" name="Shape 19"/>
          <p:cNvSpPr/>
          <p:nvPr/>
        </p:nvSpPr>
        <p:spPr>
          <a:xfrm>
            <a:off x="320040" y="1700784"/>
            <a:ext cx="1371600" cy="420624"/>
          </a:xfrm>
          <a:prstGeom prst="rect">
            <a:avLst/>
          </a:prstGeom>
          <a:solidFill>
            <a:srgbClr val="CCFBF1"/>
          </a:solidFill>
          <a:ln w="5080">
            <a:solidFill>
              <a:srgbClr val="C8DDD6"/>
            </a:solidFill>
            <a:prstDash val="solid"/>
          </a:ln>
        </p:spPr>
      </p:sp>
      <p:sp>
        <p:nvSpPr>
          <p:cNvPr id="22" name="Text 20"/>
          <p:cNvSpPr/>
          <p:nvPr/>
        </p:nvSpPr>
        <p:spPr>
          <a:xfrm>
            <a:off x="384048" y="1746504"/>
            <a:ext cx="1243584" cy="347472"/>
          </a:xfrm>
          <a:prstGeom prst="rect">
            <a:avLst/>
          </a:prstGeom>
          <a:noFill/>
          <a:ln/>
        </p:spPr>
        <p:txBody>
          <a:bodyPr wrap="square" lIns="0" tIns="0" rIns="0" bIns="0" rtlCol="0" anchor="t"/>
          <a:lstStyle/>
          <a:p>
            <a:pPr indent="0" marL="0">
              <a:buNone/>
            </a:pPr>
            <a:r>
              <a:rPr lang="en-US" sz="750" b="1" dirty="0">
                <a:solidFill>
                  <a:srgbClr val="0F766E"/>
                </a:solidFill>
                <a:latin typeface="Calibri" pitchFamily="34" charset="0"/>
                <a:ea typeface="Calibri" pitchFamily="34" charset="-122"/>
                <a:cs typeface="Calibri" pitchFamily="34" charset="-120"/>
              </a:rPr>
              <a:t>Risk CDM contribution</a:t>
            </a:r>
            <a:endParaRPr lang="en-US" sz="750" dirty="0"/>
          </a:p>
        </p:txBody>
      </p:sp>
      <p:sp>
        <p:nvSpPr>
          <p:cNvPr id="23" name="Text 21"/>
          <p:cNvSpPr/>
          <p:nvPr/>
        </p:nvSpPr>
        <p:spPr>
          <a:xfrm>
            <a:off x="1764792" y="1746504"/>
            <a:ext cx="1536192"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riskwh.confirmed (tagged) + CDM catalog</a:t>
            </a:r>
            <a:endParaRPr lang="en-US" sz="750" dirty="0"/>
          </a:p>
        </p:txBody>
      </p:sp>
      <p:sp>
        <p:nvSpPr>
          <p:cNvPr id="24" name="Text 22"/>
          <p:cNvSpPr/>
          <p:nvPr/>
        </p:nvSpPr>
        <p:spPr>
          <a:xfrm>
            <a:off x="3410712" y="1746504"/>
            <a:ext cx="1188720"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Tagged Delta + CDM registry</a:t>
            </a:r>
            <a:endParaRPr lang="en-US" sz="750" dirty="0"/>
          </a:p>
        </p:txBody>
      </p:sp>
      <p:sp>
        <p:nvSpPr>
          <p:cNvPr id="25" name="Text 23"/>
          <p:cNvSpPr/>
          <p:nvPr/>
        </p:nvSpPr>
        <p:spPr>
          <a:xfrm>
            <a:off x="4709160" y="1746504"/>
            <a:ext cx="4041648"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CDM-aligned RCE attributes published to enterprise CDM (Domain #5). Risk Data Catalog records CDM alignment status.</a:t>
            </a:r>
            <a:endParaRPr lang="en-US" sz="750" dirty="0"/>
          </a:p>
        </p:txBody>
      </p:sp>
      <p:sp>
        <p:nvSpPr>
          <p:cNvPr id="26" name="Shape 24"/>
          <p:cNvSpPr/>
          <p:nvPr/>
        </p:nvSpPr>
        <p:spPr>
          <a:xfrm>
            <a:off x="320040" y="2121408"/>
            <a:ext cx="8503920" cy="420624"/>
          </a:xfrm>
          <a:prstGeom prst="rect">
            <a:avLst/>
          </a:prstGeom>
          <a:solidFill>
            <a:srgbClr val="F0FDF4"/>
          </a:solidFill>
          <a:ln w="5080">
            <a:solidFill>
              <a:srgbClr val="C8DDD6"/>
            </a:solidFill>
            <a:prstDash val="solid"/>
          </a:ln>
        </p:spPr>
      </p:sp>
      <p:sp>
        <p:nvSpPr>
          <p:cNvPr id="27" name="Shape 25"/>
          <p:cNvSpPr/>
          <p:nvPr/>
        </p:nvSpPr>
        <p:spPr>
          <a:xfrm>
            <a:off x="320040" y="2121408"/>
            <a:ext cx="1371600" cy="420624"/>
          </a:xfrm>
          <a:prstGeom prst="rect">
            <a:avLst/>
          </a:prstGeom>
          <a:solidFill>
            <a:srgbClr val="DCFCE7"/>
          </a:solidFill>
          <a:ln w="5080">
            <a:solidFill>
              <a:srgbClr val="C8DDD6"/>
            </a:solidFill>
            <a:prstDash val="solid"/>
          </a:ln>
        </p:spPr>
      </p:sp>
      <p:sp>
        <p:nvSpPr>
          <p:cNvPr id="28" name="Text 26"/>
          <p:cNvSpPr/>
          <p:nvPr/>
        </p:nvSpPr>
        <p:spPr>
          <a:xfrm>
            <a:off x="384048" y="2167128"/>
            <a:ext cx="1243584" cy="347472"/>
          </a:xfrm>
          <a:prstGeom prst="rect">
            <a:avLst/>
          </a:prstGeom>
          <a:noFill/>
          <a:ln/>
        </p:spPr>
        <p:txBody>
          <a:bodyPr wrap="square" lIns="0" tIns="0" rIns="0" bIns="0" rtlCol="0" anchor="t"/>
          <a:lstStyle/>
          <a:p>
            <a:pPr indent="0" marL="0">
              <a:buNone/>
            </a:pPr>
            <a:r>
              <a:rPr lang="en-US" sz="750" b="1" dirty="0">
                <a:solidFill>
                  <a:srgbClr val="16A34A"/>
                </a:solidFill>
                <a:latin typeface="Calibri" pitchFamily="34" charset="0"/>
                <a:ea typeface="Calibri" pitchFamily="34" charset="-122"/>
                <a:cs typeface="Calibri" pitchFamily="34" charset="-120"/>
              </a:rPr>
              <a:t>Star schema / analytical model</a:t>
            </a:r>
            <a:endParaRPr lang="en-US" sz="750" dirty="0"/>
          </a:p>
        </p:txBody>
      </p:sp>
      <p:sp>
        <p:nvSpPr>
          <p:cNvPr id="29" name="Text 27"/>
          <p:cNvSpPr/>
          <p:nvPr/>
        </p:nvSpPr>
        <p:spPr>
          <a:xfrm>
            <a:off x="1764792" y="2167128"/>
            <a:ext cx="1536192"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riskwh.gold · Databricks</a:t>
            </a:r>
            <a:endParaRPr lang="en-US" sz="750" dirty="0"/>
          </a:p>
        </p:txBody>
      </p:sp>
      <p:sp>
        <p:nvSpPr>
          <p:cNvPr id="30" name="Text 28"/>
          <p:cNvSpPr/>
          <p:nvPr/>
        </p:nvSpPr>
        <p:spPr>
          <a:xfrm>
            <a:off x="3410712" y="2167128"/>
            <a:ext cx="1188720"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Fact + dimension Delta tables</a:t>
            </a:r>
            <a:endParaRPr lang="en-US" sz="750" dirty="0"/>
          </a:p>
        </p:txBody>
      </p:sp>
      <p:sp>
        <p:nvSpPr>
          <p:cNvPr id="31" name="Text 29"/>
          <p:cNvSpPr/>
          <p:nvPr/>
        </p:nvSpPr>
        <p:spPr>
          <a:xfrm>
            <a:off x="4709160" y="2167128"/>
            <a:ext cx="4041648"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Built on RCE dimensions and views over app gold. Consumed by BI semantic model and ad-hoc SQL queries.</a:t>
            </a:r>
            <a:endParaRPr lang="en-US" sz="750" dirty="0"/>
          </a:p>
        </p:txBody>
      </p:sp>
      <p:sp>
        <p:nvSpPr>
          <p:cNvPr id="32" name="Shape 30"/>
          <p:cNvSpPr/>
          <p:nvPr/>
        </p:nvSpPr>
        <p:spPr>
          <a:xfrm>
            <a:off x="320040" y="2542032"/>
            <a:ext cx="8503920" cy="420624"/>
          </a:xfrm>
          <a:prstGeom prst="rect">
            <a:avLst/>
          </a:prstGeom>
          <a:solidFill>
            <a:srgbClr val="FFFFFF"/>
          </a:solidFill>
          <a:ln w="5080">
            <a:solidFill>
              <a:srgbClr val="C8DDD6"/>
            </a:solidFill>
            <a:prstDash val="solid"/>
          </a:ln>
        </p:spPr>
      </p:sp>
      <p:sp>
        <p:nvSpPr>
          <p:cNvPr id="33" name="Shape 31"/>
          <p:cNvSpPr/>
          <p:nvPr/>
        </p:nvSpPr>
        <p:spPr>
          <a:xfrm>
            <a:off x="320040" y="2542032"/>
            <a:ext cx="1371600" cy="420624"/>
          </a:xfrm>
          <a:prstGeom prst="rect">
            <a:avLst/>
          </a:prstGeom>
          <a:solidFill>
            <a:srgbClr val="FEF3C7"/>
          </a:solidFill>
          <a:ln w="5080">
            <a:solidFill>
              <a:srgbClr val="C8DDD6"/>
            </a:solidFill>
            <a:prstDash val="solid"/>
          </a:ln>
        </p:spPr>
      </p:sp>
      <p:sp>
        <p:nvSpPr>
          <p:cNvPr id="34" name="Text 32"/>
          <p:cNvSpPr/>
          <p:nvPr/>
        </p:nvSpPr>
        <p:spPr>
          <a:xfrm>
            <a:off x="384048" y="2587752"/>
            <a:ext cx="1243584" cy="347472"/>
          </a:xfrm>
          <a:prstGeom prst="rect">
            <a:avLst/>
          </a:prstGeom>
          <a:noFill/>
          <a:ln/>
        </p:spPr>
        <p:txBody>
          <a:bodyPr wrap="square" lIns="0" tIns="0" rIns="0" bIns="0" rtlCol="0" anchor="t"/>
          <a:lstStyle/>
          <a:p>
            <a:pPr indent="0" marL="0">
              <a:buNone/>
            </a:pPr>
            <a:r>
              <a:rPr lang="en-US" sz="750" b="1" dirty="0">
                <a:solidFill>
                  <a:srgbClr val="92400E"/>
                </a:solidFill>
                <a:latin typeface="Calibri" pitchFamily="34" charset="0"/>
                <a:ea typeface="Calibri" pitchFamily="34" charset="-122"/>
                <a:cs typeface="Calibri" pitchFamily="34" charset="-120"/>
              </a:rPr>
              <a:t>Semantic model</a:t>
            </a:r>
            <a:endParaRPr lang="en-US" sz="750" dirty="0"/>
          </a:p>
        </p:txBody>
      </p:sp>
      <p:sp>
        <p:nvSpPr>
          <p:cNvPr id="35" name="Text 33"/>
          <p:cNvSpPr/>
          <p:nvPr/>
        </p:nvSpPr>
        <p:spPr>
          <a:xfrm>
            <a:off x="1764792" y="2587752"/>
            <a:ext cx="1536192"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BI layer · Strategy (Power BI / AtScale)</a:t>
            </a:r>
            <a:endParaRPr lang="en-US" sz="750" dirty="0"/>
          </a:p>
        </p:txBody>
      </p:sp>
      <p:sp>
        <p:nvSpPr>
          <p:cNvPr id="36" name="Text 34"/>
          <p:cNvSpPr/>
          <p:nvPr/>
        </p:nvSpPr>
        <p:spPr>
          <a:xfrm>
            <a:off x="3410712" y="2587752"/>
            <a:ext cx="1188720"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BI semantic layer</a:t>
            </a:r>
            <a:endParaRPr lang="en-US" sz="750" dirty="0"/>
          </a:p>
        </p:txBody>
      </p:sp>
      <p:sp>
        <p:nvSpPr>
          <p:cNvPr id="37" name="Text 35"/>
          <p:cNvSpPr/>
          <p:nvPr/>
        </p:nvSpPr>
        <p:spPr>
          <a:xfrm>
            <a:off x="4709160" y="2587752"/>
            <a:ext cx="4041648" cy="347472"/>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Points to riskwh.gold via Databricks SQL warehouse. Measures, hierarchies, business-friendly naming. Not stored in Databricks.</a:t>
            </a:r>
            <a:endParaRPr lang="en-US" sz="750" dirty="0"/>
          </a:p>
        </p:txBody>
      </p:sp>
      <p:sp>
        <p:nvSpPr>
          <p:cNvPr id="38" name="Shape 36"/>
          <p:cNvSpPr/>
          <p:nvPr/>
        </p:nvSpPr>
        <p:spPr>
          <a:xfrm>
            <a:off x="320040" y="2999232"/>
            <a:ext cx="8503920" cy="237744"/>
          </a:xfrm>
          <a:prstGeom prst="rect">
            <a:avLst/>
          </a:prstGeom>
          <a:solidFill>
            <a:srgbClr val="EEF2FF"/>
          </a:solidFill>
          <a:ln w="9525">
            <a:solidFill>
              <a:srgbClr val="3730A3"/>
            </a:solidFill>
            <a:prstDash val="solid"/>
          </a:ln>
        </p:spPr>
      </p:sp>
      <p:sp>
        <p:nvSpPr>
          <p:cNvPr id="39" name="Text 37"/>
          <p:cNvSpPr/>
          <p:nvPr/>
        </p:nvSpPr>
        <p:spPr>
          <a:xfrm>
            <a:off x="411480" y="2999232"/>
            <a:ext cx="1005840" cy="237744"/>
          </a:xfrm>
          <a:prstGeom prst="rect">
            <a:avLst/>
          </a:prstGeom>
          <a:noFill/>
          <a:ln/>
        </p:spPr>
        <p:txBody>
          <a:bodyPr wrap="square" lIns="0" tIns="0" rIns="0" bIns="0" rtlCol="0" anchor="ctr"/>
          <a:lstStyle/>
          <a:p>
            <a:pPr indent="0" marL="0">
              <a:buNone/>
            </a:pPr>
            <a:r>
              <a:rPr lang="en-US" sz="800" b="1" dirty="0">
                <a:solidFill>
                  <a:srgbClr val="3730A3"/>
                </a:solidFill>
                <a:latin typeface="Calibri" pitchFamily="34" charset="0"/>
                <a:ea typeface="Calibri" pitchFamily="34" charset="-122"/>
                <a:cs typeface="Calibri" pitchFamily="34" charset="-120"/>
              </a:rPr>
              <a:t>Unity Catalog</a:t>
            </a:r>
            <a:endParaRPr lang="en-US" sz="800" dirty="0"/>
          </a:p>
        </p:txBody>
      </p:sp>
      <p:sp>
        <p:nvSpPr>
          <p:cNvPr id="40" name="Text 38"/>
          <p:cNvSpPr/>
          <p:nvPr/>
        </p:nvSpPr>
        <p:spPr>
          <a:xfrm>
            <a:off x="1444752" y="2999232"/>
            <a:ext cx="7315200" cy="237744"/>
          </a:xfrm>
          <a:prstGeom prst="rect">
            <a:avLst/>
          </a:prstGeom>
          <a:noFill/>
          <a:ln/>
        </p:spPr>
        <p:txBody>
          <a:bodyPr wrap="square" lIns="0" tIns="0" rIns="0" bIns="0" rtlCol="0" anchor="ctr"/>
          <a:lstStyle/>
          <a:p>
            <a:pPr indent="0" marL="0">
              <a:buNone/>
            </a:pPr>
            <a:r>
              <a:rPr lang="en-US" sz="750" dirty="0">
                <a:solidFill>
                  <a:srgbClr val="3730A3"/>
                </a:solidFill>
                <a:latin typeface="Calibri" pitchFamily="34" charset="0"/>
                <a:ea typeface="Calibri" pitchFamily="34" charset="-122"/>
                <a:cs typeface="Calibri" pitchFamily="34" charset="-120"/>
              </a:rPr>
              <a:t>Single governance &amp; lineage thread across all layers — lineage, tagging, access control, discovery. Risk Data Catalog surfaced here.</a:t>
            </a:r>
            <a:endParaRPr lang="en-US" sz="750" dirty="0"/>
          </a:p>
        </p:txBody>
      </p:sp>
      <p:sp>
        <p:nvSpPr>
          <p:cNvPr id="41" name="Text 39"/>
          <p:cNvSpPr/>
          <p:nvPr/>
        </p:nvSpPr>
        <p:spPr>
          <a:xfrm>
            <a:off x="365760" y="3328416"/>
            <a:ext cx="8412480" cy="219456"/>
          </a:xfrm>
          <a:prstGeom prst="rect">
            <a:avLst/>
          </a:prstGeom>
          <a:noFill/>
          <a:ln/>
        </p:spPr>
        <p:txBody>
          <a:bodyPr wrap="square" lIns="0" tIns="0" rIns="0" bIns="0" rtlCol="0" anchor="ctr"/>
          <a:lstStyle/>
          <a:p>
            <a:pPr indent="0" marL="0">
              <a:buNone/>
            </a:pPr>
            <a:r>
              <a:rPr lang="en-US" sz="1100" b="1" dirty="0">
                <a:solidFill>
                  <a:srgbClr val="166534"/>
                </a:solidFill>
                <a:latin typeface="Calibri" pitchFamily="34" charset="0"/>
                <a:ea typeface="Calibri" pitchFamily="34" charset="-122"/>
                <a:cs typeface="Calibri" pitchFamily="34" charset="-120"/>
              </a:rPr>
              <a:t>Populate Forward · Migrate Backward</a:t>
            </a:r>
            <a:endParaRPr lang="en-US" sz="1100" dirty="0"/>
          </a:p>
        </p:txBody>
      </p:sp>
      <p:sp>
        <p:nvSpPr>
          <p:cNvPr id="42" name="Shape 40"/>
          <p:cNvSpPr/>
          <p:nvPr/>
        </p:nvSpPr>
        <p:spPr>
          <a:xfrm>
            <a:off x="320040" y="3602736"/>
            <a:ext cx="2788920" cy="676656"/>
          </a:xfrm>
          <a:prstGeom prst="rect">
            <a:avLst/>
          </a:prstGeom>
          <a:solidFill>
            <a:srgbClr val="FFFFFF"/>
          </a:solidFill>
          <a:ln w="9525">
            <a:solidFill>
              <a:srgbClr val="92400E"/>
            </a:solidFill>
            <a:prstDash val="solid"/>
          </a:ln>
        </p:spPr>
      </p:sp>
      <p:sp>
        <p:nvSpPr>
          <p:cNvPr id="43" name="Shape 41"/>
          <p:cNvSpPr/>
          <p:nvPr/>
        </p:nvSpPr>
        <p:spPr>
          <a:xfrm>
            <a:off x="320040" y="3602736"/>
            <a:ext cx="36576" cy="676656"/>
          </a:xfrm>
          <a:prstGeom prst="rect">
            <a:avLst/>
          </a:prstGeom>
          <a:solidFill>
            <a:srgbClr val="92400E"/>
          </a:solidFill>
          <a:ln w="12700">
            <a:solidFill>
              <a:srgbClr val="92400E"/>
            </a:solidFill>
            <a:prstDash val="solid"/>
          </a:ln>
        </p:spPr>
      </p:sp>
      <p:sp>
        <p:nvSpPr>
          <p:cNvPr id="44" name="Text 42"/>
          <p:cNvSpPr/>
          <p:nvPr/>
        </p:nvSpPr>
        <p:spPr>
          <a:xfrm>
            <a:off x="411480" y="3648456"/>
            <a:ext cx="2633472" cy="182880"/>
          </a:xfrm>
          <a:prstGeom prst="rect">
            <a:avLst/>
          </a:prstGeom>
          <a:noFill/>
          <a:ln/>
        </p:spPr>
        <p:txBody>
          <a:bodyPr wrap="square" lIns="0" tIns="0" rIns="0" bIns="0" rtlCol="0" anchor="ctr"/>
          <a:lstStyle/>
          <a:p>
            <a:pPr indent="0" marL="0">
              <a:buNone/>
            </a:pPr>
            <a:r>
              <a:rPr lang="en-US" sz="850" b="1" dirty="0">
                <a:solidFill>
                  <a:srgbClr val="92400E"/>
                </a:solidFill>
                <a:latin typeface="Calibri" pitchFamily="34" charset="0"/>
                <a:ea typeface="Calibri" pitchFamily="34" charset="-122"/>
                <a:cs typeface="Calibri" pitchFamily="34" charset="-120"/>
              </a:rPr>
              <a:t>① Now · Bootstrap</a:t>
            </a:r>
            <a:endParaRPr lang="en-US" sz="850" dirty="0"/>
          </a:p>
        </p:txBody>
      </p:sp>
      <p:sp>
        <p:nvSpPr>
          <p:cNvPr id="45" name="Text 43"/>
          <p:cNvSpPr/>
          <p:nvPr/>
        </p:nvSpPr>
        <p:spPr>
          <a:xfrm>
            <a:off x="411480" y="3849624"/>
            <a:ext cx="2633472" cy="38404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RCE populated from current best sources. Resolution table + Risk Data Catalog built. Apps consume via bridge after parallel test.</a:t>
            </a:r>
            <a:endParaRPr lang="en-US" sz="750" dirty="0"/>
          </a:p>
        </p:txBody>
      </p:sp>
      <p:sp>
        <p:nvSpPr>
          <p:cNvPr id="46" name="Shape 44"/>
          <p:cNvSpPr/>
          <p:nvPr/>
        </p:nvSpPr>
        <p:spPr>
          <a:xfrm>
            <a:off x="3218688" y="3602736"/>
            <a:ext cx="2788920" cy="676656"/>
          </a:xfrm>
          <a:prstGeom prst="rect">
            <a:avLst/>
          </a:prstGeom>
          <a:solidFill>
            <a:srgbClr val="FFFFFF"/>
          </a:solidFill>
          <a:ln w="9525">
            <a:solidFill>
              <a:srgbClr val="16A34A"/>
            </a:solidFill>
            <a:prstDash val="solid"/>
          </a:ln>
        </p:spPr>
      </p:sp>
      <p:sp>
        <p:nvSpPr>
          <p:cNvPr id="47" name="Shape 45"/>
          <p:cNvSpPr/>
          <p:nvPr/>
        </p:nvSpPr>
        <p:spPr>
          <a:xfrm>
            <a:off x="3218688" y="3602736"/>
            <a:ext cx="36576" cy="676656"/>
          </a:xfrm>
          <a:prstGeom prst="rect">
            <a:avLst/>
          </a:prstGeom>
          <a:solidFill>
            <a:srgbClr val="16A34A"/>
          </a:solidFill>
          <a:ln w="12700">
            <a:solidFill>
              <a:srgbClr val="16A34A"/>
            </a:solidFill>
            <a:prstDash val="solid"/>
          </a:ln>
        </p:spPr>
      </p:sp>
      <p:sp>
        <p:nvSpPr>
          <p:cNvPr id="48" name="Text 46"/>
          <p:cNvSpPr/>
          <p:nvPr/>
        </p:nvSpPr>
        <p:spPr>
          <a:xfrm>
            <a:off x="3310128" y="3648456"/>
            <a:ext cx="2633472" cy="182880"/>
          </a:xfrm>
          <a:prstGeom prst="rect">
            <a:avLst/>
          </a:prstGeom>
          <a:noFill/>
          <a:ln/>
        </p:spPr>
        <p:txBody>
          <a:bodyPr wrap="square" lIns="0" tIns="0" rIns="0" bIns="0" rtlCol="0" anchor="ctr"/>
          <a:lstStyle/>
          <a:p>
            <a:pPr indent="0" marL="0">
              <a:buNone/>
            </a:pPr>
            <a:r>
              <a:rPr lang="en-US" sz="850" b="1" dirty="0">
                <a:solidFill>
                  <a:srgbClr val="16A34A"/>
                </a:solidFill>
                <a:latin typeface="Calibri" pitchFamily="34" charset="0"/>
                <a:ea typeface="Calibri" pitchFamily="34" charset="-122"/>
                <a:cs typeface="Calibri" pitchFamily="34" charset="-120"/>
              </a:rPr>
              <a:t>② Short term · Switch sourcing</a:t>
            </a:r>
            <a:endParaRPr lang="en-US" sz="850" dirty="0"/>
          </a:p>
        </p:txBody>
      </p:sp>
      <p:sp>
        <p:nvSpPr>
          <p:cNvPr id="49" name="Text 47"/>
          <p:cNvSpPr/>
          <p:nvPr/>
        </p:nvSpPr>
        <p:spPr>
          <a:xfrm>
            <a:off x="3310128" y="3849624"/>
            <a:ext cx="2633472" cy="38404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Entities ratified with CDM. Resolution table updated: old contract → CDM contract. Apps and RCE definition unchanged.</a:t>
            </a:r>
            <a:endParaRPr lang="en-US" sz="750" dirty="0"/>
          </a:p>
        </p:txBody>
      </p:sp>
      <p:sp>
        <p:nvSpPr>
          <p:cNvPr id="50" name="Shape 48"/>
          <p:cNvSpPr/>
          <p:nvPr/>
        </p:nvSpPr>
        <p:spPr>
          <a:xfrm>
            <a:off x="6117336" y="3602736"/>
            <a:ext cx="2788920" cy="676656"/>
          </a:xfrm>
          <a:prstGeom prst="rect">
            <a:avLst/>
          </a:prstGeom>
          <a:solidFill>
            <a:srgbClr val="FFFFFF"/>
          </a:solidFill>
          <a:ln w="9525">
            <a:solidFill>
              <a:srgbClr val="1D6FA4"/>
            </a:solidFill>
            <a:prstDash val="solid"/>
          </a:ln>
        </p:spPr>
      </p:sp>
      <p:sp>
        <p:nvSpPr>
          <p:cNvPr id="51" name="Shape 49"/>
          <p:cNvSpPr/>
          <p:nvPr/>
        </p:nvSpPr>
        <p:spPr>
          <a:xfrm>
            <a:off x="6117336" y="3602736"/>
            <a:ext cx="36576" cy="676656"/>
          </a:xfrm>
          <a:prstGeom prst="rect">
            <a:avLst/>
          </a:prstGeom>
          <a:solidFill>
            <a:srgbClr val="1D6FA4"/>
          </a:solidFill>
          <a:ln w="12700">
            <a:solidFill>
              <a:srgbClr val="1D6FA4"/>
            </a:solidFill>
            <a:prstDash val="solid"/>
          </a:ln>
        </p:spPr>
      </p:sp>
      <p:sp>
        <p:nvSpPr>
          <p:cNvPr id="52" name="Text 50"/>
          <p:cNvSpPr/>
          <p:nvPr/>
        </p:nvSpPr>
        <p:spPr>
          <a:xfrm>
            <a:off x="6208776" y="3648456"/>
            <a:ext cx="2633472" cy="182880"/>
          </a:xfrm>
          <a:prstGeom prst="rect">
            <a:avLst/>
          </a:prstGeom>
          <a:noFill/>
          <a:ln/>
        </p:spPr>
        <p:txBody>
          <a:bodyPr wrap="square" lIns="0" tIns="0" rIns="0" bIns="0" rtlCol="0" anchor="ctr"/>
          <a:lstStyle/>
          <a:p>
            <a:pPr indent="0" marL="0">
              <a:buNone/>
            </a:pPr>
            <a:r>
              <a:rPr lang="en-US" sz="850" b="1" dirty="0">
                <a:solidFill>
                  <a:srgbClr val="1D6FA4"/>
                </a:solidFill>
                <a:latin typeface="Calibri" pitchFamily="34" charset="0"/>
                <a:ea typeface="Calibri" pitchFamily="34" charset="-122"/>
                <a:cs typeface="Calibri" pitchFamily="34" charset="-120"/>
              </a:rPr>
              <a:t>③ Medium term · Deprecate</a:t>
            </a:r>
            <a:endParaRPr lang="en-US" sz="850" dirty="0"/>
          </a:p>
        </p:txBody>
      </p:sp>
      <p:sp>
        <p:nvSpPr>
          <p:cNvPr id="53" name="Text 51"/>
          <p:cNvSpPr/>
          <p:nvPr/>
        </p:nvSpPr>
        <p:spPr>
          <a:xfrm>
            <a:off x="6208776" y="3849624"/>
            <a:ext cx="2633472" cy="384048"/>
          </a:xfrm>
          <a:prstGeom prst="rect">
            <a:avLst/>
          </a:prstGeom>
          <a:noFill/>
          <a:ln/>
        </p:spPr>
        <p:txBody>
          <a:bodyPr wrap="square" lIns="0" tIns="0" rIns="0" bIns="0" rtlCol="0" anchor="t"/>
          <a:lstStyle/>
          <a:p>
            <a:pPr indent="0" marL="0">
              <a:buNone/>
            </a:pPr>
            <a:r>
              <a:rPr lang="en-US" sz="750" dirty="0">
                <a:solidFill>
                  <a:srgbClr val="6B7280"/>
                </a:solidFill>
                <a:latin typeface="Calibri" pitchFamily="34" charset="0"/>
                <a:ea typeface="Calibri" pitchFamily="34" charset="-122"/>
                <a:cs typeface="Calibri" pitchFamily="34" charset="-120"/>
              </a:rPr>
              <a:t>Direct feeds deprecated. Bridges remain as permanent anti-corruption layers. Resolution table + Risk Data Catalog are the complete migration audit trail.</a:t>
            </a:r>
            <a:endParaRPr lang="en-US" sz="750" dirty="0"/>
          </a:p>
        </p:txBody>
      </p:sp>
      <p:sp>
        <p:nvSpPr>
          <p:cNvPr id="54" name="Text 52"/>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55" name="Text 53"/>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6534"/>
        </a:solidFill>
      </p:bgPr>
    </p:bg>
    <p:spTree>
      <p:nvGrpSpPr>
        <p:cNvPr id="1" name=""/>
        <p:cNvGrpSpPr/>
        <p:nvPr/>
      </p:nvGrpSpPr>
      <p:grpSpPr>
        <a:xfrm>
          <a:off x="0" y="0"/>
          <a:ext cx="0" cy="0"/>
          <a:chOff x="0" y="0"/>
          <a:chExt cx="0" cy="0"/>
        </a:xfrm>
      </p:grpSpPr>
      <p:sp>
        <p:nvSpPr>
          <p:cNvPr id="2" name="Text 0"/>
          <p:cNvSpPr/>
          <p:nvPr/>
        </p:nvSpPr>
        <p:spPr>
          <a:xfrm>
            <a:off x="365760" y="228600"/>
            <a:ext cx="8412480" cy="438912"/>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Summary &amp; Next Steps</a:t>
            </a:r>
            <a:endParaRPr lang="en-US" sz="2600" dirty="0"/>
          </a:p>
        </p:txBody>
      </p:sp>
      <p:sp>
        <p:nvSpPr>
          <p:cNvPr id="3" name="Shape 1"/>
          <p:cNvSpPr/>
          <p:nvPr/>
        </p:nvSpPr>
        <p:spPr>
          <a:xfrm>
            <a:off x="320040" y="841248"/>
            <a:ext cx="4224528" cy="1005840"/>
          </a:xfrm>
          <a:prstGeom prst="rect">
            <a:avLst/>
          </a:prstGeom>
          <a:solidFill>
            <a:srgbClr val="1F4E38"/>
          </a:solidFill>
          <a:ln w="6350">
            <a:solidFill>
              <a:srgbClr val="2D6A4F"/>
            </a:solidFill>
            <a:prstDash val="solid"/>
          </a:ln>
        </p:spPr>
      </p:sp>
      <p:sp>
        <p:nvSpPr>
          <p:cNvPr id="4" name="Shape 2"/>
          <p:cNvSpPr/>
          <p:nvPr/>
        </p:nvSpPr>
        <p:spPr>
          <a:xfrm>
            <a:off x="429768" y="950976"/>
            <a:ext cx="256032" cy="256032"/>
          </a:xfrm>
          <a:prstGeom prst="oval">
            <a:avLst/>
          </a:prstGeom>
          <a:solidFill>
            <a:srgbClr val="16A34A"/>
          </a:solidFill>
          <a:ln w="12700">
            <a:solidFill>
              <a:srgbClr val="16A34A"/>
            </a:solidFill>
            <a:prstDash val="solid"/>
          </a:ln>
        </p:spPr>
      </p:sp>
      <p:sp>
        <p:nvSpPr>
          <p:cNvPr id="5" name="Text 3"/>
          <p:cNvSpPr/>
          <p:nvPr/>
        </p:nvSpPr>
        <p:spPr>
          <a:xfrm>
            <a:off x="429768" y="950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①</a:t>
            </a:r>
            <a:endParaRPr lang="en-US" sz="900" dirty="0"/>
          </a:p>
        </p:txBody>
      </p:sp>
      <p:sp>
        <p:nvSpPr>
          <p:cNvPr id="6" name="Text 4"/>
          <p:cNvSpPr/>
          <p:nvPr/>
        </p:nvSpPr>
        <p:spPr>
          <a:xfrm>
            <a:off x="777240" y="950976"/>
            <a:ext cx="3657600" cy="237744"/>
          </a:xfrm>
          <a:prstGeom prst="rect">
            <a:avLst/>
          </a:prstGeom>
          <a:noFill/>
          <a:ln/>
        </p:spPr>
        <p:txBody>
          <a:bodyPr wrap="square" lIns="0" tIns="0" rIns="0" bIns="0"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One consolidated Risk position to CDM</a:t>
            </a:r>
            <a:endParaRPr lang="en-US" sz="950" dirty="0"/>
          </a:p>
        </p:txBody>
      </p:sp>
      <p:sp>
        <p:nvSpPr>
          <p:cNvPr id="7" name="Text 5"/>
          <p:cNvSpPr/>
          <p:nvPr/>
        </p:nvSpPr>
        <p:spPr>
          <a:xfrm>
            <a:off x="457200" y="1243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Risk presents a consolidated entity definition per entity — a governed, structured engagement with CDM as a domain contributor.</a:t>
            </a:r>
            <a:endParaRPr lang="en-US" sz="850" dirty="0"/>
          </a:p>
        </p:txBody>
      </p:sp>
      <p:sp>
        <p:nvSpPr>
          <p:cNvPr id="8" name="Shape 6"/>
          <p:cNvSpPr/>
          <p:nvPr/>
        </p:nvSpPr>
        <p:spPr>
          <a:xfrm>
            <a:off x="4754880" y="841248"/>
            <a:ext cx="4224528" cy="1005840"/>
          </a:xfrm>
          <a:prstGeom prst="rect">
            <a:avLst/>
          </a:prstGeom>
          <a:solidFill>
            <a:srgbClr val="1F4E38"/>
          </a:solidFill>
          <a:ln w="6350">
            <a:solidFill>
              <a:srgbClr val="2D6A4F"/>
            </a:solidFill>
            <a:prstDash val="solid"/>
          </a:ln>
        </p:spPr>
      </p:sp>
      <p:sp>
        <p:nvSpPr>
          <p:cNvPr id="9" name="Shape 7"/>
          <p:cNvSpPr/>
          <p:nvPr/>
        </p:nvSpPr>
        <p:spPr>
          <a:xfrm>
            <a:off x="4864608" y="950976"/>
            <a:ext cx="256032" cy="256032"/>
          </a:xfrm>
          <a:prstGeom prst="oval">
            <a:avLst/>
          </a:prstGeom>
          <a:solidFill>
            <a:srgbClr val="16A34A"/>
          </a:solidFill>
          <a:ln w="12700">
            <a:solidFill>
              <a:srgbClr val="16A34A"/>
            </a:solidFill>
            <a:prstDash val="solid"/>
          </a:ln>
        </p:spPr>
      </p:sp>
      <p:sp>
        <p:nvSpPr>
          <p:cNvPr id="10" name="Text 8"/>
          <p:cNvSpPr/>
          <p:nvPr/>
        </p:nvSpPr>
        <p:spPr>
          <a:xfrm>
            <a:off x="4864608" y="950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②</a:t>
            </a:r>
            <a:endParaRPr lang="en-US" sz="900" dirty="0"/>
          </a:p>
        </p:txBody>
      </p:sp>
      <p:sp>
        <p:nvSpPr>
          <p:cNvPr id="11" name="Text 9"/>
          <p:cNvSpPr/>
          <p:nvPr/>
        </p:nvSpPr>
        <p:spPr>
          <a:xfrm>
            <a:off x="5212080" y="950976"/>
            <a:ext cx="3657600" cy="237744"/>
          </a:xfrm>
          <a:prstGeom prst="rect">
            <a:avLst/>
          </a:prstGeom>
          <a:noFill/>
          <a:ln/>
        </p:spPr>
        <p:txBody>
          <a:bodyPr wrap="square" lIns="0" tIns="0" rIns="0" bIns="0" rtlCol="0" anchor="ctr"/>
          <a:lstStyle/>
          <a:p>
            <a:pPr indent="0" marL="0">
              <a:buNone/>
            </a:pPr>
            <a:r>
              <a:rPr lang="en-US" sz="950" b="1" dirty="0">
                <a:solidFill>
                  <a:srgbClr val="6EE7B7"/>
                </a:solidFill>
                <a:latin typeface="Calibri" pitchFamily="34" charset="0"/>
                <a:ea typeface="Calibri" pitchFamily="34" charset="-122"/>
                <a:cs typeface="Calibri" pitchFamily="34" charset="-120"/>
              </a:rPr>
              <a:t>Three artifacts keep mechanics separate from semantics</a:t>
            </a:r>
            <a:endParaRPr lang="en-US" sz="950" dirty="0"/>
          </a:p>
        </p:txBody>
      </p:sp>
      <p:sp>
        <p:nvSpPr>
          <p:cNvPr id="12" name="Text 10"/>
          <p:cNvSpPr/>
          <p:nvPr/>
        </p:nvSpPr>
        <p:spPr>
          <a:xfrm>
            <a:off x="4892040" y="1243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Ingestion Contract (how data moves). Risk Data Catalog (what it means + lineage). Resolution Table (migrate-backward ledger).</a:t>
            </a:r>
            <a:endParaRPr lang="en-US" sz="850" dirty="0"/>
          </a:p>
        </p:txBody>
      </p:sp>
      <p:sp>
        <p:nvSpPr>
          <p:cNvPr id="13" name="Shape 11"/>
          <p:cNvSpPr/>
          <p:nvPr/>
        </p:nvSpPr>
        <p:spPr>
          <a:xfrm>
            <a:off x="320040" y="1984248"/>
            <a:ext cx="4224528" cy="1005840"/>
          </a:xfrm>
          <a:prstGeom prst="rect">
            <a:avLst/>
          </a:prstGeom>
          <a:solidFill>
            <a:srgbClr val="1F4E38"/>
          </a:solidFill>
          <a:ln w="6350">
            <a:solidFill>
              <a:srgbClr val="2D6A4F"/>
            </a:solidFill>
            <a:prstDash val="solid"/>
          </a:ln>
        </p:spPr>
      </p:sp>
      <p:sp>
        <p:nvSpPr>
          <p:cNvPr id="14" name="Shape 12"/>
          <p:cNvSpPr/>
          <p:nvPr/>
        </p:nvSpPr>
        <p:spPr>
          <a:xfrm>
            <a:off x="429768" y="2093976"/>
            <a:ext cx="256032" cy="256032"/>
          </a:xfrm>
          <a:prstGeom prst="oval">
            <a:avLst/>
          </a:prstGeom>
          <a:solidFill>
            <a:srgbClr val="16A34A"/>
          </a:solidFill>
          <a:ln w="12700">
            <a:solidFill>
              <a:srgbClr val="16A34A"/>
            </a:solidFill>
            <a:prstDash val="solid"/>
          </a:ln>
        </p:spPr>
      </p:sp>
      <p:sp>
        <p:nvSpPr>
          <p:cNvPr id="15" name="Text 13"/>
          <p:cNvSpPr/>
          <p:nvPr/>
        </p:nvSpPr>
        <p:spPr>
          <a:xfrm>
            <a:off x="429768" y="2093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③</a:t>
            </a:r>
            <a:endParaRPr lang="en-US" sz="900" dirty="0"/>
          </a:p>
        </p:txBody>
      </p:sp>
      <p:sp>
        <p:nvSpPr>
          <p:cNvPr id="16" name="Text 14"/>
          <p:cNvSpPr/>
          <p:nvPr/>
        </p:nvSpPr>
        <p:spPr>
          <a:xfrm>
            <a:off x="777240" y="2093976"/>
            <a:ext cx="3657600" cy="237744"/>
          </a:xfrm>
          <a:prstGeom prst="rect">
            <a:avLst/>
          </a:prstGeom>
          <a:noFill/>
          <a:ln/>
        </p:spPr>
        <p:txBody>
          <a:bodyPr wrap="square" lIns="0" tIns="0" rIns="0" bIns="0"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App internals never change</a:t>
            </a:r>
            <a:endParaRPr lang="en-US" sz="950" dirty="0"/>
          </a:p>
        </p:txBody>
      </p:sp>
      <p:sp>
        <p:nvSpPr>
          <p:cNvPr id="17" name="Text 15"/>
          <p:cNvSpPr/>
          <p:nvPr/>
        </p:nvSpPr>
        <p:spPr>
          <a:xfrm>
            <a:off x="457200" y="2386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Consumption bridges are permanent anti-corruption layers. Each app has its own. App teams own them. No internal refactoring required.</a:t>
            </a:r>
            <a:endParaRPr lang="en-US" sz="850" dirty="0"/>
          </a:p>
        </p:txBody>
      </p:sp>
      <p:sp>
        <p:nvSpPr>
          <p:cNvPr id="18" name="Shape 16"/>
          <p:cNvSpPr/>
          <p:nvPr/>
        </p:nvSpPr>
        <p:spPr>
          <a:xfrm>
            <a:off x="4754880" y="1984248"/>
            <a:ext cx="4224528" cy="1005840"/>
          </a:xfrm>
          <a:prstGeom prst="rect">
            <a:avLst/>
          </a:prstGeom>
          <a:solidFill>
            <a:srgbClr val="1F4E38"/>
          </a:solidFill>
          <a:ln w="6350">
            <a:solidFill>
              <a:srgbClr val="2D6A4F"/>
            </a:solidFill>
            <a:prstDash val="solid"/>
          </a:ln>
        </p:spPr>
      </p:sp>
      <p:sp>
        <p:nvSpPr>
          <p:cNvPr id="19" name="Shape 17"/>
          <p:cNvSpPr/>
          <p:nvPr/>
        </p:nvSpPr>
        <p:spPr>
          <a:xfrm>
            <a:off x="4864608" y="2093976"/>
            <a:ext cx="256032" cy="256032"/>
          </a:xfrm>
          <a:prstGeom prst="oval">
            <a:avLst/>
          </a:prstGeom>
          <a:solidFill>
            <a:srgbClr val="16A34A"/>
          </a:solidFill>
          <a:ln w="12700">
            <a:solidFill>
              <a:srgbClr val="16A34A"/>
            </a:solidFill>
            <a:prstDash val="solid"/>
          </a:ln>
        </p:spPr>
      </p:sp>
      <p:sp>
        <p:nvSpPr>
          <p:cNvPr id="20" name="Text 18"/>
          <p:cNvSpPr/>
          <p:nvPr/>
        </p:nvSpPr>
        <p:spPr>
          <a:xfrm>
            <a:off x="4864608" y="2093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④</a:t>
            </a:r>
            <a:endParaRPr lang="en-US" sz="900" dirty="0"/>
          </a:p>
        </p:txBody>
      </p:sp>
      <p:sp>
        <p:nvSpPr>
          <p:cNvPr id="21" name="Text 19"/>
          <p:cNvSpPr/>
          <p:nvPr/>
        </p:nvSpPr>
        <p:spPr>
          <a:xfrm>
            <a:off x="5212080" y="2093976"/>
            <a:ext cx="3657600" cy="237744"/>
          </a:xfrm>
          <a:prstGeom prst="rect">
            <a:avLst/>
          </a:prstGeom>
          <a:noFill/>
          <a:ln/>
        </p:spPr>
        <p:txBody>
          <a:bodyPr wrap="square" lIns="0" tIns="0" rIns="0" bIns="0" rtlCol="0" anchor="ctr"/>
          <a:lstStyle/>
          <a:p>
            <a:pPr indent="0" marL="0">
              <a:buNone/>
            </a:pPr>
            <a:r>
              <a:rPr lang="en-US" sz="950" b="1" dirty="0">
                <a:solidFill>
                  <a:srgbClr val="6EE7B7"/>
                </a:solidFill>
                <a:latin typeface="Calibri" pitchFamily="34" charset="0"/>
                <a:ea typeface="Calibri" pitchFamily="34" charset="-122"/>
                <a:cs typeface="Calibri" pitchFamily="34" charset="-120"/>
              </a:rPr>
              <a:t>Populate forward — deliver value now</a:t>
            </a:r>
            <a:endParaRPr lang="en-US" sz="950" dirty="0"/>
          </a:p>
        </p:txBody>
      </p:sp>
      <p:sp>
        <p:nvSpPr>
          <p:cNvPr id="22" name="Text 20"/>
          <p:cNvSpPr/>
          <p:nvPr/>
        </p:nvSpPr>
        <p:spPr>
          <a:xfrm>
            <a:off x="4892040" y="2386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RCE populated from current best sources immediately. CDM sourcing migrated gradually via resolution table as entities are ratified.</a:t>
            </a:r>
            <a:endParaRPr lang="en-US" sz="850" dirty="0"/>
          </a:p>
        </p:txBody>
      </p:sp>
      <p:sp>
        <p:nvSpPr>
          <p:cNvPr id="23" name="Shape 21"/>
          <p:cNvSpPr/>
          <p:nvPr/>
        </p:nvSpPr>
        <p:spPr>
          <a:xfrm>
            <a:off x="320040" y="3127248"/>
            <a:ext cx="4224528" cy="1005840"/>
          </a:xfrm>
          <a:prstGeom prst="rect">
            <a:avLst/>
          </a:prstGeom>
          <a:solidFill>
            <a:srgbClr val="1F4E38"/>
          </a:solidFill>
          <a:ln w="6350">
            <a:solidFill>
              <a:srgbClr val="2D6A4F"/>
            </a:solidFill>
            <a:prstDash val="solid"/>
          </a:ln>
        </p:spPr>
      </p:sp>
      <p:sp>
        <p:nvSpPr>
          <p:cNvPr id="24" name="Shape 22"/>
          <p:cNvSpPr/>
          <p:nvPr/>
        </p:nvSpPr>
        <p:spPr>
          <a:xfrm>
            <a:off x="429768" y="3236976"/>
            <a:ext cx="256032" cy="256032"/>
          </a:xfrm>
          <a:prstGeom prst="oval">
            <a:avLst/>
          </a:prstGeom>
          <a:solidFill>
            <a:srgbClr val="16A34A"/>
          </a:solidFill>
          <a:ln w="12700">
            <a:solidFill>
              <a:srgbClr val="16A34A"/>
            </a:solidFill>
            <a:prstDash val="solid"/>
          </a:ln>
        </p:spPr>
      </p:sp>
      <p:sp>
        <p:nvSpPr>
          <p:cNvPr id="25" name="Text 23"/>
          <p:cNvSpPr/>
          <p:nvPr/>
        </p:nvSpPr>
        <p:spPr>
          <a:xfrm>
            <a:off x="429768" y="3236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⑤</a:t>
            </a:r>
            <a:endParaRPr lang="en-US" sz="900" dirty="0"/>
          </a:p>
        </p:txBody>
      </p:sp>
      <p:sp>
        <p:nvSpPr>
          <p:cNvPr id="26" name="Text 24"/>
          <p:cNvSpPr/>
          <p:nvPr/>
        </p:nvSpPr>
        <p:spPr>
          <a:xfrm>
            <a:off x="777240" y="3236976"/>
            <a:ext cx="3657600" cy="237744"/>
          </a:xfrm>
          <a:prstGeom prst="rect">
            <a:avLst/>
          </a:prstGeom>
          <a:noFill/>
          <a:ln/>
        </p:spPr>
        <p:txBody>
          <a:bodyPr wrap="square" lIns="0" tIns="0" rIns="0" bIns="0" rtlCol="0" anchor="ctr"/>
          <a:lstStyle/>
          <a:p>
            <a:pPr indent="0" marL="0">
              <a:buNone/>
            </a:pPr>
            <a:r>
              <a:rPr lang="en-US" sz="950" b="1" dirty="0">
                <a:solidFill>
                  <a:srgbClr val="86EFAC"/>
                </a:solidFill>
                <a:latin typeface="Calibri" pitchFamily="34" charset="0"/>
                <a:ea typeface="Calibri" pitchFamily="34" charset="-122"/>
                <a:cs typeface="Calibri" pitchFamily="34" charset="-120"/>
              </a:rPr>
              <a:t>Governed promotion — three gates</a:t>
            </a:r>
            <a:endParaRPr lang="en-US" sz="950" dirty="0"/>
          </a:p>
        </p:txBody>
      </p:sp>
      <p:sp>
        <p:nvSpPr>
          <p:cNvPr id="27" name="Text 25"/>
          <p:cNvSpPr/>
          <p:nvPr/>
        </p:nvSpPr>
        <p:spPr>
          <a:xfrm>
            <a:off x="457200" y="3529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Validation tests → app team sign-off → Risk Product Owner approval. Required for any entity promoted to riskwh.confirmed.</a:t>
            </a:r>
            <a:endParaRPr lang="en-US" sz="850" dirty="0"/>
          </a:p>
        </p:txBody>
      </p:sp>
      <p:sp>
        <p:nvSpPr>
          <p:cNvPr id="28" name="Shape 26"/>
          <p:cNvSpPr/>
          <p:nvPr/>
        </p:nvSpPr>
        <p:spPr>
          <a:xfrm>
            <a:off x="4754880" y="3127248"/>
            <a:ext cx="4224528" cy="1005840"/>
          </a:xfrm>
          <a:prstGeom prst="rect">
            <a:avLst/>
          </a:prstGeom>
          <a:solidFill>
            <a:srgbClr val="1F4E38"/>
          </a:solidFill>
          <a:ln w="6350">
            <a:solidFill>
              <a:srgbClr val="2D6A4F"/>
            </a:solidFill>
            <a:prstDash val="solid"/>
          </a:ln>
        </p:spPr>
      </p:sp>
      <p:sp>
        <p:nvSpPr>
          <p:cNvPr id="29" name="Shape 27"/>
          <p:cNvSpPr/>
          <p:nvPr/>
        </p:nvSpPr>
        <p:spPr>
          <a:xfrm>
            <a:off x="4864608" y="3236976"/>
            <a:ext cx="256032" cy="256032"/>
          </a:xfrm>
          <a:prstGeom prst="oval">
            <a:avLst/>
          </a:prstGeom>
          <a:solidFill>
            <a:srgbClr val="16A34A"/>
          </a:solidFill>
          <a:ln w="12700">
            <a:solidFill>
              <a:srgbClr val="16A34A"/>
            </a:solidFill>
            <a:prstDash val="solid"/>
          </a:ln>
        </p:spPr>
      </p:sp>
      <p:sp>
        <p:nvSpPr>
          <p:cNvPr id="30" name="Text 28"/>
          <p:cNvSpPr/>
          <p:nvPr/>
        </p:nvSpPr>
        <p:spPr>
          <a:xfrm>
            <a:off x="4864608" y="323697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⑥</a:t>
            </a:r>
            <a:endParaRPr lang="en-US" sz="900" dirty="0"/>
          </a:p>
        </p:txBody>
      </p:sp>
      <p:sp>
        <p:nvSpPr>
          <p:cNvPr id="31" name="Text 29"/>
          <p:cNvSpPr/>
          <p:nvPr/>
        </p:nvSpPr>
        <p:spPr>
          <a:xfrm>
            <a:off x="5212080" y="3236976"/>
            <a:ext cx="3657600" cy="237744"/>
          </a:xfrm>
          <a:prstGeom prst="rect">
            <a:avLst/>
          </a:prstGeom>
          <a:noFill/>
          <a:ln/>
        </p:spPr>
        <p:txBody>
          <a:bodyPr wrap="square" lIns="0" tIns="0" rIns="0" bIns="0" rtlCol="0" anchor="ctr"/>
          <a:lstStyle/>
          <a:p>
            <a:pPr indent="0" marL="0">
              <a:buNone/>
            </a:pPr>
            <a:r>
              <a:rPr lang="en-US" sz="950" b="1" dirty="0">
                <a:solidFill>
                  <a:srgbClr val="6EE7B7"/>
                </a:solidFill>
                <a:latin typeface="Calibri" pitchFamily="34" charset="0"/>
                <a:ea typeface="Calibri" pitchFamily="34" charset="-122"/>
                <a:cs typeface="Calibri" pitchFamily="34" charset="-120"/>
              </a:rPr>
              <a:t>Contract ID as the persistent lineage thread</a:t>
            </a:r>
            <a:endParaRPr lang="en-US" sz="950" dirty="0"/>
          </a:p>
        </p:txBody>
      </p:sp>
      <p:sp>
        <p:nvSpPr>
          <p:cNvPr id="32" name="Text 30"/>
          <p:cNvSpPr/>
          <p:nvPr/>
        </p:nvSpPr>
        <p:spPr>
          <a:xfrm>
            <a:off x="4892040" y="3529584"/>
            <a:ext cx="3950208" cy="512064"/>
          </a:xfrm>
          <a:prstGeom prst="rect">
            <a:avLst/>
          </a:prstGeom>
          <a:noFill/>
          <a:ln/>
        </p:spPr>
        <p:txBody>
          <a:bodyPr wrap="square" lIns="0" tIns="0" rIns="0" bIns="0" rtlCol="0" anchor="t"/>
          <a:lstStyle/>
          <a:p>
            <a:pPr indent="0" marL="0">
              <a:buNone/>
            </a:pPr>
            <a:r>
              <a:rPr lang="en-US" sz="850" dirty="0">
                <a:solidFill>
                  <a:srgbClr val="D1FAE5"/>
                </a:solidFill>
                <a:latin typeface="Calibri" pitchFamily="34" charset="0"/>
                <a:ea typeface="Calibri" pitchFamily="34" charset="-122"/>
                <a:cs typeface="Calibri" pitchFamily="34" charset="-120"/>
              </a:rPr>
              <a:t>Contract ID travels with data from source through app silver, RCE, consumption, and into CDM. Full end-to-end lineage.</a:t>
            </a:r>
            <a:endParaRPr lang="en-US" sz="850" dirty="0"/>
          </a:p>
        </p:txBody>
      </p:sp>
      <p:sp>
        <p:nvSpPr>
          <p:cNvPr id="33" name="Shape 31"/>
          <p:cNvSpPr/>
          <p:nvPr/>
        </p:nvSpPr>
        <p:spPr>
          <a:xfrm>
            <a:off x="320040" y="4462272"/>
            <a:ext cx="8503920" cy="475488"/>
          </a:xfrm>
          <a:prstGeom prst="rect">
            <a:avLst/>
          </a:prstGeom>
          <a:solidFill>
            <a:srgbClr val="16A34A"/>
          </a:solidFill>
          <a:ln w="12700">
            <a:solidFill>
              <a:srgbClr val="16A34A"/>
            </a:solidFill>
            <a:prstDash val="solid"/>
          </a:ln>
        </p:spPr>
      </p:sp>
      <p:sp>
        <p:nvSpPr>
          <p:cNvPr id="34" name="Text 32"/>
          <p:cNvSpPr/>
          <p:nvPr/>
        </p:nvSpPr>
        <p:spPr>
          <a:xfrm>
            <a:off x="411480" y="4462272"/>
            <a:ext cx="8321040" cy="475488"/>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Next Steps:   App teams begin Phase 1 entity identification   ·   Ingestion team formalises contract catalog   ·   Risk Data Platform builds sandbox   ·   CDM alignment conversation scheduled</a:t>
            </a:r>
            <a:endParaRPr lang="en-US" sz="850" dirty="0"/>
          </a:p>
        </p:txBody>
      </p:sp>
      <p:sp>
        <p:nvSpPr>
          <p:cNvPr id="35" name="Text 33"/>
          <p:cNvSpPr/>
          <p:nvPr/>
        </p:nvSpPr>
        <p:spPr>
          <a:xfrm>
            <a:off x="365760" y="4892040"/>
            <a:ext cx="7772400" cy="164592"/>
          </a:xfrm>
          <a:prstGeom prst="rect">
            <a:avLst/>
          </a:prstGeom>
          <a:noFill/>
          <a:ln/>
        </p:spPr>
        <p:txBody>
          <a:bodyPr wrap="square" lIns="0" tIns="0" rIns="0" bIns="0" rtlCol="0" anchor="ctr"/>
          <a:lstStyle/>
          <a:p>
            <a:pPr indent="0" marL="0">
              <a:buNone/>
            </a:pPr>
            <a:r>
              <a:rPr lang="en-US" sz="700" i="1" dirty="0">
                <a:solidFill>
                  <a:srgbClr val="6B7280"/>
                </a:solidFill>
                <a:latin typeface="Calibri" pitchFamily="34" charset="0"/>
                <a:ea typeface="Calibri" pitchFamily="34" charset="-122"/>
                <a:cs typeface="Calibri" pitchFamily="34" charset="-120"/>
              </a:rPr>
              <a:t>TD Securities · Risk Data Platform · Working Draft</a:t>
            </a:r>
            <a:endParaRPr lang="en-US" sz="700" dirty="0"/>
          </a:p>
        </p:txBody>
      </p:sp>
      <p:sp>
        <p:nvSpPr>
          <p:cNvPr id="36" name="Text 34"/>
          <p:cNvSpPr/>
          <p:nvPr/>
        </p:nvSpPr>
        <p:spPr>
          <a:xfrm>
            <a:off x="8778240" y="4892040"/>
            <a:ext cx="274320" cy="164592"/>
          </a:xfrm>
          <a:prstGeom prst="rect">
            <a:avLst/>
          </a:prstGeom>
          <a:noFill/>
          <a:ln/>
        </p:spPr>
        <p:txBody>
          <a:bodyPr wrap="square" lIns="0" tIns="0" rIns="0" bIns="0" rtlCol="0" anchor="ctr"/>
          <a:lstStyle/>
          <a:p>
            <a:pPr algn="r" indent="0" marL="0">
              <a:buNone/>
            </a:pPr>
            <a:r>
              <a:rPr lang="en-US" sz="700" dirty="0">
                <a:solidFill>
                  <a:srgbClr val="6B7280"/>
                </a:solidFill>
                <a:latin typeface="Calibri" pitchFamily="34" charset="0"/>
                <a:ea typeface="Calibri" pitchFamily="34" charset="-122"/>
                <a:cs typeface="Calibri" pitchFamily="34" charset="-120"/>
              </a:rPr>
              <a:t>9</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2026-05-31T00:55:20Z</dcterms:created>
  <dcterms:modified xsi:type="dcterms:W3CDTF">2026-05-31T00:55:20Z</dcterms:modified>
</cp:coreProperties>
</file>