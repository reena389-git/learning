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23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2743200" cy="54864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Operating Model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Conformity  →  Risk Confirmed Entity  →  CDM Adoption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Risk leadership · Risk Data team · Risk app teams · CDM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3852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Risk is today, where it's going, and why a shared Risk Confirmed Entity (RCE) layer matters.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160020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447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0276" y="15544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80276" y="193852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starting-point decision — building from Risk-generated data first, with pros and cons.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0175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progression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40156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moving Risk from app-siloed data to a governed analytics layer.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4476" y="306324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4476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80276" y="30175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Semantic Layer boundary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0276" y="340156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apps consume vs what business consumers see — one boundary, two surfaces.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480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&amp; the migration principle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86460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sourcing migrations happen without breaking app consumption — populate forward, migrate backward.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94476" y="4526280"/>
            <a:ext cx="502920" cy="50292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4476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0276" y="4480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0276" y="4864608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Data team's recurring track per entity, with what conformity does and does not cover.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apps in silos, no shared conformity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conforms data its own way. Reconciliation across Apps is a </a:t>
            </a:r>
            <a:r>
              <a:rPr lang="en-US" sz="1400" i="1" dirty="0" err="1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crossrisk</a:t>
            </a: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team effort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3805" y="2953512"/>
            <a:ext cx="1015299" cy="320041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 err="1"/>
              <a:t>creditrisk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659" y="3500075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App1</a:t>
            </a:r>
          </a:p>
        </p:txBody>
      </p:sp>
      <p:sp>
        <p:nvSpPr>
          <p:cNvPr id="17" name="Text 15"/>
          <p:cNvSpPr/>
          <p:nvPr/>
        </p:nvSpPr>
        <p:spPr>
          <a:xfrm>
            <a:off x="601716" y="4078959"/>
            <a:ext cx="47690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Risk-conformed view exists. No analytics environment.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cs typeface="Calibri" pitchFamily="34" charset="-120"/>
              </a:rPr>
              <a:t>Each App sources and processes data in its own context.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values vary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423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real-world concept — counterparty, issuer, legal entity , dates — may appear with different names and formats across apps.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falls downstream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questions get resolved by Business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is implicit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systems, frequencies, authoritative sources are known per app — not recorded in a shared catalog.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983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Alignment as a domain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53035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would need to negotiate CDM alignment on its own. There is no consolidated Risk position.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E9D6D46-A6FE-1569-5A89-0AA2D6293D73}"/>
              </a:ext>
            </a:extLst>
          </p:cNvPr>
          <p:cNvSpPr/>
          <p:nvPr/>
        </p:nvSpPr>
        <p:spPr>
          <a:xfrm>
            <a:off x="1722646" y="2972903"/>
            <a:ext cx="1015299" cy="320041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/>
              <a:t>Market risk</a:t>
            </a: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6A848FED-0033-8ADC-C980-AC5B8AA21555}"/>
              </a:ext>
            </a:extLst>
          </p:cNvPr>
          <p:cNvSpPr/>
          <p:nvPr/>
        </p:nvSpPr>
        <p:spPr>
          <a:xfrm>
            <a:off x="2784190" y="2966492"/>
            <a:ext cx="1015299" cy="320041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/>
              <a:t>Liquidity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99417E75-6A57-81C6-56C1-1D9F6ED9E29C}"/>
              </a:ext>
            </a:extLst>
          </p:cNvPr>
          <p:cNvSpPr/>
          <p:nvPr/>
        </p:nvSpPr>
        <p:spPr>
          <a:xfrm>
            <a:off x="3845734" y="2972902"/>
            <a:ext cx="1015299" cy="320041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/>
              <a:t>finance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59E32C14-C10D-F06A-8E6E-664E97EAF719}"/>
              </a:ext>
            </a:extLst>
          </p:cNvPr>
          <p:cNvSpPr/>
          <p:nvPr/>
        </p:nvSpPr>
        <p:spPr>
          <a:xfrm>
            <a:off x="2011679" y="2239726"/>
            <a:ext cx="1015299" cy="320041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/>
              <a:t>Risk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0C4EA2BD-68F0-49F7-48F9-2B7399E04468}"/>
              </a:ext>
            </a:extLst>
          </p:cNvPr>
          <p:cNvCxnSpPr>
            <a:stCxn id="32" idx="2"/>
            <a:endCxn id="5" idx="0"/>
          </p:cNvCxnSpPr>
          <p:nvPr/>
        </p:nvCxnSpPr>
        <p:spPr>
          <a:xfrm rot="5400000">
            <a:off x="1623520" y="2057702"/>
            <a:ext cx="393745" cy="1397874"/>
          </a:xfrm>
          <a:prstGeom prst="bentConnector3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EA59C79-755A-F76B-84C5-45A6240ACFF5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rot="16200000" flipH="1">
            <a:off x="3229789" y="1849306"/>
            <a:ext cx="413135" cy="183405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hape 7">
            <a:extLst>
              <a:ext uri="{FF2B5EF4-FFF2-40B4-BE49-F238E27FC236}">
                <a16:creationId xmlns:a16="http://schemas.microsoft.com/office/drawing/2014/main" id="{22377594-0A39-F573-7448-D5D7106BD5B2}"/>
              </a:ext>
            </a:extLst>
          </p:cNvPr>
          <p:cNvSpPr/>
          <p:nvPr/>
        </p:nvSpPr>
        <p:spPr>
          <a:xfrm>
            <a:off x="1097123" y="3500074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App&lt;n&gt;</a:t>
            </a: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049BD28-42CA-4BD0-9022-AB3324A30F03}"/>
              </a:ext>
            </a:extLst>
          </p:cNvPr>
          <p:cNvSpPr/>
          <p:nvPr/>
        </p:nvSpPr>
        <p:spPr>
          <a:xfrm>
            <a:off x="2265503" y="3489693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App&lt;n&gt;</a:t>
            </a: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D0BCB591-71DE-A6B6-A690-9918A2E234B8}"/>
              </a:ext>
            </a:extLst>
          </p:cNvPr>
          <p:cNvSpPr/>
          <p:nvPr/>
        </p:nvSpPr>
        <p:spPr>
          <a:xfrm>
            <a:off x="1735757" y="3500074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App1</a:t>
            </a:r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FB3294F2-B164-AFC1-6211-A0262264D389}"/>
              </a:ext>
            </a:extLst>
          </p:cNvPr>
          <p:cNvSpPr/>
          <p:nvPr/>
        </p:nvSpPr>
        <p:spPr>
          <a:xfrm>
            <a:off x="3389795" y="3489693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App&lt;n&gt;</a:t>
            </a: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F27E9348-280C-FF26-4F52-14109F5C8CBB}"/>
              </a:ext>
            </a:extLst>
          </p:cNvPr>
          <p:cNvSpPr/>
          <p:nvPr/>
        </p:nvSpPr>
        <p:spPr>
          <a:xfrm>
            <a:off x="2840000" y="3489693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App1</a:t>
            </a: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DA563F33-26D7-532A-F60B-D53C4C430FBB}"/>
              </a:ext>
            </a:extLst>
          </p:cNvPr>
          <p:cNvSpPr/>
          <p:nvPr/>
        </p:nvSpPr>
        <p:spPr>
          <a:xfrm>
            <a:off x="4607208" y="3500075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App&lt;n&gt;</a:t>
            </a: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1AAE5D0E-4155-0653-D081-DA25B6BD8A43}"/>
              </a:ext>
            </a:extLst>
          </p:cNvPr>
          <p:cNvSpPr/>
          <p:nvPr/>
        </p:nvSpPr>
        <p:spPr>
          <a:xfrm>
            <a:off x="4057413" y="3500075"/>
            <a:ext cx="507650" cy="258109"/>
          </a:xfrm>
          <a:prstGeom prst="rect">
            <a:avLst/>
          </a:prstGeom>
          <a:solidFill>
            <a:srgbClr val="FAF7F0"/>
          </a:solidFill>
          <a:ln w="12700">
            <a:solidFill>
              <a:srgbClr val="7F8C84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App1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— a shared Risk Conformed Entity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view of each Risk entity, CDM-aligned where possible, Risk-enriched where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914400"/>
          </a:xfrm>
          <a:prstGeom prst="rect">
            <a:avLst/>
          </a:prstGeom>
          <a:solidFill>
            <a:srgbClr val="D6EFE1"/>
          </a:solidFill>
          <a:ln w="1905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Entity (RCE) </a:t>
            </a:r>
            <a:r>
              <a:rPr lang="en-US" sz="16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CDM-aligned base attributes  +  Risk-owned enrichments</a:t>
            </a:r>
            <a:endParaRPr lang="en-US" sz="16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(counterparty, issuer, legal entity, agreement, collateral, exposure …  plus netting set, CSA terms, regulatory regime, internal credit treatment)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36264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36264" cy="73152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values across apps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70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Counterparty, issuer, legal entity, product type mean the same thing across every Risk application and report.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6344" y="2743200"/>
            <a:ext cx="3636264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6344" y="2743200"/>
            <a:ext cx="3636264" cy="73152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59224" y="29718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 in one catalog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9224" y="3474720"/>
            <a:ext cx="3270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linked to its source, ingestion frequency, CDM alignment status, and contributing applications.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5488" y="2743200"/>
            <a:ext cx="3636264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5488" y="2743200"/>
            <a:ext cx="3636264" cy="73152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8368" y="297180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position to CDM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8368" y="3474720"/>
            <a:ext cx="3270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engages CDM as a domain contributor — one governed conversation per entity, not N inconsistent app-by-app conversations.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1274552" cy="1463040"/>
          </a:xfrm>
          <a:prstGeom prst="rect">
            <a:avLst/>
          </a:prstGeom>
          <a:solidFill>
            <a:srgbClr val="F4F1EB"/>
          </a:solidFill>
          <a:ln w="19050">
            <a:solidFill>
              <a:srgbClr val="B889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OPERATING MODEL DOES NOT COVER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— value-level cleansing and deduplication.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Conformance agrees the entity's </a:t>
            </a:r>
            <a:r>
              <a:rPr lang="en-US" sz="1200" i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(attributes, key, allowed values). Resolution agrees the </a:t>
            </a:r>
            <a:r>
              <a:rPr lang="en-US" sz="1200" i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recognising that </a:t>
            </a:r>
            <a:r>
              <a:rPr lang="en-US" sz="120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"JP Morgan Chase"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"JPMC"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 to the same real-world counterparty.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framing: </a:t>
            </a: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is a separate capability (master data management / matching engine) that operates </a:t>
            </a: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</a:t>
            </a: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conformed entities. It needs its own approach. Conformance alone leaves you with multiple values for the same real-world thing.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— build from Risk-generated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honest options. The recommendation, with industry grounding.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54396" cy="3200400"/>
          </a:xfrm>
          <a:prstGeom prst="rect">
            <a:avLst/>
          </a:prstGeom>
          <a:solidFill>
            <a:srgbClr val="FAF7F0"/>
          </a:solidFill>
          <a:ln w="254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54396" cy="45720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Risk-generated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produced side. Infer entities from what Risk already generates. Conform across apps. Engage CDM with a consolidated Risk view.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50886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 exists today — start tomorrow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visible in outputs = entities Risk actually uses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CDM team's roadmap or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consumers see value first — builds momentum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negotiating position with CDM once view is concrete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7356" y="1554480"/>
            <a:ext cx="5454396" cy="3200400"/>
          </a:xfrm>
          <a:prstGeom prst="rect">
            <a:avLst/>
          </a:prstGeom>
          <a:solidFill>
            <a:srgbClr val="FAF7F0"/>
          </a:solidFill>
          <a:ln w="19050">
            <a:solidFill>
              <a:srgbClr val="7F8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77356" y="1554480"/>
            <a:ext cx="5454396" cy="457200"/>
          </a:xfrm>
          <a:prstGeom prst="rect">
            <a:avLst/>
          </a:prstGeom>
          <a:solidFill>
            <a:srgbClr val="7F8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0236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60236" y="2057400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CDM 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0236" y="2468880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canonical side. Define Risk's view by reference to CDM. Build out as CDM coverage matures.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60236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0236" y="3383280"/>
            <a:ext cx="50886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CDM team coverage and engagement capacity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CDM doesn't cover, building from scratch with no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deliver visible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building entities apps don't actually need / 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11274552" cy="1097280"/>
          </a:xfrm>
          <a:prstGeom prst="rect">
            <a:avLst/>
          </a:prstGeom>
          <a:solidFill>
            <a:srgbClr val="D6EFE1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FOR NEW APPS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app may start CDM-native on its consumption side — no legacy to migrate. Same flow applies: </a:t>
            </a:r>
            <a:r>
              <a:rPr lang="en-US" sz="12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generated data still feeds the shared model. The app's consumption side starts cleaner, but its output still conforms to the Risk Confirmed Entity along with every other app.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grounding: </a:t>
            </a: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Morgan, Morgan Stanley, Goldman all built domain-conformed layers from the production / use side first and layered enterprise alignment in afterward. Firms that started from the canonical side first (Citi most publicly) reportedly struggled with adoption.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progression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Risk-generated data  →  Risk Confirmed Entity  +  CDM  →  Apps consume  → 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27198" cy="457200"/>
          </a:xfrm>
          <a:prstGeom prst="rect">
            <a:avLst/>
          </a:prstGeom>
          <a:solidFill>
            <a:srgbClr val="1E5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Generated Data into Databricks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Risk Generated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/ Data Extracts · No transformation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App schema · bronze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7673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across reports · Build app-level conformed entities · Link to Risk Data Catalog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3891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App schema · 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8463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reports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51389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 &amp; data adjusted · Consistent columns &amp; types · Use app conformed entities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57607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App schema · silver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6172200"/>
            <a:ext cx="2727198" cy="365760"/>
          </a:xfrm>
          <a:prstGeom prst="rect">
            <a:avLst/>
          </a:prstGeom>
          <a:solidFill>
            <a:srgbClr val="1E5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6245352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75838" y="1554480"/>
            <a:ext cx="2727198" cy="457200"/>
          </a:xfrm>
          <a:prstGeom prst="rect">
            <a:avLst/>
          </a:prstGeom>
          <a:solidFill>
            <a:srgbClr val="6B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2998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12998" y="1755648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 Conformed Entities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75838" y="20116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2998" y="21031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review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12998" y="23957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conformed entities shared in sandbox · Side-by-side comparison · Conflicts resolved at Risk level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2998" y="30175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Risk WH · sandbox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75838" y="33832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2998" y="34747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conversation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12998" y="37673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position to CDM · CDM match → adopt · CDM gap → flag &amp; source independently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12998" y="43891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CDM alignment record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75838" y="47548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12998" y="48463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created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412998" y="51389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from App Entity to RCE · Owned by Ingestion team · Data Product Owner sign-off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12998" y="57607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riskwh.confirmed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75838" y="6172200"/>
            <a:ext cx="2727198" cy="365760"/>
          </a:xfrm>
          <a:prstGeom prst="rect">
            <a:avLst/>
          </a:prstGeom>
          <a:solidFill>
            <a:srgbClr val="6B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12998" y="6245352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 + CDM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4476" y="1554480"/>
            <a:ext cx="2727198" cy="457200"/>
          </a:xfrm>
          <a:prstGeom prst="rect">
            <a:avLst/>
          </a:prstGeom>
          <a:solidFill>
            <a:srgbClr val="0075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31636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1636" y="1755648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consumes from RCE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4476" y="20116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31636" y="21031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maintains RCE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31636" y="23957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team populates RCE · RCE = CDM or superset · Contract ID maintained throughout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1636" y="30175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Resolution table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94476" y="33832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31636" y="34747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consumes via bridge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231636" y="37673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naming → app-internal naming · One bridge per app, app-team owned · App internals unchanged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31636" y="43891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App schema · bridge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94476" y="47548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31636" y="48463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generated data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31636" y="51389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Entities · Conformed Reports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31636" y="57607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Consumption contract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94476" y="6172200"/>
            <a:ext cx="2727198" cy="365760"/>
          </a:xfrm>
          <a:prstGeom prst="rect">
            <a:avLst/>
          </a:prstGeom>
          <a:solidFill>
            <a:srgbClr val="0075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31636" y="6245352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Ingestion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913114" y="1554480"/>
            <a:ext cx="2727198" cy="45720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050274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50274" y="1755648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WH Analytics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913114" y="20116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050274" y="21031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joins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9050274" y="23957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to join data across apps · Physical tables where performance needs · Unity Catalog tracks lineage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050274" y="30175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Risk WH · gold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913114" y="33832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050274" y="34747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9050274" y="37673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entities · Derived (cross-app joins) entities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050274" y="43891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Risk WH · confirmed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913114" y="4754880"/>
            <a:ext cx="2727198" cy="1325880"/>
          </a:xfrm>
          <a:prstGeom prst="rect">
            <a:avLst/>
          </a:prstGeom>
          <a:solidFill>
            <a:srgbClr val="FAF7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050274" y="484632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050274" y="5138928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on riskwh.gold · Semantic model in Strategy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050274" y="5760720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Risk WH · gold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913114" y="6172200"/>
            <a:ext cx="2727198" cy="36576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050274" y="6245352"/>
            <a:ext cx="245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57200" y="6355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RW — Risk Warehouse · RCE — Risk Confirmed Entity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Semantic Layer — one boundary, two surfaces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apps consume vs what business consumers see. Same canonical entities, different access patterns.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3108960"/>
          </a:xfrm>
          <a:prstGeom prst="rect">
            <a:avLst/>
          </a:prstGeom>
          <a:solidFill>
            <a:srgbClr val="D6EFE1"/>
          </a:solidFill>
          <a:ln w="254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35608"/>
            <a:ext cx="2926080" cy="27432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· RISK SEMANTIC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Confirmed Entities + Risk-Produced Facts + Semantic Interpretation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governed once. Surfaced differently for different consumer types.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225796" cy="2011680"/>
          </a:xfrm>
          <a:prstGeom prst="rect">
            <a:avLst/>
          </a:prstGeom>
          <a:solidFill>
            <a:srgbClr val="FA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5225796" cy="3657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87752"/>
            <a:ext cx="4951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1 · APP CONSUMPTION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consume RCEs through a per-app bridge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has one bridge — naming and shape adapted to what the app expects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internals never change — bridges absorb naming differences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consume one entity at a time as RCEs become available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tracks where the data came from — current source or CDM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2514600"/>
            <a:ext cx="5225796" cy="201168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1636" y="2514600"/>
            <a:ext cx="5225796" cy="36576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8796" y="2587752"/>
            <a:ext cx="4951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2 · BUSINESS CONSUMPTION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68796" y="29718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consumers see governed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8796" y="338328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on riskwh.gold · views over app gold via bridges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in BI tool (Strategy / Power BI) — business-friendly names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joins, dashboards, ad-hoc analysis, regulatory reporting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what "counterparty exposure" means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983480"/>
            <a:ext cx="4114800" cy="1280160"/>
          </a:xfrm>
          <a:prstGeom prst="rect">
            <a:avLst/>
          </a:prstGeom>
          <a:solidFill>
            <a:srgbClr val="F4F1E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63040" y="5074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· CMOS · ALFA · CRS · TAMS · LRM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5623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RCEs via their bridge. Compute risk metrics. Publish app-generated data back into the model.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983480"/>
            <a:ext cx="4114800" cy="1280160"/>
          </a:xfrm>
          <a:prstGeom prst="rect">
            <a:avLst/>
          </a:prstGeom>
          <a:solidFill>
            <a:srgbClr val="F4F1EB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5074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CONSUMERS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Dashboards · Analytics · Regulatory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5623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cooked outputs — RCEs for context, risk metrics for answers. No knowledge of which app produced what.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— the linking 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thread connecting ingested data to conformed entities, CDM alignment, and downstream consumption.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715768" cy="3200400"/>
          </a:xfrm>
          <a:prstGeom prst="rect">
            <a:avLst/>
          </a:prstGeom>
          <a:solidFill>
            <a:srgbClr val="FAF7F0"/>
          </a:solidFill>
          <a:ln w="19050">
            <a:solidFill>
              <a:srgbClr val="1E5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15768" cy="640080"/>
          </a:xfrm>
          <a:prstGeom prst="rect">
            <a:avLst/>
          </a:prstGeom>
          <a:solidFill>
            <a:srgbClr val="1E5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Contract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row — App + dataSource + domain + frequency + datatype + distPlatform — is a contract between the application and the source.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235000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Owned: App + Ingestion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600200"/>
            <a:ext cx="2715768" cy="3200400"/>
          </a:xfrm>
          <a:prstGeom prst="rect">
            <a:avLst/>
          </a:prstGeom>
          <a:solidFill>
            <a:srgbClr val="FAF7F0"/>
          </a:solidFill>
          <a:ln w="19050">
            <a:solidFill>
              <a:srgbClr val="6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600200"/>
            <a:ext cx="2715768" cy="640080"/>
          </a:xfrm>
          <a:prstGeom prst="rect">
            <a:avLst/>
          </a:prstGeom>
          <a:solidFill>
            <a:srgbClr val="6B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47288" y="1691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WITH ENTITY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47288" y="189280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Conformed Entity (silver)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423160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conformed entities in silver carry the Contract ID. Links each entity to its current sourcing contract.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93008" y="4297680"/>
            <a:ext cx="235000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93008" y="42976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Owned: App 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600200"/>
            <a:ext cx="2715768" cy="3200400"/>
          </a:xfrm>
          <a:prstGeom prst="rect">
            <a:avLst/>
          </a:prstGeom>
          <a:solidFill>
            <a:srgbClr val="FAF7F0"/>
          </a:solidFill>
          <a:ln w="19050">
            <a:solidFill>
              <a:srgbClr val="0075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600200"/>
            <a:ext cx="2715768" cy="640080"/>
          </a:xfrm>
          <a:prstGeom prst="rect">
            <a:avLst/>
          </a:prstGeom>
          <a:solidFill>
            <a:srgbClr val="0075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0216" y="1691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THROUGH INGESTION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0216" y="189280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Confirmed Entity (RCE)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5936" y="2423160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 contracts can populate an RCE — CDM contract plus alternate sources where CDM gap. RCE maintains contract lineage.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45936" y="4297680"/>
            <a:ext cx="235000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45936" y="42976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Owned: Ingestion team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15984" y="1600200"/>
            <a:ext cx="2715768" cy="3200400"/>
          </a:xfrm>
          <a:prstGeom prst="rect">
            <a:avLst/>
          </a:prstGeom>
          <a:solidFill>
            <a:srgbClr val="FAF7F0"/>
          </a:solidFill>
          <a:ln w="1905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15984" y="1600200"/>
            <a:ext cx="2715768" cy="64008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53144" y="1691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UPWARD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53144" y="189280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CDM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98864" y="2423160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holds the Contract ID for the data it ingests and provisions. End-to-end lineage from source through RCE to enterprise CDM.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98864" y="4297680"/>
            <a:ext cx="235000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98864" y="42976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Owned: CDM team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11274552" cy="1280160"/>
          </a:xfrm>
          <a:prstGeom prst="rect">
            <a:avLst/>
          </a:prstGeom>
          <a:solidFill>
            <a:srgbClr val="D6EFE1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3949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sourcing switches from a current feed to CDM, </a:t>
            </a: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Contract ID reference in the Resolution Table changes</a:t>
            </a: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entity definition and app consumption are unchanged.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Risk-owned enrichments (netting set, CSA terms, regulatory regime) carry their own Contract ID permanently — these never migrate to CDM.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forward · migrate backward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RCEs get value into the system now, and how sourcing migrates to CDM later — without breaking apps.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10543032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B88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109728" cy="1554480"/>
          </a:xfrm>
          <a:prstGeom prst="rect">
            <a:avLst/>
          </a:prstGeom>
          <a:solidFill>
            <a:srgbClr val="B889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Bootstrap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RCE from current best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built from current best sources — direct feeds, vendor data, app-conformed silver. Resolution table and Risk Data Catalog established. Apps consume via per-app bridge after parallel test.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Value delivered today — no waiting for CDM to mature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1188720" y="3291840"/>
            <a:ext cx="10543032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3291840"/>
            <a:ext cx="109728" cy="15544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· Switch sourcing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CDM-ratify entities, swap behind the scenes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069080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each entity is ratified with CDM, the Resolution Table updates: current Contract ID → CDM Contract ID. The RCE definition does not change. Apps consume unchanged. The swap is invisible to consumers.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52628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consumption never breaks — bridge absorbs all changes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1188720" y="4983480"/>
            <a:ext cx="10543032" cy="155448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88720" y="4983480"/>
            <a:ext cx="109728" cy="155448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 · Deprecate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53492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feeds retired, bridges remain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760720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feeds deprecated as CDM coverage stabilises. Bridges remain as permanent anti-corruption layers. Resolution Table + Risk Data Catalog form the complete migration audit trail.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621792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Permanent state — no more migration, no more app refactoring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 — the Risk Data team's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entity, the recurring sequence that takes an entity from inferred candidate to governed RCE.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generated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every Risk-generated table. Surface candidate entities, their attributes, their relationships, their value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 · profiler tooling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5838" y="155448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12998" y="169164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299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61638" y="17373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app teams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2998" y="228600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entities visible in produced data match what apps consume internally. Surface attributes used internally but not published.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5838" y="347472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2998" y="34747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team · app team SMEs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4476" y="155448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31636" y="169164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163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0276" y="17373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CDM coverage per entity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1636" y="228600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 entity, determine: CDM covers it (pull-through), CDM partially covers it (blended), or CDM doesn't cover it (Risk-authored).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4476" y="347472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31636" y="34747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team · CDM team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3114" y="155448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0274" y="169164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5027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98914" y="17373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the Risk Confirmed Entity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50274" y="228600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name, attribute definitions, primary key, relationships, Contract ID mapping. Lives in the Risk Data Catalog.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3114" y="347472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50274" y="34747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team · Data Product Owner sign-off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66519" y="402336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03679" y="416052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03679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52319" y="420624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shared layer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03679" y="475488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published to riskwh.confirmed. Exposed to business consumers first via star schema + semantic model.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66519" y="594360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03679" y="594360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team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85157" y="402336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22317" y="416052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2317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70957" y="420624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for app consumption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22317" y="475488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bridge built: RCE naming → app-internal naming. Apps consume RCE without internal changes.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85157" y="594360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22317" y="594360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owns the bridge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03795" y="4023360"/>
            <a:ext cx="2727198" cy="2286000"/>
          </a:xfrm>
          <a:prstGeom prst="rect">
            <a:avLst/>
          </a:prstGeom>
          <a:solidFill>
            <a:srgbClr val="FAF7F0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640955" y="4160520"/>
            <a:ext cx="457200" cy="457200"/>
          </a:xfrm>
          <a:prstGeom prst="ellipse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40955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89595" y="420624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back to CDM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640955" y="475488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Risk-authored content should be promoted to enterprise CDM, the Risk Data team and CDM team negotiate adoption. Risk-only enrichments stay in Risk permanently.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03795" y="5943600"/>
            <a:ext cx="2727198" cy="365760"/>
          </a:xfrm>
          <a:prstGeom prst="rect">
            <a:avLst/>
          </a:prstGeom>
          <a:solidFill>
            <a:srgbClr val="F4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40955" y="594360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team · CDM team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solidFill>
            <a:srgbClr val="F4F1EB"/>
          </a:solidFill>
          <a:ln w="12700">
            <a:solidFill>
              <a:srgbClr val="B889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· </a:t>
            </a: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methodology produces conformed entities (agreed shape). </a:t>
            </a:r>
            <a:r>
              <a:rPr lang="en-US" sz="10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(value-level deduplication) is a separate capability — needs its own approach.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across the lifecycle. Clear accountability prevents drift and confusion.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526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ARTIFACT / RESPONSIBILITY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OWNER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WHAT IT MEANS IN PRACTICE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App-generated data (bronze)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App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Each app lands its reports and extracts as-is. No transformation. The starting point.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App conformed entities (silver)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App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Each app conforms its own entities within its boundary. Carries Contract ID forward.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App consumption bridge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App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Per-app translation: RCE naming → app-internal naming. App owns it; absorbs all naming differences.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Risk Confirmed Entity (RCE)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Risk Data team + Ingestion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Canonical entity definition. CDM-aligned where possible, Risk-enriched where needed. Authored once, consumed by all.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Resolution Table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Ingestion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Maps each RCE attribute to its current Contract ID. When sourcing switches to CDM, only this changes.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Risk Data Catalog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Risk Data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Single registry of entity definitions, lineage, CDM alignment status. The semantic source of truth.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Star schema · semantic 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Risk Data Platform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Built on RCEs and views over app gold. Surfaced to business consumers via the BI semantic layer.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22"/>
                          </a:solidFill>
                        </a:rPr>
                        <a:t>Enterprise CDM contribution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22"/>
                          </a:solidFill>
                        </a:rPr>
                        <a:t>Risk Data team + CDM team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247"/>
                          </a:solidFill>
                        </a:rPr>
                        <a:t>Where RCEs should be promoted to enterprise CDM, the two teams negotiate adoption. Bidirectional relationship.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48872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Risk position to CDM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presents a single governed entity definition per entity — a structured engagement with CDM as a domain contributor, not N app-level conversations.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85916" y="15544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23076" y="17190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3076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34556" y="16916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generated data first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34556" y="20574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start where the data already exists. Infer entities from outputs, validate against consumption side, layer CDM alignment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internals never change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bridges are permanent anti-corruption layers. App teams own them. No internal refactoring required to adopt RCEs.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5916" y="29260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23076" y="30906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3076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34556" y="30632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is the persistent lineage thread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4556" y="34290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switches become Resolution Table updates — not entity changes, not consumption changes. Apps stay stable as sourcing migrates.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44622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4348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≠ entity resolution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8006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operating model produces conformed entities (agreed shape). Value-level deduplication ("JPMC" → canonical name) is a separate capability.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5916" y="4297680"/>
            <a:ext cx="5454396" cy="1188720"/>
          </a:xfrm>
          <a:prstGeom prst="rect">
            <a:avLst/>
          </a:prstGeom>
          <a:solidFill>
            <a:srgbClr val="0F4A2B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23076" y="4462272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3076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34556" y="44348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forward, migrate backward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34556" y="48006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now from current best sources. CDM sourcing migrated gradually as entities are ratified. Bridges remain permanently.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91672" cy="6858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on Risk-generated data  ·  Entity interviews with app teams  ·  Risk Data Catalog initial entities  ·  CDM team alignment kickoff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48872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2594</Words>
  <Application>Microsoft Macintosh PowerPoint</Application>
  <PresentationFormat>Widescreen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Data Operating Model</dc:title>
  <dc:subject>PptxGenJS Presentation</dc:subject>
  <dc:creator>Risk Data Platform</dc:creator>
  <cp:lastModifiedBy>Reena Cheema</cp:lastModifiedBy>
  <cp:revision>2</cp:revision>
  <dcterms:created xsi:type="dcterms:W3CDTF">2026-06-07T18:40:49Z</dcterms:created>
  <dcterms:modified xsi:type="dcterms:W3CDTF">2026-06-08T14:13:29Z</dcterms:modified>
</cp:coreProperties>
</file>