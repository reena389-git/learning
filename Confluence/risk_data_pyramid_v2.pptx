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7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9042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Data Architecture</a:t>
            </a:r>
            <a:r>
              <a:rPr lang="en-US" sz="2200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things live · who owns them · what's physical vs published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11430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6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in Databricks for Risk · plus enterprise CDM in TDVIP workspace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0716952"/>
              </p:ext>
            </p:extLst>
          </p:nvPr>
        </p:nvGraphicFramePr>
        <p:xfrm>
          <a:off x="365760" y="1234440"/>
          <a:ext cx="7538019" cy="5105400"/>
        </p:xfrm>
        <a:graphic>
          <a:graphicData uri="http://schemas.openxmlformats.org/drawingml/2006/table">
            <a:tbl>
              <a:tblPr/>
              <a:tblGrid>
                <a:gridCol w="75380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5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3 — RISK WAREHOUSE</a:t>
                      </a: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    [</a:t>
                      </a: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</a:t>
                      </a: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riskwh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 err="1">
                          <a:solidFill>
                            <a:srgbClr val="E5F0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riskwh.analytics</a:t>
                      </a:r>
                      <a:r>
                        <a:rPr lang="en-US" sz="1000" dirty="0">
                          <a:solidFill>
                            <a:srgbClr val="E5F0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·  </a:t>
                      </a:r>
                      <a:r>
                        <a:rPr lang="en-US" sz="1000" dirty="0" err="1">
                          <a:solidFill>
                            <a:srgbClr val="E5F0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riskwh.model</a:t>
                      </a:r>
                      <a:r>
                        <a:rPr lang="en-US" sz="1000" dirty="0">
                          <a:solidFill>
                            <a:srgbClr val="E5F0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·  </a:t>
                      </a:r>
                      <a:r>
                        <a:rPr lang="en-US" sz="1000" dirty="0" err="1">
                          <a:solidFill>
                            <a:srgbClr val="E5F0D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riskwh.sandbox</a:t>
                      </a:r>
                      <a:endParaRPr lang="en-US" sz="1000" dirty="0">
                        <a:solidFill>
                          <a:srgbClr val="E5F0DD"/>
                        </a:solidFill>
                        <a:latin typeface="Consolas" pitchFamily="34" charset="0"/>
                        <a:ea typeface="Consolas" pitchFamily="34" charset="-122"/>
                        <a:cs typeface="Consolas" pitchFamily="34" charset="-120"/>
                      </a:endParaRPr>
                    </a:p>
                    <a:p>
                      <a:pPr marL="0" indent="0">
                        <a:buNone/>
                      </a:pPr>
                      <a:endParaRPr lang="en-US" sz="120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Risk Data owns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products · Star schemas · 360 patterns · Reporting products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E5F0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Pulls dimensions from PG conformed schemas — does NOT redefine them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rgbClr val="176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76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76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76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6B2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1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7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2 — PRODUCT GROUP CONFORMED SCHEMAS</a:t>
                      </a:r>
                      <a:r>
                        <a:rPr lang="en-US" sz="1000" dirty="0">
                          <a:solidFill>
                            <a:srgbClr val="17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    [</a:t>
                      </a:r>
                      <a:r>
                        <a:rPr lang="en-US" sz="1000" b="1" dirty="0">
                          <a:solidFill>
                            <a:srgbClr val="17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</a:t>
                      </a:r>
                      <a:r>
                        <a:rPr lang="en-US" sz="1000" dirty="0">
                          <a:solidFill>
                            <a:srgbClr val="176B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6B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creditrisk · marketrisk · liquidity · finance  (4 PG catalogs)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&lt;catalog&gt;.&lt;</a:t>
                      </a:r>
                      <a:r>
                        <a:rPr lang="en-US" sz="1000" dirty="0" err="1">
                          <a:solidFill>
                            <a:srgbClr val="5959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pg</a:t>
                      </a:r>
                      <a:r>
                        <a:rPr lang="en-US" sz="1000" dirty="0">
                          <a:solidFill>
                            <a:srgbClr val="5959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schema&gt;  (e.g., </a:t>
                      </a:r>
                      <a:r>
                        <a:rPr lang="en-US" sz="1000" dirty="0" err="1">
                          <a:solidFill>
                            <a:srgbClr val="5959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creditrisk</a:t>
                      </a:r>
                      <a:r>
                        <a:rPr lang="en-US" sz="1000" dirty="0">
                          <a:solidFill>
                            <a:srgbClr val="5959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.&lt;</a:t>
                      </a:r>
                      <a:r>
                        <a:rPr lang="en-US" sz="1000" dirty="0" err="1">
                          <a:solidFill>
                            <a:srgbClr val="5959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pg</a:t>
                      </a:r>
                      <a:r>
                        <a:rPr lang="en-US" sz="1000" dirty="0">
                          <a:solidFill>
                            <a:srgbClr val="5959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schema&gt;)</a:t>
                      </a:r>
                    </a:p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Group Lead Owns :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Resolve / Conform shared dimensions across Risk apps ·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Enrich CDM-referenced entities for Risk ·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Group Domain Model ·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Cross-app data products within the PG</a:t>
                      </a:r>
                    </a:p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PG resolves dimensions across its apps; enriches enterprise CDM entities where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rgbClr val="2E8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2E8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76B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2E8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0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C88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 1 — APPLICATION SCHEMAS</a:t>
                      </a:r>
                      <a:r>
                        <a:rPr lang="en-US" sz="1000" dirty="0">
                          <a:solidFill>
                            <a:srgbClr val="C88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       [</a:t>
                      </a:r>
                      <a:r>
                        <a:rPr lang="en-US" sz="1000" b="1" dirty="0">
                          <a:solidFill>
                            <a:srgbClr val="C88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</a:t>
                      </a:r>
                      <a:r>
                        <a:rPr lang="en-US" sz="1000" dirty="0">
                          <a:solidFill>
                            <a:srgbClr val="C88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880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creditrisk.&lt;app&gt;  ·  marketrisk.&lt;app&gt;  ·  liquidity.&lt;app&gt;  ·  finance.&lt;app&gt;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59595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creditrisk.xvala · creditrisk.cmos · creditrisk.regds · 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App-generated raw data · App-bounded data products · App-internal logic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Owned by  </a:t>
                      </a:r>
                      <a:r>
                        <a:rPr lang="en-US" sz="1050" b="1" dirty="0">
                          <a:solidFill>
                            <a:srgbClr val="C880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teams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950" i="1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app owns its schema; references PG conformed dimensions via foreign keys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91440" marB="91440">
                    <a:lnL w="19050" cap="flat" cmpd="sng" algn="ctr">
                      <a:solidFill>
                        <a:srgbClr val="C88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88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2E8B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880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4411980"/>
            <a:ext cx="365760" cy="502920"/>
          </a:xfrm>
          <a:prstGeom prst="upArrow">
            <a:avLst/>
          </a:prstGeom>
          <a:solidFill>
            <a:srgbClr val="FFFFFF"/>
          </a:solidFill>
          <a:ln w="19050">
            <a:solidFill>
              <a:srgbClr val="2E8B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52160" y="45171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i="1" dirty="0">
                <a:solidFill>
                  <a:srgbClr val="2E8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661982" y="2555748"/>
            <a:ext cx="365760" cy="502920"/>
          </a:xfrm>
          <a:prstGeom prst="upArrow">
            <a:avLst/>
          </a:prstGeom>
          <a:solidFill>
            <a:srgbClr val="FFFFFF"/>
          </a:solidFill>
          <a:ln w="19050">
            <a:solidFill>
              <a:srgbClr val="176B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0" y="25557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dimensions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8786648" y="1508760"/>
            <a:ext cx="3054832" cy="3108960"/>
          </a:xfrm>
          <a:prstGeom prst="rect">
            <a:avLst/>
          </a:prstGeom>
          <a:solidFill>
            <a:srgbClr val="EFF5FB"/>
          </a:solidFill>
          <a:ln w="22860">
            <a:solidFill>
              <a:srgbClr val="1F5E8C"/>
            </a:solidFill>
            <a:prstDash val="dash"/>
          </a:ln>
        </p:spPr>
        <p:txBody>
          <a:bodyPr wrap="square" lIns="1524" tIns="1524" rIns="1524" bIns="1524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CDM</a:t>
            </a:r>
            <a:endParaRPr lang="en-US" sz="12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F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[PHYSICAL]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F5E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TDVIP workspace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CDM · Normalized Data Model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entities: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· Counterparty · Account ·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· Party · etc.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Owned by  </a:t>
            </a:r>
            <a:r>
              <a:rPr lang="en-US" sz="1050" b="1" dirty="0">
                <a:solidFill>
                  <a:srgbClr val="1F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CDO</a:t>
            </a:r>
            <a:endParaRPr lang="en-US" sz="1200" dirty="0"/>
          </a:p>
          <a:p>
            <a:pPr marL="0" indent="0">
              <a:buNone/>
            </a:pPr>
            <a:r>
              <a:rPr lang="en-US" sz="4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PGs publish to CDM when entities are of enterprise value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 rot="5400000">
            <a:off x="7915025" y="3062346"/>
            <a:ext cx="256032" cy="541283"/>
          </a:xfrm>
          <a:prstGeom prst="upArrow">
            <a:avLst/>
          </a:prstGeom>
          <a:solidFill>
            <a:srgbClr val="FFFFFF"/>
          </a:solidFill>
          <a:ln w="19050">
            <a:solidFill>
              <a:srgbClr val="1F5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758151" y="3413025"/>
            <a:ext cx="25697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F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 publishes to CDM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 rot="5400000">
            <a:off x="8083375" y="3992486"/>
            <a:ext cx="274320" cy="56466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9050">
            <a:solidFill>
              <a:srgbClr val="1F5E8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544851" y="4053105"/>
            <a:ext cx="126124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1F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CDM Conformed</a:t>
            </a:r>
          </a:p>
          <a:p>
            <a:pPr marL="0" indent="0" algn="ctr">
              <a:buNone/>
            </a:pPr>
            <a:endParaRPr lang="en-US" sz="1000" b="1" i="1" dirty="0">
              <a:solidFill>
                <a:srgbClr val="1F5E8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1000" b="1" i="1" dirty="0">
                <a:solidFill>
                  <a:srgbClr val="1F5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Dimension / Entity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4F6F4"/>
          </a:solidFill>
          <a:ln w="6350">
            <a:solidFill>
              <a:srgbClr val="D0D7D2"/>
            </a:solidFill>
          </a:ln>
        </p:spPr>
        <p:txBody>
          <a:bodyPr wrap="square" lIns="1016" tIns="1016" rIns="1016" bIns="1016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76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FLOW EXAMPLES:    </a:t>
            </a: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Enterprise-only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(basic dim_counterparty) → lives in CDM only.    </a:t>
            </a: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Enriched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(counterparty + PD/LGD/internal rating) → CDM base + PG-owned enrichment in </a:t>
            </a:r>
            <a:r>
              <a:rPr lang="en-US" sz="950" dirty="0">
                <a:solidFill>
                  <a:srgbClr val="17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creditrisk.conformed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  </a:t>
            </a: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Risk-only </a:t>
            </a: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(dim_netting_set, dim_scenario) → lives only in PG conformed, not CDM.</a:t>
            </a:r>
            <a:endParaRPr lang="en-US" sz="1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876ADF-4796-B66E-703A-A9BA88665C65}"/>
              </a:ext>
            </a:extLst>
          </p:cNvPr>
          <p:cNvSpPr txBox="1"/>
          <p:nvPr/>
        </p:nvSpPr>
        <p:spPr>
          <a:xfrm>
            <a:off x="365760" y="6513576"/>
            <a:ext cx="17201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PG : Product Group 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686</TotalTime>
  <Words>349</Words>
  <Application>Microsoft Macintosh PowerPoint</Application>
  <PresentationFormat>Widescreen</PresentationFormat>
  <Paragraphs>48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Consolas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Data Architecture — Pyramid (editable)</dc:title>
  <dc:subject>PptxGenJS Presentation</dc:subject>
  <dc:creator>PptxGenJS</dc:creator>
  <cp:lastModifiedBy>Reena Cheema</cp:lastModifiedBy>
  <cp:revision>3</cp:revision>
  <dcterms:created xsi:type="dcterms:W3CDTF">2026-05-11T23:49:00Z</dcterms:created>
  <dcterms:modified xsi:type="dcterms:W3CDTF">2026-05-12T11:17:48Z</dcterms:modified>
</cp:coreProperties>
</file>