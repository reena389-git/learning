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 = name/value label on schema/table/column; never changes data; two jobs: discovery + policy. Governed tag = pre-defined key with pre-determined allowed values, created once centrally; platform rejects other values ('enum for labels'). Ordinary tag = same mechanism, free-text. Critical fact from Databricks docs: ABAC policies use governed tags, not ungoverned tags — that is WHY we pre-define the policy-bearing ones. Creation of governed tag keys/values is in the ACCOUNT CONSOLE (Tag policies), not SQL; ASSIGN permission controls who may apply them. Applying is SQL: ALTER ... SET TAGS - the platform checks the value against the allowed list. WHEN to use a tag: a system must read it or a person must filter by it. Tags drive: ACCESS (policies), DISCOVERY (search/filter), AI CONTEXT (Genie/agents), OPERATIONS (routing/lifecycle). Not a tag: enforceable rules -&gt; constraints; prose meaning -&gt; comments; promises -&gt;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tags: visible (master switch, policy hides 'no'), class_sensitivity (classification for access), class_pii (column-level, drives masking, rolls up), lifecycle (draft/active/deprecated/retired), src_domain+src_app (derived provenance for discovery/routing), contract_grain (one row per what — protects aggregation), contract_entity (link to the business data model). Pattern: governed = policy-bearing, steward/default-set; ordinary = meaning-bearing, engineer-set at create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ABAC per Databricks docs: policies attach at catalog/schema/table; evaluated dynamically; apply automatically to anything with the targeted governed tags — including future tables; table owners cannot override; policy logic evaluated more efficiently than per-table UDFs. Types: row filter, column mask, GRANT policies (beta, models). Syntax verified: CREATE POLICY ... ON CATALOG/SCHEMA ... ROW FILTER fn TO principals EXCEPT ... FOR TABLES WHEN has_tag_value(...) / COLUMN MASK fn ... MATCH COLUMNS has_tag_value('class_pii','true') AS c ON COLUMN c. Requirements: governed tags only (not ordinary tags), DBR 16.4+ or serverless. Separation of duties: taxonomy centrally, stewards classify, governance writes policies, engineers create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Recipe: (1) create the logic as a small UC SQL function; (2) CREATE POLICY binds the function to governed tags and AD-group principals; attach at schema or catalog so future tables are auto-covered. Row filter: deny_all() + WHEN has_tag_value('visible','no') = the publish switch. Column mask: mask_value() + MATCH COLUMNS has_tag_value('class_pii','true') AS c ON COLUMN c. Principals: AD groups synced to Databricks; EXCEPT for stewards/ETL identities (exempted principals see raw data - exempt only trusted identities). Prereqs: governed tags, DBR 16.4+/serverless, MANAGE on the securable.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·  TAGS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— Labels That Do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is a name = value label on a schema, table or column. </a:t>
            </a:r>
            <a:pPr indent="0" marL="0">
              <a:buNone/>
            </a:pPr>
            <a:r>
              <a:rPr lang="en-US" sz="13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changes the data. It exists so people and tools can find things, and so access rules can check it.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4937760" cy="2377440"/>
          </a:xfrm>
          <a:prstGeom prst="roundRect">
            <a:avLst>
              <a:gd name="adj" fmla="val 2692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28600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creditrisk.collateral.positions_gold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560320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collateral movement per as-of-date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2871216"/>
            <a:ext cx="1148486" cy="274320"/>
          </a:xfrm>
          <a:prstGeom prst="roundRect">
            <a:avLst>
              <a:gd name="adj" fmla="val 50000"/>
            </a:avLst>
          </a:prstGeom>
          <a:solidFill>
            <a:srgbClr val="F6EFE0"/>
          </a:solidFill>
          <a:ln w="9525">
            <a:solidFill>
              <a:srgbClr val="3E9E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871216"/>
            <a:ext cx="1148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visible = no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26310" y="2871216"/>
            <a:ext cx="2574950" cy="274320"/>
          </a:xfrm>
          <a:prstGeom prst="roundRect">
            <a:avLst>
              <a:gd name="adj" fmla="val 50000"/>
            </a:avLst>
          </a:prstGeom>
          <a:solidFill>
            <a:srgbClr val="EAF3EC"/>
          </a:solidFill>
          <a:ln w="9525">
            <a:solidFill>
              <a:srgbClr val="3E9E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6310" y="2871216"/>
            <a:ext cx="2574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3D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class_sensitivity = confidential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" y="3236976"/>
            <a:ext cx="1505102" cy="274320"/>
          </a:xfrm>
          <a:prstGeom prst="roundRect">
            <a:avLst>
              <a:gd name="adj" fmla="val 50000"/>
            </a:avLst>
          </a:prstGeom>
          <a:solidFill>
            <a:srgbClr val="EDF1F3"/>
          </a:solidFill>
          <a:ln w="9525">
            <a:solidFill>
              <a:srgbClr val="3E9E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36976"/>
            <a:ext cx="15051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6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 = draft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82926" y="3236976"/>
            <a:ext cx="1291133" cy="274320"/>
          </a:xfrm>
          <a:prstGeom prst="roundRect">
            <a:avLst>
              <a:gd name="adj" fmla="val 50000"/>
            </a:avLst>
          </a:prstGeom>
          <a:solidFill>
            <a:srgbClr val="EDF1F3"/>
          </a:solidFill>
          <a:ln w="9525">
            <a:solidFill>
              <a:srgbClr val="3E9E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82926" y="3236976"/>
            <a:ext cx="1291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63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src_app = cmos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02075" y="3236976"/>
            <a:ext cx="1433779" cy="274320"/>
          </a:xfrm>
          <a:prstGeom prst="roundRect">
            <a:avLst>
              <a:gd name="adj" fmla="val 50000"/>
            </a:avLst>
          </a:prstGeom>
          <a:solidFill>
            <a:srgbClr val="F6EFE0"/>
          </a:solidFill>
          <a:ln w="9525">
            <a:solidFill>
              <a:srgbClr val="3E9E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2075" y="3236976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6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class_pii = true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9808" y="3602736"/>
            <a:ext cx="3074213" cy="274320"/>
          </a:xfrm>
          <a:prstGeom prst="roundRect">
            <a:avLst>
              <a:gd name="adj" fmla="val 50000"/>
            </a:avLst>
          </a:prstGeom>
          <a:solidFill>
            <a:srgbClr val="EAF3EC"/>
          </a:solidFill>
          <a:ln w="9525">
            <a:solidFill>
              <a:srgbClr val="3E9E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602736"/>
            <a:ext cx="3074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3D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contract_grain = colline_ref+as_of_date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" y="3968496"/>
            <a:ext cx="2860243" cy="274320"/>
          </a:xfrm>
          <a:prstGeom prst="roundRect">
            <a:avLst>
              <a:gd name="adj" fmla="val 50000"/>
            </a:avLst>
          </a:prstGeom>
          <a:solidFill>
            <a:srgbClr val="EAF3EC"/>
          </a:solidFill>
          <a:ln w="9525">
            <a:solidFill>
              <a:srgbClr val="3E9E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968496"/>
            <a:ext cx="286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3D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contract_entity = CollateralMovement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9808" y="4169664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jobs, nothing more:  </a:t>
            </a:r>
            <a:pPr indent="0" marL="0">
              <a:buNone/>
            </a:pPr>
            <a:r>
              <a:rPr lang="en-US" sz="9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(search and filter by them) and policy (access rules check their values).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1828800"/>
            <a:ext cx="5699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vs ORDINARY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139696"/>
            <a:ext cx="5699455" cy="1170432"/>
          </a:xfrm>
          <a:prstGeom prst="roundRect">
            <a:avLst>
              <a:gd name="adj" fmla="val 4688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249424"/>
            <a:ext cx="5333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tag — a pre-defined tag.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 created once, centrally, with a pre-determined list of allowed values; applying any other value is rejected. Think: an enum for labels. </a:t>
            </a:r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policies (ABAC) work on governed tags only.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438144"/>
            <a:ext cx="5699455" cy="841248"/>
          </a:xfrm>
          <a:prstGeom prst="roundRect">
            <a:avLst>
              <a:gd name="adj" fmla="val 6522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547872"/>
            <a:ext cx="5333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tag — same mechanism, free-text values.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notes and facts that need no enforcement (internal_notes, contract_grain).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4443984"/>
            <a:ext cx="5699455" cy="1554480"/>
          </a:xfrm>
          <a:prstGeom prst="roundRect">
            <a:avLst>
              <a:gd name="adj" fmla="val 2941"/>
            </a:avLst>
          </a:prstGeom>
          <a:solidFill>
            <a:srgbClr val="20282E"/>
          </a:solidFill>
          <a:ln/>
        </p:spPr>
      </p:sp>
      <p:sp>
        <p:nvSpPr>
          <p:cNvPr id="30" name="Text 28"/>
          <p:cNvSpPr/>
          <p:nvPr/>
        </p:nvSpPr>
        <p:spPr>
          <a:xfrm>
            <a:off x="6108192" y="4535424"/>
            <a:ext cx="537027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governed tag KEYS + allowed values are created ONCE in the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Account console (Tag policies) - not in SQL. Applying is SQL: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positions_gold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TAGS ('class_sensitivity' = 'confidential');  -- checked vs list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ordinary tag: same SQL, free-text value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positions_gold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TAGS ('contract_grain' = 'colline_ref+as_of_date');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548640" y="46817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TAG — WHAT TAGS DRIVE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956048"/>
            <a:ext cx="4937760" cy="1335024"/>
          </a:xfrm>
          <a:prstGeom prst="roundRect">
            <a:avLst>
              <a:gd name="adj" fmla="val 4110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047488"/>
            <a:ext cx="46085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is right when a system must read it or a person must filter by it. Tags drive four things:
</a:t>
            </a:r>
            <a:pPr indent="0" marL="0">
              <a:lnSpc>
                <a:spcPct val="112000"/>
              </a:lnSpc>
              <a:buNone/>
            </a:pPr>
            <a:r>
              <a:rPr lang="en-US" sz="89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policies decide who sees what (visible, sensitivity, PII)   </a:t>
            </a:r>
            <a:pPr indent="0" marL="0">
              <a:lnSpc>
                <a:spcPct val="112000"/>
              </a:lnSpc>
              <a:buNone/>
            </a:pPr>
            <a:r>
              <a:rPr lang="en-US" sz="89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search &amp; filter the estate (src_app, domain, layer)
</a:t>
            </a:r>
            <a:pPr indent="0" marL="0">
              <a:lnSpc>
                <a:spcPct val="112000"/>
              </a:lnSpc>
              <a:buNone/>
            </a:pPr>
            <a:r>
              <a:rPr lang="en-US" sz="89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context</a:t>
            </a:r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Genie &amp; agents read them to answer correctly (grain, entity)   </a:t>
            </a:r>
            <a:pPr indent="0" marL="0">
              <a:lnSpc>
                <a:spcPct val="112000"/>
              </a:lnSpc>
              <a:buNone/>
            </a:pPr>
            <a:r>
              <a:rPr lang="en-US" sz="89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routing &amp; hygiene (lifecycle, issues)
</a:t>
            </a:r>
            <a:pPr indent="0" marL="0">
              <a:lnSpc>
                <a:spcPct val="112000"/>
              </a:lnSpc>
              <a:buNone/>
            </a:pPr>
            <a:r>
              <a:rPr lang="en-US" sz="890" b="1" dirty="0">
                <a:solidFill>
                  <a:srgbClr val="9C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tag: </a:t>
            </a:r>
            <a:pPr indent="0" marL="0">
              <a:lnSpc>
                <a:spcPct val="112000"/>
              </a:lnSpc>
              <a:buNone/>
            </a:pPr>
            <a:r>
              <a:rPr lang="en-US" sz="890" i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rules → constraints · prose meaning → comments · promises to consumers → the contract.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·  OUR TAG 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Seven Tags — What Each One Does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822960"/>
                <a:gridCol w="2286000"/>
                <a:gridCol w="35021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 (as applied)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Governed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Who sets 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is used for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visible = no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'no' automatically; Steward flips at publish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master switch. A policy hides every table tagged 'no' — publishing a table is flipping one tag, not a permissions project.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class_sensitivity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class_sensitivity = confidential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sensitive the data is (public → mnpi). Access policies read it to decide who can see what.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class_pii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class_pii = true   (on the column)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Steward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columns carrying personal data. Drives automatic column masking; rolls up to the table.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lifecycle = draft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'draft' automatically; Steward moves 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table is in its life: draft → active → deprecated → retired. Keeps consumers off dying tables.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src_domain · src_app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src_app = cmos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from catalog / schema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produced the data. Powers search ('all CMOS tables') and routing of questions and issues.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contract_grain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contract_grain = colline_ref+as_of_date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Engineer, at create 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'One row per what?' — the single most important fact about a table; protects every aggregation built on 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contract_entity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contract_entity = CollateralMovement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Engineer, at create 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business thing a row represents — the link from the physical table to the data model.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17320"/>
            <a:ext cx="11094415" cy="310896"/>
          </a:xfrm>
          <a:prstGeom prst="rect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14173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157984" y="1417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(as applied)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84064" y="141732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07024" y="14173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sets it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193024" y="14173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used for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594360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0E3D2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9436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</a:t>
            </a:r>
            <a:pPr indent="0" marL="0">
              <a:buNone/>
            </a:pPr>
            <a:r>
              <a:rPr lang="en-US" sz="1050" dirty="0">
                <a:solidFill>
                  <a:srgbClr val="C9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tags carry policy (visible, sensitivity, PII, lifecycle, source); ordinary tags carry facts about meaning (grain, entity). Policy tags are set by stewards or defaults — engineers only ever set the two meaning tags.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·  TAG-BASED ACCESS (ABAC)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Rule Once — Tags Do the Rest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 = access rules written against tags, not per-table grants. </a:t>
            </a:r>
            <a:pPr indent="0" marL="0">
              <a:buNone/>
            </a:pPr>
            <a:r>
              <a:rPr lang="en-US" sz="130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attaches at the catalog or schema; anything tagged — including tables created next year — is covered automatically, and table owners cannot override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54298" cy="3566160"/>
          </a:xfrm>
          <a:prstGeom prst="roundRect">
            <a:avLst>
              <a:gd name="adj" fmla="val 1853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482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Row filter policy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40864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which rows a user sees. Our publish switch: hide everything in tables still tagged visible = 'no'.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4944" y="2962656"/>
            <a:ext cx="3161690" cy="1828800"/>
          </a:xfrm>
          <a:prstGeom prst="roundRect">
            <a:avLst>
              <a:gd name="adj" fmla="val 2500"/>
            </a:avLst>
          </a:prstGeom>
          <a:solidFill>
            <a:srgbClr val="20282E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3054096"/>
            <a:ext cx="283250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hide_unpublished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CATALOG creditrisk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FILTER gov.deny_all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`AD-RISK-DATA-CONSUMERS`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 `AD-RISK-STEWARDS`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TABLES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has_tag_value(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'visible','no');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= flip one tag.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68698" y="1920240"/>
            <a:ext cx="3454298" cy="3566160"/>
          </a:xfrm>
          <a:prstGeom prst="roundRect">
            <a:avLst>
              <a:gd name="adj" fmla="val 1853"/>
            </a:avLst>
          </a:prstGeom>
          <a:solidFill>
            <a:srgbClr val="EAF3EC"/>
          </a:solidFill>
          <a:ln w="12700">
            <a:solidFill>
              <a:srgbClr val="3E9E68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1578" y="20482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Column mask policy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1578" y="2340864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values are shown. Mask every column tagged as PII, for everyone except the pipeline identity.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15002" y="2962656"/>
            <a:ext cx="3161690" cy="1828800"/>
          </a:xfrm>
          <a:prstGeom prst="roundRect">
            <a:avLst>
              <a:gd name="adj" fmla="val 2500"/>
            </a:avLst>
          </a:prstGeom>
          <a:solidFill>
            <a:srgbClr val="20282E"/>
          </a:solidFill>
          <a:ln/>
        </p:spPr>
      </p:sp>
      <p:sp>
        <p:nvSpPr>
          <p:cNvPr id="15" name="Text 13"/>
          <p:cNvSpPr/>
          <p:nvPr/>
        </p:nvSpPr>
        <p:spPr>
          <a:xfrm>
            <a:off x="4679594" y="3054096"/>
            <a:ext cx="283250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mask_pii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CATALOG creditrisk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MASK gov.mask_value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`AD-RISK-DATA-CONSUMERS`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 `AD-ETL-SERVICE`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TABLES MATCH COLUMNS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has_tag_value(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'class_pii','true') AS c</a:t>
            </a:r>
            <a:endParaRPr lang="en-US" sz="8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COLUMN c;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4551578" y="493776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the column once — masked everywhere, forever.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88757" y="1920240"/>
            <a:ext cx="3454298" cy="3566160"/>
          </a:xfrm>
          <a:prstGeom prst="roundRect">
            <a:avLst>
              <a:gd name="adj" fmla="val 1853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1637" y="2048256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What else you can write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71637" y="2377440"/>
            <a:ext cx="308853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walls —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 mask wherever class_sensitivity is 'restricted' or 'mnpi', for all but a named group.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guard —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tables tagged deprecated or retired from general consumers.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desk rows —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filters on a column matched by tag (e.g. desk), so each group sees its own rows.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policies (beta) —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 granted dynamically by tag (models today).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0E3D2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669280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9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 — a central team writes the policies, stewards tag the data, engineers just create tables; new tables are covered the moment they are tagged. Policies require governed tags and run on current compute (DBR 16.4+ / serverless).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Principals are the AD groups synced to Databricks — policies apply to the group, membership is managed in AD.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·  CREATING THE POLICIES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Filter &amp; Column Mask — The Two-Step Recipe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ABAC policy is two statements: </a:t>
            </a:r>
            <a:pPr indent="0" marL="0">
              <a:buNone/>
            </a:pPr>
            <a:r>
              <a:rPr lang="en-US" sz="12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SQL function that holds the logic, then a policy that binds the function to tags and AD groups. Attach at schema (or catalog) level — every current and future table with the tag is covered.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31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FILTER — the publish switch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39696"/>
            <a:ext cx="531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function (admits no rows)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318608" cy="658368"/>
          </a:xfrm>
          <a:prstGeom prst="roundRect">
            <a:avLst>
              <a:gd name="adj" fmla="val 6944"/>
            </a:avLst>
          </a:prstGeom>
          <a:solidFill>
            <a:srgbClr val="20282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468880"/>
            <a:ext cx="498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gov.deny_all()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BOOLEAN RETURN FALSE;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531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policy (binds it to the tag + AD groups)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318608" cy="1883664"/>
          </a:xfrm>
          <a:prstGeom prst="roundRect">
            <a:avLst>
              <a:gd name="adj" fmla="val 2427"/>
            </a:avLst>
          </a:prstGeom>
          <a:solidFill>
            <a:srgbClr val="20282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474720"/>
            <a:ext cx="49894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POLICY hide_unpublished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SCHEMA creditrisk.collateral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FILTER gov.deny_all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`AD-RISK-DATA-CONSUMERS`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 `AD-RISK-STEWARDS`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TABLES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has_tag_value('visible','no');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531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tagged visible = 'no' return zero rows to consumers. Publishing = ALTER TABLE ... SET TAGS ('visible' = 'yes').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24448" y="1847088"/>
            <a:ext cx="531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MASK — PII protection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4448" y="2139696"/>
            <a:ext cx="531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function (what masked users see)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24448" y="2377440"/>
            <a:ext cx="5318608" cy="658368"/>
          </a:xfrm>
          <a:prstGeom prst="roundRect">
            <a:avLst>
              <a:gd name="adj" fmla="val 6944"/>
            </a:avLst>
          </a:prstGeom>
          <a:solidFill>
            <a:srgbClr val="2028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89040" y="2468880"/>
            <a:ext cx="498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FUNCTION gov.mask_value(v STRING)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STRING RETURN '***MASKED***';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3145536"/>
            <a:ext cx="531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policy (matches columns by tag)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24448" y="3383280"/>
            <a:ext cx="5318608" cy="1883664"/>
          </a:xfrm>
          <a:prstGeom prst="roundRect">
            <a:avLst>
              <a:gd name="adj" fmla="val 2427"/>
            </a:avLst>
          </a:prstGeom>
          <a:solidFill>
            <a:srgbClr val="2028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89040" y="3474720"/>
            <a:ext cx="49894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POLICY mask_pii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SCHEMA creditrisk.collateral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MASK gov.mask_value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`AD-RISK-DATA-CONSUMERS`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EXCEPT `AD-ETL-SERVICE`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TABLES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COLUMNS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has_tag_value('class_pii','true') AS c</a:t>
            </a:r>
            <a:endParaRPr lang="en-US" sz="86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COLUMN c;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324448" y="5394960"/>
            <a:ext cx="531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tagged class_pii = 'true' shows ***MASKED*** — in every table in the schema, today and in the future.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961888"/>
            <a:ext cx="11094415" cy="402336"/>
          </a:xfrm>
          <a:prstGeom prst="roundRect">
            <a:avLst>
              <a:gd name="adj" fmla="val 13636"/>
            </a:avLst>
          </a:prstGeom>
          <a:solidFill>
            <a:srgbClr val="0E3D2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961888"/>
            <a:ext cx="10637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 </a:t>
            </a:r>
            <a:pPr indent="0" marL="0">
              <a:buNone/>
            </a:pPr>
            <a:r>
              <a:rPr lang="en-US" sz="1000" dirty="0">
                <a:solidFill>
                  <a:srgbClr val="C9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 keys governed (Account console, Tag policies) · the AD groups synced to Databricks · serverless or DBR 16.4+ · MANAGE on the schema.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2026-07-13T17:55:40Z</dcterms:created>
  <dcterms:modified xsi:type="dcterms:W3CDTF">2026-07-13T17:55:40Z</dcterms:modified>
</cp:coreProperties>
</file>