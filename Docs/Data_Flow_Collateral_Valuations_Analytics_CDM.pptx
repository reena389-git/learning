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>
        <p:scale>
          <a:sx n="126" d="100"/>
          <a:sy n="126" d="100"/>
        </p:scale>
        <p:origin x="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955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Collateral / Valuations  (corrected)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412480" y="91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Recreated from your screenshot + corrections — not your original file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82880" y="384048"/>
            <a:ext cx="1783080" cy="5989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02336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603504"/>
            <a:ext cx="1645920" cy="5669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1463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8321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Asset Trade bookings</a:t>
            </a:r>
            <a:endParaRPr lang="en-US" sz="660" dirty="0"/>
          </a:p>
          <a:p>
            <a:pPr marL="0" indent="0" algn="l">
              <a:lnSpc>
                <a:spcPts val="800"/>
              </a:lnSpc>
              <a:buNone/>
            </a:pPr>
            <a:r>
              <a:rPr lang="en-US" sz="6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TMS(FO)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780"/>
              </a:lnSpc>
              <a:spcAft>
                <a:spcPts val="150"/>
              </a:spcAft>
              <a:buSzPct val="100000"/>
              <a:buChar char="▪"/>
            </a:pPr>
            <a:r>
              <a:rPr lang="en-US" sz="63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</a:t>
            </a:r>
            <a:endParaRPr lang="en-US" sz="630" dirty="0"/>
          </a:p>
          <a:p>
            <a:pPr marL="342900" indent="-342900">
              <a:lnSpc>
                <a:spcPts val="780"/>
              </a:lnSpc>
              <a:spcAft>
                <a:spcPts val="150"/>
              </a:spcAft>
              <a:buSzPct val="100000"/>
              <a:buChar char="▪"/>
            </a:pPr>
            <a:r>
              <a:rPr lang="en-US" sz="63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</a:t>
            </a:r>
            <a:endParaRPr lang="en-US" sz="630" dirty="0"/>
          </a:p>
          <a:p>
            <a:pPr marL="342900" indent="-342900">
              <a:lnSpc>
                <a:spcPts val="780"/>
              </a:lnSpc>
              <a:spcAft>
                <a:spcPts val="150"/>
              </a:spcAft>
              <a:buSzPct val="100000"/>
              <a:buChar char="▪"/>
            </a:pPr>
            <a:r>
              <a:rPr lang="en-US" sz="63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</a:t>
            </a:r>
            <a:endParaRPr lang="en-US" sz="630" dirty="0"/>
          </a:p>
          <a:p>
            <a:pPr marL="342900" indent="-342900">
              <a:lnSpc>
                <a:spcPts val="780"/>
              </a:lnSpc>
              <a:spcAft>
                <a:spcPts val="150"/>
              </a:spcAft>
              <a:buSzPct val="100000"/>
              <a:buChar char="▪"/>
            </a:pPr>
            <a:r>
              <a:rPr lang="en-US" sz="63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Settlements</a:t>
            </a:r>
            <a:endParaRPr lang="en-US" sz="630" dirty="0"/>
          </a:p>
          <a:p>
            <a:pPr marL="342900" indent="-342900">
              <a:lnSpc>
                <a:spcPts val="780"/>
              </a:lnSpc>
              <a:spcAft>
                <a:spcPts val="150"/>
              </a:spcAft>
              <a:buSzPct val="100000"/>
              <a:buChar char="▪"/>
            </a:pPr>
            <a:r>
              <a:rPr lang="en-US" sz="63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 — Intraday</a:t>
            </a:r>
            <a:endParaRPr lang="en-US" sz="630" dirty="0"/>
          </a:p>
          <a:p>
            <a:pPr marL="342900" indent="-342900">
              <a:lnSpc>
                <a:spcPts val="780"/>
              </a:lnSpc>
              <a:spcAft>
                <a:spcPts val="150"/>
              </a:spcAft>
              <a:buSzPct val="100000"/>
              <a:buChar char="▪"/>
            </a:pPr>
            <a:r>
              <a:rPr lang="en-US" sz="63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 Sources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1463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63347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411480" y="279806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1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OTC derivatives **  (handled → CMOS)</a:t>
            </a:r>
            <a:endParaRPr lang="en-US" sz="610" dirty="0"/>
          </a:p>
        </p:txBody>
      </p:sp>
      <p:sp>
        <p:nvSpPr>
          <p:cNvPr id="16" name="Text 14"/>
          <p:cNvSpPr/>
          <p:nvPr/>
        </p:nvSpPr>
        <p:spPr>
          <a:xfrm>
            <a:off x="411480" y="2962656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1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Repo</a:t>
            </a:r>
            <a:endParaRPr lang="en-US" sz="610" dirty="0"/>
          </a:p>
        </p:txBody>
      </p:sp>
      <p:sp>
        <p:nvSpPr>
          <p:cNvPr id="17" name="Text 15"/>
          <p:cNvSpPr/>
          <p:nvPr/>
        </p:nvSpPr>
        <p:spPr>
          <a:xfrm>
            <a:off x="1234440" y="296265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6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no known dest.</a:t>
            </a:r>
            <a:endParaRPr lang="en-US" sz="560" dirty="0"/>
          </a:p>
        </p:txBody>
      </p:sp>
      <p:sp>
        <p:nvSpPr>
          <p:cNvPr id="18" name="Text 16"/>
          <p:cNvSpPr/>
          <p:nvPr/>
        </p:nvSpPr>
        <p:spPr>
          <a:xfrm>
            <a:off x="411480" y="3127248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1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Prime</a:t>
            </a:r>
            <a:endParaRPr lang="en-US" sz="610" dirty="0"/>
          </a:p>
        </p:txBody>
      </p:sp>
      <p:sp>
        <p:nvSpPr>
          <p:cNvPr id="19" name="Text 17"/>
          <p:cNvSpPr/>
          <p:nvPr/>
        </p:nvSpPr>
        <p:spPr>
          <a:xfrm>
            <a:off x="1234440" y="3127248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6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no known dest.</a:t>
            </a:r>
            <a:endParaRPr lang="en-US" sz="560" dirty="0"/>
          </a:p>
        </p:txBody>
      </p:sp>
      <p:sp>
        <p:nvSpPr>
          <p:cNvPr id="20" name="Text 18"/>
          <p:cNvSpPr/>
          <p:nvPr/>
        </p:nvSpPr>
        <p:spPr>
          <a:xfrm>
            <a:off x="411480" y="3291840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1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Exchange Traded</a:t>
            </a:r>
            <a:endParaRPr lang="en-US" sz="610" dirty="0"/>
          </a:p>
        </p:txBody>
      </p:sp>
      <p:sp>
        <p:nvSpPr>
          <p:cNvPr id="21" name="Text 19"/>
          <p:cNvSpPr/>
          <p:nvPr/>
        </p:nvSpPr>
        <p:spPr>
          <a:xfrm>
            <a:off x="411480" y="34564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640"/>
              </a:lnSpc>
              <a:buNone/>
            </a:pPr>
            <a:r>
              <a:rPr lang="en-US" sz="54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owner/contact known for Repo, Prime or Exchange-Traded collateral today</a:t>
            </a:r>
            <a:endParaRPr lang="en-US" sz="54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8404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1605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365760" y="448056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4805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/ NAPE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640"/>
              </a:lnSpc>
              <a:buNone/>
            </a:pPr>
            <a:r>
              <a:rPr lang="en-US" sz="54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BNY (BONY) — golden source for CSA eligibility, used by daily operations (per MAG). GCC/Agreement docs team's rules engine covers eligibility rules only — no direct feed to TAM.</a:t>
            </a:r>
            <a:endParaRPr lang="en-US" sz="540" dirty="0"/>
          </a:p>
        </p:txBody>
      </p:sp>
      <p:sp>
        <p:nvSpPr>
          <p:cNvPr id="29" name="Text 27"/>
          <p:cNvSpPr/>
          <p:nvPr/>
        </p:nvSpPr>
        <p:spPr>
          <a:xfrm>
            <a:off x="365760" y="53766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640"/>
              </a:lnSpc>
              <a:buNone/>
            </a:pPr>
            <a:r>
              <a:rPr lang="en-US" sz="54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UBS — XTP position files (Position, Initial Margin Breakdown)</a:t>
            </a:r>
            <a:endParaRPr lang="en-US" sz="540" dirty="0"/>
          </a:p>
        </p:txBody>
      </p:sp>
      <p:sp>
        <p:nvSpPr>
          <p:cNvPr id="30" name="Text 28"/>
          <p:cNvSpPr/>
          <p:nvPr/>
        </p:nvSpPr>
        <p:spPr>
          <a:xfrm>
            <a:off x="365760" y="5669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640"/>
              </a:lnSpc>
              <a:buNone/>
            </a:pPr>
            <a:r>
              <a:rPr lang="en-US" sz="54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 — XTP balances / positions / Collateral Allocation files. Both currently manual, via email/file drop — wanted for her analytics.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365760" y="60716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580"/>
              </a:lnSpc>
              <a:buNone/>
            </a:pPr>
            <a:r>
              <a:rPr lang="en-US" sz="5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XTP → Collateral: Initial Margin Breakdown &amp; Collateral Allocation files are the direct link — exchange-traded margin feeding the collateral picture.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8366760" y="5102352"/>
            <a:ext cx="1691640" cy="1371600"/>
          </a:xfrm>
          <a:prstGeom prst="rect">
            <a:avLst/>
          </a:prstGeom>
          <a:solidFill>
            <a:srgbClr val="FDF3E2"/>
          </a:solidFill>
          <a:ln w="12700">
            <a:solidFill>
              <a:srgbClr val="9C6B1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430768" y="51206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— eligibility &amp; XTP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8430768" y="5294376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45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TAMS/REGDS is where eligibility terms are actually authored — Colline just subscribes/references. No one reliably corrects TAMS/REGDS/Colline once set — real case: Colline shows corps eligible, BNY says not eligible. Ops (TAMS owner) should keep it current.</a:t>
            </a:r>
            <a:endParaRPr lang="en-US" sz="450" dirty="0"/>
          </a:p>
        </p:txBody>
      </p:sp>
      <p:sp>
        <p:nvSpPr>
          <p:cNvPr id="35" name="Text 33"/>
          <p:cNvSpPr/>
          <p:nvPr/>
        </p:nvSpPr>
        <p:spPr>
          <a:xfrm>
            <a:off x="8430768" y="585216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40" b="1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pursue TAM/REGDS for IM collateral if gaps + controls closed with certainty &amp; owner accountability confirmed — else source from BONY.</a:t>
            </a:r>
            <a:endParaRPr lang="en-US" sz="440" dirty="0"/>
          </a:p>
        </p:txBody>
      </p:sp>
      <p:sp>
        <p:nvSpPr>
          <p:cNvPr id="36" name="Text 34"/>
          <p:cNvSpPr/>
          <p:nvPr/>
        </p:nvSpPr>
        <p:spPr>
          <a:xfrm>
            <a:off x="8430768" y="6172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4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XTP deps still open: connectivity/support model, roadmap, secure file drop, calc logic, whether TDVIP can support final reporting.</a:t>
            </a:r>
            <a:endParaRPr lang="en-US" sz="440" dirty="0"/>
          </a:p>
        </p:txBody>
      </p:sp>
      <p:sp>
        <p:nvSpPr>
          <p:cNvPr id="37" name="Text 35"/>
          <p:cNvSpPr/>
          <p:nvPr/>
        </p:nvSpPr>
        <p:spPr>
          <a:xfrm>
            <a:off x="2148840" y="402336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  (outside Databricks)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2148840" y="585216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240280" y="713232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286000" y="7132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2240280" y="1042416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286000" y="104241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2240280" y="1371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53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to Databricks — still runs here for apps not yet moved</a:t>
            </a:r>
            <a:endParaRPr lang="en-US" sz="530" dirty="0"/>
          </a:p>
        </p:txBody>
      </p:sp>
      <p:sp>
        <p:nvSpPr>
          <p:cNvPr id="44" name="Shape 42"/>
          <p:cNvSpPr/>
          <p:nvPr/>
        </p:nvSpPr>
        <p:spPr>
          <a:xfrm>
            <a:off x="2240280" y="1783080"/>
            <a:ext cx="8458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267712" y="1810512"/>
            <a:ext cx="7909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Risk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177540" y="1783080"/>
            <a:ext cx="845820" cy="566928"/>
          </a:xfrm>
          <a:prstGeom prst="rect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04972" y="1810512"/>
            <a:ext cx="7909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240280" y="2514600"/>
            <a:ext cx="1783080" cy="384048"/>
          </a:xfrm>
          <a:prstGeom prst="rect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286000" y="25146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 Generated Data)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984248" y="914400"/>
            <a:ext cx="210312" cy="0"/>
          </a:xfrm>
          <a:prstGeom prst="line">
            <a:avLst/>
          </a:prstGeom>
          <a:noFill/>
          <a:ln w="13970">
            <a:solidFill>
              <a:srgbClr val="2E7D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920240" y="758952"/>
            <a:ext cx="82296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</a:t>
            </a:r>
            <a:endParaRPr lang="en-US" sz="550" dirty="0"/>
          </a:p>
        </p:txBody>
      </p:sp>
      <p:sp>
        <p:nvSpPr>
          <p:cNvPr id="52" name="Text 50"/>
          <p:cNvSpPr/>
          <p:nvPr/>
        </p:nvSpPr>
        <p:spPr>
          <a:xfrm>
            <a:off x="4343400" y="384048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Databricks-TDVIP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4251960" y="585216"/>
            <a:ext cx="5669280" cy="3520440"/>
          </a:xfrm>
          <a:prstGeom prst="rect">
            <a:avLst/>
          </a:prstGeom>
          <a:solidFill>
            <a:srgbClr val="EDEDED"/>
          </a:solidFill>
          <a:ln w="12700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389120" y="64008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- Tenant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806440" y="530352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806440" y="53035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858000" y="987552"/>
            <a:ext cx="0" cy="182880"/>
          </a:xfrm>
          <a:prstGeom prst="line">
            <a:avLst/>
          </a:prstGeom>
          <a:noFill/>
          <a:ln w="13970">
            <a:solidFill>
              <a:srgbClr val="2E7D4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389120" y="1207008"/>
            <a:ext cx="3931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480560" y="1243584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 - Databricks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480560" y="141732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07992" y="141732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Data Processing</a:t>
            </a:r>
            <a:endParaRPr lang="en-US" sz="560" dirty="0"/>
          </a:p>
        </p:txBody>
      </p:sp>
      <p:sp>
        <p:nvSpPr>
          <p:cNvPr id="62" name="Shape 60"/>
          <p:cNvSpPr/>
          <p:nvPr/>
        </p:nvSpPr>
        <p:spPr>
          <a:xfrm>
            <a:off x="4663440" y="1775968"/>
            <a:ext cx="3657600" cy="777240"/>
          </a:xfrm>
          <a:prstGeom prst="rect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480560" y="17373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480560" y="2606040"/>
            <a:ext cx="221101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526280" y="263347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526280" y="2798064"/>
            <a:ext cx="1463040" cy="365760"/>
          </a:xfrm>
          <a:prstGeom prst="rect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544568" y="2816352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(OTC)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(CMOS)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4526280" y="3200400"/>
            <a:ext cx="1463040" cy="365760"/>
          </a:xfrm>
          <a:prstGeom prst="rect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544568" y="321868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</a:t>
            </a:r>
            <a:endParaRPr lang="en-US" sz="560" dirty="0"/>
          </a:p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(TAMS/REGDS)</a:t>
            </a:r>
            <a:endParaRPr lang="en-US" sz="560" dirty="0"/>
          </a:p>
        </p:txBody>
      </p:sp>
      <p:sp>
        <p:nvSpPr>
          <p:cNvPr id="70" name="Shape 68"/>
          <p:cNvSpPr/>
          <p:nvPr/>
        </p:nvSpPr>
        <p:spPr>
          <a:xfrm>
            <a:off x="6080760" y="3246120"/>
            <a:ext cx="365760" cy="292608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943600" y="3611880"/>
            <a:ext cx="82296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53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530" dirty="0"/>
          </a:p>
        </p:txBody>
      </p:sp>
      <p:sp>
        <p:nvSpPr>
          <p:cNvPr id="72" name="Shape 70"/>
          <p:cNvSpPr/>
          <p:nvPr/>
        </p:nvSpPr>
        <p:spPr>
          <a:xfrm>
            <a:off x="6783019" y="2606040"/>
            <a:ext cx="1263701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828739" y="263347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828739" y="2798064"/>
            <a:ext cx="1371600" cy="365760"/>
          </a:xfrm>
          <a:prstGeom prst="rect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847027" y="2816352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(ALFA)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8412480" y="1207008"/>
            <a:ext cx="1371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458200" y="1243584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8458200" y="329184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476488" y="329184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4160520" y="1965960"/>
            <a:ext cx="365760" cy="0"/>
          </a:xfrm>
          <a:prstGeom prst="line">
            <a:avLst/>
          </a:prstGeom>
          <a:noFill/>
          <a:ln w="16510">
            <a:solidFill>
              <a:srgbClr val="1C28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131820" y="2898648"/>
            <a:ext cx="0" cy="1261872"/>
          </a:xfrm>
          <a:prstGeom prst="line">
            <a:avLst/>
          </a:prstGeom>
          <a:noFill/>
          <a:ln w="13970">
            <a:solidFill>
              <a:srgbClr val="0E3D2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131820" y="4160520"/>
            <a:ext cx="1074420" cy="0"/>
          </a:xfrm>
          <a:prstGeom prst="line">
            <a:avLst/>
          </a:prstGeom>
          <a:noFill/>
          <a:ln w="13970">
            <a:solidFill>
              <a:srgbClr val="0E3D2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206240" y="4160520"/>
            <a:ext cx="502920" cy="0"/>
          </a:xfrm>
          <a:prstGeom prst="line">
            <a:avLst/>
          </a:prstGeom>
          <a:noFill/>
          <a:ln w="13970">
            <a:solidFill>
              <a:srgbClr val="0E3D2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0104120" y="384048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 (manual)  ?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0104120" y="585216"/>
            <a:ext cx="1920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0195560" y="621792"/>
            <a:ext cx="17373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Discovery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10195560" y="795528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720"/>
              </a:lnSpc>
              <a:spcAft>
                <a:spcPts val="120"/>
              </a:spcAft>
              <a:buSzPct val="100000"/>
              <a:buChar char="▪"/>
            </a:pPr>
            <a:r>
              <a:rPr lang="en-US" sz="590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Valuations – OTC</a:t>
            </a:r>
            <a:endParaRPr lang="en-US" sz="590" dirty="0"/>
          </a:p>
          <a:p>
            <a:pPr marL="342900" indent="-342900">
              <a:lnSpc>
                <a:spcPts val="720"/>
              </a:lnSpc>
              <a:spcAft>
                <a:spcPts val="120"/>
              </a:spcAft>
              <a:buSzPct val="100000"/>
              <a:buChar char="▪"/>
            </a:pPr>
            <a:r>
              <a:rPr lang="en-US" sz="590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Intra-day Valuations</a:t>
            </a:r>
            <a:endParaRPr lang="en-US" sz="590" dirty="0"/>
          </a:p>
          <a:p>
            <a:pPr marL="342900" indent="-342900">
              <a:lnSpc>
                <a:spcPts val="720"/>
              </a:lnSpc>
              <a:spcAft>
                <a:spcPts val="120"/>
              </a:spcAft>
              <a:buSzPct val="100000"/>
              <a:buChar char="▪"/>
            </a:pPr>
            <a:r>
              <a:rPr lang="en-US" sz="590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Sensitivities</a:t>
            </a:r>
            <a:endParaRPr lang="en-US" sz="590" dirty="0"/>
          </a:p>
          <a:p>
            <a:pPr marL="342900" indent="-342900">
              <a:lnSpc>
                <a:spcPts val="720"/>
              </a:lnSpc>
              <a:spcAft>
                <a:spcPts val="120"/>
              </a:spcAft>
              <a:buSzPct val="100000"/>
              <a:buChar char="▪"/>
            </a:pPr>
            <a:r>
              <a:rPr lang="en-US" sz="590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Valuations report</a:t>
            </a:r>
            <a:endParaRPr lang="en-US" sz="590" dirty="0"/>
          </a:p>
          <a:p>
            <a:pPr marL="342900" indent="-342900">
              <a:lnSpc>
                <a:spcPts val="720"/>
              </a:lnSpc>
              <a:spcAft>
                <a:spcPts val="120"/>
              </a:spcAft>
              <a:buSzPct val="100000"/>
              <a:buChar char="▪"/>
            </a:pPr>
            <a:r>
              <a:rPr lang="en-US" sz="590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(OTC) – Reports</a:t>
            </a:r>
            <a:endParaRPr lang="en-US" sz="590" dirty="0"/>
          </a:p>
          <a:p>
            <a:pPr marL="342900" indent="-342900">
              <a:lnSpc>
                <a:spcPts val="720"/>
              </a:lnSpc>
              <a:spcAft>
                <a:spcPts val="120"/>
              </a:spcAft>
              <a:buSzPct val="100000"/>
              <a:buChar char="▪"/>
            </a:pPr>
            <a:r>
              <a:rPr lang="en-US" sz="590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Reports</a:t>
            </a:r>
            <a:endParaRPr lang="en-US" sz="590" dirty="0"/>
          </a:p>
          <a:p>
            <a:pPr marL="342900" indent="-342900">
              <a:lnSpc>
                <a:spcPts val="720"/>
              </a:lnSpc>
              <a:spcAft>
                <a:spcPts val="120"/>
              </a:spcAft>
              <a:buSzPct val="100000"/>
              <a:buChar char="▪"/>
            </a:pPr>
            <a:r>
              <a:rPr lang="en-US" sz="590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– Reports</a:t>
            </a:r>
            <a:endParaRPr lang="en-US" sz="590" dirty="0"/>
          </a:p>
          <a:p>
            <a:pPr marL="342900" indent="-342900">
              <a:lnSpc>
                <a:spcPts val="720"/>
              </a:lnSpc>
              <a:spcAft>
                <a:spcPts val="120"/>
              </a:spcAft>
              <a:buSzPct val="100000"/>
              <a:buChar char="▪"/>
            </a:pPr>
            <a:r>
              <a:rPr lang="en-US" sz="590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Risk Products</a:t>
            </a:r>
            <a:endParaRPr lang="en-US" sz="590" dirty="0"/>
          </a:p>
        </p:txBody>
      </p:sp>
      <p:sp>
        <p:nvSpPr>
          <p:cNvPr id="89" name="Text 87"/>
          <p:cNvSpPr/>
          <p:nvPr/>
        </p:nvSpPr>
        <p:spPr>
          <a:xfrm>
            <a:off x="1019556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760"/>
              </a:lnSpc>
              <a:buNone/>
            </a:pPr>
            <a:r>
              <a:rPr lang="en-US" sz="630" b="1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Role: Producer</a:t>
            </a:r>
            <a:endParaRPr lang="en-US" sz="630" dirty="0"/>
          </a:p>
          <a:p>
            <a:pPr marL="0" indent="0" algn="l">
              <a:lnSpc>
                <a:spcPts val="760"/>
              </a:lnSpc>
              <a:buNone/>
            </a:pPr>
            <a:r>
              <a:rPr lang="en-US" sz="630" b="1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aligned Data</a:t>
            </a:r>
            <a:endParaRPr lang="en-US" sz="630" dirty="0"/>
          </a:p>
        </p:txBody>
      </p:sp>
      <p:sp>
        <p:nvSpPr>
          <p:cNvPr id="90" name="Shape 88"/>
          <p:cNvSpPr/>
          <p:nvPr/>
        </p:nvSpPr>
        <p:spPr>
          <a:xfrm>
            <a:off x="4114800" y="3977640"/>
            <a:ext cx="365760" cy="365760"/>
          </a:xfrm>
          <a:prstGeom prst="ellipse">
            <a:avLst/>
          </a:prstGeom>
          <a:solidFill>
            <a:srgbClr val="1C2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611880" y="4361688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5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(manual, human)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731520" y="4736592"/>
            <a:ext cx="3520440" cy="0"/>
          </a:xfrm>
          <a:prstGeom prst="line">
            <a:avLst/>
          </a:prstGeom>
          <a:noFill/>
          <a:ln w="13970">
            <a:solidFill>
              <a:srgbClr val="2E5FA3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777240" y="4773168"/>
            <a:ext cx="146304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8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580" dirty="0"/>
          </a:p>
        </p:txBody>
      </p:sp>
      <p:sp>
        <p:nvSpPr>
          <p:cNvPr id="94" name="Shape 92"/>
          <p:cNvSpPr/>
          <p:nvPr/>
        </p:nvSpPr>
        <p:spPr>
          <a:xfrm>
            <a:off x="4709160" y="39319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754880" y="3959352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620" dirty="0"/>
          </a:p>
          <a:p>
            <a:pPr marL="0" indent="0" algn="l">
              <a:lnSpc>
                <a:spcPts val="750"/>
              </a:lnSpc>
              <a:buNone/>
            </a:pPr>
            <a:r>
              <a:rPr lang="en-US" sz="6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 /</a:t>
            </a:r>
            <a:endParaRPr lang="en-US" sz="620" dirty="0"/>
          </a:p>
          <a:p>
            <a:pPr marL="0" indent="0" algn="l">
              <a:lnSpc>
                <a:spcPts val="750"/>
              </a:lnSpc>
              <a:buNone/>
            </a:pPr>
            <a:r>
              <a:rPr lang="en-US" sz="6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trades</a:t>
            </a:r>
            <a:endParaRPr lang="en-US" sz="620" dirty="0"/>
          </a:p>
        </p:txBody>
      </p:sp>
      <p:sp>
        <p:nvSpPr>
          <p:cNvPr id="96" name="Shape 94"/>
          <p:cNvSpPr/>
          <p:nvPr/>
        </p:nvSpPr>
        <p:spPr>
          <a:xfrm>
            <a:off x="6217920" y="39319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6263640" y="3959352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620" dirty="0"/>
          </a:p>
          <a:p>
            <a:pPr marL="0" indent="0" algn="l">
              <a:lnSpc>
                <a:spcPts val="750"/>
              </a:lnSpc>
              <a:buNone/>
            </a:pPr>
            <a:r>
              <a:rPr lang="en-US" sz="62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</a:t>
            </a:r>
            <a:endParaRPr lang="en-US" sz="620" dirty="0"/>
          </a:p>
        </p:txBody>
      </p:sp>
      <p:sp>
        <p:nvSpPr>
          <p:cNvPr id="98" name="Text 96"/>
          <p:cNvSpPr/>
          <p:nvPr/>
        </p:nvSpPr>
        <p:spPr>
          <a:xfrm>
            <a:off x="3291840" y="51206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 questions   ❓ = no catalog / framework exists today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7680960" y="4480560"/>
            <a:ext cx="1600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7726680" y="45079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740"/>
              </a:lnSpc>
              <a:buNone/>
            </a:pPr>
            <a:r>
              <a:rPr lang="en-US" sz="6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</a:t>
            </a:r>
            <a:endParaRPr lang="en-US" sz="650" dirty="0"/>
          </a:p>
          <a:p>
            <a:pPr marL="0" indent="0" algn="l">
              <a:lnSpc>
                <a:spcPts val="740"/>
              </a:lnSpc>
              <a:buNone/>
            </a:pPr>
            <a:r>
              <a:rPr lang="en-US" sz="6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?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5394960" y="4663440"/>
            <a:ext cx="2286000" cy="91440"/>
          </a:xfrm>
          <a:prstGeom prst="line">
            <a:avLst/>
          </a:prstGeom>
          <a:noFill/>
          <a:ln w="13970">
            <a:solidFill>
              <a:srgbClr val="2E5FA3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394960" y="4663440"/>
            <a:ext cx="0" cy="1143000"/>
          </a:xfrm>
          <a:prstGeom prst="line">
            <a:avLst/>
          </a:prstGeom>
          <a:noFill/>
          <a:ln w="1397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4023360" y="5852160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Oasis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4434840" y="598932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4480560" y="6016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6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600" dirty="0"/>
          </a:p>
          <a:p>
            <a:pPr marL="0" indent="0" algn="l">
              <a:lnSpc>
                <a:spcPts val="720"/>
              </a:lnSpc>
              <a:buNone/>
            </a:pPr>
            <a:r>
              <a:rPr lang="en-US" sz="6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OASIS</a:t>
            </a:r>
            <a:endParaRPr lang="en-US" sz="600" dirty="0"/>
          </a:p>
          <a:p>
            <a:pPr marL="0" indent="0" algn="l">
              <a:lnSpc>
                <a:spcPts val="720"/>
              </a:lnSpc>
              <a:buNone/>
            </a:pPr>
            <a:r>
              <a:rPr lang="en-US" sz="6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LAMP</a:t>
            </a:r>
            <a:endParaRPr lang="en-US" sz="600" dirty="0"/>
          </a:p>
        </p:txBody>
      </p:sp>
      <p:sp>
        <p:nvSpPr>
          <p:cNvPr id="106" name="Text 104"/>
          <p:cNvSpPr/>
          <p:nvPr/>
        </p:nvSpPr>
        <p:spPr>
          <a:xfrm>
            <a:off x="5806440" y="6035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TBSM</a:t>
            </a:r>
            <a:endParaRPr lang="en-US" sz="7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7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5806440" y="5943600"/>
            <a:ext cx="2103120" cy="548640"/>
          </a:xfrm>
          <a:prstGeom prst="rect">
            <a:avLst/>
          </a:prstGeom>
          <a:solidFill>
            <a:srgbClr val="FDF3E2"/>
          </a:solidFill>
          <a:ln w="12700">
            <a:solidFill>
              <a:srgbClr val="9C6B1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5879592" y="59710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60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Query-based dashboards (ad hoc SQL) — not model-based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7452360" y="5943600"/>
            <a:ext cx="0" cy="0"/>
          </a:xfrm>
          <a:prstGeom prst="line">
            <a:avLst/>
          </a:prstGeom>
          <a:noFill/>
          <a:ln w="16510">
            <a:solidFill>
              <a:srgbClr val="9C6B16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0104120" y="4846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760"/>
              </a:lnSpc>
              <a:buNone/>
            </a:pPr>
            <a:r>
              <a:rPr lang="en-US" sz="63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canonical data products (Collateral / Valuations / Positions) — deferred to a follow-up slide once this flow establishes the need.</a:t>
            </a:r>
            <a:endParaRPr lang="en-US" sz="630" dirty="0"/>
          </a:p>
        </p:txBody>
      </p:sp>
      <p:sp>
        <p:nvSpPr>
          <p:cNvPr id="111" name="Shape 109"/>
          <p:cNvSpPr/>
          <p:nvPr/>
        </p:nvSpPr>
        <p:spPr>
          <a:xfrm>
            <a:off x="228600" y="6510528"/>
            <a:ext cx="320040" cy="128016"/>
          </a:xfrm>
          <a:prstGeom prst="rect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594360" y="6492240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 / Market risk flow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228600" y="6675120"/>
            <a:ext cx="320040" cy="128016"/>
          </a:xfrm>
          <a:prstGeom prst="rect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594360" y="6656832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/ liquidity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2834640" y="6556248"/>
            <a:ext cx="274320" cy="0"/>
          </a:xfrm>
          <a:prstGeom prst="line">
            <a:avLst/>
          </a:prstGeom>
          <a:noFill/>
          <a:ln w="1397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3154680" y="6492240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discovery / analytics flow</a:t>
            </a:r>
            <a:endParaRPr lang="en-US" sz="600" dirty="0"/>
          </a:p>
        </p:txBody>
      </p:sp>
      <p:sp>
        <p:nvSpPr>
          <p:cNvPr id="117" name="Text 115"/>
          <p:cNvSpPr/>
          <p:nvPr/>
        </p:nvSpPr>
        <p:spPr>
          <a:xfrm>
            <a:off x="5760720" y="649224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5989320" y="6492240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 gap — no catalog exists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8503920" y="649224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</a:t>
            </a:r>
            <a:endParaRPr lang="en-US" sz="650" dirty="0"/>
          </a:p>
        </p:txBody>
      </p:sp>
      <p:sp>
        <p:nvSpPr>
          <p:cNvPr id="120" name="Text 118"/>
          <p:cNvSpPr/>
          <p:nvPr/>
        </p:nvSpPr>
        <p:spPr>
          <a:xfrm>
            <a:off x="8869680" y="6492240"/>
            <a:ext cx="17373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valuation request/response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10607040" y="6510528"/>
            <a:ext cx="320040" cy="128016"/>
          </a:xfrm>
          <a:prstGeom prst="rect">
            <a:avLst/>
          </a:prstGeom>
          <a:solidFill>
            <a:srgbClr val="EDEDED"/>
          </a:solidFill>
          <a:ln w="12700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10972800" y="649224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Tenant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513</Words>
  <Application>Microsoft Macintosh PowerPoint</Application>
  <PresentationFormat>Widescreen</PresentationFormat>
  <Paragraphs>100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Reena Cheema</cp:lastModifiedBy>
  <cp:revision>3</cp:revision>
  <dcterms:created xsi:type="dcterms:W3CDTF">2026-08-28T03:32:35Z</dcterms:created>
  <dcterms:modified xsi:type="dcterms:W3CDTF">2026-08-31T01:58:04Z</dcterms:modified>
</cp:coreProperties>
</file>