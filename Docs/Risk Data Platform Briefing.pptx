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32"/>
    <p:restoredTop sz="94610"/>
  </p:normalViewPr>
  <p:slideViewPr>
    <p:cSldViewPr snapToGrid="0" snapToObjects="1">
      <p:cViewPr>
        <p:scale>
          <a:sx n="120" d="100"/>
          <a:sy n="120" d="100"/>
        </p:scale>
        <p:origin x="18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990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landscape, one slide. Top: the four product groups and what they produce (Liquidity = ALFA only; Finance = TRW only; SRLM and Infinity sit under Market Risk). Below: the layered flow, colour-coded to separate enterprise-managed central layers (Veritas, InfoP, Dremio, CDS, streaming — on Cloudera) from Risk-owned tech (calc engines, polyglot persistence). Calc is vendor / Monte-Carlo / in-house; distribution is service APIs + CSV. Close on the neutral message: it works, but no shared meaning travels.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 tooling + constraints on one slide. Left: the TDVIP/Databricks operating model. Right: the other tools (Dremio enterprise-managed; Strategy and Power BI approved BI), plus a colour-coded ownership line. Constraints, sharpened: schema names tied to malcode; control inside a schema but nothing above it (no create/alter schema, tags or properties); compute set by policy and serverless off (which gates AI and the semantic layer); slow/IP-limited workspace provisioning (shared not dedicated); and the engagement point — the platform should facilitate, not gate. Detailed ownership matrix is Appendix A2.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conformance model, domain-first. Inside the Risk Domain boundary, data is conformed in an upward progression: app data → product-group conformance → Risk conformed entities → Risk data products (exposure, PFE, limits) → business analytics (Strategy). The single upward arrow fixes the earlier odd arrows. Right rail: then align to the enterprise CDM (domain-first, then enterprise); populate-forward/consume-back so conformance isn't rebuilt; and serverless as the unlock. PoC validates the model (no application named).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switched to collateral (Nitesh: PFE comes from one engine today, SCREAM — collateral is genuinely fragmented). Today: agreements (CSA/GMRA/GMSLA) parsed into TAMS; CMOS orchestrates margin — bilateral OTC via Colline, prime/CCP via Softek; SFT collateral outside CMOS today (plans to bring in) plus desk-managed collateral elsewhere; movements booked in Calypso/Loan IQ/triparty; reference fields (purpose codes, rehypo flags) drop on the message-bus leg so liquidity can see movements it cannot classify. Consumers — PFE (XVALA collateral offsets), liquidity (ALFA), optimization — each rebuild the picture. Target: one governed product; the semantic rule highlights CSA-level eligibility/haircuts and no double-counting across agreements. Ties directly to the collateral-optimization savings on the Decisions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Reframed to the enterprise opportunity in plain language. Both Veritas (real-time) and CDM (batch) are ENTERPRISE paths for the same data; the Risk Data Model is a separate Risk-domain concern (Slide 3). Today the two paths can disagree and each app reconciles them. The opportunity: one governed model (agreed meaning + lineage + data contract), fed by the live feed as input, served two ways (live view + official end-of-day snapshot) so every app gets the same answer. Real-time and batch won't be identical every instant, but they share meaning and reconcile at end-of-day. Governing the live feed is the precondition. Avoid implying Veritas becomes the source of truth — the governed model owns the meaning.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Consolidated decisions, mapped to what is actually happening on the ground — no fluff. A slim 'where we are' line carries the roadmap (landing under way; conformance and CDM alignment follow). TECHNOLOGY decisions (the platform constraints, as asks): 1 self-service/ownership in guardrails; 2 enable serverless; 3 converge on one catalog (UC vs Dremio). DATA decisions (the two real frictions): 4 CDM and upstream data keep landing in InfoP/Cloudera so Risk must copy or query via Dremio (not UC-integrated) — move it onto TDVIP; 5 Veritas (real-time, ungoverned) vs CDM (EOD, governed) are two models — agree one governed model serving both. Why-now promoted to a prominent band per Nitesh, adding Helen's collateral-optimization savings (ties to the collateral worked example). Decision 2 now names Genie + agentic AI as the payoff of serverless. Framed as the decisions in front of the new leaders; Eleanor runs the negotiation.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appendix: the enterprise data-domain taxonomy the CDM models. Risk-generated metrics sit in Derived Data &amp; Metrics (highlighted); the other domains are shared enterprise data Risk consumes. Useful for the new CDO to place Risk within the bank-wide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Slide 2's constraints, colour-coded. Amber = platform-owned, green = Risk-owned. The pattern is clear: everything at and above the schema is platform-owned; Risk's control starts with objects inside a schema. The note is the constructive unlock — granting CREATE SCHEMA / ownership within guardrails moves that boundary up, enabling domain self-service without a product change.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D29"/>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023360" cy="4023360"/>
          </a:xfrm>
          <a:prstGeom prst="ellipse">
            <a:avLst/>
          </a:prstGeom>
          <a:solidFill>
            <a:srgbClr val="184A33"/>
          </a:solidFill>
          <a:ln/>
        </p:spPr>
        <p:txBody>
          <a:bodyPr/>
          <a:lstStyle/>
          <a:p>
            <a:endParaRPr lang="en-US"/>
          </a:p>
        </p:txBody>
      </p:sp>
      <p:sp>
        <p:nvSpPr>
          <p:cNvPr id="3" name="Shape 1"/>
          <p:cNvSpPr/>
          <p:nvPr/>
        </p:nvSpPr>
        <p:spPr>
          <a:xfrm>
            <a:off x="10789920" y="4206240"/>
            <a:ext cx="3291840" cy="3291840"/>
          </a:xfrm>
          <a:prstGeom prst="ellipse">
            <a:avLst/>
          </a:prstGeom>
          <a:solidFill>
            <a:srgbClr val="184A33"/>
          </a:solidFill>
          <a:ln/>
        </p:spPr>
        <p:txBody>
          <a:bodyPr/>
          <a:lstStyle/>
          <a:p>
            <a:endParaRPr lang="en-US"/>
          </a:p>
        </p:txBody>
      </p:sp>
      <p:sp>
        <p:nvSpPr>
          <p:cNvPr id="4" name="Shape 2"/>
          <p:cNvSpPr/>
          <p:nvPr/>
        </p:nvSpPr>
        <p:spPr>
          <a:xfrm>
            <a:off x="548640" y="502920"/>
            <a:ext cx="868680" cy="640080"/>
          </a:xfrm>
          <a:prstGeom prst="roundRect">
            <a:avLst>
              <a:gd name="adj" fmla="val 11429"/>
            </a:avLst>
          </a:prstGeom>
          <a:solidFill>
            <a:srgbClr val="FFFFFF"/>
          </a:solidFill>
          <a:ln/>
        </p:spPr>
        <p:txBody>
          <a:bodyPr/>
          <a:lstStyle/>
          <a:p>
            <a:endParaRPr lang="en-US"/>
          </a:p>
        </p:txBody>
      </p:sp>
      <p:sp>
        <p:nvSpPr>
          <p:cNvPr id="5" name="Text 3"/>
          <p:cNvSpPr/>
          <p:nvPr/>
        </p:nvSpPr>
        <p:spPr>
          <a:xfrm>
            <a:off x="548640" y="502920"/>
            <a:ext cx="868680" cy="640080"/>
          </a:xfrm>
          <a:prstGeom prst="rect">
            <a:avLst/>
          </a:prstGeom>
          <a:noFill/>
          <a:ln/>
        </p:spPr>
        <p:txBody>
          <a:bodyPr wrap="square" lIns="0" tIns="0" rIns="0" bIns="0" rtlCol="0" anchor="ctr"/>
          <a:lstStyle/>
          <a:p>
            <a:pPr marL="0" indent="0" algn="ctr">
              <a:buNone/>
            </a:pPr>
            <a:r>
              <a:rPr lang="en-US" sz="2400" b="1" dirty="0">
                <a:solidFill>
                  <a:srgbClr val="0E3D29"/>
                </a:solidFill>
                <a:latin typeface="Calibri" pitchFamily="34" charset="0"/>
                <a:ea typeface="Calibri" pitchFamily="34" charset="-122"/>
                <a:cs typeface="Calibri" pitchFamily="34" charset="-120"/>
              </a:rPr>
              <a:t>TD</a:t>
            </a:r>
            <a:endParaRPr lang="en-US" sz="2400" dirty="0"/>
          </a:p>
        </p:txBody>
      </p:sp>
      <p:sp>
        <p:nvSpPr>
          <p:cNvPr id="6" name="Text 4"/>
          <p:cNvSpPr/>
          <p:nvPr/>
        </p:nvSpPr>
        <p:spPr>
          <a:xfrm>
            <a:off x="548640" y="2468880"/>
            <a:ext cx="9144000" cy="365760"/>
          </a:xfrm>
          <a:prstGeom prst="rect">
            <a:avLst/>
          </a:prstGeom>
          <a:noFill/>
          <a:ln/>
        </p:spPr>
        <p:txBody>
          <a:bodyPr wrap="square" lIns="0" tIns="0" rIns="0" bIns="0" rtlCol="0" anchor="ctr"/>
          <a:lstStyle/>
          <a:p>
            <a:pPr marL="0" indent="0">
              <a:buNone/>
            </a:pPr>
            <a:r>
              <a:rPr lang="en-US" sz="1400" b="1" kern="0" spc="400" dirty="0">
                <a:solidFill>
                  <a:srgbClr val="3E9E68"/>
                </a:solidFill>
                <a:latin typeface="Calibri" pitchFamily="34" charset="0"/>
                <a:ea typeface="Calibri" pitchFamily="34" charset="-122"/>
                <a:cs typeface="Calibri" pitchFamily="34" charset="-120"/>
              </a:rPr>
              <a:t>RISK DATA PLATFORM</a:t>
            </a:r>
            <a:endParaRPr lang="en-US" sz="1400" dirty="0"/>
          </a:p>
        </p:txBody>
      </p:sp>
      <p:sp>
        <p:nvSpPr>
          <p:cNvPr id="7" name="Text 5"/>
          <p:cNvSpPr/>
          <p:nvPr/>
        </p:nvSpPr>
        <p:spPr>
          <a:xfrm>
            <a:off x="548640" y="2834640"/>
            <a:ext cx="10424160" cy="1737360"/>
          </a:xfrm>
          <a:prstGeom prst="rect">
            <a:avLst/>
          </a:prstGeom>
          <a:noFill/>
          <a:ln/>
        </p:spPr>
        <p:txBody>
          <a:bodyPr wrap="square" lIns="0" tIns="0" rIns="0" bIns="0" rtlCol="0" anchor="ctr"/>
          <a:lstStyle/>
          <a:p>
            <a:pPr marL="0" indent="0">
              <a:lnSpc>
                <a:spcPct val="102000"/>
              </a:lnSpc>
              <a:buNone/>
            </a:pPr>
            <a:r>
              <a:rPr lang="en-US" sz="4000" b="1" dirty="0">
                <a:solidFill>
                  <a:srgbClr val="FFFFFF"/>
                </a:solidFill>
                <a:latin typeface="Calibri" pitchFamily="34" charset="0"/>
                <a:ea typeface="Calibri" pitchFamily="34" charset="-122"/>
                <a:cs typeface="Calibri" pitchFamily="34" charset="-120"/>
              </a:rPr>
              <a:t>Technology &amp; Data:</a:t>
            </a:r>
            <a:endParaRPr lang="en-US" sz="4000" dirty="0"/>
          </a:p>
          <a:p>
            <a:pPr marL="0" indent="0">
              <a:lnSpc>
                <a:spcPct val="102000"/>
              </a:lnSpc>
              <a:buNone/>
            </a:pPr>
            <a:r>
              <a:rPr lang="en-US" sz="4000" b="1" dirty="0">
                <a:solidFill>
                  <a:srgbClr val="FFFFFF"/>
                </a:solidFill>
                <a:latin typeface="Calibri" pitchFamily="34" charset="0"/>
                <a:ea typeface="Calibri" pitchFamily="34" charset="-122"/>
                <a:cs typeface="Calibri" pitchFamily="34" charset="-120"/>
              </a:rPr>
              <a:t>Where We Are, Where We're Going</a:t>
            </a:r>
            <a:endParaRPr lang="en-US" sz="4000" dirty="0"/>
          </a:p>
        </p:txBody>
      </p:sp>
      <p:sp>
        <p:nvSpPr>
          <p:cNvPr id="8" name="Text 6"/>
          <p:cNvSpPr/>
          <p:nvPr/>
        </p:nvSpPr>
        <p:spPr>
          <a:xfrm>
            <a:off x="548640" y="4709160"/>
            <a:ext cx="9692640" cy="822960"/>
          </a:xfrm>
          <a:prstGeom prst="rect">
            <a:avLst/>
          </a:prstGeom>
          <a:noFill/>
          <a:ln/>
        </p:spPr>
        <p:txBody>
          <a:bodyPr wrap="square" lIns="0" tIns="0" rIns="0" bIns="0" rtlCol="0" anchor="ctr"/>
          <a:lstStyle/>
          <a:p>
            <a:pPr marL="0" indent="0">
              <a:lnSpc>
                <a:spcPct val="112000"/>
              </a:lnSpc>
              <a:buNone/>
            </a:pPr>
            <a:r>
              <a:rPr lang="en-US" sz="1500" dirty="0">
                <a:solidFill>
                  <a:srgbClr val="C9DBD0"/>
                </a:solidFill>
                <a:latin typeface="Calibri" pitchFamily="34" charset="0"/>
                <a:ea typeface="Calibri" pitchFamily="34" charset="-122"/>
                <a:cs typeface="Calibri" pitchFamily="34" charset="-120"/>
              </a:rPr>
              <a:t>The Risk technology and data landscape — the applications and layers in play today, the constraints we operate within, and the path to a governed analytics environment alongside the enterprise model.</a:t>
            </a:r>
            <a:endParaRPr lang="en-US" sz="1500" dirty="0"/>
          </a:p>
        </p:txBody>
      </p:sp>
      <p:sp>
        <p:nvSpPr>
          <p:cNvPr id="9" name="Text 7"/>
          <p:cNvSpPr/>
          <p:nvPr/>
        </p:nvSpPr>
        <p:spPr>
          <a:xfrm>
            <a:off x="548640" y="6355080"/>
            <a:ext cx="2743200" cy="274320"/>
          </a:xfrm>
          <a:prstGeom prst="rect">
            <a:avLst/>
          </a:prstGeom>
          <a:noFill/>
          <a:ln/>
        </p:spPr>
        <p:txBody>
          <a:bodyPr wrap="square" lIns="0" tIns="0" rIns="0" bIns="0" rtlCol="0" anchor="ctr"/>
          <a:lstStyle/>
          <a:p>
            <a:pPr marL="0" indent="0">
              <a:buNone/>
            </a:pPr>
            <a:r>
              <a:rPr lang="en-US" sz="1000" dirty="0">
                <a:solidFill>
                  <a:srgbClr val="8FB29E"/>
                </a:solidFill>
                <a:latin typeface="Calibri" pitchFamily="34" charset="0"/>
                <a:ea typeface="Calibri" pitchFamily="34" charset="-122"/>
                <a:cs typeface="Calibri" pitchFamily="34" charset="-120"/>
              </a:rPr>
              <a:t>Internal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lIns="0" tIns="0" rIns="0" bIns="0" rtlCol="0" anchor="ctr"/>
          <a:lstStyle/>
          <a:p>
            <a:pPr marL="0" indent="0">
              <a:buNone/>
            </a:pPr>
            <a:r>
              <a:rPr lang="en-US" sz="1100" b="1" kern="0" spc="300" dirty="0">
                <a:solidFill>
                  <a:srgbClr val="1F7A47"/>
                </a:solidFill>
                <a:latin typeface="Calibri" pitchFamily="34" charset="0"/>
                <a:ea typeface="Calibri" pitchFamily="34" charset="-122"/>
                <a:cs typeface="Calibri" pitchFamily="34" charset="-120"/>
              </a:rPr>
              <a:t>WHERE WE ARE  ·  THE LANDSCAPE</a:t>
            </a:r>
            <a:endParaRPr lang="en-US" sz="1100" dirty="0"/>
          </a:p>
        </p:txBody>
      </p:sp>
      <p:sp>
        <p:nvSpPr>
          <p:cNvPr id="3" name="Text 1"/>
          <p:cNvSpPr/>
          <p:nvPr/>
        </p:nvSpPr>
        <p:spPr>
          <a:xfrm>
            <a:off x="548640" y="640080"/>
            <a:ext cx="11094415" cy="548640"/>
          </a:xfrm>
          <a:prstGeom prst="rect">
            <a:avLst/>
          </a:prstGeom>
          <a:noFill/>
          <a:ln/>
        </p:spPr>
        <p:txBody>
          <a:bodyPr wrap="square" lIns="0" tIns="0" rIns="0" bIns="0" rtlCol="0" anchor="ctr"/>
          <a:lstStyle/>
          <a:p>
            <a:pPr marL="0" indent="0">
              <a:buNone/>
            </a:pPr>
            <a:r>
              <a:rPr lang="en-US" sz="2600" b="1" dirty="0">
                <a:solidFill>
                  <a:srgbClr val="0E3D29"/>
                </a:solidFill>
                <a:latin typeface="Calibri" pitchFamily="34" charset="0"/>
                <a:ea typeface="Calibri" pitchFamily="34" charset="-122"/>
                <a:cs typeface="Calibri" pitchFamily="34" charset="-120"/>
              </a:rPr>
              <a:t>Risk Applications &amp; How Data Flows Today</a:t>
            </a:r>
            <a:endParaRPr lang="en-US" sz="2600" dirty="0"/>
          </a:p>
        </p:txBody>
      </p:sp>
      <p:sp>
        <p:nvSpPr>
          <p:cNvPr id="4" name="Text 2"/>
          <p:cNvSpPr/>
          <p:nvPr/>
        </p:nvSpPr>
        <p:spPr>
          <a:xfrm>
            <a:off x="548640" y="1170432"/>
            <a:ext cx="5486400" cy="219456"/>
          </a:xfrm>
          <a:prstGeom prst="rect">
            <a:avLst/>
          </a:prstGeom>
          <a:noFill/>
          <a:ln/>
        </p:spPr>
        <p:txBody>
          <a:bodyPr wrap="square" lIns="0" tIns="0" rIns="0" bIns="0" rtlCol="0" anchor="ctr"/>
          <a:lstStyle/>
          <a:p>
            <a:pPr marL="0" indent="0">
              <a:buNone/>
            </a:pPr>
            <a:r>
              <a:rPr lang="en-US" sz="1000" b="1" kern="0" spc="200" dirty="0">
                <a:solidFill>
                  <a:srgbClr val="1F7A47"/>
                </a:solidFill>
                <a:latin typeface="Calibri" pitchFamily="34" charset="0"/>
                <a:ea typeface="Calibri" pitchFamily="34" charset="-122"/>
                <a:cs typeface="Calibri" pitchFamily="34" charset="-120"/>
              </a:rPr>
              <a:t>RISK PRODUCT GROUPS</a:t>
            </a:r>
            <a:endParaRPr lang="en-US" sz="1000" dirty="0"/>
          </a:p>
        </p:txBody>
      </p:sp>
      <p:sp>
        <p:nvSpPr>
          <p:cNvPr id="5" name="Shape 3"/>
          <p:cNvSpPr/>
          <p:nvPr/>
        </p:nvSpPr>
        <p:spPr>
          <a:xfrm>
            <a:off x="548640" y="1426464"/>
            <a:ext cx="2581580" cy="896112"/>
          </a:xfrm>
          <a:prstGeom prst="roundRect">
            <a:avLst>
              <a:gd name="adj" fmla="val 5102"/>
            </a:avLst>
          </a:prstGeom>
          <a:solidFill>
            <a:srgbClr val="EAF3EC"/>
          </a:solidFill>
          <a:ln w="12700">
            <a:solidFill>
              <a:srgbClr val="3E9E68"/>
            </a:solidFill>
            <a:prstDash val="solid"/>
          </a:ln>
        </p:spPr>
        <p:txBody>
          <a:bodyPr/>
          <a:lstStyle/>
          <a:p>
            <a:endParaRPr lang="en-US"/>
          </a:p>
        </p:txBody>
      </p:sp>
      <p:sp>
        <p:nvSpPr>
          <p:cNvPr id="6" name="Text 4"/>
          <p:cNvSpPr/>
          <p:nvPr/>
        </p:nvSpPr>
        <p:spPr>
          <a:xfrm>
            <a:off x="694944" y="1490472"/>
            <a:ext cx="2307260" cy="237744"/>
          </a:xfrm>
          <a:prstGeom prst="rect">
            <a:avLst/>
          </a:prstGeom>
          <a:noFill/>
          <a:ln/>
        </p:spPr>
        <p:txBody>
          <a:bodyPr wrap="square" lIns="0" tIns="0" rIns="0" bIns="0" rtlCol="0" anchor="ctr"/>
          <a:lstStyle/>
          <a:p>
            <a:pPr marL="0" indent="0">
              <a:buNone/>
            </a:pPr>
            <a:r>
              <a:rPr lang="en-US" sz="1250" b="1" dirty="0">
                <a:solidFill>
                  <a:srgbClr val="0E3D29"/>
                </a:solidFill>
                <a:latin typeface="Calibri" pitchFamily="34" charset="0"/>
                <a:ea typeface="Calibri" pitchFamily="34" charset="-122"/>
                <a:cs typeface="Calibri" pitchFamily="34" charset="-120"/>
              </a:rPr>
              <a:t>Credit Risk</a:t>
            </a:r>
            <a:endParaRPr lang="en-US" sz="1250" dirty="0"/>
          </a:p>
        </p:txBody>
      </p:sp>
      <p:sp>
        <p:nvSpPr>
          <p:cNvPr id="7" name="Text 5"/>
          <p:cNvSpPr/>
          <p:nvPr/>
        </p:nvSpPr>
        <p:spPr>
          <a:xfrm>
            <a:off x="694944" y="1746504"/>
            <a:ext cx="2307260" cy="219456"/>
          </a:xfrm>
          <a:prstGeom prst="rect">
            <a:avLst/>
          </a:prstGeom>
          <a:noFill/>
          <a:ln/>
        </p:spPr>
        <p:txBody>
          <a:bodyPr wrap="square" lIns="0" tIns="0" rIns="0" bIns="0" rtlCol="0" anchor="ctr"/>
          <a:lstStyle/>
          <a:p>
            <a:pPr marL="0" indent="0">
              <a:buNone/>
            </a:pPr>
            <a:r>
              <a:rPr lang="en-US" sz="870" dirty="0">
                <a:solidFill>
                  <a:srgbClr val="262B27"/>
                </a:solidFill>
                <a:latin typeface="Calibri" pitchFamily="34" charset="0"/>
                <a:ea typeface="Calibri" pitchFamily="34" charset="-122"/>
                <a:cs typeface="Calibri" pitchFamily="34" charset="-120"/>
              </a:rPr>
              <a:t>XVALA · CMOS · CRS · REGDS · TCC</a:t>
            </a:r>
            <a:endParaRPr lang="en-US" sz="870" dirty="0"/>
          </a:p>
        </p:txBody>
      </p:sp>
      <p:sp>
        <p:nvSpPr>
          <p:cNvPr id="8" name="Text 6"/>
          <p:cNvSpPr/>
          <p:nvPr/>
        </p:nvSpPr>
        <p:spPr>
          <a:xfrm>
            <a:off x="694944" y="1975104"/>
            <a:ext cx="2307260" cy="292608"/>
          </a:xfrm>
          <a:prstGeom prst="rect">
            <a:avLst/>
          </a:prstGeom>
          <a:noFill/>
          <a:ln/>
        </p:spPr>
        <p:txBody>
          <a:bodyPr wrap="square" lIns="0" tIns="0" rIns="0" bIns="0" rtlCol="0" anchor="ctr"/>
          <a:lstStyle/>
          <a:p>
            <a:pPr marL="0" indent="0">
              <a:buNone/>
            </a:pPr>
            <a:r>
              <a:rPr lang="en-US" sz="830" i="1" dirty="0">
                <a:solidFill>
                  <a:srgbClr val="6B7670"/>
                </a:solidFill>
                <a:latin typeface="Calibri" pitchFamily="34" charset="0"/>
                <a:ea typeface="Calibri" pitchFamily="34" charset="-122"/>
                <a:cs typeface="Calibri" pitchFamily="34" charset="-120"/>
              </a:rPr>
              <a:t>Produces: XVA, collateral, counterparty exposure, limits</a:t>
            </a:r>
            <a:endParaRPr lang="en-US" sz="830" dirty="0"/>
          </a:p>
        </p:txBody>
      </p:sp>
      <p:sp>
        <p:nvSpPr>
          <p:cNvPr id="9" name="Shape 7"/>
          <p:cNvSpPr/>
          <p:nvPr/>
        </p:nvSpPr>
        <p:spPr>
          <a:xfrm>
            <a:off x="3386252" y="1426464"/>
            <a:ext cx="2581580" cy="896112"/>
          </a:xfrm>
          <a:prstGeom prst="roundRect">
            <a:avLst>
              <a:gd name="adj" fmla="val 5102"/>
            </a:avLst>
          </a:prstGeom>
          <a:solidFill>
            <a:srgbClr val="EAF3EC"/>
          </a:solidFill>
          <a:ln w="12700">
            <a:solidFill>
              <a:srgbClr val="3E9E68"/>
            </a:solidFill>
            <a:prstDash val="solid"/>
          </a:ln>
        </p:spPr>
        <p:txBody>
          <a:bodyPr/>
          <a:lstStyle/>
          <a:p>
            <a:endParaRPr lang="en-US"/>
          </a:p>
        </p:txBody>
      </p:sp>
      <p:sp>
        <p:nvSpPr>
          <p:cNvPr id="10" name="Text 8"/>
          <p:cNvSpPr/>
          <p:nvPr/>
        </p:nvSpPr>
        <p:spPr>
          <a:xfrm>
            <a:off x="3532556" y="1490472"/>
            <a:ext cx="2307260" cy="237744"/>
          </a:xfrm>
          <a:prstGeom prst="rect">
            <a:avLst/>
          </a:prstGeom>
          <a:noFill/>
          <a:ln/>
        </p:spPr>
        <p:txBody>
          <a:bodyPr wrap="square" lIns="0" tIns="0" rIns="0" bIns="0" rtlCol="0" anchor="ctr"/>
          <a:lstStyle/>
          <a:p>
            <a:pPr marL="0" indent="0">
              <a:buNone/>
            </a:pPr>
            <a:r>
              <a:rPr lang="en-US" sz="1250" b="1" dirty="0">
                <a:solidFill>
                  <a:srgbClr val="0E3D29"/>
                </a:solidFill>
                <a:latin typeface="Calibri" pitchFamily="34" charset="0"/>
                <a:ea typeface="Calibri" pitchFamily="34" charset="-122"/>
                <a:cs typeface="Calibri" pitchFamily="34" charset="-120"/>
              </a:rPr>
              <a:t>Market Risk</a:t>
            </a:r>
            <a:endParaRPr lang="en-US" sz="1250" dirty="0"/>
          </a:p>
        </p:txBody>
      </p:sp>
      <p:sp>
        <p:nvSpPr>
          <p:cNvPr id="11" name="Text 9"/>
          <p:cNvSpPr/>
          <p:nvPr/>
        </p:nvSpPr>
        <p:spPr>
          <a:xfrm>
            <a:off x="3532556" y="1746504"/>
            <a:ext cx="2307260" cy="219456"/>
          </a:xfrm>
          <a:prstGeom prst="rect">
            <a:avLst/>
          </a:prstGeom>
          <a:noFill/>
          <a:ln/>
        </p:spPr>
        <p:txBody>
          <a:bodyPr wrap="square" lIns="0" tIns="0" rIns="0" bIns="0" rtlCol="0" anchor="ctr"/>
          <a:lstStyle/>
          <a:p>
            <a:pPr marL="0" indent="0">
              <a:buNone/>
            </a:pPr>
            <a:r>
              <a:rPr lang="en-US" sz="870" dirty="0">
                <a:solidFill>
                  <a:srgbClr val="262B27"/>
                </a:solidFill>
                <a:latin typeface="Calibri" pitchFamily="34" charset="0"/>
                <a:ea typeface="Calibri" pitchFamily="34" charset="-122"/>
                <a:cs typeface="Calibri" pitchFamily="34" charset="-120"/>
              </a:rPr>
              <a:t>RCAPS · RCS · RAMS · SRLM · Infinity</a:t>
            </a:r>
            <a:endParaRPr lang="en-US" sz="870" dirty="0"/>
          </a:p>
        </p:txBody>
      </p:sp>
      <p:sp>
        <p:nvSpPr>
          <p:cNvPr id="12" name="Text 10"/>
          <p:cNvSpPr/>
          <p:nvPr/>
        </p:nvSpPr>
        <p:spPr>
          <a:xfrm>
            <a:off x="3532556" y="1975104"/>
            <a:ext cx="2307260" cy="292608"/>
          </a:xfrm>
          <a:prstGeom prst="rect">
            <a:avLst/>
          </a:prstGeom>
          <a:noFill/>
          <a:ln/>
        </p:spPr>
        <p:txBody>
          <a:bodyPr wrap="square" lIns="0" tIns="0" rIns="0" bIns="0" rtlCol="0" anchor="ctr"/>
          <a:lstStyle/>
          <a:p>
            <a:pPr marL="0" indent="0">
              <a:buNone/>
            </a:pPr>
            <a:r>
              <a:rPr lang="en-US" sz="830" i="1" dirty="0">
                <a:solidFill>
                  <a:srgbClr val="6B7670"/>
                </a:solidFill>
                <a:latin typeface="Calibri" pitchFamily="34" charset="0"/>
                <a:ea typeface="Calibri" pitchFamily="34" charset="-122"/>
                <a:cs typeface="Calibri" pitchFamily="34" charset="-120"/>
              </a:rPr>
              <a:t>Produces: Valuations, VaR, sensitivities</a:t>
            </a:r>
            <a:endParaRPr lang="en-US" sz="830" dirty="0"/>
          </a:p>
        </p:txBody>
      </p:sp>
      <p:sp>
        <p:nvSpPr>
          <p:cNvPr id="13" name="Shape 11"/>
          <p:cNvSpPr/>
          <p:nvPr/>
        </p:nvSpPr>
        <p:spPr>
          <a:xfrm>
            <a:off x="6223864" y="1426464"/>
            <a:ext cx="2581580" cy="896112"/>
          </a:xfrm>
          <a:prstGeom prst="roundRect">
            <a:avLst>
              <a:gd name="adj" fmla="val 5102"/>
            </a:avLst>
          </a:prstGeom>
          <a:solidFill>
            <a:srgbClr val="EAF3EC"/>
          </a:solidFill>
          <a:ln w="12700">
            <a:solidFill>
              <a:srgbClr val="3E9E68"/>
            </a:solidFill>
            <a:prstDash val="solid"/>
          </a:ln>
        </p:spPr>
        <p:txBody>
          <a:bodyPr/>
          <a:lstStyle/>
          <a:p>
            <a:endParaRPr lang="en-US"/>
          </a:p>
        </p:txBody>
      </p:sp>
      <p:sp>
        <p:nvSpPr>
          <p:cNvPr id="14" name="Text 12"/>
          <p:cNvSpPr/>
          <p:nvPr/>
        </p:nvSpPr>
        <p:spPr>
          <a:xfrm>
            <a:off x="6370168" y="1490472"/>
            <a:ext cx="2307260" cy="237744"/>
          </a:xfrm>
          <a:prstGeom prst="rect">
            <a:avLst/>
          </a:prstGeom>
          <a:noFill/>
          <a:ln/>
        </p:spPr>
        <p:txBody>
          <a:bodyPr wrap="square" lIns="0" tIns="0" rIns="0" bIns="0" rtlCol="0" anchor="ctr"/>
          <a:lstStyle/>
          <a:p>
            <a:pPr marL="0" indent="0">
              <a:buNone/>
            </a:pPr>
            <a:r>
              <a:rPr lang="en-US" sz="1250" b="1" dirty="0">
                <a:solidFill>
                  <a:srgbClr val="0E3D29"/>
                </a:solidFill>
                <a:latin typeface="Calibri" pitchFamily="34" charset="0"/>
                <a:ea typeface="Calibri" pitchFamily="34" charset="-122"/>
                <a:cs typeface="Calibri" pitchFamily="34" charset="-120"/>
              </a:rPr>
              <a:t>Liquidity</a:t>
            </a:r>
            <a:endParaRPr lang="en-US" sz="1250" dirty="0"/>
          </a:p>
        </p:txBody>
      </p:sp>
      <p:sp>
        <p:nvSpPr>
          <p:cNvPr id="15" name="Text 13"/>
          <p:cNvSpPr/>
          <p:nvPr/>
        </p:nvSpPr>
        <p:spPr>
          <a:xfrm>
            <a:off x="6370168" y="1746504"/>
            <a:ext cx="2307260" cy="219456"/>
          </a:xfrm>
          <a:prstGeom prst="rect">
            <a:avLst/>
          </a:prstGeom>
          <a:noFill/>
          <a:ln/>
        </p:spPr>
        <p:txBody>
          <a:bodyPr wrap="square" lIns="0" tIns="0" rIns="0" bIns="0" rtlCol="0" anchor="ctr"/>
          <a:lstStyle/>
          <a:p>
            <a:pPr marL="0" indent="0">
              <a:buNone/>
            </a:pPr>
            <a:r>
              <a:rPr lang="en-US" sz="870" dirty="0">
                <a:solidFill>
                  <a:srgbClr val="262B27"/>
                </a:solidFill>
                <a:latin typeface="Calibri" pitchFamily="34" charset="0"/>
                <a:ea typeface="Calibri" pitchFamily="34" charset="-122"/>
                <a:cs typeface="Calibri" pitchFamily="34" charset="-120"/>
              </a:rPr>
              <a:t>ALFA</a:t>
            </a:r>
            <a:endParaRPr lang="en-US" sz="870" dirty="0"/>
          </a:p>
        </p:txBody>
      </p:sp>
      <p:sp>
        <p:nvSpPr>
          <p:cNvPr id="16" name="Text 14"/>
          <p:cNvSpPr/>
          <p:nvPr/>
        </p:nvSpPr>
        <p:spPr>
          <a:xfrm>
            <a:off x="6370168" y="1975104"/>
            <a:ext cx="2307260" cy="292608"/>
          </a:xfrm>
          <a:prstGeom prst="rect">
            <a:avLst/>
          </a:prstGeom>
          <a:noFill/>
          <a:ln/>
        </p:spPr>
        <p:txBody>
          <a:bodyPr wrap="square" lIns="0" tIns="0" rIns="0" bIns="0" rtlCol="0" anchor="ctr"/>
          <a:lstStyle/>
          <a:p>
            <a:pPr marL="0" indent="0">
              <a:buNone/>
            </a:pPr>
            <a:r>
              <a:rPr lang="en-US" sz="830" i="1" dirty="0">
                <a:solidFill>
                  <a:srgbClr val="6B7670"/>
                </a:solidFill>
                <a:latin typeface="Calibri" pitchFamily="34" charset="0"/>
                <a:ea typeface="Calibri" pitchFamily="34" charset="-122"/>
                <a:cs typeface="Calibri" pitchFamily="34" charset="-120"/>
              </a:rPr>
              <a:t>Produces: Liquidity &amp; funding metrics</a:t>
            </a:r>
            <a:endParaRPr lang="en-US" sz="830" dirty="0"/>
          </a:p>
        </p:txBody>
      </p:sp>
      <p:sp>
        <p:nvSpPr>
          <p:cNvPr id="17" name="Shape 15"/>
          <p:cNvSpPr/>
          <p:nvPr/>
        </p:nvSpPr>
        <p:spPr>
          <a:xfrm>
            <a:off x="9061475" y="1426464"/>
            <a:ext cx="2581580" cy="896112"/>
          </a:xfrm>
          <a:prstGeom prst="roundRect">
            <a:avLst>
              <a:gd name="adj" fmla="val 5102"/>
            </a:avLst>
          </a:prstGeom>
          <a:solidFill>
            <a:srgbClr val="EAF3EC"/>
          </a:solidFill>
          <a:ln w="12700">
            <a:solidFill>
              <a:srgbClr val="3E9E68"/>
            </a:solidFill>
            <a:prstDash val="solid"/>
          </a:ln>
        </p:spPr>
        <p:txBody>
          <a:bodyPr/>
          <a:lstStyle/>
          <a:p>
            <a:endParaRPr lang="en-US"/>
          </a:p>
        </p:txBody>
      </p:sp>
      <p:sp>
        <p:nvSpPr>
          <p:cNvPr id="18" name="Text 16"/>
          <p:cNvSpPr/>
          <p:nvPr/>
        </p:nvSpPr>
        <p:spPr>
          <a:xfrm>
            <a:off x="9207779" y="1490472"/>
            <a:ext cx="2307260" cy="237744"/>
          </a:xfrm>
          <a:prstGeom prst="rect">
            <a:avLst/>
          </a:prstGeom>
          <a:noFill/>
          <a:ln/>
        </p:spPr>
        <p:txBody>
          <a:bodyPr wrap="square" lIns="0" tIns="0" rIns="0" bIns="0" rtlCol="0" anchor="ctr"/>
          <a:lstStyle/>
          <a:p>
            <a:pPr marL="0" indent="0">
              <a:buNone/>
            </a:pPr>
            <a:r>
              <a:rPr lang="en-US" sz="1250" b="1" dirty="0">
                <a:solidFill>
                  <a:srgbClr val="0E3D29"/>
                </a:solidFill>
                <a:latin typeface="Calibri" pitchFamily="34" charset="0"/>
                <a:ea typeface="Calibri" pitchFamily="34" charset="-122"/>
                <a:cs typeface="Calibri" pitchFamily="34" charset="-120"/>
              </a:rPr>
              <a:t>Finance</a:t>
            </a:r>
            <a:endParaRPr lang="en-US" sz="1250" dirty="0"/>
          </a:p>
        </p:txBody>
      </p:sp>
      <p:sp>
        <p:nvSpPr>
          <p:cNvPr id="19" name="Text 17"/>
          <p:cNvSpPr/>
          <p:nvPr/>
        </p:nvSpPr>
        <p:spPr>
          <a:xfrm>
            <a:off x="9207779" y="1746504"/>
            <a:ext cx="2307260" cy="219456"/>
          </a:xfrm>
          <a:prstGeom prst="rect">
            <a:avLst/>
          </a:prstGeom>
          <a:noFill/>
          <a:ln/>
        </p:spPr>
        <p:txBody>
          <a:bodyPr wrap="square" lIns="0" tIns="0" rIns="0" bIns="0" rtlCol="0" anchor="ctr"/>
          <a:lstStyle/>
          <a:p>
            <a:pPr marL="0" indent="0">
              <a:buNone/>
            </a:pPr>
            <a:r>
              <a:rPr lang="en-US" sz="870" dirty="0">
                <a:solidFill>
                  <a:srgbClr val="262B27"/>
                </a:solidFill>
                <a:latin typeface="Calibri" pitchFamily="34" charset="0"/>
                <a:ea typeface="Calibri" pitchFamily="34" charset="-122"/>
                <a:cs typeface="Calibri" pitchFamily="34" charset="-120"/>
              </a:rPr>
              <a:t>TRW</a:t>
            </a:r>
            <a:endParaRPr lang="en-US" sz="870" dirty="0"/>
          </a:p>
        </p:txBody>
      </p:sp>
      <p:sp>
        <p:nvSpPr>
          <p:cNvPr id="20" name="Text 18"/>
          <p:cNvSpPr/>
          <p:nvPr/>
        </p:nvSpPr>
        <p:spPr>
          <a:xfrm>
            <a:off x="9207779" y="1975104"/>
            <a:ext cx="2307260" cy="292608"/>
          </a:xfrm>
          <a:prstGeom prst="rect">
            <a:avLst/>
          </a:prstGeom>
          <a:noFill/>
          <a:ln/>
        </p:spPr>
        <p:txBody>
          <a:bodyPr wrap="square" lIns="0" tIns="0" rIns="0" bIns="0" rtlCol="0" anchor="ctr"/>
          <a:lstStyle/>
          <a:p>
            <a:pPr marL="0" indent="0">
              <a:buNone/>
            </a:pPr>
            <a:r>
              <a:rPr lang="en-US" sz="830" i="1" dirty="0">
                <a:solidFill>
                  <a:srgbClr val="6B7670"/>
                </a:solidFill>
                <a:latin typeface="Calibri" pitchFamily="34" charset="0"/>
                <a:ea typeface="Calibri" pitchFamily="34" charset="-122"/>
                <a:cs typeface="Calibri" pitchFamily="34" charset="-120"/>
              </a:rPr>
              <a:t>Produces: P&amp;L consolidation, attribution</a:t>
            </a:r>
            <a:endParaRPr lang="en-US" sz="830" dirty="0"/>
          </a:p>
        </p:txBody>
      </p:sp>
      <p:sp>
        <p:nvSpPr>
          <p:cNvPr id="21" name="Text 19"/>
          <p:cNvSpPr/>
          <p:nvPr/>
        </p:nvSpPr>
        <p:spPr>
          <a:xfrm>
            <a:off x="548640" y="2468880"/>
            <a:ext cx="8686800" cy="274320"/>
          </a:xfrm>
          <a:prstGeom prst="rect">
            <a:avLst/>
          </a:prstGeom>
          <a:noFill/>
          <a:ln/>
        </p:spPr>
        <p:txBody>
          <a:bodyPr wrap="square" lIns="0" tIns="0" rIns="0" bIns="0" rtlCol="0" anchor="ctr"/>
          <a:lstStyle/>
          <a:p>
            <a:pPr marL="0" indent="0">
              <a:buNone/>
            </a:pPr>
            <a:r>
              <a:rPr lang="en-US" sz="1250" b="1" dirty="0">
                <a:solidFill>
                  <a:srgbClr val="0E3D29"/>
                </a:solidFill>
                <a:latin typeface="Calibri" pitchFamily="34" charset="0"/>
                <a:ea typeface="Calibri" pitchFamily="34" charset="-122"/>
                <a:cs typeface="Calibri" pitchFamily="34" charset="-120"/>
              </a:rPr>
              <a:t>How data flows today — from sources, through enterprise-managed layers, to Risk applications and consumers</a:t>
            </a:r>
            <a:endParaRPr lang="en-US" sz="1250" dirty="0"/>
          </a:p>
        </p:txBody>
      </p:sp>
      <p:sp>
        <p:nvSpPr>
          <p:cNvPr id="22" name="Shape 20"/>
          <p:cNvSpPr/>
          <p:nvPr/>
        </p:nvSpPr>
        <p:spPr>
          <a:xfrm>
            <a:off x="8991295" y="2487168"/>
            <a:ext cx="1280160" cy="237744"/>
          </a:xfrm>
          <a:prstGeom prst="roundRect">
            <a:avLst>
              <a:gd name="adj" fmla="val 50000"/>
            </a:avLst>
          </a:prstGeom>
          <a:solidFill>
            <a:srgbClr val="F6EFE0"/>
          </a:solidFill>
          <a:ln/>
        </p:spPr>
        <p:txBody>
          <a:bodyPr/>
          <a:lstStyle/>
          <a:p>
            <a:endParaRPr lang="en-US"/>
          </a:p>
        </p:txBody>
      </p:sp>
      <p:sp>
        <p:nvSpPr>
          <p:cNvPr id="23" name="Text 21"/>
          <p:cNvSpPr/>
          <p:nvPr/>
        </p:nvSpPr>
        <p:spPr>
          <a:xfrm>
            <a:off x="8991295" y="2487168"/>
            <a:ext cx="1280160" cy="237744"/>
          </a:xfrm>
          <a:prstGeom prst="rect">
            <a:avLst/>
          </a:prstGeom>
          <a:noFill/>
          <a:ln/>
        </p:spPr>
        <p:txBody>
          <a:bodyPr wrap="square" lIns="0" tIns="0" rIns="0" bIns="0" rtlCol="0" anchor="ctr"/>
          <a:lstStyle/>
          <a:p>
            <a:pPr marL="0" indent="0" algn="ctr">
              <a:buNone/>
            </a:pPr>
            <a:r>
              <a:rPr lang="en-US" sz="800" b="1" kern="0" spc="100" dirty="0">
                <a:solidFill>
                  <a:srgbClr val="9C6B16"/>
                </a:solidFill>
                <a:latin typeface="Calibri" pitchFamily="34" charset="0"/>
                <a:ea typeface="Calibri" pitchFamily="34" charset="-122"/>
                <a:cs typeface="Calibri" pitchFamily="34" charset="-120"/>
              </a:rPr>
              <a:t>ENTERPRISE-MANAGED</a:t>
            </a:r>
            <a:endParaRPr lang="en-US" sz="800" dirty="0"/>
          </a:p>
        </p:txBody>
      </p:sp>
      <p:sp>
        <p:nvSpPr>
          <p:cNvPr id="24" name="Shape 22"/>
          <p:cNvSpPr/>
          <p:nvPr/>
        </p:nvSpPr>
        <p:spPr>
          <a:xfrm>
            <a:off x="10344607" y="2487168"/>
            <a:ext cx="1298448" cy="237744"/>
          </a:xfrm>
          <a:prstGeom prst="roundRect">
            <a:avLst>
              <a:gd name="adj" fmla="val 50000"/>
            </a:avLst>
          </a:prstGeom>
          <a:solidFill>
            <a:srgbClr val="EAF3EC"/>
          </a:solidFill>
          <a:ln/>
        </p:spPr>
        <p:txBody>
          <a:bodyPr/>
          <a:lstStyle/>
          <a:p>
            <a:endParaRPr lang="en-US"/>
          </a:p>
        </p:txBody>
      </p:sp>
      <p:sp>
        <p:nvSpPr>
          <p:cNvPr id="25" name="Text 23"/>
          <p:cNvSpPr/>
          <p:nvPr/>
        </p:nvSpPr>
        <p:spPr>
          <a:xfrm>
            <a:off x="10344607" y="2487168"/>
            <a:ext cx="1298448" cy="237744"/>
          </a:xfrm>
          <a:prstGeom prst="rect">
            <a:avLst/>
          </a:prstGeom>
          <a:noFill/>
          <a:ln/>
        </p:spPr>
        <p:txBody>
          <a:bodyPr wrap="square" lIns="0" tIns="0" rIns="0" bIns="0" rtlCol="0" anchor="ctr"/>
          <a:lstStyle/>
          <a:p>
            <a:pPr marL="0" indent="0" algn="ctr">
              <a:buNone/>
            </a:pPr>
            <a:r>
              <a:rPr lang="en-US" sz="800" b="1" kern="0" spc="100" dirty="0">
                <a:solidFill>
                  <a:srgbClr val="0E3D29"/>
                </a:solidFill>
                <a:latin typeface="Calibri" pitchFamily="34" charset="0"/>
                <a:ea typeface="Calibri" pitchFamily="34" charset="-122"/>
                <a:cs typeface="Calibri" pitchFamily="34" charset="-120"/>
              </a:rPr>
              <a:t>RISK-OWNED</a:t>
            </a:r>
            <a:endParaRPr lang="en-US" sz="800" dirty="0"/>
          </a:p>
        </p:txBody>
      </p:sp>
      <p:sp>
        <p:nvSpPr>
          <p:cNvPr id="26" name="Shape 24"/>
          <p:cNvSpPr/>
          <p:nvPr/>
        </p:nvSpPr>
        <p:spPr>
          <a:xfrm>
            <a:off x="548640" y="2834640"/>
            <a:ext cx="1999427" cy="1920240"/>
          </a:xfrm>
          <a:prstGeom prst="roundRect">
            <a:avLst>
              <a:gd name="adj" fmla="val 2857"/>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27" name="Shape 25"/>
          <p:cNvSpPr/>
          <p:nvPr/>
        </p:nvSpPr>
        <p:spPr>
          <a:xfrm>
            <a:off x="1319754" y="3017520"/>
            <a:ext cx="457200" cy="457200"/>
          </a:xfrm>
          <a:prstGeom prst="ellipse">
            <a:avLst/>
          </a:prstGeom>
          <a:solidFill>
            <a:srgbClr val="55636B"/>
          </a:solidFill>
          <a:ln/>
        </p:spPr>
        <p:txBody>
          <a:bodyPr/>
          <a:lstStyle/>
          <a:p>
            <a:endParaRPr lang="en-US"/>
          </a:p>
        </p:txBody>
      </p:sp>
      <p:pic>
        <p:nvPicPr>
          <p:cNvPr id="28" name="Image 0" descr="preencoded.png"/>
          <p:cNvPicPr>
            <a:picLocks noChangeAspect="1"/>
          </p:cNvPicPr>
          <p:nvPr/>
        </p:nvPicPr>
        <p:blipFill>
          <a:blip r:embed="rId3"/>
          <a:stretch>
            <a:fillRect/>
          </a:stretch>
        </p:blipFill>
        <p:spPr>
          <a:xfrm>
            <a:off x="1434054" y="3131820"/>
            <a:ext cx="228600" cy="228600"/>
          </a:xfrm>
          <a:prstGeom prst="rect">
            <a:avLst/>
          </a:prstGeom>
        </p:spPr>
      </p:pic>
      <p:sp>
        <p:nvSpPr>
          <p:cNvPr id="29" name="Text 26"/>
          <p:cNvSpPr/>
          <p:nvPr/>
        </p:nvSpPr>
        <p:spPr>
          <a:xfrm>
            <a:off x="640080" y="3547872"/>
            <a:ext cx="1816547" cy="457200"/>
          </a:xfrm>
          <a:prstGeom prst="rect">
            <a:avLst/>
          </a:prstGeom>
          <a:noFill/>
          <a:ln/>
        </p:spPr>
        <p:txBody>
          <a:bodyPr wrap="square" lIns="0" tIns="0" rIns="0" bIns="0" rtlCol="0" anchor="ctr"/>
          <a:lstStyle/>
          <a:p>
            <a:pPr marL="0" indent="0" algn="ctr">
              <a:buNone/>
            </a:pPr>
            <a:r>
              <a:rPr lang="en-US" sz="1150" b="1" dirty="0">
                <a:solidFill>
                  <a:srgbClr val="0E3D29"/>
                </a:solidFill>
                <a:latin typeface="Calibri" pitchFamily="34" charset="0"/>
                <a:ea typeface="Calibri" pitchFamily="34" charset="-122"/>
                <a:cs typeface="Calibri" pitchFamily="34" charset="-120"/>
              </a:rPr>
              <a:t>Source systems</a:t>
            </a:r>
            <a:endParaRPr lang="en-US" sz="1150" dirty="0"/>
          </a:p>
        </p:txBody>
      </p:sp>
      <p:sp>
        <p:nvSpPr>
          <p:cNvPr id="30" name="Text 27"/>
          <p:cNvSpPr/>
          <p:nvPr/>
        </p:nvSpPr>
        <p:spPr>
          <a:xfrm>
            <a:off x="676656" y="3968496"/>
            <a:ext cx="1743395" cy="694944"/>
          </a:xfrm>
          <a:prstGeom prst="rect">
            <a:avLst/>
          </a:prstGeom>
          <a:noFill/>
          <a:ln/>
        </p:spPr>
        <p:txBody>
          <a:bodyPr wrap="square" lIns="0" tIns="0" rIns="0" bIns="0" rtlCol="0" anchor="t"/>
          <a:lstStyle/>
          <a:p>
            <a:pPr marL="0" indent="0" algn="ctr">
              <a:lnSpc>
                <a:spcPct val="103000"/>
              </a:lnSpc>
              <a:buNone/>
            </a:pPr>
            <a:r>
              <a:rPr lang="en-US" sz="870" dirty="0">
                <a:solidFill>
                  <a:srgbClr val="262B27"/>
                </a:solidFill>
                <a:latin typeface="Calibri" pitchFamily="34" charset="0"/>
                <a:ea typeface="Calibri" pitchFamily="34" charset="-122"/>
                <a:cs typeface="Calibri" pitchFamily="34" charset="-120"/>
              </a:rPr>
              <a:t>OMS / TMS — Calypso · Murex · Sophis · Matrix; market &amp; reference data</a:t>
            </a:r>
            <a:endParaRPr lang="en-US" sz="870" dirty="0"/>
          </a:p>
        </p:txBody>
      </p:sp>
      <p:sp>
        <p:nvSpPr>
          <p:cNvPr id="31" name="Text 28"/>
          <p:cNvSpPr/>
          <p:nvPr/>
        </p:nvSpPr>
        <p:spPr>
          <a:xfrm>
            <a:off x="2548067" y="3502152"/>
            <a:ext cx="329184" cy="585216"/>
          </a:xfrm>
          <a:prstGeom prst="rect">
            <a:avLst/>
          </a:prstGeom>
          <a:noFill/>
          <a:ln/>
        </p:spPr>
        <p:txBody>
          <a:bodyPr wrap="square" lIns="0" tIns="0" rIns="0" bIns="0" rtlCol="0" anchor="ctr"/>
          <a:lstStyle/>
          <a:p>
            <a:pPr marL="0" indent="0" algn="ctr">
              <a:buNone/>
            </a:pPr>
            <a:r>
              <a:rPr lang="en-US" sz="3000" b="1" dirty="0">
                <a:solidFill>
                  <a:srgbClr val="3E9E68"/>
                </a:solidFill>
                <a:latin typeface="Calibri" pitchFamily="34" charset="0"/>
                <a:ea typeface="Calibri" pitchFamily="34" charset="-122"/>
                <a:cs typeface="Calibri" pitchFamily="34" charset="-120"/>
              </a:rPr>
              <a:t>›</a:t>
            </a:r>
            <a:endParaRPr lang="en-US" sz="3000" dirty="0"/>
          </a:p>
        </p:txBody>
      </p:sp>
      <p:sp>
        <p:nvSpPr>
          <p:cNvPr id="32" name="Shape 29"/>
          <p:cNvSpPr/>
          <p:nvPr/>
        </p:nvSpPr>
        <p:spPr>
          <a:xfrm>
            <a:off x="2822387" y="2834640"/>
            <a:ext cx="1999427" cy="1920240"/>
          </a:xfrm>
          <a:prstGeom prst="roundRect">
            <a:avLst>
              <a:gd name="adj" fmla="val 2857"/>
            </a:avLst>
          </a:prstGeom>
          <a:solidFill>
            <a:srgbClr val="F6EFE0"/>
          </a:solidFill>
          <a:ln w="12700">
            <a:solidFill>
              <a:srgbClr val="E6D6B5"/>
            </a:solidFill>
            <a:prstDash val="solid"/>
          </a:ln>
          <a:effectLst>
            <a:outerShdw blurRad="88900" dist="38100" dir="5400000" algn="bl" rotWithShape="0">
              <a:srgbClr val="000000">
                <a:alpha val="10000"/>
              </a:srgbClr>
            </a:outerShdw>
          </a:effectLst>
        </p:spPr>
        <p:txBody>
          <a:bodyPr/>
          <a:lstStyle/>
          <a:p>
            <a:endParaRPr lang="en-US"/>
          </a:p>
        </p:txBody>
      </p:sp>
      <p:sp>
        <p:nvSpPr>
          <p:cNvPr id="33" name="Shape 30"/>
          <p:cNvSpPr/>
          <p:nvPr/>
        </p:nvSpPr>
        <p:spPr>
          <a:xfrm>
            <a:off x="3593501" y="3017520"/>
            <a:ext cx="457200" cy="457200"/>
          </a:xfrm>
          <a:prstGeom prst="ellipse">
            <a:avLst/>
          </a:prstGeom>
          <a:solidFill>
            <a:srgbClr val="9C6B16"/>
          </a:solidFill>
          <a:ln/>
        </p:spPr>
        <p:txBody>
          <a:bodyPr/>
          <a:lstStyle/>
          <a:p>
            <a:endParaRPr lang="en-US"/>
          </a:p>
        </p:txBody>
      </p:sp>
      <p:pic>
        <p:nvPicPr>
          <p:cNvPr id="34" name="Image 1" descr="preencoded.png"/>
          <p:cNvPicPr>
            <a:picLocks noChangeAspect="1"/>
          </p:cNvPicPr>
          <p:nvPr/>
        </p:nvPicPr>
        <p:blipFill>
          <a:blip r:embed="rId4"/>
          <a:stretch>
            <a:fillRect/>
          </a:stretch>
        </p:blipFill>
        <p:spPr>
          <a:xfrm>
            <a:off x="3707801" y="3131820"/>
            <a:ext cx="228600" cy="228600"/>
          </a:xfrm>
          <a:prstGeom prst="rect">
            <a:avLst/>
          </a:prstGeom>
        </p:spPr>
      </p:pic>
      <p:sp>
        <p:nvSpPr>
          <p:cNvPr id="35" name="Text 31"/>
          <p:cNvSpPr/>
          <p:nvPr/>
        </p:nvSpPr>
        <p:spPr>
          <a:xfrm>
            <a:off x="2913827" y="3547872"/>
            <a:ext cx="1816547" cy="457200"/>
          </a:xfrm>
          <a:prstGeom prst="rect">
            <a:avLst/>
          </a:prstGeom>
          <a:noFill/>
          <a:ln/>
        </p:spPr>
        <p:txBody>
          <a:bodyPr wrap="square" lIns="0" tIns="0" rIns="0" bIns="0" rtlCol="0" anchor="ctr"/>
          <a:lstStyle/>
          <a:p>
            <a:pPr marL="0" indent="0" algn="ctr">
              <a:buNone/>
            </a:pPr>
            <a:r>
              <a:rPr lang="en-US" sz="1150" b="1" dirty="0">
                <a:solidFill>
                  <a:srgbClr val="0E3D29"/>
                </a:solidFill>
                <a:latin typeface="Calibri" pitchFamily="34" charset="0"/>
                <a:ea typeface="Calibri" pitchFamily="34" charset="-122"/>
                <a:cs typeface="Calibri" pitchFamily="34" charset="-120"/>
              </a:rPr>
              <a:t>Enterprise distribution</a:t>
            </a:r>
            <a:endParaRPr lang="en-US" sz="1150" dirty="0"/>
          </a:p>
        </p:txBody>
      </p:sp>
      <p:sp>
        <p:nvSpPr>
          <p:cNvPr id="36" name="Text 32"/>
          <p:cNvSpPr/>
          <p:nvPr/>
        </p:nvSpPr>
        <p:spPr>
          <a:xfrm>
            <a:off x="2950403" y="3968496"/>
            <a:ext cx="1743395" cy="694944"/>
          </a:xfrm>
          <a:prstGeom prst="rect">
            <a:avLst/>
          </a:prstGeom>
          <a:noFill/>
          <a:ln/>
        </p:spPr>
        <p:txBody>
          <a:bodyPr wrap="square" lIns="0" tIns="0" rIns="0" bIns="0" rtlCol="0" anchor="t"/>
          <a:lstStyle/>
          <a:p>
            <a:pPr marL="0" indent="0" algn="ctr">
              <a:lnSpc>
                <a:spcPct val="103000"/>
              </a:lnSpc>
              <a:buNone/>
            </a:pPr>
            <a:r>
              <a:rPr lang="en-US" sz="870" dirty="0">
                <a:solidFill>
                  <a:srgbClr val="262B27"/>
                </a:solidFill>
                <a:latin typeface="Calibri" pitchFamily="34" charset="0"/>
                <a:ea typeface="Calibri" pitchFamily="34" charset="-122"/>
                <a:cs typeface="Calibri" pitchFamily="34" charset="-120"/>
              </a:rPr>
              <a:t>Veritas services · InfoP · Dremio · CDS · streaming (Kafka)</a:t>
            </a:r>
            <a:endParaRPr lang="en-US" sz="870" dirty="0"/>
          </a:p>
        </p:txBody>
      </p:sp>
      <p:sp>
        <p:nvSpPr>
          <p:cNvPr id="37" name="Text 33"/>
          <p:cNvSpPr/>
          <p:nvPr/>
        </p:nvSpPr>
        <p:spPr>
          <a:xfrm>
            <a:off x="4821814" y="3502152"/>
            <a:ext cx="329184" cy="585216"/>
          </a:xfrm>
          <a:prstGeom prst="rect">
            <a:avLst/>
          </a:prstGeom>
          <a:noFill/>
          <a:ln/>
        </p:spPr>
        <p:txBody>
          <a:bodyPr wrap="square" lIns="0" tIns="0" rIns="0" bIns="0" rtlCol="0" anchor="ctr"/>
          <a:lstStyle/>
          <a:p>
            <a:pPr marL="0" indent="0" algn="ctr">
              <a:buNone/>
            </a:pPr>
            <a:r>
              <a:rPr lang="en-US" sz="3000" b="1" dirty="0">
                <a:solidFill>
                  <a:srgbClr val="3E9E68"/>
                </a:solidFill>
                <a:latin typeface="Calibri" pitchFamily="34" charset="0"/>
                <a:ea typeface="Calibri" pitchFamily="34" charset="-122"/>
                <a:cs typeface="Calibri" pitchFamily="34" charset="-120"/>
              </a:rPr>
              <a:t>›</a:t>
            </a:r>
            <a:endParaRPr lang="en-US" sz="3000" dirty="0"/>
          </a:p>
        </p:txBody>
      </p:sp>
      <p:sp>
        <p:nvSpPr>
          <p:cNvPr id="38" name="Shape 34"/>
          <p:cNvSpPr/>
          <p:nvPr/>
        </p:nvSpPr>
        <p:spPr>
          <a:xfrm>
            <a:off x="5096134" y="2834640"/>
            <a:ext cx="1999427" cy="1920240"/>
          </a:xfrm>
          <a:prstGeom prst="roundRect">
            <a:avLst>
              <a:gd name="adj" fmla="val 2857"/>
            </a:avLst>
          </a:prstGeom>
          <a:solidFill>
            <a:srgbClr val="EAF3EC"/>
          </a:solidFill>
          <a:ln w="1270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39" name="Shape 35"/>
          <p:cNvSpPr/>
          <p:nvPr/>
        </p:nvSpPr>
        <p:spPr>
          <a:xfrm>
            <a:off x="5867248" y="3017520"/>
            <a:ext cx="457200" cy="457200"/>
          </a:xfrm>
          <a:prstGeom prst="ellipse">
            <a:avLst/>
          </a:prstGeom>
          <a:solidFill>
            <a:srgbClr val="1F7A47"/>
          </a:solidFill>
          <a:ln/>
        </p:spPr>
        <p:txBody>
          <a:bodyPr/>
          <a:lstStyle/>
          <a:p>
            <a:endParaRPr lang="en-US"/>
          </a:p>
        </p:txBody>
      </p:sp>
      <p:pic>
        <p:nvPicPr>
          <p:cNvPr id="40" name="Image 2" descr="preencoded.png"/>
          <p:cNvPicPr>
            <a:picLocks noChangeAspect="1"/>
          </p:cNvPicPr>
          <p:nvPr/>
        </p:nvPicPr>
        <p:blipFill>
          <a:blip r:embed="rId5"/>
          <a:stretch>
            <a:fillRect/>
          </a:stretch>
        </p:blipFill>
        <p:spPr>
          <a:xfrm>
            <a:off x="5981548" y="3131820"/>
            <a:ext cx="228600" cy="228600"/>
          </a:xfrm>
          <a:prstGeom prst="rect">
            <a:avLst/>
          </a:prstGeom>
        </p:spPr>
      </p:pic>
      <p:sp>
        <p:nvSpPr>
          <p:cNvPr id="41" name="Text 36"/>
          <p:cNvSpPr/>
          <p:nvPr/>
        </p:nvSpPr>
        <p:spPr>
          <a:xfrm>
            <a:off x="5187574" y="3547872"/>
            <a:ext cx="1816547" cy="457200"/>
          </a:xfrm>
          <a:prstGeom prst="rect">
            <a:avLst/>
          </a:prstGeom>
          <a:noFill/>
          <a:ln/>
        </p:spPr>
        <p:txBody>
          <a:bodyPr wrap="square" lIns="0" tIns="0" rIns="0" bIns="0" rtlCol="0" anchor="ctr"/>
          <a:lstStyle/>
          <a:p>
            <a:pPr marL="0" indent="0" algn="ctr">
              <a:buNone/>
            </a:pPr>
            <a:r>
              <a:rPr lang="en-US" sz="1150" b="1" dirty="0">
                <a:solidFill>
                  <a:srgbClr val="0E3D29"/>
                </a:solidFill>
                <a:latin typeface="Calibri" pitchFamily="34" charset="0"/>
                <a:ea typeface="Calibri" pitchFamily="34" charset="-122"/>
                <a:cs typeface="Calibri" pitchFamily="34" charset="-120"/>
              </a:rPr>
              <a:t>Risk processing</a:t>
            </a:r>
            <a:endParaRPr lang="en-US" sz="1150" dirty="0"/>
          </a:p>
        </p:txBody>
      </p:sp>
      <p:sp>
        <p:nvSpPr>
          <p:cNvPr id="42" name="Text 37"/>
          <p:cNvSpPr/>
          <p:nvPr/>
        </p:nvSpPr>
        <p:spPr>
          <a:xfrm>
            <a:off x="5224150" y="3968496"/>
            <a:ext cx="1743395" cy="694944"/>
          </a:xfrm>
          <a:prstGeom prst="rect">
            <a:avLst/>
          </a:prstGeom>
          <a:noFill/>
          <a:ln/>
        </p:spPr>
        <p:txBody>
          <a:bodyPr wrap="square" lIns="0" tIns="0" rIns="0" bIns="0" rtlCol="0" anchor="t"/>
          <a:lstStyle/>
          <a:p>
            <a:pPr marL="0" indent="0" algn="ctr">
              <a:lnSpc>
                <a:spcPct val="103000"/>
              </a:lnSpc>
              <a:buNone/>
            </a:pPr>
            <a:r>
              <a:rPr lang="en-US" sz="870" dirty="0">
                <a:solidFill>
                  <a:srgbClr val="262B27"/>
                </a:solidFill>
                <a:latin typeface="Calibri" pitchFamily="34" charset="0"/>
                <a:ea typeface="Calibri" pitchFamily="34" charset="-122"/>
                <a:cs typeface="Calibri" pitchFamily="34" charset="-120"/>
              </a:rPr>
              <a:t>Calc engines — vendor or in-house</a:t>
            </a:r>
            <a:endParaRPr lang="en-US" sz="870" dirty="0"/>
          </a:p>
        </p:txBody>
      </p:sp>
      <p:sp>
        <p:nvSpPr>
          <p:cNvPr id="43" name="Text 38"/>
          <p:cNvSpPr/>
          <p:nvPr/>
        </p:nvSpPr>
        <p:spPr>
          <a:xfrm>
            <a:off x="7095561" y="3502152"/>
            <a:ext cx="329184" cy="585216"/>
          </a:xfrm>
          <a:prstGeom prst="rect">
            <a:avLst/>
          </a:prstGeom>
          <a:noFill/>
          <a:ln/>
        </p:spPr>
        <p:txBody>
          <a:bodyPr wrap="square" lIns="0" tIns="0" rIns="0" bIns="0" rtlCol="0" anchor="ctr"/>
          <a:lstStyle/>
          <a:p>
            <a:pPr marL="0" indent="0" algn="ctr">
              <a:buNone/>
            </a:pPr>
            <a:r>
              <a:rPr lang="en-US" sz="3000" b="1" dirty="0">
                <a:solidFill>
                  <a:srgbClr val="3E9E68"/>
                </a:solidFill>
                <a:latin typeface="Calibri" pitchFamily="34" charset="0"/>
                <a:ea typeface="Calibri" pitchFamily="34" charset="-122"/>
                <a:cs typeface="Calibri" pitchFamily="34" charset="-120"/>
              </a:rPr>
              <a:t>›</a:t>
            </a:r>
            <a:endParaRPr lang="en-US" sz="3000" dirty="0"/>
          </a:p>
        </p:txBody>
      </p:sp>
      <p:sp>
        <p:nvSpPr>
          <p:cNvPr id="44" name="Shape 39"/>
          <p:cNvSpPr/>
          <p:nvPr/>
        </p:nvSpPr>
        <p:spPr>
          <a:xfrm>
            <a:off x="7369881" y="2834640"/>
            <a:ext cx="1999427" cy="1920240"/>
          </a:xfrm>
          <a:prstGeom prst="roundRect">
            <a:avLst>
              <a:gd name="adj" fmla="val 2857"/>
            </a:avLst>
          </a:prstGeom>
          <a:solidFill>
            <a:srgbClr val="EAF3EC"/>
          </a:solidFill>
          <a:ln w="1270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45" name="Shape 40"/>
          <p:cNvSpPr/>
          <p:nvPr/>
        </p:nvSpPr>
        <p:spPr>
          <a:xfrm>
            <a:off x="8140995" y="3017520"/>
            <a:ext cx="457200" cy="457200"/>
          </a:xfrm>
          <a:prstGeom prst="ellipse">
            <a:avLst/>
          </a:prstGeom>
          <a:solidFill>
            <a:srgbClr val="1F7A47"/>
          </a:solidFill>
          <a:ln/>
        </p:spPr>
        <p:txBody>
          <a:bodyPr/>
          <a:lstStyle/>
          <a:p>
            <a:endParaRPr lang="en-US"/>
          </a:p>
        </p:txBody>
      </p:sp>
      <p:pic>
        <p:nvPicPr>
          <p:cNvPr id="46" name="Image 3" descr="preencoded.png"/>
          <p:cNvPicPr>
            <a:picLocks noChangeAspect="1"/>
          </p:cNvPicPr>
          <p:nvPr/>
        </p:nvPicPr>
        <p:blipFill>
          <a:blip r:embed="rId6"/>
          <a:stretch>
            <a:fillRect/>
          </a:stretch>
        </p:blipFill>
        <p:spPr>
          <a:xfrm>
            <a:off x="8255295" y="3131820"/>
            <a:ext cx="228600" cy="228600"/>
          </a:xfrm>
          <a:prstGeom prst="rect">
            <a:avLst/>
          </a:prstGeom>
        </p:spPr>
      </p:pic>
      <p:sp>
        <p:nvSpPr>
          <p:cNvPr id="47" name="Text 41"/>
          <p:cNvSpPr/>
          <p:nvPr/>
        </p:nvSpPr>
        <p:spPr>
          <a:xfrm>
            <a:off x="7461321" y="3547872"/>
            <a:ext cx="1816547" cy="457200"/>
          </a:xfrm>
          <a:prstGeom prst="rect">
            <a:avLst/>
          </a:prstGeom>
          <a:noFill/>
          <a:ln/>
        </p:spPr>
        <p:txBody>
          <a:bodyPr wrap="square" lIns="0" tIns="0" rIns="0" bIns="0" rtlCol="0" anchor="ctr"/>
          <a:lstStyle/>
          <a:p>
            <a:pPr marL="0" indent="0" algn="ctr">
              <a:buNone/>
            </a:pPr>
            <a:r>
              <a:rPr lang="en-US" sz="1150" b="1" dirty="0">
                <a:solidFill>
                  <a:srgbClr val="0E3D29"/>
                </a:solidFill>
                <a:latin typeface="Calibri" pitchFamily="34" charset="0"/>
                <a:ea typeface="Calibri" pitchFamily="34" charset="-122"/>
                <a:cs typeface="Calibri" pitchFamily="34" charset="-120"/>
              </a:rPr>
              <a:t>Stored in many systems</a:t>
            </a:r>
            <a:endParaRPr lang="en-US" sz="1150" dirty="0"/>
          </a:p>
        </p:txBody>
      </p:sp>
      <p:sp>
        <p:nvSpPr>
          <p:cNvPr id="48" name="Text 42"/>
          <p:cNvSpPr/>
          <p:nvPr/>
        </p:nvSpPr>
        <p:spPr>
          <a:xfrm>
            <a:off x="7497897" y="3968496"/>
            <a:ext cx="1743395" cy="694944"/>
          </a:xfrm>
          <a:prstGeom prst="rect">
            <a:avLst/>
          </a:prstGeom>
          <a:noFill/>
          <a:ln/>
        </p:spPr>
        <p:txBody>
          <a:bodyPr wrap="square" lIns="0" tIns="0" rIns="0" bIns="0" rtlCol="0" anchor="t"/>
          <a:lstStyle/>
          <a:p>
            <a:pPr marL="0" indent="0" algn="ctr">
              <a:lnSpc>
                <a:spcPct val="103000"/>
              </a:lnSpc>
              <a:buNone/>
            </a:pPr>
            <a:r>
              <a:rPr lang="en-US" sz="870" dirty="0">
                <a:solidFill>
                  <a:srgbClr val="262B27"/>
                </a:solidFill>
                <a:latin typeface="Calibri" pitchFamily="34" charset="0"/>
                <a:ea typeface="Calibri" pitchFamily="34" charset="-122"/>
                <a:cs typeface="Calibri" pitchFamily="34" charset="-120"/>
              </a:rPr>
              <a:t>Postgres · HBase · Cassandra · SQL Server · Druid · files</a:t>
            </a:r>
            <a:endParaRPr lang="en-US" sz="870" dirty="0"/>
          </a:p>
        </p:txBody>
      </p:sp>
      <p:sp>
        <p:nvSpPr>
          <p:cNvPr id="49" name="Text 43"/>
          <p:cNvSpPr/>
          <p:nvPr/>
        </p:nvSpPr>
        <p:spPr>
          <a:xfrm>
            <a:off x="9369308" y="3502152"/>
            <a:ext cx="329184" cy="585216"/>
          </a:xfrm>
          <a:prstGeom prst="rect">
            <a:avLst/>
          </a:prstGeom>
          <a:noFill/>
          <a:ln/>
        </p:spPr>
        <p:txBody>
          <a:bodyPr wrap="square" lIns="0" tIns="0" rIns="0" bIns="0" rtlCol="0" anchor="ctr"/>
          <a:lstStyle/>
          <a:p>
            <a:pPr marL="0" indent="0" algn="ctr">
              <a:buNone/>
            </a:pPr>
            <a:r>
              <a:rPr lang="en-US" sz="3000" b="1" dirty="0">
                <a:solidFill>
                  <a:srgbClr val="3E9E68"/>
                </a:solidFill>
                <a:latin typeface="Calibri" pitchFamily="34" charset="0"/>
                <a:ea typeface="Calibri" pitchFamily="34" charset="-122"/>
                <a:cs typeface="Calibri" pitchFamily="34" charset="-120"/>
              </a:rPr>
              <a:t>›</a:t>
            </a:r>
            <a:endParaRPr lang="en-US" sz="3000" dirty="0"/>
          </a:p>
        </p:txBody>
      </p:sp>
      <p:sp>
        <p:nvSpPr>
          <p:cNvPr id="50" name="Shape 44"/>
          <p:cNvSpPr/>
          <p:nvPr/>
        </p:nvSpPr>
        <p:spPr>
          <a:xfrm>
            <a:off x="9643628" y="2834640"/>
            <a:ext cx="1999427" cy="1920240"/>
          </a:xfrm>
          <a:prstGeom prst="roundRect">
            <a:avLst>
              <a:gd name="adj" fmla="val 2857"/>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51" name="Shape 45"/>
          <p:cNvSpPr/>
          <p:nvPr/>
        </p:nvSpPr>
        <p:spPr>
          <a:xfrm>
            <a:off x="10414742" y="3017520"/>
            <a:ext cx="457200" cy="457200"/>
          </a:xfrm>
          <a:prstGeom prst="ellipse">
            <a:avLst/>
          </a:prstGeom>
          <a:solidFill>
            <a:srgbClr val="55636B"/>
          </a:solidFill>
          <a:ln/>
        </p:spPr>
        <p:txBody>
          <a:bodyPr/>
          <a:lstStyle/>
          <a:p>
            <a:endParaRPr lang="en-US"/>
          </a:p>
        </p:txBody>
      </p:sp>
      <p:pic>
        <p:nvPicPr>
          <p:cNvPr id="52" name="Image 4" descr="preencoded.png"/>
          <p:cNvPicPr>
            <a:picLocks noChangeAspect="1"/>
          </p:cNvPicPr>
          <p:nvPr/>
        </p:nvPicPr>
        <p:blipFill>
          <a:blip r:embed="rId7"/>
          <a:stretch>
            <a:fillRect/>
          </a:stretch>
        </p:blipFill>
        <p:spPr>
          <a:xfrm>
            <a:off x="10529042" y="3131820"/>
            <a:ext cx="228600" cy="228600"/>
          </a:xfrm>
          <a:prstGeom prst="rect">
            <a:avLst/>
          </a:prstGeom>
        </p:spPr>
      </p:pic>
      <p:sp>
        <p:nvSpPr>
          <p:cNvPr id="53" name="Text 46"/>
          <p:cNvSpPr/>
          <p:nvPr/>
        </p:nvSpPr>
        <p:spPr>
          <a:xfrm>
            <a:off x="9735068" y="3547872"/>
            <a:ext cx="1816547" cy="457200"/>
          </a:xfrm>
          <a:prstGeom prst="rect">
            <a:avLst/>
          </a:prstGeom>
          <a:noFill/>
          <a:ln/>
        </p:spPr>
        <p:txBody>
          <a:bodyPr wrap="square" lIns="0" tIns="0" rIns="0" bIns="0" rtlCol="0" anchor="ctr"/>
          <a:lstStyle/>
          <a:p>
            <a:pPr marL="0" indent="0" algn="ctr">
              <a:buNone/>
            </a:pPr>
            <a:r>
              <a:rPr lang="en-US" sz="1150" b="1" dirty="0">
                <a:solidFill>
                  <a:srgbClr val="0E3D29"/>
                </a:solidFill>
                <a:latin typeface="Calibri" pitchFamily="34" charset="0"/>
                <a:ea typeface="Calibri" pitchFamily="34" charset="-122"/>
                <a:cs typeface="Calibri" pitchFamily="34" charset="-120"/>
              </a:rPr>
              <a:t>Consumption</a:t>
            </a:r>
            <a:endParaRPr lang="en-US" sz="1150" dirty="0"/>
          </a:p>
        </p:txBody>
      </p:sp>
      <p:sp>
        <p:nvSpPr>
          <p:cNvPr id="54" name="Text 47"/>
          <p:cNvSpPr/>
          <p:nvPr/>
        </p:nvSpPr>
        <p:spPr>
          <a:xfrm>
            <a:off x="9771644" y="3968496"/>
            <a:ext cx="1743395" cy="694944"/>
          </a:xfrm>
          <a:prstGeom prst="rect">
            <a:avLst/>
          </a:prstGeom>
          <a:noFill/>
          <a:ln/>
        </p:spPr>
        <p:txBody>
          <a:bodyPr wrap="square" lIns="0" tIns="0" rIns="0" bIns="0" rtlCol="0" anchor="t"/>
          <a:lstStyle/>
          <a:p>
            <a:pPr marL="0" indent="0" algn="ctr">
              <a:lnSpc>
                <a:spcPct val="103000"/>
              </a:lnSpc>
              <a:buNone/>
            </a:pPr>
            <a:r>
              <a:rPr lang="en-US" sz="870" dirty="0">
                <a:solidFill>
                  <a:srgbClr val="262B27"/>
                </a:solidFill>
                <a:latin typeface="Calibri" pitchFamily="34" charset="0"/>
                <a:ea typeface="Calibri" pitchFamily="34" charset="-122"/>
                <a:cs typeface="Calibri" pitchFamily="34" charset="-120"/>
              </a:rPr>
              <a:t>Service APIs + CSV → Excel · Strategy / BI · custom UIs</a:t>
            </a:r>
            <a:endParaRPr lang="en-US" sz="870" dirty="0"/>
          </a:p>
        </p:txBody>
      </p:sp>
      <p:sp>
        <p:nvSpPr>
          <p:cNvPr id="55" name="Text 48"/>
          <p:cNvSpPr/>
          <p:nvPr/>
        </p:nvSpPr>
        <p:spPr>
          <a:xfrm>
            <a:off x="548640" y="4846320"/>
            <a:ext cx="11094415" cy="274320"/>
          </a:xfrm>
          <a:prstGeom prst="rect">
            <a:avLst/>
          </a:prstGeom>
          <a:noFill/>
          <a:ln/>
        </p:spPr>
        <p:txBody>
          <a:bodyPr wrap="square" lIns="0" tIns="0" rIns="0" bIns="0" rtlCol="0" anchor="ctr"/>
          <a:lstStyle/>
          <a:p>
            <a:pPr marL="0" indent="0">
              <a:buNone/>
            </a:pPr>
            <a:r>
              <a:rPr lang="en-US" sz="900" i="1" dirty="0">
                <a:solidFill>
                  <a:srgbClr val="6B7670"/>
                </a:solidFill>
                <a:latin typeface="Calibri" pitchFamily="34" charset="0"/>
                <a:ea typeface="Calibri" pitchFamily="34" charset="-122"/>
                <a:cs typeface="Calibri" pitchFamily="34" charset="-120"/>
              </a:rPr>
              <a:t>InfoP / CDM run on the enterprise platform (Cloudera) — separate from TDVIP. Dremio is the query engine for InfoP.</a:t>
            </a:r>
            <a:endParaRPr lang="en-US" sz="900" dirty="0"/>
          </a:p>
        </p:txBody>
      </p:sp>
      <p:sp>
        <p:nvSpPr>
          <p:cNvPr id="56" name="Shape 49"/>
          <p:cNvSpPr/>
          <p:nvPr/>
        </p:nvSpPr>
        <p:spPr>
          <a:xfrm>
            <a:off x="548640" y="5157216"/>
            <a:ext cx="11094415" cy="768096"/>
          </a:xfrm>
          <a:prstGeom prst="roundRect">
            <a:avLst>
              <a:gd name="adj" fmla="val 7143"/>
            </a:avLst>
          </a:prstGeom>
          <a:solidFill>
            <a:srgbClr val="0E3D29"/>
          </a:solidFill>
          <a:ln/>
        </p:spPr>
        <p:txBody>
          <a:bodyPr/>
          <a:lstStyle/>
          <a:p>
            <a:endParaRPr lang="en-US"/>
          </a:p>
        </p:txBody>
      </p:sp>
      <p:sp>
        <p:nvSpPr>
          <p:cNvPr id="57" name="Text 50"/>
          <p:cNvSpPr/>
          <p:nvPr/>
        </p:nvSpPr>
        <p:spPr>
          <a:xfrm>
            <a:off x="822960" y="5157216"/>
            <a:ext cx="10545775" cy="768096"/>
          </a:xfrm>
          <a:prstGeom prst="rect">
            <a:avLst/>
          </a:prstGeom>
          <a:noFill/>
          <a:ln/>
        </p:spPr>
        <p:txBody>
          <a:bodyPr wrap="square" lIns="0" tIns="0" rIns="0" bIns="0" rtlCol="0" anchor="ctr"/>
          <a:lstStyle/>
          <a:p>
            <a:pPr marL="0" indent="0">
              <a:lnSpc>
                <a:spcPct val="102000"/>
              </a:lnSpc>
              <a:buNone/>
            </a:pPr>
            <a:r>
              <a:rPr lang="en-US" sz="1150" b="1" dirty="0">
                <a:solidFill>
                  <a:srgbClr val="FFFFFF"/>
                </a:solidFill>
                <a:latin typeface="Calibri" pitchFamily="34" charset="0"/>
                <a:ea typeface="Calibri" pitchFamily="34" charset="-122"/>
                <a:cs typeface="Calibri" pitchFamily="34" charset="-120"/>
              </a:rPr>
              <a:t>Risk data is distributed reliably</a:t>
            </a:r>
            <a:r>
              <a:rPr lang="en-US" sz="1150" dirty="0">
                <a:solidFill>
                  <a:srgbClr val="C9DBD0"/>
                </a:solidFill>
                <a:latin typeface="Calibri" pitchFamily="34" charset="0"/>
                <a:ea typeface="Calibri" pitchFamily="34" charset="-122"/>
                <a:cs typeface="Calibri" pitchFamily="34" charset="-120"/>
              </a:rPr>
              <a:t> — first to the applications that calculate it, then on to the business as their outputs. But with no shared analytics environment, the business itself is left to reconcile and join one application's data with another's before it can use it.</a:t>
            </a:r>
            <a:endParaRPr lang="en-US" sz="1150" dirty="0"/>
          </a:p>
        </p:txBody>
      </p:sp>
      <p:sp>
        <p:nvSpPr>
          <p:cNvPr id="58" name="Text 51"/>
          <p:cNvSpPr/>
          <p:nvPr/>
        </p:nvSpPr>
        <p:spPr>
          <a:xfrm>
            <a:off x="548640" y="6035040"/>
            <a:ext cx="11094415" cy="292608"/>
          </a:xfrm>
          <a:prstGeom prst="rect">
            <a:avLst/>
          </a:prstGeom>
          <a:noFill/>
          <a:ln/>
        </p:spPr>
        <p:txBody>
          <a:bodyPr wrap="square" lIns="0" tIns="0" rIns="0" bIns="0" rtlCol="0" anchor="ctr"/>
          <a:lstStyle/>
          <a:p>
            <a:pPr marL="0" indent="0">
              <a:lnSpc>
                <a:spcPct val="103000"/>
              </a:lnSpc>
              <a:buNone/>
            </a:pPr>
            <a:r>
              <a:rPr lang="en-US" sz="1050" b="1" dirty="0">
                <a:solidFill>
                  <a:srgbClr val="1F7A47"/>
                </a:solidFill>
                <a:latin typeface="Calibri" pitchFamily="34" charset="0"/>
                <a:ea typeface="Calibri" pitchFamily="34" charset="-122"/>
                <a:cs typeface="Calibri" pitchFamily="34" charset="-120"/>
              </a:rPr>
              <a:t>The shift ahead — Risk data modernization: </a:t>
            </a:r>
            <a:r>
              <a:rPr lang="en-US" sz="1050" i="1" dirty="0">
                <a:solidFill>
                  <a:srgbClr val="1F7A47"/>
                </a:solidFill>
                <a:latin typeface="Calibri" pitchFamily="34" charset="0"/>
                <a:ea typeface="Calibri" pitchFamily="34" charset="-122"/>
                <a:cs typeface="Calibri" pitchFamily="34" charset="-120"/>
              </a:rPr>
              <a:t>from silo’d data copies, where every team re-derives its meaning, to sharing one governed set — one catalog, one set of meanings. It starts with the move onto TDVIP and declaring schemas and definitions in Unity Catalog (Databricks).</a:t>
            </a:r>
            <a:endParaRPr lang="en-US" sz="1050" dirty="0"/>
          </a:p>
        </p:txBody>
      </p:sp>
      <p:sp>
        <p:nvSpPr>
          <p:cNvPr id="59"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60" name="Text 53"/>
          <p:cNvSpPr/>
          <p:nvPr/>
        </p:nvSpPr>
        <p:spPr>
          <a:xfrm>
            <a:off x="9357055" y="6473952"/>
            <a:ext cx="146304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a:t>
            </a:r>
            <a:endParaRPr lang="en-US" sz="900" dirty="0"/>
          </a:p>
        </p:txBody>
      </p:sp>
      <p:sp>
        <p:nvSpPr>
          <p:cNvPr id="61" name="Text 54"/>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lIns="0" tIns="0" rIns="0" bIns="0" rtlCol="0" anchor="ctr"/>
          <a:lstStyle/>
          <a:p>
            <a:pPr marL="0" indent="0">
              <a:buNone/>
            </a:pPr>
            <a:r>
              <a:rPr lang="en-US" sz="1100" b="1" kern="0" spc="300" dirty="0">
                <a:solidFill>
                  <a:srgbClr val="1F7A47"/>
                </a:solidFill>
                <a:latin typeface="Calibri" pitchFamily="34" charset="0"/>
                <a:ea typeface="Calibri" pitchFamily="34" charset="-122"/>
                <a:cs typeface="Calibri" pitchFamily="34" charset="-120"/>
              </a:rPr>
              <a:t>WHERE WE ARE  ·  THE PLATFORM</a:t>
            </a:r>
            <a:endParaRPr lang="en-US" sz="1100" dirty="0"/>
          </a:p>
        </p:txBody>
      </p:sp>
      <p:sp>
        <p:nvSpPr>
          <p:cNvPr id="3" name="Text 1"/>
          <p:cNvSpPr/>
          <p:nvPr/>
        </p:nvSpPr>
        <p:spPr>
          <a:xfrm>
            <a:off x="548640" y="640080"/>
            <a:ext cx="11094415" cy="548640"/>
          </a:xfrm>
          <a:prstGeom prst="rect">
            <a:avLst/>
          </a:prstGeom>
          <a:noFill/>
          <a:ln/>
        </p:spPr>
        <p:txBody>
          <a:bodyPr wrap="square" lIns="0" tIns="0" rIns="0" bIns="0" rtlCol="0" anchor="ctr"/>
          <a:lstStyle/>
          <a:p>
            <a:pPr marL="0" indent="0">
              <a:buNone/>
            </a:pPr>
            <a:r>
              <a:rPr lang="en-US" sz="2600" b="1" dirty="0">
                <a:solidFill>
                  <a:srgbClr val="0E3D29"/>
                </a:solidFill>
                <a:latin typeface="Calibri" pitchFamily="34" charset="0"/>
                <a:ea typeface="Calibri" pitchFamily="34" charset="-122"/>
                <a:cs typeface="Calibri" pitchFamily="34" charset="-120"/>
              </a:rPr>
              <a:t>TDVIP Platform, Tooling &amp; Operating Constraints</a:t>
            </a:r>
            <a:endParaRPr lang="en-US" sz="2600" dirty="0"/>
          </a:p>
        </p:txBody>
      </p:sp>
      <p:sp>
        <p:nvSpPr>
          <p:cNvPr id="4" name="Text 2"/>
          <p:cNvSpPr/>
          <p:nvPr/>
        </p:nvSpPr>
        <p:spPr>
          <a:xfrm>
            <a:off x="548640" y="1298448"/>
            <a:ext cx="5669280" cy="274320"/>
          </a:xfrm>
          <a:prstGeom prst="rect">
            <a:avLst/>
          </a:prstGeom>
          <a:noFill/>
          <a:ln/>
        </p:spPr>
        <p:txBody>
          <a:bodyPr wrap="square" lIns="0" tIns="0" rIns="0" bIns="0" rtlCol="0" anchor="ctr"/>
          <a:lstStyle/>
          <a:p>
            <a:pPr marL="0" indent="0">
              <a:buNone/>
            </a:pPr>
            <a:r>
              <a:rPr lang="en-US" sz="1250" b="1" dirty="0">
                <a:solidFill>
                  <a:srgbClr val="0E3D29"/>
                </a:solidFill>
                <a:latin typeface="Calibri" pitchFamily="34" charset="0"/>
                <a:ea typeface="Calibri" pitchFamily="34" charset="-122"/>
                <a:cs typeface="Calibri" pitchFamily="34" charset="-120"/>
              </a:rPr>
              <a:t>TDVIP — the new Databricks risk analytics platform · medallion architecture</a:t>
            </a:r>
            <a:endParaRPr lang="en-US" sz="1250" dirty="0"/>
          </a:p>
        </p:txBody>
      </p:sp>
      <p:sp>
        <p:nvSpPr>
          <p:cNvPr id="5" name="Shape 3"/>
          <p:cNvSpPr/>
          <p:nvPr/>
        </p:nvSpPr>
        <p:spPr>
          <a:xfrm>
            <a:off x="548640" y="1627632"/>
            <a:ext cx="5669280" cy="365760"/>
          </a:xfrm>
          <a:prstGeom prst="roundRect">
            <a:avLst>
              <a:gd name="adj" fmla="val 12500"/>
            </a:avLst>
          </a:prstGeom>
          <a:solidFill>
            <a:srgbClr val="F5F7F5"/>
          </a:solidFill>
          <a:ln w="12700">
            <a:solidFill>
              <a:srgbClr val="D8E0DA"/>
            </a:solidFill>
            <a:prstDash val="solid"/>
          </a:ln>
        </p:spPr>
        <p:txBody>
          <a:bodyPr/>
          <a:lstStyle/>
          <a:p>
            <a:endParaRPr lang="en-US"/>
          </a:p>
        </p:txBody>
      </p:sp>
      <p:sp>
        <p:nvSpPr>
          <p:cNvPr id="6" name="Text 4"/>
          <p:cNvSpPr/>
          <p:nvPr/>
        </p:nvSpPr>
        <p:spPr>
          <a:xfrm>
            <a:off x="676656" y="1627632"/>
            <a:ext cx="5431536" cy="365760"/>
          </a:xfrm>
          <a:prstGeom prst="rect">
            <a:avLst/>
          </a:prstGeom>
          <a:noFill/>
          <a:ln/>
        </p:spPr>
        <p:txBody>
          <a:bodyPr wrap="square" lIns="0" tIns="0" rIns="0" bIns="0" rtlCol="0" anchor="ctr"/>
          <a:lstStyle/>
          <a:p>
            <a:pPr marL="0" indent="0">
              <a:buNone/>
            </a:pPr>
            <a:r>
              <a:rPr lang="en-US" sz="1050" b="1" dirty="0">
                <a:solidFill>
                  <a:srgbClr val="0E3D29"/>
                </a:solidFill>
                <a:latin typeface="Calibri" pitchFamily="34" charset="0"/>
                <a:ea typeface="Calibri" pitchFamily="34" charset="-122"/>
                <a:cs typeface="Calibri" pitchFamily="34" charset="-120"/>
              </a:rPr>
              <a:t>Account   </a:t>
            </a:r>
            <a:r>
              <a:rPr lang="en-US" sz="830" dirty="0">
                <a:solidFill>
                  <a:srgbClr val="262B27"/>
                </a:solidFill>
                <a:latin typeface="Calibri" pitchFamily="34" charset="0"/>
                <a:ea typeface="Calibri" pitchFamily="34" charset="-122"/>
                <a:cs typeface="Calibri" pitchFamily="34" charset="-120"/>
              </a:rPr>
              <a:t>One TDS Databricks account, managed by TD</a:t>
            </a:r>
            <a:endParaRPr lang="en-US" sz="1050" dirty="0"/>
          </a:p>
        </p:txBody>
      </p:sp>
      <p:sp>
        <p:nvSpPr>
          <p:cNvPr id="7" name="Shape 5"/>
          <p:cNvSpPr/>
          <p:nvPr/>
        </p:nvSpPr>
        <p:spPr>
          <a:xfrm>
            <a:off x="822960" y="2029968"/>
            <a:ext cx="5394960" cy="365760"/>
          </a:xfrm>
          <a:prstGeom prst="roundRect">
            <a:avLst>
              <a:gd name="adj" fmla="val 12500"/>
            </a:avLst>
          </a:prstGeom>
          <a:solidFill>
            <a:srgbClr val="F5F7F5"/>
          </a:solidFill>
          <a:ln w="12700">
            <a:solidFill>
              <a:srgbClr val="D8E0DA"/>
            </a:solidFill>
            <a:prstDash val="solid"/>
          </a:ln>
        </p:spPr>
        <p:txBody>
          <a:bodyPr/>
          <a:lstStyle/>
          <a:p>
            <a:endParaRPr lang="en-US"/>
          </a:p>
        </p:txBody>
      </p:sp>
      <p:sp>
        <p:nvSpPr>
          <p:cNvPr id="8" name="Shape 6"/>
          <p:cNvSpPr/>
          <p:nvPr/>
        </p:nvSpPr>
        <p:spPr>
          <a:xfrm>
            <a:off x="685800" y="2212848"/>
            <a:ext cx="137160" cy="0"/>
          </a:xfrm>
          <a:prstGeom prst="line">
            <a:avLst/>
          </a:prstGeom>
          <a:noFill/>
          <a:ln w="15875">
            <a:solidFill>
              <a:srgbClr val="3E9E68"/>
            </a:solidFill>
            <a:prstDash val="solid"/>
          </a:ln>
        </p:spPr>
        <p:txBody>
          <a:bodyPr/>
          <a:lstStyle/>
          <a:p>
            <a:endParaRPr lang="en-US"/>
          </a:p>
        </p:txBody>
      </p:sp>
      <p:sp>
        <p:nvSpPr>
          <p:cNvPr id="9" name="Text 7"/>
          <p:cNvSpPr/>
          <p:nvPr/>
        </p:nvSpPr>
        <p:spPr>
          <a:xfrm>
            <a:off x="950976" y="2029968"/>
            <a:ext cx="5157216" cy="365760"/>
          </a:xfrm>
          <a:prstGeom prst="rect">
            <a:avLst/>
          </a:prstGeom>
          <a:noFill/>
          <a:ln/>
        </p:spPr>
        <p:txBody>
          <a:bodyPr wrap="square" lIns="0" tIns="0" rIns="0" bIns="0" rtlCol="0" anchor="ctr"/>
          <a:lstStyle/>
          <a:p>
            <a:pPr marL="0" indent="0">
              <a:buNone/>
            </a:pPr>
            <a:r>
              <a:rPr lang="en-US" sz="1050" b="1" dirty="0">
                <a:solidFill>
                  <a:srgbClr val="0E3D29"/>
                </a:solidFill>
                <a:latin typeface="Calibri" pitchFamily="34" charset="0"/>
                <a:ea typeface="Calibri" pitchFamily="34" charset="-122"/>
                <a:cs typeface="Calibri" pitchFamily="34" charset="-120"/>
              </a:rPr>
              <a:t>Workspace   </a:t>
            </a:r>
            <a:r>
              <a:rPr lang="en-US" sz="830" dirty="0">
                <a:solidFill>
                  <a:srgbClr val="262B27"/>
                </a:solidFill>
                <a:latin typeface="Calibri" pitchFamily="34" charset="0"/>
                <a:ea typeface="Calibri" pitchFamily="34" charset="-122"/>
                <a:cs typeface="Calibri" pitchFamily="34" charset="-120"/>
              </a:rPr>
              <a:t>Platform-provisioned (expected: dedicated · actual: shared)</a:t>
            </a:r>
            <a:endParaRPr lang="en-US" sz="1050" dirty="0"/>
          </a:p>
        </p:txBody>
      </p:sp>
      <p:sp>
        <p:nvSpPr>
          <p:cNvPr id="10" name="Shape 8"/>
          <p:cNvSpPr/>
          <p:nvPr/>
        </p:nvSpPr>
        <p:spPr>
          <a:xfrm>
            <a:off x="1097280" y="2432304"/>
            <a:ext cx="5120640" cy="365760"/>
          </a:xfrm>
          <a:prstGeom prst="roundRect">
            <a:avLst>
              <a:gd name="adj" fmla="val 12500"/>
            </a:avLst>
          </a:prstGeom>
          <a:solidFill>
            <a:srgbClr val="F5F7F5"/>
          </a:solidFill>
          <a:ln w="12700">
            <a:solidFill>
              <a:srgbClr val="D8E0DA"/>
            </a:solidFill>
            <a:prstDash val="solid"/>
          </a:ln>
        </p:spPr>
        <p:txBody>
          <a:bodyPr/>
          <a:lstStyle/>
          <a:p>
            <a:endParaRPr lang="en-US"/>
          </a:p>
        </p:txBody>
      </p:sp>
      <p:sp>
        <p:nvSpPr>
          <p:cNvPr id="11" name="Shape 9"/>
          <p:cNvSpPr/>
          <p:nvPr/>
        </p:nvSpPr>
        <p:spPr>
          <a:xfrm>
            <a:off x="960120" y="2615184"/>
            <a:ext cx="137160" cy="0"/>
          </a:xfrm>
          <a:prstGeom prst="line">
            <a:avLst/>
          </a:prstGeom>
          <a:noFill/>
          <a:ln w="15875">
            <a:solidFill>
              <a:srgbClr val="3E9E68"/>
            </a:solidFill>
            <a:prstDash val="solid"/>
          </a:ln>
        </p:spPr>
        <p:txBody>
          <a:bodyPr/>
          <a:lstStyle/>
          <a:p>
            <a:endParaRPr lang="en-US"/>
          </a:p>
        </p:txBody>
      </p:sp>
      <p:sp>
        <p:nvSpPr>
          <p:cNvPr id="12" name="Text 10"/>
          <p:cNvSpPr/>
          <p:nvPr/>
        </p:nvSpPr>
        <p:spPr>
          <a:xfrm>
            <a:off x="1225296" y="2432304"/>
            <a:ext cx="4882896" cy="365760"/>
          </a:xfrm>
          <a:prstGeom prst="rect">
            <a:avLst/>
          </a:prstGeom>
          <a:noFill/>
          <a:ln/>
        </p:spPr>
        <p:txBody>
          <a:bodyPr wrap="square" lIns="0" tIns="0" rIns="0" bIns="0" rtlCol="0" anchor="ctr"/>
          <a:lstStyle/>
          <a:p>
            <a:pPr marL="0" indent="0">
              <a:buNone/>
            </a:pPr>
            <a:r>
              <a:rPr lang="en-US" sz="1050" b="1" dirty="0">
                <a:solidFill>
                  <a:srgbClr val="0E3D29"/>
                </a:solidFill>
                <a:latin typeface="Calibri" pitchFamily="34" charset="0"/>
                <a:ea typeface="Calibri" pitchFamily="34" charset="-122"/>
                <a:cs typeface="Calibri" pitchFamily="34" charset="-120"/>
              </a:rPr>
              <a:t>Catalog  =  product group   </a:t>
            </a:r>
            <a:r>
              <a:rPr lang="en-US" sz="830" dirty="0">
                <a:solidFill>
                  <a:srgbClr val="262B27"/>
                </a:solidFill>
                <a:latin typeface="Calibri" pitchFamily="34" charset="0"/>
                <a:ea typeface="Calibri" pitchFamily="34" charset="-122"/>
                <a:cs typeface="Calibri" pitchFamily="34" charset="-120"/>
              </a:rPr>
              <a:t>creditrisk · marketrisk · liquidity · finance</a:t>
            </a:r>
            <a:endParaRPr lang="en-US" sz="1050" dirty="0"/>
          </a:p>
        </p:txBody>
      </p:sp>
      <p:sp>
        <p:nvSpPr>
          <p:cNvPr id="13" name="Shape 11"/>
          <p:cNvSpPr/>
          <p:nvPr/>
        </p:nvSpPr>
        <p:spPr>
          <a:xfrm>
            <a:off x="1371600" y="2834640"/>
            <a:ext cx="4846320" cy="365760"/>
          </a:xfrm>
          <a:prstGeom prst="roundRect">
            <a:avLst>
              <a:gd name="adj" fmla="val 12500"/>
            </a:avLst>
          </a:prstGeom>
          <a:solidFill>
            <a:srgbClr val="F5F7F5"/>
          </a:solidFill>
          <a:ln w="12700">
            <a:solidFill>
              <a:srgbClr val="D8E0DA"/>
            </a:solidFill>
            <a:prstDash val="solid"/>
          </a:ln>
        </p:spPr>
        <p:txBody>
          <a:bodyPr/>
          <a:lstStyle/>
          <a:p>
            <a:endParaRPr lang="en-US"/>
          </a:p>
        </p:txBody>
      </p:sp>
      <p:sp>
        <p:nvSpPr>
          <p:cNvPr id="14" name="Shape 12"/>
          <p:cNvSpPr/>
          <p:nvPr/>
        </p:nvSpPr>
        <p:spPr>
          <a:xfrm>
            <a:off x="1234440" y="3017520"/>
            <a:ext cx="137160" cy="0"/>
          </a:xfrm>
          <a:prstGeom prst="line">
            <a:avLst/>
          </a:prstGeom>
          <a:noFill/>
          <a:ln w="15875">
            <a:solidFill>
              <a:srgbClr val="3E9E68"/>
            </a:solidFill>
            <a:prstDash val="solid"/>
          </a:ln>
        </p:spPr>
        <p:txBody>
          <a:bodyPr/>
          <a:lstStyle/>
          <a:p>
            <a:endParaRPr lang="en-US"/>
          </a:p>
        </p:txBody>
      </p:sp>
      <p:sp>
        <p:nvSpPr>
          <p:cNvPr id="15" name="Text 13"/>
          <p:cNvSpPr/>
          <p:nvPr/>
        </p:nvSpPr>
        <p:spPr>
          <a:xfrm>
            <a:off x="1499616" y="2834640"/>
            <a:ext cx="4608576" cy="365760"/>
          </a:xfrm>
          <a:prstGeom prst="rect">
            <a:avLst/>
          </a:prstGeom>
          <a:noFill/>
          <a:ln/>
        </p:spPr>
        <p:txBody>
          <a:bodyPr wrap="square" lIns="0" tIns="0" rIns="0" bIns="0" rtlCol="0" anchor="ctr"/>
          <a:lstStyle/>
          <a:p>
            <a:pPr marL="0" indent="0">
              <a:buNone/>
            </a:pPr>
            <a:r>
              <a:rPr lang="en-US" sz="1050" b="1" dirty="0">
                <a:solidFill>
                  <a:srgbClr val="0E3D29"/>
                </a:solidFill>
                <a:latin typeface="Calibri" pitchFamily="34" charset="0"/>
                <a:ea typeface="Calibri" pitchFamily="34" charset="-122"/>
                <a:cs typeface="Calibri" pitchFamily="34" charset="-120"/>
              </a:rPr>
              <a:t>Schema  =  app / project   </a:t>
            </a:r>
            <a:r>
              <a:rPr lang="en-US" sz="830" dirty="0">
                <a:solidFill>
                  <a:srgbClr val="262B27"/>
                </a:solidFill>
                <a:latin typeface="Calibri" pitchFamily="34" charset="0"/>
                <a:ea typeface="Calibri" pitchFamily="34" charset="-122"/>
                <a:cs typeface="Calibri" pitchFamily="34" charset="-120"/>
              </a:rPr>
              <a:t>One or more per risk app; apps build conformity &amp; contracts</a:t>
            </a:r>
            <a:endParaRPr lang="en-US" sz="1050" dirty="0"/>
          </a:p>
        </p:txBody>
      </p:sp>
      <p:sp>
        <p:nvSpPr>
          <p:cNvPr id="16" name="Shape 14"/>
          <p:cNvSpPr/>
          <p:nvPr/>
        </p:nvSpPr>
        <p:spPr>
          <a:xfrm>
            <a:off x="1645920" y="3236976"/>
            <a:ext cx="4572000" cy="365760"/>
          </a:xfrm>
          <a:prstGeom prst="roundRect">
            <a:avLst>
              <a:gd name="adj" fmla="val 12500"/>
            </a:avLst>
          </a:prstGeom>
          <a:solidFill>
            <a:srgbClr val="EAF3EC"/>
          </a:solidFill>
          <a:ln w="12700">
            <a:solidFill>
              <a:srgbClr val="3E9E68"/>
            </a:solidFill>
            <a:prstDash val="solid"/>
          </a:ln>
        </p:spPr>
        <p:txBody>
          <a:bodyPr/>
          <a:lstStyle/>
          <a:p>
            <a:endParaRPr lang="en-US"/>
          </a:p>
        </p:txBody>
      </p:sp>
      <p:sp>
        <p:nvSpPr>
          <p:cNvPr id="17" name="Shape 15"/>
          <p:cNvSpPr/>
          <p:nvPr/>
        </p:nvSpPr>
        <p:spPr>
          <a:xfrm>
            <a:off x="1508760" y="3419856"/>
            <a:ext cx="137160" cy="0"/>
          </a:xfrm>
          <a:prstGeom prst="line">
            <a:avLst/>
          </a:prstGeom>
          <a:noFill/>
          <a:ln w="15875">
            <a:solidFill>
              <a:srgbClr val="3E9E68"/>
            </a:solidFill>
            <a:prstDash val="solid"/>
          </a:ln>
        </p:spPr>
        <p:txBody>
          <a:bodyPr/>
          <a:lstStyle/>
          <a:p>
            <a:endParaRPr lang="en-US"/>
          </a:p>
        </p:txBody>
      </p:sp>
      <p:sp>
        <p:nvSpPr>
          <p:cNvPr id="18" name="Text 16"/>
          <p:cNvSpPr/>
          <p:nvPr/>
        </p:nvSpPr>
        <p:spPr>
          <a:xfrm>
            <a:off x="1773936" y="3236976"/>
            <a:ext cx="4334256" cy="365760"/>
          </a:xfrm>
          <a:prstGeom prst="rect">
            <a:avLst/>
          </a:prstGeom>
          <a:noFill/>
          <a:ln/>
        </p:spPr>
        <p:txBody>
          <a:bodyPr wrap="square" lIns="0" tIns="0" rIns="0" bIns="0" rtlCol="0" anchor="ctr"/>
          <a:lstStyle/>
          <a:p>
            <a:pPr marL="0" indent="0">
              <a:buNone/>
            </a:pPr>
            <a:r>
              <a:rPr lang="en-US" sz="1050" b="1" dirty="0">
                <a:solidFill>
                  <a:srgbClr val="0E3D29"/>
                </a:solidFill>
                <a:latin typeface="Calibri" pitchFamily="34" charset="0"/>
                <a:ea typeface="Calibri" pitchFamily="34" charset="-122"/>
                <a:cs typeface="Calibri" pitchFamily="34" charset="-120"/>
              </a:rPr>
              <a:t>riskwh   </a:t>
            </a:r>
            <a:r>
              <a:rPr lang="en-US" sz="830" dirty="0">
                <a:solidFill>
                  <a:srgbClr val="262B27"/>
                </a:solidFill>
                <a:latin typeface="Calibri" pitchFamily="34" charset="0"/>
                <a:ea typeface="Calibri" pitchFamily="34" charset="-122"/>
                <a:cs typeface="Calibri" pitchFamily="34" charset="-120"/>
              </a:rPr>
              <a:t>Business analytics — consume app data products, join across products</a:t>
            </a:r>
            <a:endParaRPr lang="en-US" sz="1050" dirty="0"/>
          </a:p>
        </p:txBody>
      </p:sp>
      <p:sp>
        <p:nvSpPr>
          <p:cNvPr id="19" name="Text 17"/>
          <p:cNvSpPr/>
          <p:nvPr/>
        </p:nvSpPr>
        <p:spPr>
          <a:xfrm>
            <a:off x="6675120" y="1298448"/>
            <a:ext cx="4967935" cy="27432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Tooling in the stack</a:t>
            </a:r>
            <a:endParaRPr lang="en-US" sz="1300" dirty="0"/>
          </a:p>
        </p:txBody>
      </p:sp>
      <p:sp>
        <p:nvSpPr>
          <p:cNvPr id="20" name="Shape 18"/>
          <p:cNvSpPr/>
          <p:nvPr/>
        </p:nvSpPr>
        <p:spPr>
          <a:xfrm>
            <a:off x="6675120" y="1627632"/>
            <a:ext cx="4967935" cy="457200"/>
          </a:xfrm>
          <a:prstGeom prst="roundRect">
            <a:avLst>
              <a:gd name="adj" fmla="val 10000"/>
            </a:avLst>
          </a:prstGeom>
          <a:solidFill>
            <a:srgbClr val="F6EFE0"/>
          </a:solidFill>
          <a:ln w="12700">
            <a:solidFill>
              <a:srgbClr val="E6D6B5"/>
            </a:solidFill>
            <a:prstDash val="solid"/>
          </a:ln>
        </p:spPr>
        <p:txBody>
          <a:bodyPr/>
          <a:lstStyle/>
          <a:p>
            <a:endParaRPr lang="en-US"/>
          </a:p>
        </p:txBody>
      </p:sp>
      <p:sp>
        <p:nvSpPr>
          <p:cNvPr id="21" name="Shape 19"/>
          <p:cNvSpPr/>
          <p:nvPr/>
        </p:nvSpPr>
        <p:spPr>
          <a:xfrm>
            <a:off x="6793992" y="1700784"/>
            <a:ext cx="310896" cy="310896"/>
          </a:xfrm>
          <a:prstGeom prst="ellipse">
            <a:avLst/>
          </a:prstGeom>
          <a:solidFill>
            <a:srgbClr val="9C6B16"/>
          </a:solidFill>
          <a:ln/>
        </p:spPr>
        <p:txBody>
          <a:bodyPr/>
          <a:lstStyle/>
          <a:p>
            <a:endParaRPr lang="en-US"/>
          </a:p>
        </p:txBody>
      </p:sp>
      <p:pic>
        <p:nvPicPr>
          <p:cNvPr id="22" name="Image 0" descr="preencoded.png"/>
          <p:cNvPicPr>
            <a:picLocks noChangeAspect="1"/>
          </p:cNvPicPr>
          <p:nvPr/>
        </p:nvPicPr>
        <p:blipFill>
          <a:blip r:embed="rId3"/>
          <a:stretch>
            <a:fillRect/>
          </a:stretch>
        </p:blipFill>
        <p:spPr>
          <a:xfrm>
            <a:off x="6871716" y="1778508"/>
            <a:ext cx="155448" cy="155448"/>
          </a:xfrm>
          <a:prstGeom prst="rect">
            <a:avLst/>
          </a:prstGeom>
        </p:spPr>
      </p:pic>
      <p:sp>
        <p:nvSpPr>
          <p:cNvPr id="23" name="Text 20"/>
          <p:cNvSpPr/>
          <p:nvPr/>
        </p:nvSpPr>
        <p:spPr>
          <a:xfrm>
            <a:off x="7205472" y="1664208"/>
            <a:ext cx="4309567" cy="219456"/>
          </a:xfrm>
          <a:prstGeom prst="rect">
            <a:avLst/>
          </a:prstGeom>
          <a:noFill/>
          <a:ln/>
        </p:spPr>
        <p:txBody>
          <a:bodyPr wrap="square" lIns="0" tIns="0" rIns="0" bIns="0" rtlCol="0" anchor="ctr"/>
          <a:lstStyle/>
          <a:p>
            <a:pPr marL="0" indent="0">
              <a:buNone/>
            </a:pPr>
            <a:r>
              <a:rPr lang="en-US" sz="1050" b="1" dirty="0">
                <a:solidFill>
                  <a:srgbClr val="0E3D29"/>
                </a:solidFill>
                <a:latin typeface="Calibri" pitchFamily="34" charset="0"/>
                <a:ea typeface="Calibri" pitchFamily="34" charset="-122"/>
                <a:cs typeface="Calibri" pitchFamily="34" charset="-120"/>
              </a:rPr>
              <a:t>Dremio</a:t>
            </a:r>
            <a:endParaRPr lang="en-US" sz="1050" dirty="0"/>
          </a:p>
        </p:txBody>
      </p:sp>
      <p:sp>
        <p:nvSpPr>
          <p:cNvPr id="24" name="Text 21"/>
          <p:cNvSpPr/>
          <p:nvPr/>
        </p:nvSpPr>
        <p:spPr>
          <a:xfrm>
            <a:off x="7205472" y="1865376"/>
            <a:ext cx="4309567" cy="219456"/>
          </a:xfrm>
          <a:prstGeom prst="rect">
            <a:avLst/>
          </a:prstGeom>
          <a:noFill/>
          <a:ln/>
        </p:spPr>
        <p:txBody>
          <a:bodyPr wrap="square" lIns="0" tIns="0" rIns="0" bIns="0" rtlCol="0" anchor="ctr"/>
          <a:lstStyle/>
          <a:p>
            <a:pPr marL="0" indent="0">
              <a:buNone/>
            </a:pPr>
            <a:r>
              <a:rPr lang="en-US" sz="830" dirty="0">
                <a:solidFill>
                  <a:srgbClr val="262B27"/>
                </a:solidFill>
                <a:latin typeface="Calibri" pitchFamily="34" charset="0"/>
                <a:ea typeface="Calibri" pitchFamily="34" charset="-122"/>
                <a:cs typeface="Calibri" pitchFamily="34" charset="-120"/>
              </a:rPr>
              <a:t>Queries InfoP (enterprise CDM); does not integrate with Unity Catalog today</a:t>
            </a:r>
            <a:endParaRPr lang="en-US" sz="830" dirty="0"/>
          </a:p>
        </p:txBody>
      </p:sp>
      <p:sp>
        <p:nvSpPr>
          <p:cNvPr id="25" name="Shape 22"/>
          <p:cNvSpPr/>
          <p:nvPr/>
        </p:nvSpPr>
        <p:spPr>
          <a:xfrm>
            <a:off x="6675120" y="2139696"/>
            <a:ext cx="4967935" cy="457200"/>
          </a:xfrm>
          <a:prstGeom prst="roundRect">
            <a:avLst>
              <a:gd name="adj" fmla="val 10000"/>
            </a:avLst>
          </a:prstGeom>
          <a:solidFill>
            <a:srgbClr val="F5F7F5"/>
          </a:solidFill>
          <a:ln w="12700">
            <a:solidFill>
              <a:srgbClr val="D8E0DA"/>
            </a:solidFill>
            <a:prstDash val="solid"/>
          </a:ln>
        </p:spPr>
        <p:txBody>
          <a:bodyPr/>
          <a:lstStyle/>
          <a:p>
            <a:endParaRPr lang="en-US"/>
          </a:p>
        </p:txBody>
      </p:sp>
      <p:sp>
        <p:nvSpPr>
          <p:cNvPr id="26" name="Shape 23"/>
          <p:cNvSpPr/>
          <p:nvPr/>
        </p:nvSpPr>
        <p:spPr>
          <a:xfrm>
            <a:off x="6793992" y="2212848"/>
            <a:ext cx="310896" cy="310896"/>
          </a:xfrm>
          <a:prstGeom prst="ellipse">
            <a:avLst/>
          </a:prstGeom>
          <a:solidFill>
            <a:srgbClr val="1F7A47"/>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6871716" y="2290572"/>
            <a:ext cx="155448" cy="155448"/>
          </a:xfrm>
          <a:prstGeom prst="rect">
            <a:avLst/>
          </a:prstGeom>
        </p:spPr>
      </p:pic>
      <p:sp>
        <p:nvSpPr>
          <p:cNvPr id="28" name="Text 24"/>
          <p:cNvSpPr/>
          <p:nvPr/>
        </p:nvSpPr>
        <p:spPr>
          <a:xfrm>
            <a:off x="7205472" y="2176272"/>
            <a:ext cx="4309567" cy="219456"/>
          </a:xfrm>
          <a:prstGeom prst="rect">
            <a:avLst/>
          </a:prstGeom>
          <a:noFill/>
          <a:ln/>
        </p:spPr>
        <p:txBody>
          <a:bodyPr wrap="square" lIns="0" tIns="0" rIns="0" bIns="0" rtlCol="0" anchor="ctr"/>
          <a:lstStyle/>
          <a:p>
            <a:pPr marL="0" indent="0">
              <a:buNone/>
            </a:pPr>
            <a:r>
              <a:rPr lang="en-US" sz="1050" b="1" dirty="0">
                <a:solidFill>
                  <a:srgbClr val="0E3D29"/>
                </a:solidFill>
                <a:latin typeface="Calibri" pitchFamily="34" charset="0"/>
                <a:ea typeface="Calibri" pitchFamily="34" charset="-122"/>
                <a:cs typeface="Calibri" pitchFamily="34" charset="-120"/>
              </a:rPr>
              <a:t>Strategy (MicroStrategy)</a:t>
            </a:r>
            <a:endParaRPr lang="en-US" sz="1050" dirty="0"/>
          </a:p>
        </p:txBody>
      </p:sp>
      <p:sp>
        <p:nvSpPr>
          <p:cNvPr id="29" name="Text 25"/>
          <p:cNvSpPr/>
          <p:nvPr/>
        </p:nvSpPr>
        <p:spPr>
          <a:xfrm>
            <a:off x="7205472" y="2377440"/>
            <a:ext cx="4309567" cy="219456"/>
          </a:xfrm>
          <a:prstGeom prst="rect">
            <a:avLst/>
          </a:prstGeom>
          <a:noFill/>
          <a:ln/>
        </p:spPr>
        <p:txBody>
          <a:bodyPr wrap="square" lIns="0" tIns="0" rIns="0" bIns="0" rtlCol="0" anchor="ctr"/>
          <a:lstStyle/>
          <a:p>
            <a:pPr marL="0" indent="0">
              <a:buNone/>
            </a:pPr>
            <a:r>
              <a:rPr lang="en-US" sz="830" dirty="0">
                <a:solidFill>
                  <a:srgbClr val="262B27"/>
                </a:solidFill>
                <a:latin typeface="Calibri" pitchFamily="34" charset="0"/>
                <a:ea typeface="Calibri" pitchFamily="34" charset="-122"/>
                <a:cs typeface="Calibri" pitchFamily="34" charset="-120"/>
              </a:rPr>
              <a:t>Own semantic model (Databricks lacks today); enterprise direction still to be settled</a:t>
            </a:r>
            <a:endParaRPr lang="en-US" sz="830" dirty="0"/>
          </a:p>
        </p:txBody>
      </p:sp>
      <p:sp>
        <p:nvSpPr>
          <p:cNvPr id="30" name="Shape 26"/>
          <p:cNvSpPr/>
          <p:nvPr/>
        </p:nvSpPr>
        <p:spPr>
          <a:xfrm>
            <a:off x="6675120" y="2651760"/>
            <a:ext cx="4967935" cy="457200"/>
          </a:xfrm>
          <a:prstGeom prst="roundRect">
            <a:avLst>
              <a:gd name="adj" fmla="val 10000"/>
            </a:avLst>
          </a:prstGeom>
          <a:solidFill>
            <a:srgbClr val="F5F7F5"/>
          </a:solidFill>
          <a:ln w="12700">
            <a:solidFill>
              <a:srgbClr val="D8E0DA"/>
            </a:solidFill>
            <a:prstDash val="solid"/>
          </a:ln>
        </p:spPr>
        <p:txBody>
          <a:bodyPr/>
          <a:lstStyle/>
          <a:p>
            <a:endParaRPr lang="en-US"/>
          </a:p>
        </p:txBody>
      </p:sp>
      <p:sp>
        <p:nvSpPr>
          <p:cNvPr id="31" name="Shape 27"/>
          <p:cNvSpPr/>
          <p:nvPr/>
        </p:nvSpPr>
        <p:spPr>
          <a:xfrm>
            <a:off x="6793992" y="2724912"/>
            <a:ext cx="310896" cy="310896"/>
          </a:xfrm>
          <a:prstGeom prst="ellipse">
            <a:avLst/>
          </a:prstGeom>
          <a:solidFill>
            <a:srgbClr val="1F7A47"/>
          </a:solidFill>
          <a:ln/>
        </p:spPr>
        <p:txBody>
          <a:bodyPr/>
          <a:lstStyle/>
          <a:p>
            <a:endParaRPr lang="en-US"/>
          </a:p>
        </p:txBody>
      </p:sp>
      <p:pic>
        <p:nvPicPr>
          <p:cNvPr id="32" name="Image 2" descr="preencoded.png"/>
          <p:cNvPicPr>
            <a:picLocks noChangeAspect="1"/>
          </p:cNvPicPr>
          <p:nvPr/>
        </p:nvPicPr>
        <p:blipFill>
          <a:blip r:embed="rId5"/>
          <a:stretch>
            <a:fillRect/>
          </a:stretch>
        </p:blipFill>
        <p:spPr>
          <a:xfrm>
            <a:off x="6871716" y="2802636"/>
            <a:ext cx="155448" cy="155448"/>
          </a:xfrm>
          <a:prstGeom prst="rect">
            <a:avLst/>
          </a:prstGeom>
        </p:spPr>
      </p:pic>
      <p:sp>
        <p:nvSpPr>
          <p:cNvPr id="33" name="Text 28"/>
          <p:cNvSpPr/>
          <p:nvPr/>
        </p:nvSpPr>
        <p:spPr>
          <a:xfrm>
            <a:off x="7205472" y="2688336"/>
            <a:ext cx="4309567" cy="219456"/>
          </a:xfrm>
          <a:prstGeom prst="rect">
            <a:avLst/>
          </a:prstGeom>
          <a:noFill/>
          <a:ln/>
        </p:spPr>
        <p:txBody>
          <a:bodyPr wrap="square" lIns="0" tIns="0" rIns="0" bIns="0" rtlCol="0" anchor="ctr"/>
          <a:lstStyle/>
          <a:p>
            <a:pPr marL="0" indent="0">
              <a:buNone/>
            </a:pPr>
            <a:r>
              <a:rPr lang="en-US" sz="1050" b="1" dirty="0">
                <a:solidFill>
                  <a:srgbClr val="0E3D29"/>
                </a:solidFill>
                <a:latin typeface="Calibri" pitchFamily="34" charset="0"/>
                <a:ea typeface="Calibri" pitchFamily="34" charset="-122"/>
                <a:cs typeface="Calibri" pitchFamily="34" charset="-120"/>
              </a:rPr>
              <a:t>Power BI</a:t>
            </a:r>
            <a:endParaRPr lang="en-US" sz="1050" dirty="0"/>
          </a:p>
        </p:txBody>
      </p:sp>
      <p:sp>
        <p:nvSpPr>
          <p:cNvPr id="34" name="Text 29"/>
          <p:cNvSpPr/>
          <p:nvPr/>
        </p:nvSpPr>
        <p:spPr>
          <a:xfrm>
            <a:off x="7205472" y="2889504"/>
            <a:ext cx="4309567" cy="219456"/>
          </a:xfrm>
          <a:prstGeom prst="rect">
            <a:avLst/>
          </a:prstGeom>
          <a:noFill/>
          <a:ln/>
        </p:spPr>
        <p:txBody>
          <a:bodyPr wrap="square" lIns="0" tIns="0" rIns="0" bIns="0" rtlCol="0" anchor="ctr"/>
          <a:lstStyle/>
          <a:p>
            <a:pPr marL="0" indent="0">
              <a:buNone/>
            </a:pPr>
            <a:r>
              <a:rPr lang="en-US" sz="830" dirty="0">
                <a:solidFill>
                  <a:srgbClr val="262B27"/>
                </a:solidFill>
                <a:latin typeface="Calibri" pitchFamily="34" charset="0"/>
                <a:ea typeface="Calibri" pitchFamily="34" charset="-122"/>
                <a:cs typeface="Calibri" pitchFamily="34" charset="-120"/>
              </a:rPr>
              <a:t>Approved BI tool for dashboards and self-service</a:t>
            </a:r>
            <a:endParaRPr lang="en-US" sz="830" dirty="0"/>
          </a:p>
        </p:txBody>
      </p:sp>
      <p:sp>
        <p:nvSpPr>
          <p:cNvPr id="35" name="Shape 30"/>
          <p:cNvSpPr/>
          <p:nvPr/>
        </p:nvSpPr>
        <p:spPr>
          <a:xfrm>
            <a:off x="6675120" y="3163824"/>
            <a:ext cx="4967935" cy="420624"/>
          </a:xfrm>
          <a:prstGeom prst="roundRect">
            <a:avLst>
              <a:gd name="adj" fmla="val 10870"/>
            </a:avLst>
          </a:prstGeom>
          <a:solidFill>
            <a:srgbClr val="EDF1F3"/>
          </a:solidFill>
          <a:ln w="12700">
            <a:solidFill>
              <a:srgbClr val="D3DCE0"/>
            </a:solidFill>
            <a:prstDash val="solid"/>
          </a:ln>
        </p:spPr>
        <p:txBody>
          <a:bodyPr/>
          <a:lstStyle/>
          <a:p>
            <a:endParaRPr lang="en-US"/>
          </a:p>
        </p:txBody>
      </p:sp>
      <p:sp>
        <p:nvSpPr>
          <p:cNvPr id="36" name="Text 31"/>
          <p:cNvSpPr/>
          <p:nvPr/>
        </p:nvSpPr>
        <p:spPr>
          <a:xfrm>
            <a:off x="6821424" y="3163824"/>
            <a:ext cx="4693615" cy="420624"/>
          </a:xfrm>
          <a:prstGeom prst="rect">
            <a:avLst/>
          </a:prstGeom>
          <a:noFill/>
          <a:ln/>
        </p:spPr>
        <p:txBody>
          <a:bodyPr wrap="square" lIns="0" tIns="0" rIns="0" bIns="0" rtlCol="0" anchor="ctr"/>
          <a:lstStyle/>
          <a:p>
            <a:pPr marL="0" indent="0">
              <a:buNone/>
            </a:pPr>
            <a:r>
              <a:rPr lang="en-US" sz="950" b="1" dirty="0">
                <a:solidFill>
                  <a:srgbClr val="9C6B16"/>
                </a:solidFill>
                <a:latin typeface="Calibri" pitchFamily="34" charset="0"/>
                <a:ea typeface="Calibri" pitchFamily="34" charset="-122"/>
                <a:cs typeface="Calibri" pitchFamily="34" charset="-120"/>
              </a:rPr>
              <a:t>Platform-owned: </a:t>
            </a:r>
            <a:r>
              <a:rPr lang="en-US" sz="950" dirty="0">
                <a:solidFill>
                  <a:srgbClr val="262B27"/>
                </a:solidFill>
                <a:latin typeface="Calibri" pitchFamily="34" charset="0"/>
                <a:ea typeface="Calibri" pitchFamily="34" charset="-122"/>
                <a:cs typeface="Calibri" pitchFamily="34" charset="-120"/>
              </a:rPr>
              <a:t>workspace · catalog · schema &amp; properties · compute.   </a:t>
            </a:r>
            <a:r>
              <a:rPr lang="en-US" sz="950" b="1" dirty="0">
                <a:solidFill>
                  <a:srgbClr val="1F7A47"/>
                </a:solidFill>
                <a:latin typeface="Calibri" pitchFamily="34" charset="0"/>
                <a:ea typeface="Calibri" pitchFamily="34" charset="-122"/>
                <a:cs typeface="Calibri" pitchFamily="34" charset="-120"/>
              </a:rPr>
              <a:t>Risk-owned: </a:t>
            </a:r>
            <a:r>
              <a:rPr lang="en-US" sz="950" dirty="0">
                <a:solidFill>
                  <a:srgbClr val="262B27"/>
                </a:solidFill>
                <a:latin typeface="Calibri" pitchFamily="34" charset="0"/>
                <a:ea typeface="Calibri" pitchFamily="34" charset="-122"/>
                <a:cs typeface="Calibri" pitchFamily="34" charset="-120"/>
              </a:rPr>
              <a:t>objects within a schema.</a:t>
            </a:r>
            <a:endParaRPr lang="en-US" sz="950" dirty="0"/>
          </a:p>
        </p:txBody>
      </p:sp>
      <p:sp>
        <p:nvSpPr>
          <p:cNvPr id="37" name="Text 32"/>
          <p:cNvSpPr/>
          <p:nvPr/>
        </p:nvSpPr>
        <p:spPr>
          <a:xfrm>
            <a:off x="548640" y="3712464"/>
            <a:ext cx="11094415" cy="274320"/>
          </a:xfrm>
          <a:prstGeom prst="rect">
            <a:avLst/>
          </a:prstGeom>
          <a:noFill/>
          <a:ln/>
        </p:spPr>
        <p:txBody>
          <a:bodyPr wrap="square" lIns="0" tIns="0" rIns="0" bIns="0" rtlCol="0" anchor="ctr"/>
          <a:lstStyle/>
          <a:p>
            <a:pPr marL="0" indent="0">
              <a:buNone/>
            </a:pPr>
            <a:r>
              <a:rPr lang="en-US" sz="1350" b="1" dirty="0">
                <a:solidFill>
                  <a:srgbClr val="0E3D29"/>
                </a:solidFill>
                <a:latin typeface="Calibri" pitchFamily="34" charset="0"/>
                <a:ea typeface="Calibri" pitchFamily="34" charset="-122"/>
                <a:cs typeface="Calibri" pitchFamily="34" charset="-120"/>
              </a:rPr>
              <a:t>What's working today — and what's slowing us down</a:t>
            </a:r>
            <a:endParaRPr lang="en-US" sz="1350" dirty="0"/>
          </a:p>
        </p:txBody>
      </p:sp>
      <p:sp>
        <p:nvSpPr>
          <p:cNvPr id="38" name="Text 33"/>
          <p:cNvSpPr/>
          <p:nvPr/>
        </p:nvSpPr>
        <p:spPr>
          <a:xfrm>
            <a:off x="548640" y="4005072"/>
            <a:ext cx="11094415" cy="402336"/>
          </a:xfrm>
          <a:prstGeom prst="rect">
            <a:avLst/>
          </a:prstGeom>
          <a:noFill/>
          <a:ln/>
        </p:spPr>
        <p:txBody>
          <a:bodyPr wrap="square" lIns="0" tIns="0" rIns="0" bIns="0" rtlCol="0" anchor="ctr"/>
          <a:lstStyle/>
          <a:p>
            <a:pPr marL="0" indent="0">
              <a:lnSpc>
                <a:spcPct val="102000"/>
              </a:lnSpc>
              <a:buNone/>
            </a:pPr>
            <a:r>
              <a:rPr lang="en-US" sz="1000" b="1" dirty="0">
                <a:solidFill>
                  <a:srgbClr val="1F7A47"/>
                </a:solidFill>
                <a:latin typeface="Calibri" pitchFamily="34" charset="0"/>
                <a:ea typeface="Calibri" pitchFamily="34" charset="-122"/>
                <a:cs typeface="Calibri" pitchFamily="34" charset="-120"/>
              </a:rPr>
              <a:t>Working: </a:t>
            </a:r>
            <a:r>
              <a:rPr lang="en-US" sz="1000" dirty="0">
                <a:solidFill>
                  <a:srgbClr val="262B27"/>
                </a:solidFill>
                <a:latin typeface="Calibri" pitchFamily="34" charset="0"/>
                <a:ea typeface="Calibri" pitchFamily="34" charset="-122"/>
                <a:cs typeface="Calibri" pitchFamily="34" charset="-120"/>
              </a:rPr>
              <a:t>data is produced and distributed reliably, the TDVIP + Unity Catalog foundation is stood up, and a proof of concept already validates the model.  </a:t>
            </a:r>
            <a:r>
              <a:rPr lang="en-US" sz="1000" i="1" dirty="0">
                <a:solidFill>
                  <a:srgbClr val="9C6B16"/>
                </a:solidFill>
                <a:latin typeface="Calibri" pitchFamily="34" charset="0"/>
                <a:ea typeface="Calibri" pitchFamily="34" charset="-122"/>
                <a:cs typeface="Calibri" pitchFamily="34" charset="-120"/>
              </a:rPr>
              <a:t>The normal guardrails (approved compute, central provisioning) are fine — these five are what actually slow us down:</a:t>
            </a:r>
            <a:endParaRPr lang="en-US" sz="1000" dirty="0"/>
          </a:p>
        </p:txBody>
      </p:sp>
      <p:sp>
        <p:nvSpPr>
          <p:cNvPr id="39" name="Shape 34"/>
          <p:cNvSpPr/>
          <p:nvPr/>
        </p:nvSpPr>
        <p:spPr>
          <a:xfrm>
            <a:off x="548640" y="4498848"/>
            <a:ext cx="2057949" cy="1664208"/>
          </a:xfrm>
          <a:prstGeom prst="roundRect">
            <a:avLst>
              <a:gd name="adj" fmla="val 3297"/>
            </a:avLst>
          </a:prstGeom>
          <a:solidFill>
            <a:srgbClr val="F6EFE0"/>
          </a:solidFill>
          <a:ln w="12700">
            <a:solidFill>
              <a:srgbClr val="E6D6B5"/>
            </a:solidFill>
            <a:prstDash val="solid"/>
          </a:ln>
          <a:effectLst>
            <a:outerShdw blurRad="88900" dist="38100" dir="5400000" algn="bl" rotWithShape="0">
              <a:srgbClr val="000000">
                <a:alpha val="10000"/>
              </a:srgbClr>
            </a:outerShdw>
          </a:effectLst>
        </p:spPr>
        <p:txBody>
          <a:bodyPr/>
          <a:lstStyle/>
          <a:p>
            <a:endParaRPr lang="en-US"/>
          </a:p>
        </p:txBody>
      </p:sp>
      <p:sp>
        <p:nvSpPr>
          <p:cNvPr id="40" name="Shape 35"/>
          <p:cNvSpPr/>
          <p:nvPr/>
        </p:nvSpPr>
        <p:spPr>
          <a:xfrm>
            <a:off x="694944" y="4645152"/>
            <a:ext cx="384048" cy="384048"/>
          </a:xfrm>
          <a:prstGeom prst="ellipse">
            <a:avLst/>
          </a:prstGeom>
          <a:solidFill>
            <a:srgbClr val="9C6B16"/>
          </a:solidFill>
          <a:ln/>
        </p:spPr>
        <p:txBody>
          <a:bodyPr/>
          <a:lstStyle/>
          <a:p>
            <a:endParaRPr lang="en-US"/>
          </a:p>
        </p:txBody>
      </p:sp>
      <p:pic>
        <p:nvPicPr>
          <p:cNvPr id="41" name="Image 3" descr="preencoded.png"/>
          <p:cNvPicPr>
            <a:picLocks noChangeAspect="1"/>
          </p:cNvPicPr>
          <p:nvPr/>
        </p:nvPicPr>
        <p:blipFill>
          <a:blip r:embed="rId6"/>
          <a:stretch>
            <a:fillRect/>
          </a:stretch>
        </p:blipFill>
        <p:spPr>
          <a:xfrm>
            <a:off x="790956" y="4741164"/>
            <a:ext cx="192024" cy="192024"/>
          </a:xfrm>
          <a:prstGeom prst="rect">
            <a:avLst/>
          </a:prstGeom>
        </p:spPr>
      </p:pic>
      <p:sp>
        <p:nvSpPr>
          <p:cNvPr id="42" name="Text 36"/>
          <p:cNvSpPr/>
          <p:nvPr/>
        </p:nvSpPr>
        <p:spPr>
          <a:xfrm>
            <a:off x="694944" y="5084064"/>
            <a:ext cx="1765341" cy="420624"/>
          </a:xfrm>
          <a:prstGeom prst="rect">
            <a:avLst/>
          </a:prstGeom>
          <a:noFill/>
          <a:ln/>
        </p:spPr>
        <p:txBody>
          <a:bodyPr wrap="square" lIns="0" tIns="0" rIns="0" bIns="0" rtlCol="0" anchor="t"/>
          <a:lstStyle/>
          <a:p>
            <a:pPr marL="0" indent="0">
              <a:lnSpc>
                <a:spcPct val="98000"/>
              </a:lnSpc>
              <a:buNone/>
            </a:pPr>
            <a:r>
              <a:rPr lang="en-US" sz="1050" b="1" dirty="0">
                <a:solidFill>
                  <a:srgbClr val="0E3D29"/>
                </a:solidFill>
                <a:latin typeface="Calibri" pitchFamily="34" charset="0"/>
                <a:ea typeface="Calibri" pitchFamily="34" charset="-122"/>
                <a:cs typeface="Calibri" pitchFamily="34" charset="-120"/>
              </a:rPr>
              <a:t>Setting up takes a ticket</a:t>
            </a:r>
            <a:endParaRPr lang="en-US" sz="1050" dirty="0"/>
          </a:p>
        </p:txBody>
      </p:sp>
      <p:sp>
        <p:nvSpPr>
          <p:cNvPr id="43" name="Text 37"/>
          <p:cNvSpPr/>
          <p:nvPr/>
        </p:nvSpPr>
        <p:spPr>
          <a:xfrm>
            <a:off x="694944" y="5449824"/>
            <a:ext cx="1765341" cy="640080"/>
          </a:xfrm>
          <a:prstGeom prst="rect">
            <a:avLst/>
          </a:prstGeom>
          <a:noFill/>
          <a:ln/>
        </p:spPr>
        <p:txBody>
          <a:bodyPr wrap="square" lIns="0" tIns="0" rIns="0" bIns="0" rtlCol="0" anchor="t"/>
          <a:lstStyle/>
          <a:p>
            <a:pPr marL="0" indent="0">
              <a:lnSpc>
                <a:spcPct val="102000"/>
              </a:lnSpc>
              <a:buNone/>
            </a:pPr>
            <a:r>
              <a:rPr lang="en-US" sz="840" dirty="0">
                <a:solidFill>
                  <a:srgbClr val="262B27"/>
                </a:solidFill>
                <a:latin typeface="Calibri" pitchFamily="34" charset="0"/>
                <a:ea typeface="Calibri" pitchFamily="34" charset="-122"/>
                <a:cs typeface="Calibri" pitchFamily="34" charset="-120"/>
              </a:rPr>
              <a:t>A new data area must be created by the platform team and named using app deployment codes — not the business name. We wait on it.</a:t>
            </a:r>
            <a:endParaRPr lang="en-US" sz="840" dirty="0"/>
          </a:p>
        </p:txBody>
      </p:sp>
      <p:sp>
        <p:nvSpPr>
          <p:cNvPr id="44" name="Shape 38"/>
          <p:cNvSpPr/>
          <p:nvPr/>
        </p:nvSpPr>
        <p:spPr>
          <a:xfrm>
            <a:off x="2807757" y="4498848"/>
            <a:ext cx="2057949" cy="1664208"/>
          </a:xfrm>
          <a:prstGeom prst="roundRect">
            <a:avLst>
              <a:gd name="adj" fmla="val 3297"/>
            </a:avLst>
          </a:prstGeom>
          <a:solidFill>
            <a:srgbClr val="F6EFE0"/>
          </a:solidFill>
          <a:ln w="12700">
            <a:solidFill>
              <a:srgbClr val="E6D6B5"/>
            </a:solidFill>
            <a:prstDash val="solid"/>
          </a:ln>
          <a:effectLst>
            <a:outerShdw blurRad="88900" dist="38100" dir="5400000" algn="bl" rotWithShape="0">
              <a:srgbClr val="000000">
                <a:alpha val="10000"/>
              </a:srgbClr>
            </a:outerShdw>
          </a:effectLst>
        </p:spPr>
        <p:txBody>
          <a:bodyPr/>
          <a:lstStyle/>
          <a:p>
            <a:endParaRPr lang="en-US"/>
          </a:p>
        </p:txBody>
      </p:sp>
      <p:sp>
        <p:nvSpPr>
          <p:cNvPr id="45" name="Shape 39"/>
          <p:cNvSpPr/>
          <p:nvPr/>
        </p:nvSpPr>
        <p:spPr>
          <a:xfrm>
            <a:off x="2954061" y="4645152"/>
            <a:ext cx="384048" cy="384048"/>
          </a:xfrm>
          <a:prstGeom prst="ellipse">
            <a:avLst/>
          </a:prstGeom>
          <a:solidFill>
            <a:srgbClr val="9C6B16"/>
          </a:solidFill>
          <a:ln/>
        </p:spPr>
        <p:txBody>
          <a:bodyPr/>
          <a:lstStyle/>
          <a:p>
            <a:endParaRPr lang="en-US"/>
          </a:p>
        </p:txBody>
      </p:sp>
      <p:pic>
        <p:nvPicPr>
          <p:cNvPr id="46" name="Image 4" descr="preencoded.png"/>
          <p:cNvPicPr>
            <a:picLocks noChangeAspect="1"/>
          </p:cNvPicPr>
          <p:nvPr/>
        </p:nvPicPr>
        <p:blipFill>
          <a:blip r:embed="rId7"/>
          <a:stretch>
            <a:fillRect/>
          </a:stretch>
        </p:blipFill>
        <p:spPr>
          <a:xfrm>
            <a:off x="3050073" y="4741164"/>
            <a:ext cx="192024" cy="192024"/>
          </a:xfrm>
          <a:prstGeom prst="rect">
            <a:avLst/>
          </a:prstGeom>
        </p:spPr>
      </p:pic>
      <p:sp>
        <p:nvSpPr>
          <p:cNvPr id="47" name="Text 40"/>
          <p:cNvSpPr/>
          <p:nvPr/>
        </p:nvSpPr>
        <p:spPr>
          <a:xfrm>
            <a:off x="2954061" y="5084064"/>
            <a:ext cx="1765341" cy="420624"/>
          </a:xfrm>
          <a:prstGeom prst="rect">
            <a:avLst/>
          </a:prstGeom>
          <a:noFill/>
          <a:ln/>
        </p:spPr>
        <p:txBody>
          <a:bodyPr wrap="square" lIns="0" tIns="0" rIns="0" bIns="0" rtlCol="0" anchor="t"/>
          <a:lstStyle/>
          <a:p>
            <a:pPr marL="0" indent="0">
              <a:lnSpc>
                <a:spcPct val="98000"/>
              </a:lnSpc>
              <a:buNone/>
            </a:pPr>
            <a:r>
              <a:rPr lang="en-US" sz="1050" b="1" dirty="0">
                <a:solidFill>
                  <a:srgbClr val="0E3D29"/>
                </a:solidFill>
                <a:latin typeface="Calibri" pitchFamily="34" charset="0"/>
                <a:ea typeface="Calibri" pitchFamily="34" charset="-122"/>
                <a:cs typeface="Calibri" pitchFamily="34" charset="-120"/>
              </a:rPr>
              <a:t>We get a room, not the building</a:t>
            </a:r>
            <a:endParaRPr lang="en-US" sz="1050" dirty="0"/>
          </a:p>
        </p:txBody>
      </p:sp>
      <p:sp>
        <p:nvSpPr>
          <p:cNvPr id="48" name="Text 41"/>
          <p:cNvSpPr/>
          <p:nvPr/>
        </p:nvSpPr>
        <p:spPr>
          <a:xfrm>
            <a:off x="2954061" y="5449824"/>
            <a:ext cx="1765341" cy="640080"/>
          </a:xfrm>
          <a:prstGeom prst="rect">
            <a:avLst/>
          </a:prstGeom>
          <a:noFill/>
          <a:ln/>
        </p:spPr>
        <p:txBody>
          <a:bodyPr wrap="square" lIns="0" tIns="0" rIns="0" bIns="0" rtlCol="0" anchor="t"/>
          <a:lstStyle/>
          <a:p>
            <a:pPr marL="0" indent="0">
              <a:lnSpc>
                <a:spcPct val="102000"/>
              </a:lnSpc>
              <a:buNone/>
            </a:pPr>
            <a:r>
              <a:rPr lang="en-US" sz="840" dirty="0">
                <a:solidFill>
                  <a:srgbClr val="262B27"/>
                </a:solidFill>
                <a:latin typeface="Calibri" pitchFamily="34" charset="0"/>
                <a:ea typeface="Calibri" pitchFamily="34" charset="-122"/>
                <a:cs typeface="Calibri" pitchFamily="34" charset="-120"/>
              </a:rPr>
              <a:t>We can work inside a space, but can't create or change the space, its labels (tags) or settings ourselves.</a:t>
            </a:r>
            <a:endParaRPr lang="en-US" sz="840" dirty="0"/>
          </a:p>
        </p:txBody>
      </p:sp>
      <p:sp>
        <p:nvSpPr>
          <p:cNvPr id="49" name="Shape 42"/>
          <p:cNvSpPr/>
          <p:nvPr/>
        </p:nvSpPr>
        <p:spPr>
          <a:xfrm>
            <a:off x="5066873" y="4498848"/>
            <a:ext cx="2057949" cy="1664208"/>
          </a:xfrm>
          <a:prstGeom prst="roundRect">
            <a:avLst>
              <a:gd name="adj" fmla="val 3297"/>
            </a:avLst>
          </a:prstGeom>
          <a:solidFill>
            <a:srgbClr val="F6EFE0"/>
          </a:solidFill>
          <a:ln w="12700">
            <a:solidFill>
              <a:srgbClr val="E6D6B5"/>
            </a:solidFill>
            <a:prstDash val="solid"/>
          </a:ln>
          <a:effectLst>
            <a:outerShdw blurRad="88900" dist="38100" dir="5400000" algn="bl" rotWithShape="0">
              <a:srgbClr val="000000">
                <a:alpha val="10000"/>
              </a:srgbClr>
            </a:outerShdw>
          </a:effectLst>
        </p:spPr>
        <p:txBody>
          <a:bodyPr/>
          <a:lstStyle/>
          <a:p>
            <a:endParaRPr lang="en-US"/>
          </a:p>
        </p:txBody>
      </p:sp>
      <p:sp>
        <p:nvSpPr>
          <p:cNvPr id="50" name="Shape 43"/>
          <p:cNvSpPr/>
          <p:nvPr/>
        </p:nvSpPr>
        <p:spPr>
          <a:xfrm>
            <a:off x="5213177" y="4645152"/>
            <a:ext cx="384048" cy="384048"/>
          </a:xfrm>
          <a:prstGeom prst="ellipse">
            <a:avLst/>
          </a:prstGeom>
          <a:solidFill>
            <a:srgbClr val="9C6B16"/>
          </a:solidFill>
          <a:ln/>
        </p:spPr>
        <p:txBody>
          <a:bodyPr/>
          <a:lstStyle/>
          <a:p>
            <a:endParaRPr lang="en-US"/>
          </a:p>
        </p:txBody>
      </p:sp>
      <p:pic>
        <p:nvPicPr>
          <p:cNvPr id="51" name="Image 5" descr="preencoded.png"/>
          <p:cNvPicPr>
            <a:picLocks noChangeAspect="1"/>
          </p:cNvPicPr>
          <p:nvPr/>
        </p:nvPicPr>
        <p:blipFill>
          <a:blip r:embed="rId8"/>
          <a:stretch>
            <a:fillRect/>
          </a:stretch>
        </p:blipFill>
        <p:spPr>
          <a:xfrm>
            <a:off x="5309189" y="4741164"/>
            <a:ext cx="192024" cy="192024"/>
          </a:xfrm>
          <a:prstGeom prst="rect">
            <a:avLst/>
          </a:prstGeom>
        </p:spPr>
      </p:pic>
      <p:sp>
        <p:nvSpPr>
          <p:cNvPr id="52" name="Text 44"/>
          <p:cNvSpPr/>
          <p:nvPr/>
        </p:nvSpPr>
        <p:spPr>
          <a:xfrm>
            <a:off x="5213177" y="5084064"/>
            <a:ext cx="1765341" cy="420624"/>
          </a:xfrm>
          <a:prstGeom prst="rect">
            <a:avLst/>
          </a:prstGeom>
          <a:noFill/>
          <a:ln/>
        </p:spPr>
        <p:txBody>
          <a:bodyPr wrap="square" lIns="0" tIns="0" rIns="0" bIns="0" rtlCol="0" anchor="t"/>
          <a:lstStyle/>
          <a:p>
            <a:pPr marL="0" indent="0">
              <a:lnSpc>
                <a:spcPct val="98000"/>
              </a:lnSpc>
              <a:buNone/>
            </a:pPr>
            <a:r>
              <a:rPr lang="en-US" sz="1050" b="1" dirty="0">
                <a:solidFill>
                  <a:srgbClr val="0E3D29"/>
                </a:solidFill>
                <a:latin typeface="Calibri" pitchFamily="34" charset="0"/>
                <a:ea typeface="Calibri" pitchFamily="34" charset="-122"/>
                <a:cs typeface="Calibri" pitchFamily="34" charset="-120"/>
              </a:rPr>
              <a:t>AI &amp; self-service are switched off</a:t>
            </a:r>
            <a:endParaRPr lang="en-US" sz="1050" dirty="0"/>
          </a:p>
        </p:txBody>
      </p:sp>
      <p:sp>
        <p:nvSpPr>
          <p:cNvPr id="53" name="Text 45"/>
          <p:cNvSpPr/>
          <p:nvPr/>
        </p:nvSpPr>
        <p:spPr>
          <a:xfrm>
            <a:off x="5213177" y="5449824"/>
            <a:ext cx="1765341" cy="640080"/>
          </a:xfrm>
          <a:prstGeom prst="rect">
            <a:avLst/>
          </a:prstGeom>
          <a:noFill/>
          <a:ln/>
        </p:spPr>
        <p:txBody>
          <a:bodyPr wrap="square" lIns="0" tIns="0" rIns="0" bIns="0" rtlCol="0" anchor="t"/>
          <a:lstStyle/>
          <a:p>
            <a:pPr marL="0" indent="0">
              <a:lnSpc>
                <a:spcPct val="102000"/>
              </a:lnSpc>
              <a:buNone/>
            </a:pPr>
            <a:r>
              <a:rPr lang="en-US" sz="840" dirty="0">
                <a:solidFill>
                  <a:srgbClr val="262B27"/>
                </a:solidFill>
                <a:latin typeface="Calibri" pitchFamily="34" charset="0"/>
                <a:ea typeface="Calibri" pitchFamily="34" charset="-122"/>
                <a:cs typeface="Calibri" pitchFamily="34" charset="-120"/>
              </a:rPr>
              <a:t>Serverless is off, so the AI assistant, the business-friendly metric layer and self-service aren't available to us yet.</a:t>
            </a:r>
            <a:endParaRPr lang="en-US" sz="840" dirty="0"/>
          </a:p>
        </p:txBody>
      </p:sp>
      <p:sp>
        <p:nvSpPr>
          <p:cNvPr id="54" name="Shape 46"/>
          <p:cNvSpPr/>
          <p:nvPr/>
        </p:nvSpPr>
        <p:spPr>
          <a:xfrm>
            <a:off x="7325990" y="4498848"/>
            <a:ext cx="2057949" cy="1664208"/>
          </a:xfrm>
          <a:prstGeom prst="roundRect">
            <a:avLst>
              <a:gd name="adj" fmla="val 3297"/>
            </a:avLst>
          </a:prstGeom>
          <a:solidFill>
            <a:srgbClr val="F6EFE0"/>
          </a:solidFill>
          <a:ln w="12700">
            <a:solidFill>
              <a:srgbClr val="E6D6B5"/>
            </a:solidFill>
            <a:prstDash val="solid"/>
          </a:ln>
          <a:effectLst>
            <a:outerShdw blurRad="88900" dist="38100" dir="5400000" algn="bl" rotWithShape="0">
              <a:srgbClr val="000000">
                <a:alpha val="10000"/>
              </a:srgbClr>
            </a:outerShdw>
          </a:effectLst>
        </p:spPr>
        <p:txBody>
          <a:bodyPr/>
          <a:lstStyle/>
          <a:p>
            <a:endParaRPr lang="en-US"/>
          </a:p>
        </p:txBody>
      </p:sp>
      <p:sp>
        <p:nvSpPr>
          <p:cNvPr id="55" name="Shape 47"/>
          <p:cNvSpPr/>
          <p:nvPr/>
        </p:nvSpPr>
        <p:spPr>
          <a:xfrm>
            <a:off x="7472294" y="4645152"/>
            <a:ext cx="384048" cy="384048"/>
          </a:xfrm>
          <a:prstGeom prst="ellipse">
            <a:avLst/>
          </a:prstGeom>
          <a:solidFill>
            <a:srgbClr val="9C6B16"/>
          </a:solidFill>
          <a:ln/>
        </p:spPr>
        <p:txBody>
          <a:bodyPr/>
          <a:lstStyle/>
          <a:p>
            <a:endParaRPr lang="en-US"/>
          </a:p>
        </p:txBody>
      </p:sp>
      <p:pic>
        <p:nvPicPr>
          <p:cNvPr id="56" name="Image 6" descr="preencoded.png"/>
          <p:cNvPicPr>
            <a:picLocks noChangeAspect="1"/>
          </p:cNvPicPr>
          <p:nvPr/>
        </p:nvPicPr>
        <p:blipFill>
          <a:blip r:embed="rId3"/>
          <a:stretch>
            <a:fillRect/>
          </a:stretch>
        </p:blipFill>
        <p:spPr>
          <a:xfrm>
            <a:off x="7568306" y="4741164"/>
            <a:ext cx="192024" cy="192024"/>
          </a:xfrm>
          <a:prstGeom prst="rect">
            <a:avLst/>
          </a:prstGeom>
        </p:spPr>
      </p:pic>
      <p:sp>
        <p:nvSpPr>
          <p:cNvPr id="57" name="Text 48"/>
          <p:cNvSpPr/>
          <p:nvPr/>
        </p:nvSpPr>
        <p:spPr>
          <a:xfrm>
            <a:off x="7472294" y="5084064"/>
            <a:ext cx="1765341" cy="420624"/>
          </a:xfrm>
          <a:prstGeom prst="rect">
            <a:avLst/>
          </a:prstGeom>
          <a:noFill/>
          <a:ln/>
        </p:spPr>
        <p:txBody>
          <a:bodyPr wrap="square" lIns="0" tIns="0" rIns="0" bIns="0" rtlCol="0" anchor="t"/>
          <a:lstStyle/>
          <a:p>
            <a:pPr marL="0" indent="0">
              <a:lnSpc>
                <a:spcPct val="98000"/>
              </a:lnSpc>
              <a:buNone/>
            </a:pPr>
            <a:r>
              <a:rPr lang="en-US" sz="1050" b="1" dirty="0">
                <a:solidFill>
                  <a:srgbClr val="0E3D29"/>
                </a:solidFill>
                <a:latin typeface="Calibri" pitchFamily="34" charset="0"/>
                <a:ea typeface="Calibri" pitchFamily="34" charset="-122"/>
                <a:cs typeface="Calibri" pitchFamily="34" charset="-120"/>
              </a:rPr>
              <a:t>The same data, described twice</a:t>
            </a:r>
            <a:endParaRPr lang="en-US" sz="1050" dirty="0"/>
          </a:p>
        </p:txBody>
      </p:sp>
      <p:sp>
        <p:nvSpPr>
          <p:cNvPr id="58" name="Text 49"/>
          <p:cNvSpPr/>
          <p:nvPr/>
        </p:nvSpPr>
        <p:spPr>
          <a:xfrm>
            <a:off x="7472294" y="5449824"/>
            <a:ext cx="1765341" cy="640080"/>
          </a:xfrm>
          <a:prstGeom prst="rect">
            <a:avLst/>
          </a:prstGeom>
          <a:noFill/>
          <a:ln/>
        </p:spPr>
        <p:txBody>
          <a:bodyPr wrap="square" lIns="0" tIns="0" rIns="0" bIns="0" rtlCol="0" anchor="t"/>
          <a:lstStyle/>
          <a:p>
            <a:pPr marL="0" indent="0">
              <a:lnSpc>
                <a:spcPct val="102000"/>
              </a:lnSpc>
              <a:buNone/>
            </a:pPr>
            <a:r>
              <a:rPr lang="en-US" sz="840" dirty="0">
                <a:solidFill>
                  <a:srgbClr val="262B27"/>
                </a:solidFill>
                <a:latin typeface="Calibri" pitchFamily="34" charset="0"/>
                <a:ea typeface="Calibri" pitchFamily="34" charset="-122"/>
                <a:cs typeface="Calibri" pitchFamily="34" charset="-120"/>
              </a:rPr>
              <a:t>Dremio doesn't connect to Databricks' catalog, so data gets defined in two places — and the two can drift apart.</a:t>
            </a:r>
            <a:endParaRPr lang="en-US" sz="840" dirty="0"/>
          </a:p>
        </p:txBody>
      </p:sp>
      <p:sp>
        <p:nvSpPr>
          <p:cNvPr id="59" name="Shape 50"/>
          <p:cNvSpPr/>
          <p:nvPr/>
        </p:nvSpPr>
        <p:spPr>
          <a:xfrm>
            <a:off x="9585107" y="4498848"/>
            <a:ext cx="2057949" cy="1664208"/>
          </a:xfrm>
          <a:prstGeom prst="roundRect">
            <a:avLst>
              <a:gd name="adj" fmla="val 3297"/>
            </a:avLst>
          </a:prstGeom>
          <a:solidFill>
            <a:srgbClr val="F6EFE0"/>
          </a:solidFill>
          <a:ln w="12700">
            <a:solidFill>
              <a:srgbClr val="E6D6B5"/>
            </a:solidFill>
            <a:prstDash val="solid"/>
          </a:ln>
          <a:effectLst>
            <a:outerShdw blurRad="88900" dist="38100" dir="5400000" algn="bl" rotWithShape="0">
              <a:srgbClr val="000000">
                <a:alpha val="10000"/>
              </a:srgbClr>
            </a:outerShdw>
          </a:effectLst>
        </p:spPr>
        <p:txBody>
          <a:bodyPr/>
          <a:lstStyle/>
          <a:p>
            <a:endParaRPr lang="en-US"/>
          </a:p>
        </p:txBody>
      </p:sp>
      <p:sp>
        <p:nvSpPr>
          <p:cNvPr id="60" name="Shape 51"/>
          <p:cNvSpPr/>
          <p:nvPr/>
        </p:nvSpPr>
        <p:spPr>
          <a:xfrm>
            <a:off x="9731411" y="4645152"/>
            <a:ext cx="384048" cy="384048"/>
          </a:xfrm>
          <a:prstGeom prst="ellipse">
            <a:avLst/>
          </a:prstGeom>
          <a:solidFill>
            <a:srgbClr val="9C6B16"/>
          </a:solidFill>
          <a:ln/>
        </p:spPr>
        <p:txBody>
          <a:bodyPr/>
          <a:lstStyle/>
          <a:p>
            <a:endParaRPr lang="en-US"/>
          </a:p>
        </p:txBody>
      </p:sp>
      <p:pic>
        <p:nvPicPr>
          <p:cNvPr id="61" name="Image 7" descr="preencoded.png"/>
          <p:cNvPicPr>
            <a:picLocks noChangeAspect="1"/>
          </p:cNvPicPr>
          <p:nvPr/>
        </p:nvPicPr>
        <p:blipFill>
          <a:blip r:embed="rId9"/>
          <a:stretch>
            <a:fillRect/>
          </a:stretch>
        </p:blipFill>
        <p:spPr>
          <a:xfrm>
            <a:off x="9827423" y="4741164"/>
            <a:ext cx="192024" cy="192024"/>
          </a:xfrm>
          <a:prstGeom prst="rect">
            <a:avLst/>
          </a:prstGeom>
        </p:spPr>
      </p:pic>
      <p:sp>
        <p:nvSpPr>
          <p:cNvPr id="62" name="Text 52"/>
          <p:cNvSpPr/>
          <p:nvPr/>
        </p:nvSpPr>
        <p:spPr>
          <a:xfrm>
            <a:off x="9731411" y="5084064"/>
            <a:ext cx="1765341" cy="420624"/>
          </a:xfrm>
          <a:prstGeom prst="rect">
            <a:avLst/>
          </a:prstGeom>
          <a:noFill/>
          <a:ln/>
        </p:spPr>
        <p:txBody>
          <a:bodyPr wrap="square" lIns="0" tIns="0" rIns="0" bIns="0" rtlCol="0" anchor="t"/>
          <a:lstStyle/>
          <a:p>
            <a:pPr marL="0" indent="0">
              <a:lnSpc>
                <a:spcPct val="98000"/>
              </a:lnSpc>
              <a:buNone/>
            </a:pPr>
            <a:r>
              <a:rPr lang="en-US" sz="1050" b="1" dirty="0">
                <a:solidFill>
                  <a:srgbClr val="0E3D29"/>
                </a:solidFill>
                <a:latin typeface="Calibri" pitchFamily="34" charset="0"/>
                <a:ea typeface="Calibri" pitchFamily="34" charset="-122"/>
                <a:cs typeface="Calibri" pitchFamily="34" charset="-120"/>
              </a:rPr>
              <a:t>We share a workspace, not our own</a:t>
            </a:r>
            <a:endParaRPr lang="en-US" sz="1050" dirty="0"/>
          </a:p>
        </p:txBody>
      </p:sp>
      <p:sp>
        <p:nvSpPr>
          <p:cNvPr id="63" name="Text 53"/>
          <p:cNvSpPr/>
          <p:nvPr/>
        </p:nvSpPr>
        <p:spPr>
          <a:xfrm>
            <a:off x="9731411" y="5449824"/>
            <a:ext cx="1765341" cy="640080"/>
          </a:xfrm>
          <a:prstGeom prst="rect">
            <a:avLst/>
          </a:prstGeom>
          <a:noFill/>
          <a:ln/>
        </p:spPr>
        <p:txBody>
          <a:bodyPr wrap="square" lIns="0" tIns="0" rIns="0" bIns="0" rtlCol="0" anchor="t"/>
          <a:lstStyle/>
          <a:p>
            <a:pPr marL="0" indent="0">
              <a:lnSpc>
                <a:spcPct val="102000"/>
              </a:lnSpc>
              <a:buNone/>
            </a:pPr>
            <a:r>
              <a:rPr lang="en-US" sz="840" dirty="0">
                <a:solidFill>
                  <a:srgbClr val="262B27"/>
                </a:solidFill>
                <a:latin typeface="Calibri" pitchFamily="34" charset="0"/>
                <a:ea typeface="Calibri" pitchFamily="34" charset="-122"/>
                <a:cs typeface="Calibri" pitchFamily="34" charset="-120"/>
              </a:rPr>
              <a:t>Because of IP limits, Risk shares a workspace rather than having a dedicated one — less isolation, and harder to manage as we grow.</a:t>
            </a:r>
            <a:endParaRPr lang="en-US" sz="840" dirty="0"/>
          </a:p>
        </p:txBody>
      </p:sp>
      <p:sp>
        <p:nvSpPr>
          <p:cNvPr id="64" name="Text 54"/>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65" name="Text 55"/>
          <p:cNvSpPr/>
          <p:nvPr/>
        </p:nvSpPr>
        <p:spPr>
          <a:xfrm>
            <a:off x="9357055" y="6473952"/>
            <a:ext cx="146304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a:t>
            </a:r>
            <a:endParaRPr lang="en-US" sz="900" dirty="0"/>
          </a:p>
        </p:txBody>
      </p:sp>
      <p:sp>
        <p:nvSpPr>
          <p:cNvPr id="66" name="Text 56"/>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lIns="0" tIns="0" rIns="0" bIns="0" rtlCol="0" anchor="ctr"/>
          <a:lstStyle/>
          <a:p>
            <a:pPr marL="0" indent="0">
              <a:buNone/>
            </a:pPr>
            <a:r>
              <a:rPr lang="en-US" sz="1100" b="1" kern="0" spc="300" dirty="0">
                <a:solidFill>
                  <a:srgbClr val="1F7A47"/>
                </a:solidFill>
                <a:latin typeface="Calibri" pitchFamily="34" charset="0"/>
                <a:ea typeface="Calibri" pitchFamily="34" charset="-122"/>
                <a:cs typeface="Calibri" pitchFamily="34" charset="-120"/>
              </a:rPr>
              <a:t>WHERE WE'RE GOING  ·  STEP ONE, INSIDE RISK</a:t>
            </a:r>
            <a:endParaRPr lang="en-US" sz="1100" dirty="0"/>
          </a:p>
        </p:txBody>
      </p:sp>
      <p:sp>
        <p:nvSpPr>
          <p:cNvPr id="3" name="Text 1"/>
          <p:cNvSpPr/>
          <p:nvPr/>
        </p:nvSpPr>
        <p:spPr>
          <a:xfrm>
            <a:off x="548640" y="640080"/>
            <a:ext cx="11094415" cy="548640"/>
          </a:xfrm>
          <a:prstGeom prst="rect">
            <a:avLst/>
          </a:prstGeom>
          <a:noFill/>
          <a:ln/>
        </p:spPr>
        <p:txBody>
          <a:bodyPr wrap="square" lIns="0" tIns="0" rIns="0" bIns="0" rtlCol="0" anchor="ctr"/>
          <a:lstStyle/>
          <a:p>
            <a:pPr marL="0" indent="0">
              <a:buNone/>
            </a:pPr>
            <a:r>
              <a:rPr lang="en-US" sz="2600" b="1" dirty="0">
                <a:solidFill>
                  <a:srgbClr val="0E3D29"/>
                </a:solidFill>
                <a:latin typeface="Calibri" pitchFamily="34" charset="0"/>
                <a:ea typeface="Calibri" pitchFamily="34" charset="-122"/>
                <a:cs typeface="Calibri" pitchFamily="34" charset="-120"/>
              </a:rPr>
              <a:t>Domain-First Conformance &amp; Risk Data Products</a:t>
            </a:r>
            <a:endParaRPr lang="en-US" sz="2600" dirty="0"/>
          </a:p>
        </p:txBody>
      </p:sp>
      <p:sp>
        <p:nvSpPr>
          <p:cNvPr id="4" name="Text 2"/>
          <p:cNvSpPr/>
          <p:nvPr/>
        </p:nvSpPr>
        <p:spPr>
          <a:xfrm>
            <a:off x="548640" y="1298448"/>
            <a:ext cx="11094415" cy="365760"/>
          </a:xfrm>
          <a:prstGeom prst="rect">
            <a:avLst/>
          </a:prstGeom>
          <a:noFill/>
          <a:ln/>
        </p:spPr>
        <p:txBody>
          <a:bodyPr wrap="square" lIns="0" tIns="0" rIns="0" bIns="0" rtlCol="0" anchor="ctr"/>
          <a:lstStyle/>
          <a:p>
            <a:pPr marL="0" indent="0">
              <a:buNone/>
            </a:pPr>
            <a:r>
              <a:rPr lang="en-US" sz="1350" b="1" dirty="0">
                <a:solidFill>
                  <a:srgbClr val="0E3D29"/>
                </a:solidFill>
                <a:latin typeface="Calibri" pitchFamily="34" charset="0"/>
                <a:ea typeface="Calibri" pitchFamily="34" charset="-122"/>
                <a:cs typeface="Calibri" pitchFamily="34" charset="-120"/>
              </a:rPr>
              <a:t>Inside Risk first: conform the data once, so every team reads the same definition — then align to the enterprise.  </a:t>
            </a:r>
            <a:r>
              <a:rPr lang="en-US" sz="1350" dirty="0">
                <a:solidFill>
                  <a:srgbClr val="262B27"/>
                </a:solidFill>
                <a:latin typeface="Calibri" pitchFamily="34" charset="0"/>
                <a:ea typeface="Calibri" pitchFamily="34" charset="-122"/>
                <a:cs typeface="Calibri" pitchFamily="34" charset="-120"/>
              </a:rPr>
              <a:t>Defined once, reused by every consumer.</a:t>
            </a:r>
            <a:endParaRPr lang="en-US" sz="1350" dirty="0"/>
          </a:p>
        </p:txBody>
      </p:sp>
      <p:sp>
        <p:nvSpPr>
          <p:cNvPr id="5" name="Shape 3"/>
          <p:cNvSpPr/>
          <p:nvPr/>
        </p:nvSpPr>
        <p:spPr>
          <a:xfrm>
            <a:off x="548640" y="1874520"/>
            <a:ext cx="7589520" cy="4160520"/>
          </a:xfrm>
          <a:prstGeom prst="roundRect">
            <a:avLst>
              <a:gd name="adj" fmla="val 1758"/>
            </a:avLst>
          </a:prstGeom>
          <a:solidFill>
            <a:srgbClr val="F2F8F4"/>
          </a:solidFill>
          <a:ln w="19050">
            <a:solidFill>
              <a:srgbClr val="3E9E68"/>
            </a:solidFill>
            <a:prstDash val="solid"/>
          </a:ln>
        </p:spPr>
        <p:txBody>
          <a:bodyPr/>
          <a:lstStyle/>
          <a:p>
            <a:endParaRPr lang="en-US"/>
          </a:p>
        </p:txBody>
      </p:sp>
      <p:sp>
        <p:nvSpPr>
          <p:cNvPr id="6" name="Text 4"/>
          <p:cNvSpPr/>
          <p:nvPr/>
        </p:nvSpPr>
        <p:spPr>
          <a:xfrm>
            <a:off x="731520" y="1984248"/>
            <a:ext cx="2743200" cy="237744"/>
          </a:xfrm>
          <a:prstGeom prst="rect">
            <a:avLst/>
          </a:prstGeom>
          <a:noFill/>
          <a:ln/>
        </p:spPr>
        <p:txBody>
          <a:bodyPr wrap="square" lIns="0" tIns="0" rIns="0" bIns="0" rtlCol="0" anchor="ctr"/>
          <a:lstStyle/>
          <a:p>
            <a:pPr marL="0" indent="0">
              <a:buNone/>
            </a:pPr>
            <a:r>
              <a:rPr lang="en-US" sz="1000" b="1" kern="0" spc="200" dirty="0">
                <a:solidFill>
                  <a:srgbClr val="1F7A47"/>
                </a:solidFill>
                <a:latin typeface="Calibri" pitchFamily="34" charset="0"/>
                <a:ea typeface="Calibri" pitchFamily="34" charset="-122"/>
                <a:cs typeface="Calibri" pitchFamily="34" charset="-120"/>
              </a:rPr>
              <a:t>RISK DOMAIN</a:t>
            </a:r>
            <a:endParaRPr lang="en-US" sz="1000" dirty="0"/>
          </a:p>
        </p:txBody>
      </p:sp>
      <p:sp>
        <p:nvSpPr>
          <p:cNvPr id="7" name="Shape 5"/>
          <p:cNvSpPr/>
          <p:nvPr/>
        </p:nvSpPr>
        <p:spPr>
          <a:xfrm>
            <a:off x="960120" y="2331720"/>
            <a:ext cx="6766560" cy="603504"/>
          </a:xfrm>
          <a:prstGeom prst="roundRect">
            <a:avLst>
              <a:gd name="adj" fmla="val 7576"/>
            </a:avLst>
          </a:prstGeom>
          <a:solidFill>
            <a:srgbClr val="EAF3EC"/>
          </a:solidFill>
          <a:ln w="1270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8" name="Shape 6"/>
          <p:cNvSpPr/>
          <p:nvPr/>
        </p:nvSpPr>
        <p:spPr>
          <a:xfrm>
            <a:off x="1088136" y="2432304"/>
            <a:ext cx="402336" cy="402336"/>
          </a:xfrm>
          <a:prstGeom prst="ellipse">
            <a:avLst/>
          </a:prstGeom>
          <a:solidFill>
            <a:srgbClr val="1F7A47"/>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188720" y="2532888"/>
            <a:ext cx="201168" cy="201168"/>
          </a:xfrm>
          <a:prstGeom prst="rect">
            <a:avLst/>
          </a:prstGeom>
        </p:spPr>
      </p:pic>
      <p:sp>
        <p:nvSpPr>
          <p:cNvPr id="10" name="Text 7"/>
          <p:cNvSpPr/>
          <p:nvPr/>
        </p:nvSpPr>
        <p:spPr>
          <a:xfrm>
            <a:off x="1618488" y="2404872"/>
            <a:ext cx="4389120" cy="45720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Business Analytics &amp; Reporting</a:t>
            </a:r>
            <a:endParaRPr lang="en-US" sz="1200" dirty="0"/>
          </a:p>
        </p:txBody>
      </p:sp>
      <p:sp>
        <p:nvSpPr>
          <p:cNvPr id="11" name="Text 8"/>
          <p:cNvSpPr/>
          <p:nvPr/>
        </p:nvSpPr>
        <p:spPr>
          <a:xfrm>
            <a:off x="5394960" y="2404872"/>
            <a:ext cx="2240280" cy="457200"/>
          </a:xfrm>
          <a:prstGeom prst="rect">
            <a:avLst/>
          </a:prstGeom>
          <a:noFill/>
          <a:ln/>
        </p:spPr>
        <p:txBody>
          <a:bodyPr wrap="square" lIns="0" tIns="0" rIns="0" bIns="0" rtlCol="0" anchor="ctr"/>
          <a:lstStyle/>
          <a:p>
            <a:pPr marL="0" indent="0" algn="r">
              <a:lnSpc>
                <a:spcPct val="100000"/>
              </a:lnSpc>
              <a:buNone/>
            </a:pPr>
            <a:r>
              <a:rPr lang="en-US" sz="870" dirty="0">
                <a:solidFill>
                  <a:srgbClr val="262B27"/>
                </a:solidFill>
                <a:latin typeface="Calibri" pitchFamily="34" charset="0"/>
                <a:ea typeface="Calibri" pitchFamily="34" charset="-122"/>
                <a:cs typeface="Calibri" pitchFamily="34" charset="-120"/>
              </a:rPr>
              <a:t>Governed dashboards and self-service via the Strategy semantic model</a:t>
            </a:r>
            <a:endParaRPr lang="en-US" sz="870" dirty="0"/>
          </a:p>
        </p:txBody>
      </p:sp>
      <p:sp>
        <p:nvSpPr>
          <p:cNvPr id="12" name="Shape 9"/>
          <p:cNvSpPr/>
          <p:nvPr/>
        </p:nvSpPr>
        <p:spPr>
          <a:xfrm>
            <a:off x="960120" y="3063240"/>
            <a:ext cx="6766560" cy="603504"/>
          </a:xfrm>
          <a:prstGeom prst="roundRect">
            <a:avLst>
              <a:gd name="adj" fmla="val 7576"/>
            </a:avLst>
          </a:prstGeom>
          <a:solidFill>
            <a:srgbClr val="EAF3EC"/>
          </a:solidFill>
          <a:ln w="1270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13" name="Shape 10"/>
          <p:cNvSpPr/>
          <p:nvPr/>
        </p:nvSpPr>
        <p:spPr>
          <a:xfrm>
            <a:off x="1088136" y="3163824"/>
            <a:ext cx="402336" cy="402336"/>
          </a:xfrm>
          <a:prstGeom prst="ellipse">
            <a:avLst/>
          </a:prstGeom>
          <a:solidFill>
            <a:srgbClr val="1F7A47"/>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1188720" y="3264408"/>
            <a:ext cx="201168" cy="201168"/>
          </a:xfrm>
          <a:prstGeom prst="rect">
            <a:avLst/>
          </a:prstGeom>
        </p:spPr>
      </p:pic>
      <p:sp>
        <p:nvSpPr>
          <p:cNvPr id="15" name="Text 11"/>
          <p:cNvSpPr/>
          <p:nvPr/>
        </p:nvSpPr>
        <p:spPr>
          <a:xfrm>
            <a:off x="1618488" y="3136392"/>
            <a:ext cx="4389120" cy="45720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Risk Data Products</a:t>
            </a:r>
            <a:endParaRPr lang="en-US" sz="1200" dirty="0"/>
          </a:p>
        </p:txBody>
      </p:sp>
      <p:sp>
        <p:nvSpPr>
          <p:cNvPr id="16" name="Text 12"/>
          <p:cNvSpPr/>
          <p:nvPr/>
        </p:nvSpPr>
        <p:spPr>
          <a:xfrm>
            <a:off x="5394960" y="3136392"/>
            <a:ext cx="2240280" cy="457200"/>
          </a:xfrm>
          <a:prstGeom prst="rect">
            <a:avLst/>
          </a:prstGeom>
          <a:noFill/>
          <a:ln/>
        </p:spPr>
        <p:txBody>
          <a:bodyPr wrap="square" lIns="0" tIns="0" rIns="0" bIns="0" rtlCol="0" anchor="ctr"/>
          <a:lstStyle/>
          <a:p>
            <a:pPr marL="0" indent="0" algn="r">
              <a:lnSpc>
                <a:spcPct val="100000"/>
              </a:lnSpc>
              <a:buNone/>
            </a:pPr>
            <a:r>
              <a:rPr lang="en-US" sz="870" dirty="0">
                <a:solidFill>
                  <a:srgbClr val="262B27"/>
                </a:solidFill>
                <a:latin typeface="Calibri" pitchFamily="34" charset="0"/>
                <a:ea typeface="Calibri" pitchFamily="34" charset="-122"/>
                <a:cs typeface="Calibri" pitchFamily="34" charset="-120"/>
              </a:rPr>
              <a:t>Exposure · PFE · Limits — schema and metadata travel as a contract</a:t>
            </a:r>
            <a:endParaRPr lang="en-US" sz="870" dirty="0"/>
          </a:p>
        </p:txBody>
      </p:sp>
      <p:sp>
        <p:nvSpPr>
          <p:cNvPr id="17" name="Shape 13"/>
          <p:cNvSpPr/>
          <p:nvPr/>
        </p:nvSpPr>
        <p:spPr>
          <a:xfrm>
            <a:off x="960120" y="3794760"/>
            <a:ext cx="6766560" cy="603504"/>
          </a:xfrm>
          <a:prstGeom prst="roundRect">
            <a:avLst>
              <a:gd name="adj" fmla="val 7576"/>
            </a:avLst>
          </a:prstGeom>
          <a:solidFill>
            <a:srgbClr val="FFFFFF"/>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18" name="Shape 14"/>
          <p:cNvSpPr/>
          <p:nvPr/>
        </p:nvSpPr>
        <p:spPr>
          <a:xfrm>
            <a:off x="1088136" y="3895344"/>
            <a:ext cx="402336" cy="402336"/>
          </a:xfrm>
          <a:prstGeom prst="ellipse">
            <a:avLst/>
          </a:prstGeom>
          <a:solidFill>
            <a:srgbClr val="0E3D29"/>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1188720" y="3995928"/>
            <a:ext cx="201168" cy="201168"/>
          </a:xfrm>
          <a:prstGeom prst="rect">
            <a:avLst/>
          </a:prstGeom>
        </p:spPr>
      </p:pic>
      <p:sp>
        <p:nvSpPr>
          <p:cNvPr id="20" name="Text 15"/>
          <p:cNvSpPr/>
          <p:nvPr/>
        </p:nvSpPr>
        <p:spPr>
          <a:xfrm>
            <a:off x="1618488" y="3867912"/>
            <a:ext cx="4389120" cy="45720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Risk Conformed Entities</a:t>
            </a:r>
            <a:endParaRPr lang="en-US" sz="1200" dirty="0"/>
          </a:p>
        </p:txBody>
      </p:sp>
      <p:sp>
        <p:nvSpPr>
          <p:cNvPr id="21" name="Text 16"/>
          <p:cNvSpPr/>
          <p:nvPr/>
        </p:nvSpPr>
        <p:spPr>
          <a:xfrm>
            <a:off x="5394960" y="3867912"/>
            <a:ext cx="2240280" cy="457200"/>
          </a:xfrm>
          <a:prstGeom prst="rect">
            <a:avLst/>
          </a:prstGeom>
          <a:noFill/>
          <a:ln/>
        </p:spPr>
        <p:txBody>
          <a:bodyPr wrap="square" lIns="0" tIns="0" rIns="0" bIns="0" rtlCol="0" anchor="ctr"/>
          <a:lstStyle/>
          <a:p>
            <a:pPr marL="0" indent="0" algn="r">
              <a:lnSpc>
                <a:spcPct val="100000"/>
              </a:lnSpc>
              <a:buNone/>
            </a:pPr>
            <a:r>
              <a:rPr lang="en-US" sz="870" dirty="0">
                <a:solidFill>
                  <a:srgbClr val="262B27"/>
                </a:solidFill>
                <a:latin typeface="Calibri" pitchFamily="34" charset="0"/>
                <a:ea typeface="Calibri" pitchFamily="34" charset="-122"/>
                <a:cs typeface="Calibri" pitchFamily="34" charset="-120"/>
              </a:rPr>
              <a:t>One agreed definition across the Risk domain</a:t>
            </a:r>
            <a:endParaRPr lang="en-US" sz="870" dirty="0"/>
          </a:p>
        </p:txBody>
      </p:sp>
      <p:sp>
        <p:nvSpPr>
          <p:cNvPr id="22" name="Shape 17"/>
          <p:cNvSpPr/>
          <p:nvPr/>
        </p:nvSpPr>
        <p:spPr>
          <a:xfrm>
            <a:off x="960120" y="4526280"/>
            <a:ext cx="6766560" cy="603504"/>
          </a:xfrm>
          <a:prstGeom prst="roundRect">
            <a:avLst>
              <a:gd name="adj" fmla="val 7576"/>
            </a:avLst>
          </a:prstGeom>
          <a:solidFill>
            <a:srgbClr val="FFFFFF"/>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23" name="Shape 18"/>
          <p:cNvSpPr/>
          <p:nvPr/>
        </p:nvSpPr>
        <p:spPr>
          <a:xfrm>
            <a:off x="1088136" y="4626864"/>
            <a:ext cx="402336" cy="402336"/>
          </a:xfrm>
          <a:prstGeom prst="ellipse">
            <a:avLst/>
          </a:prstGeom>
          <a:solidFill>
            <a:srgbClr val="0E3D29"/>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188720" y="4727448"/>
            <a:ext cx="201168" cy="201168"/>
          </a:xfrm>
          <a:prstGeom prst="rect">
            <a:avLst/>
          </a:prstGeom>
        </p:spPr>
      </p:pic>
      <p:sp>
        <p:nvSpPr>
          <p:cNvPr id="25" name="Text 19"/>
          <p:cNvSpPr/>
          <p:nvPr/>
        </p:nvSpPr>
        <p:spPr>
          <a:xfrm>
            <a:off x="1618488" y="4599432"/>
            <a:ext cx="4389120" cy="45720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Product-Group Conformance</a:t>
            </a:r>
            <a:endParaRPr lang="en-US" sz="1200" dirty="0"/>
          </a:p>
        </p:txBody>
      </p:sp>
      <p:sp>
        <p:nvSpPr>
          <p:cNvPr id="26" name="Text 20"/>
          <p:cNvSpPr/>
          <p:nvPr/>
        </p:nvSpPr>
        <p:spPr>
          <a:xfrm>
            <a:off x="5394960" y="4599432"/>
            <a:ext cx="2240280" cy="457200"/>
          </a:xfrm>
          <a:prstGeom prst="rect">
            <a:avLst/>
          </a:prstGeom>
          <a:noFill/>
          <a:ln/>
        </p:spPr>
        <p:txBody>
          <a:bodyPr wrap="square" lIns="0" tIns="0" rIns="0" bIns="0" rtlCol="0" anchor="ctr"/>
          <a:lstStyle/>
          <a:p>
            <a:pPr marL="0" indent="0" algn="r">
              <a:lnSpc>
                <a:spcPct val="100000"/>
              </a:lnSpc>
              <a:buNone/>
            </a:pPr>
            <a:r>
              <a:rPr lang="en-US" sz="870" dirty="0">
                <a:solidFill>
                  <a:srgbClr val="262B27"/>
                </a:solidFill>
                <a:latin typeface="Calibri" pitchFamily="34" charset="0"/>
                <a:ea typeface="Calibri" pitchFamily="34" charset="-122"/>
                <a:cs typeface="Calibri" pitchFamily="34" charset="-120"/>
              </a:rPr>
              <a:t>Reconcile entities across applications within a product group</a:t>
            </a:r>
            <a:endParaRPr lang="en-US" sz="870" dirty="0"/>
          </a:p>
        </p:txBody>
      </p:sp>
      <p:sp>
        <p:nvSpPr>
          <p:cNvPr id="27" name="Shape 21"/>
          <p:cNvSpPr/>
          <p:nvPr/>
        </p:nvSpPr>
        <p:spPr>
          <a:xfrm>
            <a:off x="960120" y="5257800"/>
            <a:ext cx="6766560" cy="603504"/>
          </a:xfrm>
          <a:prstGeom prst="roundRect">
            <a:avLst>
              <a:gd name="adj" fmla="val 7576"/>
            </a:avLst>
          </a:prstGeom>
          <a:solidFill>
            <a:srgbClr val="FFFFFF"/>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28" name="Shape 22"/>
          <p:cNvSpPr/>
          <p:nvPr/>
        </p:nvSpPr>
        <p:spPr>
          <a:xfrm>
            <a:off x="1088136" y="5358384"/>
            <a:ext cx="402336" cy="402336"/>
          </a:xfrm>
          <a:prstGeom prst="ellipse">
            <a:avLst/>
          </a:prstGeom>
          <a:solidFill>
            <a:srgbClr val="0E3D29"/>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1188720" y="5458968"/>
            <a:ext cx="201168" cy="201168"/>
          </a:xfrm>
          <a:prstGeom prst="rect">
            <a:avLst/>
          </a:prstGeom>
        </p:spPr>
      </p:pic>
      <p:sp>
        <p:nvSpPr>
          <p:cNvPr id="30" name="Text 23"/>
          <p:cNvSpPr/>
          <p:nvPr/>
        </p:nvSpPr>
        <p:spPr>
          <a:xfrm>
            <a:off x="1618488" y="5330952"/>
            <a:ext cx="4389120" cy="45720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Application data &amp; app-entity conformance</a:t>
            </a:r>
            <a:endParaRPr lang="en-US" sz="1200" dirty="0"/>
          </a:p>
        </p:txBody>
      </p:sp>
      <p:sp>
        <p:nvSpPr>
          <p:cNvPr id="31" name="Text 24"/>
          <p:cNvSpPr/>
          <p:nvPr/>
        </p:nvSpPr>
        <p:spPr>
          <a:xfrm>
            <a:off x="5394960" y="5330952"/>
            <a:ext cx="2240280" cy="457200"/>
          </a:xfrm>
          <a:prstGeom prst="rect">
            <a:avLst/>
          </a:prstGeom>
          <a:noFill/>
          <a:ln/>
        </p:spPr>
        <p:txBody>
          <a:bodyPr wrap="square" lIns="0" tIns="0" rIns="0" bIns="0" rtlCol="0" anchor="ctr"/>
          <a:lstStyle/>
          <a:p>
            <a:pPr marL="0" indent="0" algn="r">
              <a:lnSpc>
                <a:spcPct val="100000"/>
              </a:lnSpc>
              <a:buNone/>
            </a:pPr>
            <a:r>
              <a:rPr lang="en-US" sz="870" dirty="0">
                <a:solidFill>
                  <a:srgbClr val="262B27"/>
                </a:solidFill>
                <a:latin typeface="Calibri" pitchFamily="34" charset="0"/>
                <a:ea typeface="Calibri" pitchFamily="34" charset="-122"/>
                <a:cs typeface="Calibri" pitchFamily="34" charset="-120"/>
              </a:rPr>
              <a:t>Risk-generated data lands in app schemas; shape existing datasets into a data model</a:t>
            </a:r>
            <a:endParaRPr lang="en-US" sz="870" dirty="0"/>
          </a:p>
        </p:txBody>
      </p:sp>
      <p:sp>
        <p:nvSpPr>
          <p:cNvPr id="32" name="Shape 25"/>
          <p:cNvSpPr/>
          <p:nvPr/>
        </p:nvSpPr>
        <p:spPr>
          <a:xfrm flipV="1">
            <a:off x="768096" y="2514600"/>
            <a:ext cx="0" cy="3163824"/>
          </a:xfrm>
          <a:prstGeom prst="line">
            <a:avLst/>
          </a:prstGeom>
          <a:noFill/>
          <a:ln w="31750">
            <a:solidFill>
              <a:srgbClr val="1F7A47"/>
            </a:solidFill>
            <a:prstDash val="solid"/>
            <a:headEnd type="none"/>
            <a:tailEnd type="triangle"/>
          </a:ln>
        </p:spPr>
        <p:txBody>
          <a:bodyPr/>
          <a:lstStyle/>
          <a:p>
            <a:endParaRPr lang="en-US"/>
          </a:p>
        </p:txBody>
      </p:sp>
      <p:sp>
        <p:nvSpPr>
          <p:cNvPr id="33" name="Text 26"/>
          <p:cNvSpPr/>
          <p:nvPr/>
        </p:nvSpPr>
        <p:spPr>
          <a:xfrm>
            <a:off x="566928" y="3886200"/>
            <a:ext cx="384048" cy="640080"/>
          </a:xfrm>
          <a:prstGeom prst="rect">
            <a:avLst/>
          </a:prstGeom>
          <a:noFill/>
          <a:ln/>
        </p:spPr>
        <p:txBody>
          <a:bodyPr wrap="square" lIns="0" tIns="0" rIns="0" bIns="0" rtlCol="0" anchor="ctr"/>
          <a:lstStyle/>
          <a:p>
            <a:pPr marL="0" indent="0" algn="ctr">
              <a:buNone/>
            </a:pPr>
            <a:r>
              <a:rPr lang="en-US" sz="750" i="1" dirty="0">
                <a:solidFill>
                  <a:srgbClr val="1F7A47"/>
                </a:solidFill>
                <a:latin typeface="Calibri" pitchFamily="34" charset="0"/>
                <a:ea typeface="Calibri" pitchFamily="34" charset="-122"/>
                <a:cs typeface="Calibri" pitchFamily="34" charset="-120"/>
              </a:rPr>
              <a:t>conform</a:t>
            </a:r>
            <a:endParaRPr lang="en-US" sz="750" dirty="0"/>
          </a:p>
        </p:txBody>
      </p:sp>
      <p:sp>
        <p:nvSpPr>
          <p:cNvPr id="34" name="Shape 27"/>
          <p:cNvSpPr/>
          <p:nvPr/>
        </p:nvSpPr>
        <p:spPr>
          <a:xfrm>
            <a:off x="8549640" y="1874520"/>
            <a:ext cx="3093415" cy="1920240"/>
          </a:xfrm>
          <a:prstGeom prst="roundRect">
            <a:avLst>
              <a:gd name="adj" fmla="val 2857"/>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35" name="Shape 28"/>
          <p:cNvSpPr/>
          <p:nvPr/>
        </p:nvSpPr>
        <p:spPr>
          <a:xfrm>
            <a:off x="8732520" y="2057400"/>
            <a:ext cx="420624" cy="420624"/>
          </a:xfrm>
          <a:prstGeom prst="ellipse">
            <a:avLst/>
          </a:prstGeom>
          <a:solidFill>
            <a:srgbClr val="0E3D29"/>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8837676" y="2162556"/>
            <a:ext cx="210312" cy="210312"/>
          </a:xfrm>
          <a:prstGeom prst="rect">
            <a:avLst/>
          </a:prstGeom>
        </p:spPr>
      </p:pic>
      <p:sp>
        <p:nvSpPr>
          <p:cNvPr id="37" name="Text 29"/>
          <p:cNvSpPr/>
          <p:nvPr/>
        </p:nvSpPr>
        <p:spPr>
          <a:xfrm>
            <a:off x="9262872" y="2075688"/>
            <a:ext cx="2270455" cy="36576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Then the enterprise</a:t>
            </a:r>
            <a:endParaRPr lang="en-US" sz="1200" dirty="0"/>
          </a:p>
        </p:txBody>
      </p:sp>
      <p:sp>
        <p:nvSpPr>
          <p:cNvPr id="38" name="Text 30"/>
          <p:cNvSpPr/>
          <p:nvPr/>
        </p:nvSpPr>
        <p:spPr>
          <a:xfrm>
            <a:off x="8732520" y="2587752"/>
            <a:ext cx="2727655" cy="109728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Conformed Risk entities align to — and contribute back to — the enterprise CDM where Risk owns expertise CDM does not yet cover </a:t>
            </a:r>
            <a:r>
              <a:rPr lang="en-US" sz="950" i="1" dirty="0">
                <a:solidFill>
                  <a:srgbClr val="1F7A47"/>
                </a:solidFill>
                <a:latin typeface="Calibri" pitchFamily="34" charset="0"/>
                <a:ea typeface="Calibri" pitchFamily="34" charset="-122"/>
                <a:cs typeface="Calibri" pitchFamily="34" charset="-120"/>
              </a:rPr>
              <a:t>(netting set, CSA terms, regulatory regime).</a:t>
            </a:r>
            <a:endParaRPr lang="en-US" sz="950" dirty="0"/>
          </a:p>
        </p:txBody>
      </p:sp>
      <p:sp>
        <p:nvSpPr>
          <p:cNvPr id="39" name="Shape 31"/>
          <p:cNvSpPr/>
          <p:nvPr/>
        </p:nvSpPr>
        <p:spPr>
          <a:xfrm>
            <a:off x="8549640" y="3977640"/>
            <a:ext cx="3093415" cy="2057400"/>
          </a:xfrm>
          <a:prstGeom prst="roundRect">
            <a:avLst>
              <a:gd name="adj" fmla="val 2667"/>
            </a:avLst>
          </a:prstGeom>
          <a:solidFill>
            <a:srgbClr val="EAF3EC"/>
          </a:solidFill>
          <a:ln w="12700">
            <a:solidFill>
              <a:srgbClr val="3E9E68"/>
            </a:solidFill>
            <a:prstDash val="solid"/>
          </a:ln>
        </p:spPr>
        <p:txBody>
          <a:bodyPr/>
          <a:lstStyle/>
          <a:p>
            <a:endParaRPr lang="en-US"/>
          </a:p>
        </p:txBody>
      </p:sp>
      <p:sp>
        <p:nvSpPr>
          <p:cNvPr id="40" name="Shape 32"/>
          <p:cNvSpPr/>
          <p:nvPr/>
        </p:nvSpPr>
        <p:spPr>
          <a:xfrm>
            <a:off x="8732520" y="4160520"/>
            <a:ext cx="420624" cy="420624"/>
          </a:xfrm>
          <a:prstGeom prst="ellipse">
            <a:avLst/>
          </a:prstGeom>
          <a:solidFill>
            <a:srgbClr val="1F7A47"/>
          </a:solidFill>
          <a:ln/>
        </p:spPr>
        <p:txBody>
          <a:bodyPr/>
          <a:lstStyle/>
          <a:p>
            <a:endParaRPr lang="en-US"/>
          </a:p>
        </p:txBody>
      </p:sp>
      <p:pic>
        <p:nvPicPr>
          <p:cNvPr id="41" name="Image 6" descr="preencoded.png"/>
          <p:cNvPicPr>
            <a:picLocks noChangeAspect="1"/>
          </p:cNvPicPr>
          <p:nvPr/>
        </p:nvPicPr>
        <p:blipFill>
          <a:blip r:embed="rId9"/>
          <a:stretch>
            <a:fillRect/>
          </a:stretch>
        </p:blipFill>
        <p:spPr>
          <a:xfrm>
            <a:off x="8837676" y="4265676"/>
            <a:ext cx="210312" cy="210312"/>
          </a:xfrm>
          <a:prstGeom prst="rect">
            <a:avLst/>
          </a:prstGeom>
        </p:spPr>
      </p:pic>
      <p:sp>
        <p:nvSpPr>
          <p:cNvPr id="42" name="Text 33"/>
          <p:cNvSpPr/>
          <p:nvPr/>
        </p:nvSpPr>
        <p:spPr>
          <a:xfrm>
            <a:off x="9262872" y="4178808"/>
            <a:ext cx="2270455" cy="36576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Populate forward, consume back</a:t>
            </a:r>
            <a:endParaRPr lang="en-US" sz="1200" dirty="0"/>
          </a:p>
        </p:txBody>
      </p:sp>
      <p:sp>
        <p:nvSpPr>
          <p:cNvPr id="43" name="Text 34"/>
          <p:cNvSpPr/>
          <p:nvPr/>
        </p:nvSpPr>
        <p:spPr>
          <a:xfrm>
            <a:off x="8732520" y="4690872"/>
            <a:ext cx="2727655" cy="118872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Apps feed the conformed model and read it back — defined once and reused by every consumer, not rebuilt downstream.</a:t>
            </a:r>
            <a:endParaRPr lang="en-US" sz="950" dirty="0"/>
          </a:p>
        </p:txBody>
      </p:sp>
      <p:sp>
        <p:nvSpPr>
          <p:cNvPr id="44" name="Text 35"/>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45" name="Text 36"/>
          <p:cNvSpPr/>
          <p:nvPr/>
        </p:nvSpPr>
        <p:spPr>
          <a:xfrm>
            <a:off x="9357055" y="6473952"/>
            <a:ext cx="146304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a:t>
            </a:r>
            <a:endParaRPr lang="en-US" sz="900" dirty="0"/>
          </a:p>
        </p:txBody>
      </p:sp>
      <p:sp>
        <p:nvSpPr>
          <p:cNvPr id="46" name="Text 37"/>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lIns="0" tIns="0" rIns="0" bIns="0" rtlCol="0" anchor="ctr"/>
          <a:lstStyle/>
          <a:p>
            <a:pPr marL="0" indent="0">
              <a:buNone/>
            </a:pPr>
            <a:r>
              <a:rPr lang="en-US" sz="1100" b="1" kern="0" spc="300" dirty="0">
                <a:solidFill>
                  <a:srgbClr val="1F7A47"/>
                </a:solidFill>
                <a:latin typeface="Calibri" pitchFamily="34" charset="0"/>
                <a:ea typeface="Calibri" pitchFamily="34" charset="-122"/>
                <a:cs typeface="Calibri" pitchFamily="34" charset="-120"/>
              </a:rPr>
              <a:t>WHERE WE'RE GOING  ·  A WORKED EXAMPLE</a:t>
            </a:r>
            <a:endParaRPr lang="en-US" sz="1100" dirty="0"/>
          </a:p>
        </p:txBody>
      </p:sp>
      <p:sp>
        <p:nvSpPr>
          <p:cNvPr id="3" name="Text 1"/>
          <p:cNvSpPr/>
          <p:nvPr/>
        </p:nvSpPr>
        <p:spPr>
          <a:xfrm>
            <a:off x="548640" y="640080"/>
            <a:ext cx="11094415" cy="548640"/>
          </a:xfrm>
          <a:prstGeom prst="rect">
            <a:avLst/>
          </a:prstGeom>
          <a:noFill/>
          <a:ln/>
        </p:spPr>
        <p:txBody>
          <a:bodyPr wrap="square" lIns="0" tIns="0" rIns="0" bIns="0" rtlCol="0" anchor="ctr"/>
          <a:lstStyle/>
          <a:p>
            <a:pPr marL="0" indent="0">
              <a:buNone/>
            </a:pPr>
            <a:r>
              <a:rPr lang="en-US" sz="2600" b="1" dirty="0">
                <a:solidFill>
                  <a:srgbClr val="0E3D29"/>
                </a:solidFill>
                <a:latin typeface="Calibri" pitchFamily="34" charset="0"/>
                <a:ea typeface="Calibri" pitchFamily="34" charset="-122"/>
                <a:cs typeface="Calibri" pitchFamily="34" charset="-120"/>
              </a:rPr>
              <a:t>From Many Sources to One Data Product</a:t>
            </a:r>
            <a:endParaRPr lang="en-US" sz="2600" dirty="0"/>
          </a:p>
        </p:txBody>
      </p:sp>
      <p:sp>
        <p:nvSpPr>
          <p:cNvPr id="4" name="Text 2"/>
          <p:cNvSpPr/>
          <p:nvPr/>
        </p:nvSpPr>
        <p:spPr>
          <a:xfrm>
            <a:off x="548640" y="1298448"/>
            <a:ext cx="11094415" cy="365760"/>
          </a:xfrm>
          <a:prstGeom prst="rect">
            <a:avLst/>
          </a:prstGeom>
          <a:noFill/>
          <a:ln/>
        </p:spPr>
        <p:txBody>
          <a:bodyPr wrap="square" lIns="0" tIns="0" rIns="0" bIns="0" rtlCol="0" anchor="ctr"/>
          <a:lstStyle/>
          <a:p>
            <a:pPr marL="0" indent="0">
              <a:buNone/>
            </a:pPr>
            <a:r>
              <a:rPr lang="en-US" sz="1350" b="1" dirty="0">
                <a:solidFill>
                  <a:srgbClr val="0E3D29"/>
                </a:solidFill>
                <a:latin typeface="Calibri" pitchFamily="34" charset="0"/>
                <a:ea typeface="Calibri" pitchFamily="34" charset="-122"/>
                <a:cs typeface="Calibri" pitchFamily="34" charset="-120"/>
              </a:rPr>
              <a:t>Collateral — </a:t>
            </a:r>
            <a:r>
              <a:rPr lang="en-US" sz="1350" dirty="0">
                <a:solidFill>
                  <a:srgbClr val="262B27"/>
                </a:solidFill>
                <a:latin typeface="Calibri" pitchFamily="34" charset="0"/>
                <a:ea typeface="Calibri" pitchFamily="34" charset="-122"/>
                <a:cs typeface="Calibri" pitchFamily="34" charset="-120"/>
              </a:rPr>
              <a:t>how the picture is assembled today, and how it becomes one governed product every consumer can trust.</a:t>
            </a:r>
            <a:endParaRPr lang="en-US" sz="1350" dirty="0"/>
          </a:p>
        </p:txBody>
      </p:sp>
      <p:sp>
        <p:nvSpPr>
          <p:cNvPr id="5" name="Text 3"/>
          <p:cNvSpPr/>
          <p:nvPr/>
        </p:nvSpPr>
        <p:spPr>
          <a:xfrm>
            <a:off x="548640" y="1828800"/>
            <a:ext cx="4160520" cy="219456"/>
          </a:xfrm>
          <a:prstGeom prst="rect">
            <a:avLst/>
          </a:prstGeom>
          <a:noFill/>
          <a:ln/>
        </p:spPr>
        <p:txBody>
          <a:bodyPr wrap="square" lIns="0" tIns="0" rIns="0" bIns="0" rtlCol="0" anchor="ctr"/>
          <a:lstStyle/>
          <a:p>
            <a:pPr marL="0" indent="0">
              <a:buNone/>
            </a:pPr>
            <a:r>
              <a:rPr lang="en-US" sz="1000" b="1" kern="0" spc="100" dirty="0">
                <a:solidFill>
                  <a:srgbClr val="9C6B16"/>
                </a:solidFill>
                <a:latin typeface="Calibri" pitchFamily="34" charset="0"/>
                <a:ea typeface="Calibri" pitchFamily="34" charset="-122"/>
                <a:cs typeface="Calibri" pitchFamily="34" charset="-120"/>
              </a:rPr>
              <a:t>TODAY — ONE PICTURE, ASSEMBLED MANY WAYS</a:t>
            </a:r>
            <a:endParaRPr lang="en-US" sz="1000" dirty="0"/>
          </a:p>
        </p:txBody>
      </p:sp>
      <p:sp>
        <p:nvSpPr>
          <p:cNvPr id="6" name="Shape 4"/>
          <p:cNvSpPr/>
          <p:nvPr/>
        </p:nvSpPr>
        <p:spPr>
          <a:xfrm>
            <a:off x="548640" y="2121408"/>
            <a:ext cx="4160520" cy="713232"/>
          </a:xfrm>
          <a:prstGeom prst="roundRect">
            <a:avLst>
              <a:gd name="adj" fmla="val 7692"/>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7" name="Shape 5"/>
          <p:cNvSpPr/>
          <p:nvPr/>
        </p:nvSpPr>
        <p:spPr>
          <a:xfrm>
            <a:off x="694944" y="2267712"/>
            <a:ext cx="384048" cy="384048"/>
          </a:xfrm>
          <a:prstGeom prst="ellipse">
            <a:avLst/>
          </a:prstGeom>
          <a:solidFill>
            <a:srgbClr val="55636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90956" y="2363724"/>
            <a:ext cx="192024" cy="192024"/>
          </a:xfrm>
          <a:prstGeom prst="rect">
            <a:avLst/>
          </a:prstGeom>
        </p:spPr>
      </p:pic>
      <p:sp>
        <p:nvSpPr>
          <p:cNvPr id="9" name="Text 6"/>
          <p:cNvSpPr/>
          <p:nvPr/>
        </p:nvSpPr>
        <p:spPr>
          <a:xfrm>
            <a:off x="1188720" y="2212848"/>
            <a:ext cx="3383280" cy="256032"/>
          </a:xfrm>
          <a:prstGeom prst="rect">
            <a:avLst/>
          </a:prstGeom>
          <a:noFill/>
          <a:ln/>
        </p:spPr>
        <p:txBody>
          <a:bodyPr wrap="square" lIns="0" tIns="0" rIns="0" bIns="0" rtlCol="0" anchor="ctr"/>
          <a:lstStyle/>
          <a:p>
            <a:pPr marL="0" indent="0">
              <a:buNone/>
            </a:pPr>
            <a:r>
              <a:rPr lang="en-US" sz="1100" b="1" dirty="0">
                <a:solidFill>
                  <a:srgbClr val="0E3D29"/>
                </a:solidFill>
                <a:latin typeface="Calibri" pitchFamily="34" charset="0"/>
                <a:ea typeface="Calibri" pitchFamily="34" charset="-122"/>
                <a:cs typeface="Calibri" pitchFamily="34" charset="-120"/>
              </a:rPr>
              <a:t>Agreements &amp; terms</a:t>
            </a:r>
            <a:endParaRPr lang="en-US" sz="1100" dirty="0"/>
          </a:p>
        </p:txBody>
      </p:sp>
      <p:sp>
        <p:nvSpPr>
          <p:cNvPr id="10" name="Text 7"/>
          <p:cNvSpPr/>
          <p:nvPr/>
        </p:nvSpPr>
        <p:spPr>
          <a:xfrm>
            <a:off x="1188720" y="2468880"/>
            <a:ext cx="3383280" cy="310896"/>
          </a:xfrm>
          <a:prstGeom prst="rect">
            <a:avLst/>
          </a:prstGeom>
          <a:noFill/>
          <a:ln/>
        </p:spPr>
        <p:txBody>
          <a:bodyPr wrap="square" lIns="0" tIns="0" rIns="0" bIns="0" rtlCol="0" anchor="t"/>
          <a:lstStyle/>
          <a:p>
            <a:pPr marL="0" indent="0">
              <a:lnSpc>
                <a:spcPct val="100000"/>
              </a:lnSpc>
              <a:buNone/>
            </a:pPr>
            <a:r>
              <a:rPr lang="en-US" sz="860" dirty="0">
                <a:solidFill>
                  <a:srgbClr val="262B27"/>
                </a:solidFill>
                <a:latin typeface="Calibri" pitchFamily="34" charset="0"/>
                <a:ea typeface="Calibri" pitchFamily="34" charset="-122"/>
                <a:cs typeface="Calibri" pitchFamily="34" charset="-120"/>
              </a:rPr>
              <a:t>CSAs, GMRAs, GMSLAs — legal PDFs parsed into TAMS: eligibility, haircuts, thresholds</a:t>
            </a:r>
            <a:endParaRPr lang="en-US" sz="860" dirty="0"/>
          </a:p>
        </p:txBody>
      </p:sp>
      <p:sp>
        <p:nvSpPr>
          <p:cNvPr id="11" name="Text 8"/>
          <p:cNvSpPr/>
          <p:nvPr/>
        </p:nvSpPr>
        <p:spPr>
          <a:xfrm>
            <a:off x="2446020" y="2788920"/>
            <a:ext cx="365760" cy="201168"/>
          </a:xfrm>
          <a:prstGeom prst="rect">
            <a:avLst/>
          </a:prstGeom>
          <a:noFill/>
          <a:ln/>
        </p:spPr>
        <p:txBody>
          <a:bodyPr wrap="square" lIns="0" tIns="0" rIns="0" bIns="0" rtlCol="0" anchor="ctr"/>
          <a:lstStyle/>
          <a:p>
            <a:pPr marL="0" indent="0" algn="ctr">
              <a:buNone/>
            </a:pPr>
            <a:r>
              <a:rPr lang="en-US" sz="1400" b="1" dirty="0">
                <a:solidFill>
                  <a:srgbClr val="55636B"/>
                </a:solidFill>
                <a:latin typeface="Calibri" pitchFamily="34" charset="0"/>
                <a:ea typeface="Calibri" pitchFamily="34" charset="-122"/>
                <a:cs typeface="Calibri" pitchFamily="34" charset="-120"/>
              </a:rPr>
              <a:t>↓</a:t>
            </a:r>
            <a:endParaRPr lang="en-US" sz="1400" dirty="0"/>
          </a:p>
        </p:txBody>
      </p:sp>
      <p:sp>
        <p:nvSpPr>
          <p:cNvPr id="12" name="Shape 9"/>
          <p:cNvSpPr/>
          <p:nvPr/>
        </p:nvSpPr>
        <p:spPr>
          <a:xfrm>
            <a:off x="548640" y="2999232"/>
            <a:ext cx="4160520" cy="950976"/>
          </a:xfrm>
          <a:prstGeom prst="roundRect">
            <a:avLst>
              <a:gd name="adj" fmla="val 5769"/>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13" name="Shape 10"/>
          <p:cNvSpPr/>
          <p:nvPr/>
        </p:nvSpPr>
        <p:spPr>
          <a:xfrm>
            <a:off x="694944" y="3145536"/>
            <a:ext cx="384048" cy="384048"/>
          </a:xfrm>
          <a:prstGeom prst="ellipse">
            <a:avLst/>
          </a:prstGeom>
          <a:solidFill>
            <a:srgbClr val="55636B"/>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790956" y="3241548"/>
            <a:ext cx="192024" cy="192024"/>
          </a:xfrm>
          <a:prstGeom prst="rect">
            <a:avLst/>
          </a:prstGeom>
        </p:spPr>
      </p:pic>
      <p:sp>
        <p:nvSpPr>
          <p:cNvPr id="15" name="Text 11"/>
          <p:cNvSpPr/>
          <p:nvPr/>
        </p:nvSpPr>
        <p:spPr>
          <a:xfrm>
            <a:off x="1188720" y="3090672"/>
            <a:ext cx="3383280" cy="256032"/>
          </a:xfrm>
          <a:prstGeom prst="rect">
            <a:avLst/>
          </a:prstGeom>
          <a:noFill/>
          <a:ln/>
        </p:spPr>
        <p:txBody>
          <a:bodyPr wrap="square" lIns="0" tIns="0" rIns="0" bIns="0" rtlCol="0" anchor="ctr"/>
          <a:lstStyle/>
          <a:p>
            <a:pPr marL="0" indent="0">
              <a:buNone/>
            </a:pPr>
            <a:r>
              <a:rPr lang="en-US" sz="1100" b="1" dirty="0">
                <a:solidFill>
                  <a:srgbClr val="0E3D29"/>
                </a:solidFill>
                <a:latin typeface="Calibri" pitchFamily="34" charset="0"/>
                <a:ea typeface="Calibri" pitchFamily="34" charset="-122"/>
                <a:cs typeface="Calibri" pitchFamily="34" charset="-120"/>
              </a:rPr>
              <a:t>Margin &amp; collateral engines</a:t>
            </a:r>
            <a:endParaRPr lang="en-US" sz="1100" dirty="0"/>
          </a:p>
        </p:txBody>
      </p:sp>
      <p:sp>
        <p:nvSpPr>
          <p:cNvPr id="16" name="Text 12"/>
          <p:cNvSpPr/>
          <p:nvPr/>
        </p:nvSpPr>
        <p:spPr>
          <a:xfrm>
            <a:off x="1188720" y="3346704"/>
            <a:ext cx="3383280" cy="548640"/>
          </a:xfrm>
          <a:prstGeom prst="rect">
            <a:avLst/>
          </a:prstGeom>
          <a:noFill/>
          <a:ln/>
        </p:spPr>
        <p:txBody>
          <a:bodyPr wrap="square" lIns="0" tIns="0" rIns="0" bIns="0" rtlCol="0" anchor="t"/>
          <a:lstStyle/>
          <a:p>
            <a:pPr marL="0" indent="0">
              <a:lnSpc>
                <a:spcPct val="100000"/>
              </a:lnSpc>
              <a:buNone/>
            </a:pPr>
            <a:r>
              <a:rPr lang="en-US" sz="860" dirty="0">
                <a:solidFill>
                  <a:srgbClr val="262B27"/>
                </a:solidFill>
                <a:latin typeface="Calibri" pitchFamily="34" charset="0"/>
                <a:ea typeface="Calibri" pitchFamily="34" charset="-122"/>
                <a:cs typeface="Calibri" pitchFamily="34" charset="-120"/>
              </a:rPr>
              <a:t>CMOS orchestrates bilateral OTC (Colline) and prime / CCP (Softek); SFT and some desk-managed collateral sit in other systems today</a:t>
            </a:r>
            <a:endParaRPr lang="en-US" sz="860" dirty="0"/>
          </a:p>
        </p:txBody>
      </p:sp>
      <p:sp>
        <p:nvSpPr>
          <p:cNvPr id="17" name="Text 13"/>
          <p:cNvSpPr/>
          <p:nvPr/>
        </p:nvSpPr>
        <p:spPr>
          <a:xfrm>
            <a:off x="2446020" y="3904488"/>
            <a:ext cx="365760" cy="201168"/>
          </a:xfrm>
          <a:prstGeom prst="rect">
            <a:avLst/>
          </a:prstGeom>
          <a:noFill/>
          <a:ln/>
        </p:spPr>
        <p:txBody>
          <a:bodyPr wrap="square" lIns="0" tIns="0" rIns="0" bIns="0" rtlCol="0" anchor="ctr"/>
          <a:lstStyle/>
          <a:p>
            <a:pPr marL="0" indent="0" algn="ctr">
              <a:buNone/>
            </a:pPr>
            <a:r>
              <a:rPr lang="en-US" sz="1400" b="1" dirty="0">
                <a:solidFill>
                  <a:srgbClr val="55636B"/>
                </a:solidFill>
                <a:latin typeface="Calibri" pitchFamily="34" charset="0"/>
                <a:ea typeface="Calibri" pitchFamily="34" charset="-122"/>
                <a:cs typeface="Calibri" pitchFamily="34" charset="-120"/>
              </a:rPr>
              <a:t>↓</a:t>
            </a:r>
            <a:endParaRPr lang="en-US" sz="1400" dirty="0"/>
          </a:p>
        </p:txBody>
      </p:sp>
      <p:sp>
        <p:nvSpPr>
          <p:cNvPr id="18" name="Shape 14"/>
          <p:cNvSpPr/>
          <p:nvPr/>
        </p:nvSpPr>
        <p:spPr>
          <a:xfrm>
            <a:off x="548640" y="4114800"/>
            <a:ext cx="4160520" cy="841248"/>
          </a:xfrm>
          <a:prstGeom prst="roundRect">
            <a:avLst>
              <a:gd name="adj" fmla="val 6522"/>
            </a:avLst>
          </a:prstGeom>
          <a:solidFill>
            <a:srgbClr val="F6EFE0"/>
          </a:solidFill>
          <a:ln w="12700">
            <a:solidFill>
              <a:srgbClr val="E6D6B5"/>
            </a:solidFill>
            <a:prstDash val="solid"/>
          </a:ln>
          <a:effectLst>
            <a:outerShdw blurRad="88900" dist="38100" dir="5400000" algn="bl" rotWithShape="0">
              <a:srgbClr val="000000">
                <a:alpha val="10000"/>
              </a:srgbClr>
            </a:outerShdw>
          </a:effectLst>
        </p:spPr>
        <p:txBody>
          <a:bodyPr/>
          <a:lstStyle/>
          <a:p>
            <a:endParaRPr lang="en-US"/>
          </a:p>
        </p:txBody>
      </p:sp>
      <p:sp>
        <p:nvSpPr>
          <p:cNvPr id="19" name="Shape 15"/>
          <p:cNvSpPr/>
          <p:nvPr/>
        </p:nvSpPr>
        <p:spPr>
          <a:xfrm>
            <a:off x="694944" y="4261104"/>
            <a:ext cx="384048" cy="384048"/>
          </a:xfrm>
          <a:prstGeom prst="ellipse">
            <a:avLst/>
          </a:prstGeom>
          <a:solidFill>
            <a:srgbClr val="9C6B16"/>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90956" y="4357116"/>
            <a:ext cx="192024" cy="192024"/>
          </a:xfrm>
          <a:prstGeom prst="rect">
            <a:avLst/>
          </a:prstGeom>
        </p:spPr>
      </p:pic>
      <p:sp>
        <p:nvSpPr>
          <p:cNvPr id="21" name="Text 16"/>
          <p:cNvSpPr/>
          <p:nvPr/>
        </p:nvSpPr>
        <p:spPr>
          <a:xfrm>
            <a:off x="1188720" y="4206240"/>
            <a:ext cx="3383280" cy="256032"/>
          </a:xfrm>
          <a:prstGeom prst="rect">
            <a:avLst/>
          </a:prstGeom>
          <a:noFill/>
          <a:ln/>
        </p:spPr>
        <p:txBody>
          <a:bodyPr wrap="square" lIns="0" tIns="0" rIns="0" bIns="0" rtlCol="0" anchor="ctr"/>
          <a:lstStyle/>
          <a:p>
            <a:pPr marL="0" indent="0">
              <a:buNone/>
            </a:pPr>
            <a:r>
              <a:rPr lang="en-US" sz="1100" b="1" dirty="0">
                <a:solidFill>
                  <a:srgbClr val="0E3D29"/>
                </a:solidFill>
                <a:latin typeface="Calibri" pitchFamily="34" charset="0"/>
                <a:ea typeface="Calibri" pitchFamily="34" charset="-122"/>
                <a:cs typeface="Calibri" pitchFamily="34" charset="-120"/>
              </a:rPr>
              <a:t>Bookings &amp; movements</a:t>
            </a:r>
            <a:endParaRPr lang="en-US" sz="1100" dirty="0"/>
          </a:p>
        </p:txBody>
      </p:sp>
      <p:sp>
        <p:nvSpPr>
          <p:cNvPr id="22" name="Text 17"/>
          <p:cNvSpPr/>
          <p:nvPr/>
        </p:nvSpPr>
        <p:spPr>
          <a:xfrm>
            <a:off x="1188720" y="4462272"/>
            <a:ext cx="3383280" cy="438912"/>
          </a:xfrm>
          <a:prstGeom prst="rect">
            <a:avLst/>
          </a:prstGeom>
          <a:noFill/>
          <a:ln/>
        </p:spPr>
        <p:txBody>
          <a:bodyPr wrap="square" lIns="0" tIns="0" rIns="0" bIns="0" rtlCol="0" anchor="t"/>
          <a:lstStyle/>
          <a:p>
            <a:pPr marL="0" indent="0">
              <a:lnSpc>
                <a:spcPct val="100000"/>
              </a:lnSpc>
              <a:buNone/>
            </a:pPr>
            <a:r>
              <a:rPr lang="en-US" sz="860" dirty="0">
                <a:solidFill>
                  <a:srgbClr val="262B27"/>
                </a:solidFill>
                <a:latin typeface="Calibri" pitchFamily="34" charset="0"/>
                <a:ea typeface="Calibri" pitchFamily="34" charset="-122"/>
                <a:cs typeface="Calibri" pitchFamily="34" charset="-120"/>
              </a:rPr>
              <a:t>Booked in Calypso / Loan IQ / triparty; positions land across stores — PFE, liquidity, optimization each rebuild the picture</a:t>
            </a:r>
            <a:endParaRPr lang="en-US" sz="860" dirty="0"/>
          </a:p>
        </p:txBody>
      </p:sp>
      <p:sp>
        <p:nvSpPr>
          <p:cNvPr id="23" name="Text 18"/>
          <p:cNvSpPr/>
          <p:nvPr/>
        </p:nvSpPr>
        <p:spPr>
          <a:xfrm>
            <a:off x="548640" y="5157216"/>
            <a:ext cx="4160520" cy="548640"/>
          </a:xfrm>
          <a:prstGeom prst="rect">
            <a:avLst/>
          </a:prstGeom>
          <a:noFill/>
          <a:ln/>
        </p:spPr>
        <p:txBody>
          <a:bodyPr wrap="square" lIns="0" tIns="0" rIns="0" bIns="0" rtlCol="0" anchor="t"/>
          <a:lstStyle/>
          <a:p>
            <a:pPr marL="0" indent="0">
              <a:lnSpc>
                <a:spcPct val="104000"/>
              </a:lnSpc>
              <a:buNone/>
            </a:pPr>
            <a:r>
              <a:rPr lang="en-US" sz="950" b="1" dirty="0">
                <a:solidFill>
                  <a:srgbClr val="9C3D1E"/>
                </a:solidFill>
                <a:latin typeface="Calibri" pitchFamily="34" charset="0"/>
                <a:ea typeface="Calibri" pitchFamily="34" charset="-122"/>
                <a:cs typeface="Calibri" pitchFamily="34" charset="-120"/>
              </a:rPr>
              <a:t>The pain:  </a:t>
            </a:r>
            <a:r>
              <a:rPr lang="en-US" sz="950" dirty="0">
                <a:solidFill>
                  <a:srgbClr val="262B27"/>
                </a:solidFill>
                <a:latin typeface="Calibri" pitchFamily="34" charset="0"/>
                <a:ea typeface="Calibri" pitchFamily="34" charset="-122"/>
                <a:cs typeface="Calibri" pitchFamily="34" charset="-120"/>
              </a:rPr>
              <a:t>no single view of what is posted, received and eligible — and reference fields drop between systems, so movements can't always be classified.</a:t>
            </a:r>
            <a:endParaRPr lang="en-US" sz="950" dirty="0"/>
          </a:p>
        </p:txBody>
      </p:sp>
      <p:sp>
        <p:nvSpPr>
          <p:cNvPr id="24" name="Text 19"/>
          <p:cNvSpPr/>
          <p:nvPr/>
        </p:nvSpPr>
        <p:spPr>
          <a:xfrm>
            <a:off x="4837176" y="3593592"/>
            <a:ext cx="329184" cy="585216"/>
          </a:xfrm>
          <a:prstGeom prst="rect">
            <a:avLst/>
          </a:prstGeom>
          <a:noFill/>
          <a:ln/>
        </p:spPr>
        <p:txBody>
          <a:bodyPr wrap="square" lIns="0" tIns="0" rIns="0" bIns="0" rtlCol="0" anchor="ctr"/>
          <a:lstStyle/>
          <a:p>
            <a:pPr marL="0" indent="0" algn="ctr">
              <a:buNone/>
            </a:pPr>
            <a:r>
              <a:rPr lang="en-US" sz="3000" b="1" dirty="0">
                <a:solidFill>
                  <a:srgbClr val="1F7A47"/>
                </a:solidFill>
                <a:latin typeface="Calibri" pitchFamily="34" charset="0"/>
                <a:ea typeface="Calibri" pitchFamily="34" charset="-122"/>
                <a:cs typeface="Calibri" pitchFamily="34" charset="-120"/>
              </a:rPr>
              <a:t>›</a:t>
            </a:r>
            <a:endParaRPr lang="en-US" sz="3000" dirty="0"/>
          </a:p>
        </p:txBody>
      </p:sp>
      <p:sp>
        <p:nvSpPr>
          <p:cNvPr id="25" name="Text 20"/>
          <p:cNvSpPr/>
          <p:nvPr/>
        </p:nvSpPr>
        <p:spPr>
          <a:xfrm>
            <a:off x="5349240" y="1828800"/>
            <a:ext cx="6293815" cy="219456"/>
          </a:xfrm>
          <a:prstGeom prst="rect">
            <a:avLst/>
          </a:prstGeom>
          <a:noFill/>
          <a:ln/>
        </p:spPr>
        <p:txBody>
          <a:bodyPr wrap="square" lIns="0" tIns="0" rIns="0" bIns="0" rtlCol="0" anchor="ctr"/>
          <a:lstStyle/>
          <a:p>
            <a:pPr marL="0" indent="0">
              <a:buNone/>
            </a:pPr>
            <a:r>
              <a:rPr lang="en-US" sz="1000" b="1" kern="0" spc="100" dirty="0">
                <a:solidFill>
                  <a:srgbClr val="1F7A47"/>
                </a:solidFill>
                <a:latin typeface="Calibri" pitchFamily="34" charset="0"/>
                <a:ea typeface="Calibri" pitchFamily="34" charset="-122"/>
                <a:cs typeface="Calibri" pitchFamily="34" charset="-120"/>
              </a:rPr>
              <a:t>TARGET — ONE GOVERNED DATA PRODUCT</a:t>
            </a:r>
            <a:endParaRPr lang="en-US" sz="1000" dirty="0"/>
          </a:p>
        </p:txBody>
      </p:sp>
      <p:sp>
        <p:nvSpPr>
          <p:cNvPr id="26" name="Shape 21"/>
          <p:cNvSpPr/>
          <p:nvPr/>
        </p:nvSpPr>
        <p:spPr>
          <a:xfrm>
            <a:off x="5349240" y="2121408"/>
            <a:ext cx="6293815" cy="3840480"/>
          </a:xfrm>
          <a:prstGeom prst="roundRect">
            <a:avLst>
              <a:gd name="adj" fmla="val 1905"/>
            </a:avLst>
          </a:prstGeom>
          <a:solidFill>
            <a:srgbClr val="EAF3EC"/>
          </a:solidFill>
          <a:ln w="1905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27" name="Shape 22"/>
          <p:cNvSpPr/>
          <p:nvPr/>
        </p:nvSpPr>
        <p:spPr>
          <a:xfrm>
            <a:off x="5550408" y="2340864"/>
            <a:ext cx="457200" cy="457200"/>
          </a:xfrm>
          <a:prstGeom prst="ellipse">
            <a:avLst/>
          </a:prstGeom>
          <a:solidFill>
            <a:srgbClr val="1F7A47"/>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5664708" y="2455164"/>
            <a:ext cx="228600" cy="228600"/>
          </a:xfrm>
          <a:prstGeom prst="rect">
            <a:avLst/>
          </a:prstGeom>
        </p:spPr>
      </p:pic>
      <p:sp>
        <p:nvSpPr>
          <p:cNvPr id="29" name="Text 23"/>
          <p:cNvSpPr/>
          <p:nvPr/>
        </p:nvSpPr>
        <p:spPr>
          <a:xfrm>
            <a:off x="6117336" y="2322576"/>
            <a:ext cx="5379415" cy="548640"/>
          </a:xfrm>
          <a:prstGeom prst="rect">
            <a:avLst/>
          </a:prstGeom>
          <a:noFill/>
          <a:ln/>
        </p:spPr>
        <p:txBody>
          <a:bodyPr wrap="square" lIns="0" tIns="0" rIns="0" bIns="0" rtlCol="0" anchor="ctr"/>
          <a:lstStyle/>
          <a:p>
            <a:pPr marL="0" indent="0">
              <a:buNone/>
            </a:pPr>
            <a:r>
              <a:rPr lang="en-US" sz="1400" b="1" dirty="0">
                <a:solidFill>
                  <a:srgbClr val="0E3D29"/>
                </a:solidFill>
                <a:latin typeface="Calibri" pitchFamily="34" charset="0"/>
                <a:ea typeface="Calibri" pitchFamily="34" charset="-122"/>
                <a:cs typeface="Calibri" pitchFamily="34" charset="-120"/>
              </a:rPr>
              <a:t>Collateral Positions &amp; Agreements</a:t>
            </a:r>
            <a:endParaRPr lang="en-US" sz="1400" dirty="0"/>
          </a:p>
          <a:p>
            <a:pPr marL="0" indent="0">
              <a:buNone/>
            </a:pPr>
            <a:r>
              <a:rPr lang="en-US" sz="950" i="1" dirty="0">
                <a:solidFill>
                  <a:srgbClr val="1F7A47"/>
                </a:solidFill>
                <a:latin typeface="Calibri" pitchFamily="34" charset="0"/>
                <a:ea typeface="Calibri" pitchFamily="34" charset="-122"/>
                <a:cs typeface="Calibri" pitchFamily="34" charset="-120"/>
              </a:rPr>
              <a:t>Risk Data Product · conformed once, read in place</a:t>
            </a:r>
            <a:endParaRPr lang="en-US" sz="1400" dirty="0"/>
          </a:p>
        </p:txBody>
      </p:sp>
      <p:sp>
        <p:nvSpPr>
          <p:cNvPr id="30" name="Text 24"/>
          <p:cNvSpPr/>
          <p:nvPr/>
        </p:nvSpPr>
        <p:spPr>
          <a:xfrm>
            <a:off x="5568696" y="2980944"/>
            <a:ext cx="5854903" cy="237744"/>
          </a:xfrm>
          <a:prstGeom prst="rect">
            <a:avLst/>
          </a:prstGeom>
          <a:noFill/>
          <a:ln/>
        </p:spPr>
        <p:txBody>
          <a:bodyPr wrap="square" lIns="0" tIns="0" rIns="0" bIns="0" rtlCol="0" anchor="ctr"/>
          <a:lstStyle/>
          <a:p>
            <a:pPr marL="0" indent="0">
              <a:buNone/>
            </a:pPr>
            <a:r>
              <a:rPr lang="en-US" sz="1000" b="1" dirty="0">
                <a:solidFill>
                  <a:srgbClr val="0E3D29"/>
                </a:solidFill>
                <a:latin typeface="Calibri" pitchFamily="34" charset="0"/>
                <a:ea typeface="Calibri" pitchFamily="34" charset="-122"/>
                <a:cs typeface="Calibri" pitchFamily="34" charset="-120"/>
              </a:rPr>
              <a:t>What travels with it — the contract:</a:t>
            </a:r>
            <a:endParaRPr lang="en-US" sz="1000" dirty="0"/>
          </a:p>
        </p:txBody>
      </p:sp>
      <p:sp>
        <p:nvSpPr>
          <p:cNvPr id="31" name="Text 25"/>
          <p:cNvSpPr/>
          <p:nvPr/>
        </p:nvSpPr>
        <p:spPr>
          <a:xfrm>
            <a:off x="5623560" y="3273552"/>
            <a:ext cx="5836615" cy="274320"/>
          </a:xfrm>
          <a:prstGeom prst="rect">
            <a:avLst/>
          </a:prstGeom>
          <a:noFill/>
          <a:ln/>
        </p:spPr>
        <p:txBody>
          <a:bodyPr wrap="square" lIns="0" tIns="0" rIns="0" bIns="0" rtlCol="0" anchor="ctr"/>
          <a:lstStyle/>
          <a:p>
            <a:pPr marL="0" indent="0">
              <a:buNone/>
            </a:pPr>
            <a:r>
              <a:rPr lang="en-US" sz="950" b="1" dirty="0">
                <a:solidFill>
                  <a:srgbClr val="0E3D29"/>
                </a:solidFill>
                <a:latin typeface="Calibri" pitchFamily="34" charset="0"/>
                <a:ea typeface="Calibri" pitchFamily="34" charset="-122"/>
                <a:cs typeface="Calibri" pitchFamily="34" charset="-120"/>
              </a:rPr>
              <a:t>Grain   </a:t>
            </a:r>
            <a:r>
              <a:rPr lang="en-US" sz="950" dirty="0">
                <a:solidFill>
                  <a:srgbClr val="262B27"/>
                </a:solidFill>
                <a:latin typeface="Calibri" pitchFamily="34" charset="0"/>
                <a:ea typeface="Calibri" pitchFamily="34" charset="-122"/>
                <a:cs typeface="Calibri" pitchFamily="34" charset="-120"/>
              </a:rPr>
              <a:t>agreement (CSA) × counterparty × asset × as-of-date</a:t>
            </a:r>
            <a:endParaRPr lang="en-US" sz="950" dirty="0"/>
          </a:p>
        </p:txBody>
      </p:sp>
      <p:sp>
        <p:nvSpPr>
          <p:cNvPr id="32" name="Text 26"/>
          <p:cNvSpPr/>
          <p:nvPr/>
        </p:nvSpPr>
        <p:spPr>
          <a:xfrm>
            <a:off x="5623560" y="3639312"/>
            <a:ext cx="5836615" cy="274320"/>
          </a:xfrm>
          <a:prstGeom prst="rect">
            <a:avLst/>
          </a:prstGeom>
          <a:noFill/>
          <a:ln/>
        </p:spPr>
        <p:txBody>
          <a:bodyPr wrap="square" lIns="0" tIns="0" rIns="0" bIns="0" rtlCol="0" anchor="ctr"/>
          <a:lstStyle/>
          <a:p>
            <a:pPr marL="0" indent="0">
              <a:buNone/>
            </a:pPr>
            <a:r>
              <a:rPr lang="en-US" sz="950" b="1" dirty="0">
                <a:solidFill>
                  <a:srgbClr val="0E3D29"/>
                </a:solidFill>
                <a:latin typeface="Calibri" pitchFamily="34" charset="0"/>
                <a:ea typeface="Calibri" pitchFamily="34" charset="-122"/>
                <a:cs typeface="Calibri" pitchFamily="34" charset="-120"/>
              </a:rPr>
              <a:t>Business definition   </a:t>
            </a:r>
            <a:r>
              <a:rPr lang="en-US" sz="950" dirty="0">
                <a:solidFill>
                  <a:srgbClr val="262B27"/>
                </a:solidFill>
                <a:latin typeface="Calibri" pitchFamily="34" charset="0"/>
                <a:ea typeface="Calibri" pitchFamily="34" charset="-122"/>
                <a:cs typeface="Calibri" pitchFamily="34" charset="-120"/>
              </a:rPr>
              <a:t>posted, received and eligible collateral — one meaning</a:t>
            </a:r>
            <a:endParaRPr lang="en-US" sz="950" dirty="0"/>
          </a:p>
        </p:txBody>
      </p:sp>
      <p:sp>
        <p:nvSpPr>
          <p:cNvPr id="33" name="Text 27"/>
          <p:cNvSpPr/>
          <p:nvPr/>
        </p:nvSpPr>
        <p:spPr>
          <a:xfrm>
            <a:off x="5623560" y="4005072"/>
            <a:ext cx="5836615" cy="274320"/>
          </a:xfrm>
          <a:prstGeom prst="rect">
            <a:avLst/>
          </a:prstGeom>
          <a:noFill/>
          <a:ln/>
        </p:spPr>
        <p:txBody>
          <a:bodyPr wrap="square" lIns="0" tIns="0" rIns="0" bIns="0" rtlCol="0" anchor="ctr"/>
          <a:lstStyle/>
          <a:p>
            <a:pPr marL="0" indent="0">
              <a:buNone/>
            </a:pPr>
            <a:r>
              <a:rPr lang="en-US" sz="950" b="1" dirty="0">
                <a:solidFill>
                  <a:srgbClr val="0E3D29"/>
                </a:solidFill>
                <a:latin typeface="Calibri" pitchFamily="34" charset="0"/>
                <a:ea typeface="Calibri" pitchFamily="34" charset="-122"/>
                <a:cs typeface="Calibri" pitchFamily="34" charset="-120"/>
              </a:rPr>
              <a:t>Quality rules   </a:t>
            </a:r>
            <a:r>
              <a:rPr lang="en-US" sz="950" dirty="0">
                <a:solidFill>
                  <a:srgbClr val="262B27"/>
                </a:solidFill>
                <a:latin typeface="Calibri" pitchFamily="34" charset="0"/>
                <a:ea typeface="Calibri" pitchFamily="34" charset="-122"/>
                <a:cs typeface="Calibri" pitchFamily="34" charset="-120"/>
              </a:rPr>
              <a:t>completeness · terms validated · movements classified</a:t>
            </a:r>
            <a:endParaRPr lang="en-US" sz="950" dirty="0"/>
          </a:p>
        </p:txBody>
      </p:sp>
      <p:sp>
        <p:nvSpPr>
          <p:cNvPr id="34" name="Shape 28"/>
          <p:cNvSpPr/>
          <p:nvPr/>
        </p:nvSpPr>
        <p:spPr>
          <a:xfrm>
            <a:off x="5532120" y="4343400"/>
            <a:ext cx="5928055" cy="329184"/>
          </a:xfrm>
          <a:prstGeom prst="roundRect">
            <a:avLst>
              <a:gd name="adj" fmla="val 11111"/>
            </a:avLst>
          </a:prstGeom>
          <a:solidFill>
            <a:srgbClr val="FBF4DF"/>
          </a:solidFill>
          <a:ln w="12700">
            <a:solidFill>
              <a:srgbClr val="E6D6B5"/>
            </a:solidFill>
            <a:prstDash val="solid"/>
          </a:ln>
        </p:spPr>
        <p:txBody>
          <a:bodyPr/>
          <a:lstStyle/>
          <a:p>
            <a:endParaRPr lang="en-US"/>
          </a:p>
        </p:txBody>
      </p:sp>
      <p:sp>
        <p:nvSpPr>
          <p:cNvPr id="35" name="Text 29"/>
          <p:cNvSpPr/>
          <p:nvPr/>
        </p:nvSpPr>
        <p:spPr>
          <a:xfrm>
            <a:off x="5623560" y="4370832"/>
            <a:ext cx="5836615" cy="274320"/>
          </a:xfrm>
          <a:prstGeom prst="rect">
            <a:avLst/>
          </a:prstGeom>
          <a:noFill/>
          <a:ln/>
        </p:spPr>
        <p:txBody>
          <a:bodyPr wrap="square" lIns="0" tIns="0" rIns="0" bIns="0" rtlCol="0" anchor="ctr"/>
          <a:lstStyle/>
          <a:p>
            <a:pPr marL="0" indent="0">
              <a:buNone/>
            </a:pPr>
            <a:r>
              <a:rPr lang="en-US" sz="950" b="1" dirty="0">
                <a:solidFill>
                  <a:srgbClr val="9C6B16"/>
                </a:solidFill>
                <a:latin typeface="Calibri" pitchFamily="34" charset="0"/>
                <a:ea typeface="Calibri" pitchFamily="34" charset="-122"/>
                <a:cs typeface="Calibri" pitchFamily="34" charset="-120"/>
              </a:rPr>
              <a:t>Semantic rule   </a:t>
            </a:r>
            <a:r>
              <a:rPr lang="en-US" sz="950" dirty="0">
                <a:solidFill>
                  <a:srgbClr val="262B27"/>
                </a:solidFill>
                <a:latin typeface="Calibri" pitchFamily="34" charset="0"/>
                <a:ea typeface="Calibri" pitchFamily="34" charset="-122"/>
                <a:cs typeface="Calibri" pitchFamily="34" charset="-120"/>
              </a:rPr>
              <a:t>eligibility &amp; haircuts per CSA — no double-counting across agreements</a:t>
            </a:r>
            <a:endParaRPr lang="en-US" sz="950" dirty="0"/>
          </a:p>
        </p:txBody>
      </p:sp>
      <p:sp>
        <p:nvSpPr>
          <p:cNvPr id="36" name="Text 30"/>
          <p:cNvSpPr/>
          <p:nvPr/>
        </p:nvSpPr>
        <p:spPr>
          <a:xfrm>
            <a:off x="5623560" y="4736592"/>
            <a:ext cx="5836615" cy="274320"/>
          </a:xfrm>
          <a:prstGeom prst="rect">
            <a:avLst/>
          </a:prstGeom>
          <a:noFill/>
          <a:ln/>
        </p:spPr>
        <p:txBody>
          <a:bodyPr wrap="square" lIns="0" tIns="0" rIns="0" bIns="0" rtlCol="0" anchor="ctr"/>
          <a:lstStyle/>
          <a:p>
            <a:pPr marL="0" indent="0">
              <a:buNone/>
            </a:pPr>
            <a:r>
              <a:rPr lang="en-US" sz="950" b="1" dirty="0">
                <a:solidFill>
                  <a:srgbClr val="0E3D29"/>
                </a:solidFill>
                <a:latin typeface="Calibri" pitchFamily="34" charset="0"/>
                <a:ea typeface="Calibri" pitchFamily="34" charset="-122"/>
                <a:cs typeface="Calibri" pitchFamily="34" charset="-120"/>
              </a:rPr>
              <a:t>SLA   </a:t>
            </a:r>
            <a:r>
              <a:rPr lang="en-US" sz="950" dirty="0">
                <a:solidFill>
                  <a:srgbClr val="262B27"/>
                </a:solidFill>
                <a:latin typeface="Calibri" pitchFamily="34" charset="0"/>
                <a:ea typeface="Calibri" pitchFamily="34" charset="-122"/>
                <a:cs typeface="Calibri" pitchFamily="34" charset="-120"/>
              </a:rPr>
              <a:t>daily by 07:00 ET</a:t>
            </a:r>
            <a:endParaRPr lang="en-US" sz="950" dirty="0"/>
          </a:p>
        </p:txBody>
      </p:sp>
      <p:sp>
        <p:nvSpPr>
          <p:cNvPr id="37" name="Text 31"/>
          <p:cNvSpPr/>
          <p:nvPr/>
        </p:nvSpPr>
        <p:spPr>
          <a:xfrm>
            <a:off x="5623560" y="5102352"/>
            <a:ext cx="5836615" cy="274320"/>
          </a:xfrm>
          <a:prstGeom prst="rect">
            <a:avLst/>
          </a:prstGeom>
          <a:noFill/>
          <a:ln/>
        </p:spPr>
        <p:txBody>
          <a:bodyPr wrap="square" lIns="0" tIns="0" rIns="0" bIns="0" rtlCol="0" anchor="ctr"/>
          <a:lstStyle/>
          <a:p>
            <a:pPr marL="0" indent="0">
              <a:buNone/>
            </a:pPr>
            <a:r>
              <a:rPr lang="en-US" sz="950" b="1" dirty="0">
                <a:solidFill>
                  <a:srgbClr val="0E3D29"/>
                </a:solidFill>
                <a:latin typeface="Calibri" pitchFamily="34" charset="0"/>
                <a:ea typeface="Calibri" pitchFamily="34" charset="-122"/>
                <a:cs typeface="Calibri" pitchFamily="34" charset="-120"/>
              </a:rPr>
              <a:t>Ownership   </a:t>
            </a:r>
            <a:r>
              <a:rPr lang="en-US" sz="950" dirty="0">
                <a:solidFill>
                  <a:srgbClr val="262B27"/>
                </a:solidFill>
                <a:latin typeface="Calibri" pitchFamily="34" charset="0"/>
                <a:ea typeface="Calibri" pitchFamily="34" charset="-122"/>
                <a:cs typeface="Calibri" pitchFamily="34" charset="-120"/>
              </a:rPr>
              <a:t>collateral engine team (CMOS)</a:t>
            </a:r>
            <a:endParaRPr lang="en-US" sz="950" dirty="0"/>
          </a:p>
        </p:txBody>
      </p:sp>
      <p:sp>
        <p:nvSpPr>
          <p:cNvPr id="38" name="Text 32"/>
          <p:cNvSpPr/>
          <p:nvPr/>
        </p:nvSpPr>
        <p:spPr>
          <a:xfrm>
            <a:off x="5623560" y="5468112"/>
            <a:ext cx="5836615" cy="274320"/>
          </a:xfrm>
          <a:prstGeom prst="rect">
            <a:avLst/>
          </a:prstGeom>
          <a:noFill/>
          <a:ln/>
        </p:spPr>
        <p:txBody>
          <a:bodyPr wrap="square" lIns="0" tIns="0" rIns="0" bIns="0" rtlCol="0" anchor="ctr"/>
          <a:lstStyle/>
          <a:p>
            <a:pPr marL="0" indent="0">
              <a:buNone/>
            </a:pPr>
            <a:r>
              <a:rPr lang="en-US" sz="950" b="1" dirty="0">
                <a:solidFill>
                  <a:srgbClr val="0E3D29"/>
                </a:solidFill>
                <a:latin typeface="Calibri" pitchFamily="34" charset="0"/>
                <a:ea typeface="Calibri" pitchFamily="34" charset="-122"/>
                <a:cs typeface="Calibri" pitchFamily="34" charset="-120"/>
              </a:rPr>
              <a:t>Lineage &amp; version   </a:t>
            </a:r>
            <a:r>
              <a:rPr lang="en-US" sz="950" dirty="0">
                <a:solidFill>
                  <a:srgbClr val="262B27"/>
                </a:solidFill>
                <a:latin typeface="Calibri" pitchFamily="34" charset="0"/>
                <a:ea typeface="Calibri" pitchFamily="34" charset="-122"/>
                <a:cs typeface="Calibri" pitchFamily="34" charset="-120"/>
              </a:rPr>
              <a:t>source → entity → product · contract versioned</a:t>
            </a:r>
            <a:endParaRPr lang="en-US" sz="950" dirty="0"/>
          </a:p>
        </p:txBody>
      </p:sp>
      <p:sp>
        <p:nvSpPr>
          <p:cNvPr id="39" name="Text 3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40" name="Text 34"/>
          <p:cNvSpPr/>
          <p:nvPr/>
        </p:nvSpPr>
        <p:spPr>
          <a:xfrm>
            <a:off x="9357055" y="6473952"/>
            <a:ext cx="146304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a:t>
            </a:r>
            <a:endParaRPr lang="en-US" sz="900" dirty="0"/>
          </a:p>
        </p:txBody>
      </p:sp>
      <p:sp>
        <p:nvSpPr>
          <p:cNvPr id="41" name="Text 35"/>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lIns="0" tIns="0" rIns="0" bIns="0" rtlCol="0" anchor="ctr"/>
          <a:lstStyle/>
          <a:p>
            <a:pPr marL="0" indent="0">
              <a:buNone/>
            </a:pPr>
            <a:r>
              <a:rPr lang="en-US" sz="1100" b="1" kern="0" spc="300" dirty="0">
                <a:solidFill>
                  <a:srgbClr val="1F7A47"/>
                </a:solidFill>
                <a:latin typeface="Calibri" pitchFamily="34" charset="0"/>
                <a:ea typeface="Calibri" pitchFamily="34" charset="-122"/>
                <a:cs typeface="Calibri" pitchFamily="34" charset="-120"/>
              </a:rPr>
              <a:t>WHERE WE'RE GOING  ·  STEP TWO, WITH THE ENTERPRISE</a:t>
            </a:r>
            <a:endParaRPr lang="en-US" sz="1100" dirty="0"/>
          </a:p>
        </p:txBody>
      </p:sp>
      <p:sp>
        <p:nvSpPr>
          <p:cNvPr id="3" name="Text 1"/>
          <p:cNvSpPr/>
          <p:nvPr/>
        </p:nvSpPr>
        <p:spPr>
          <a:xfrm>
            <a:off x="548640" y="640080"/>
            <a:ext cx="11094415" cy="548640"/>
          </a:xfrm>
          <a:prstGeom prst="rect">
            <a:avLst/>
          </a:prstGeom>
          <a:noFill/>
          <a:ln/>
        </p:spPr>
        <p:txBody>
          <a:bodyPr wrap="square" lIns="0" tIns="0" rIns="0" bIns="0" rtlCol="0" anchor="ctr"/>
          <a:lstStyle/>
          <a:p>
            <a:pPr marL="0" indent="0">
              <a:buNone/>
            </a:pPr>
            <a:r>
              <a:rPr lang="en-US" sz="2600" b="1" dirty="0">
                <a:solidFill>
                  <a:srgbClr val="0E3D29"/>
                </a:solidFill>
                <a:latin typeface="Calibri" pitchFamily="34" charset="0"/>
                <a:ea typeface="Calibri" pitchFamily="34" charset="-122"/>
                <a:cs typeface="Calibri" pitchFamily="34" charset="-120"/>
              </a:rPr>
              <a:t>One Business Definition Across Real-Time and Batch</a:t>
            </a:r>
            <a:endParaRPr lang="en-US" sz="2600" dirty="0"/>
          </a:p>
        </p:txBody>
      </p:sp>
      <p:sp>
        <p:nvSpPr>
          <p:cNvPr id="4" name="Text 2"/>
          <p:cNvSpPr/>
          <p:nvPr/>
        </p:nvSpPr>
        <p:spPr>
          <a:xfrm>
            <a:off x="548640" y="1298448"/>
            <a:ext cx="11094415" cy="365760"/>
          </a:xfrm>
          <a:prstGeom prst="rect">
            <a:avLst/>
          </a:prstGeom>
          <a:noFill/>
          <a:ln/>
        </p:spPr>
        <p:txBody>
          <a:bodyPr wrap="square" lIns="0" tIns="0" rIns="0" bIns="0" rtlCol="0" anchor="ctr"/>
          <a:lstStyle/>
          <a:p>
            <a:pPr marL="0" indent="0">
              <a:buNone/>
            </a:pPr>
            <a:r>
              <a:rPr lang="en-US" sz="1350" b="1" dirty="0">
                <a:solidFill>
                  <a:srgbClr val="0E3D29"/>
                </a:solidFill>
                <a:latin typeface="Calibri" pitchFamily="34" charset="0"/>
                <a:ea typeface="Calibri" pitchFamily="34" charset="-122"/>
                <a:cs typeface="Calibri" pitchFamily="34" charset="-120"/>
              </a:rPr>
              <a:t>Upstream of Risk: today the enterprise sends the same information two ways, and each app lines them up itself. </a:t>
            </a:r>
            <a:r>
              <a:rPr lang="en-US" sz="1350" dirty="0">
                <a:solidFill>
                  <a:srgbClr val="262B27"/>
                </a:solidFill>
                <a:latin typeface="Calibri" pitchFamily="34" charset="0"/>
                <a:ea typeface="Calibri" pitchFamily="34" charset="-122"/>
                <a:cs typeface="Calibri" pitchFamily="34" charset="-120"/>
              </a:rPr>
              <a:t>There is a simpler way.</a:t>
            </a:r>
            <a:endParaRPr lang="en-US" sz="1350" dirty="0"/>
          </a:p>
        </p:txBody>
      </p:sp>
      <p:sp>
        <p:nvSpPr>
          <p:cNvPr id="5" name="Text 3"/>
          <p:cNvSpPr/>
          <p:nvPr/>
        </p:nvSpPr>
        <p:spPr>
          <a:xfrm>
            <a:off x="548640" y="1828800"/>
            <a:ext cx="7315200" cy="219456"/>
          </a:xfrm>
          <a:prstGeom prst="rect">
            <a:avLst/>
          </a:prstGeom>
          <a:noFill/>
          <a:ln/>
        </p:spPr>
        <p:txBody>
          <a:bodyPr wrap="square" lIns="0" tIns="0" rIns="0" bIns="0" rtlCol="0" anchor="ctr"/>
          <a:lstStyle/>
          <a:p>
            <a:pPr marL="0" indent="0">
              <a:buNone/>
            </a:pPr>
            <a:r>
              <a:rPr lang="en-US" sz="1050" b="1" kern="0" spc="100" dirty="0">
                <a:solidFill>
                  <a:srgbClr val="9C6B16"/>
                </a:solidFill>
                <a:latin typeface="Calibri" pitchFamily="34" charset="0"/>
                <a:ea typeface="Calibri" pitchFamily="34" charset="-122"/>
                <a:cs typeface="Calibri" pitchFamily="34" charset="-120"/>
              </a:rPr>
              <a:t>TODAY — TWO MAIN ENTERPRISE PATHS, IN PARALLEL</a:t>
            </a:r>
            <a:endParaRPr lang="en-US" sz="1050" dirty="0"/>
          </a:p>
        </p:txBody>
      </p:sp>
      <p:sp>
        <p:nvSpPr>
          <p:cNvPr id="6" name="Shape 4"/>
          <p:cNvSpPr/>
          <p:nvPr/>
        </p:nvSpPr>
        <p:spPr>
          <a:xfrm>
            <a:off x="548640" y="2139696"/>
            <a:ext cx="3200400" cy="585216"/>
          </a:xfrm>
          <a:prstGeom prst="roundRect">
            <a:avLst>
              <a:gd name="adj" fmla="val 9375"/>
            </a:avLst>
          </a:prstGeom>
          <a:solidFill>
            <a:srgbClr val="F6EFE0"/>
          </a:solidFill>
          <a:ln w="12700">
            <a:solidFill>
              <a:srgbClr val="E6D6B5"/>
            </a:solidFill>
            <a:prstDash val="solid"/>
          </a:ln>
          <a:effectLst>
            <a:outerShdw blurRad="88900" dist="38100" dir="5400000" algn="bl" rotWithShape="0">
              <a:srgbClr val="000000">
                <a:alpha val="10000"/>
              </a:srgbClr>
            </a:outerShdw>
          </a:effectLst>
        </p:spPr>
        <p:txBody>
          <a:bodyPr/>
          <a:lstStyle/>
          <a:p>
            <a:endParaRPr lang="en-US"/>
          </a:p>
        </p:txBody>
      </p:sp>
      <p:sp>
        <p:nvSpPr>
          <p:cNvPr id="7" name="Shape 5"/>
          <p:cNvSpPr/>
          <p:nvPr/>
        </p:nvSpPr>
        <p:spPr>
          <a:xfrm>
            <a:off x="676656" y="2249424"/>
            <a:ext cx="365760" cy="365760"/>
          </a:xfrm>
          <a:prstGeom prst="ellipse">
            <a:avLst/>
          </a:prstGeom>
          <a:solidFill>
            <a:srgbClr val="9C6B1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68096" y="2340864"/>
            <a:ext cx="182880" cy="182880"/>
          </a:xfrm>
          <a:prstGeom prst="rect">
            <a:avLst/>
          </a:prstGeom>
        </p:spPr>
      </p:pic>
      <p:sp>
        <p:nvSpPr>
          <p:cNvPr id="9" name="Text 6"/>
          <p:cNvSpPr/>
          <p:nvPr/>
        </p:nvSpPr>
        <p:spPr>
          <a:xfrm>
            <a:off x="1152144" y="2194560"/>
            <a:ext cx="2487168" cy="27432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Veritas   </a:t>
            </a:r>
            <a:r>
              <a:rPr lang="en-US" sz="1200" i="1" dirty="0">
                <a:solidFill>
                  <a:srgbClr val="6B7670"/>
                </a:solidFill>
                <a:latin typeface="Calibri" pitchFamily="34" charset="0"/>
                <a:ea typeface="Calibri" pitchFamily="34" charset="-122"/>
                <a:cs typeface="Calibri" pitchFamily="34" charset="-120"/>
              </a:rPr>
              <a:t>real-time service</a:t>
            </a:r>
            <a:endParaRPr lang="en-US" sz="1200" dirty="0"/>
          </a:p>
        </p:txBody>
      </p:sp>
      <p:sp>
        <p:nvSpPr>
          <p:cNvPr id="10" name="Text 7"/>
          <p:cNvSpPr/>
          <p:nvPr/>
        </p:nvSpPr>
        <p:spPr>
          <a:xfrm>
            <a:off x="1152144" y="2450592"/>
            <a:ext cx="2487168" cy="237744"/>
          </a:xfrm>
          <a:prstGeom prst="rect">
            <a:avLst/>
          </a:prstGeom>
          <a:noFill/>
          <a:ln/>
        </p:spPr>
        <p:txBody>
          <a:bodyPr wrap="square" lIns="0" tIns="0" rIns="0" bIns="0" rtlCol="0" anchor="ctr"/>
          <a:lstStyle/>
          <a:p>
            <a:pPr marL="0" indent="0">
              <a:buNone/>
            </a:pPr>
            <a:r>
              <a:rPr lang="en-US" sz="900" dirty="0">
                <a:solidFill>
                  <a:srgbClr val="262B27"/>
                </a:solidFill>
                <a:latin typeface="Calibri" pitchFamily="34" charset="0"/>
                <a:ea typeface="Calibri" pitchFamily="34" charset="-122"/>
                <a:cs typeface="Calibri" pitchFamily="34" charset="-120"/>
              </a:rPr>
              <a:t>Its own data model · not governed</a:t>
            </a:r>
            <a:endParaRPr lang="en-US" sz="900" dirty="0"/>
          </a:p>
        </p:txBody>
      </p:sp>
      <p:sp>
        <p:nvSpPr>
          <p:cNvPr id="11" name="Shape 8"/>
          <p:cNvSpPr/>
          <p:nvPr/>
        </p:nvSpPr>
        <p:spPr>
          <a:xfrm>
            <a:off x="548640" y="2926080"/>
            <a:ext cx="3200400" cy="585216"/>
          </a:xfrm>
          <a:prstGeom prst="roundRect">
            <a:avLst>
              <a:gd name="adj" fmla="val 9375"/>
            </a:avLst>
          </a:prstGeom>
          <a:solidFill>
            <a:srgbClr val="EAF3EC"/>
          </a:solidFill>
          <a:ln w="1270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12" name="Shape 9"/>
          <p:cNvSpPr/>
          <p:nvPr/>
        </p:nvSpPr>
        <p:spPr>
          <a:xfrm>
            <a:off x="676656" y="3035808"/>
            <a:ext cx="365760" cy="365760"/>
          </a:xfrm>
          <a:prstGeom prst="ellipse">
            <a:avLst/>
          </a:prstGeom>
          <a:solidFill>
            <a:srgbClr val="1F7A47"/>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768096" y="3127248"/>
            <a:ext cx="182880" cy="182880"/>
          </a:xfrm>
          <a:prstGeom prst="rect">
            <a:avLst/>
          </a:prstGeom>
        </p:spPr>
      </p:pic>
      <p:sp>
        <p:nvSpPr>
          <p:cNvPr id="14" name="Text 10"/>
          <p:cNvSpPr/>
          <p:nvPr/>
        </p:nvSpPr>
        <p:spPr>
          <a:xfrm>
            <a:off x="1152144" y="2980944"/>
            <a:ext cx="2487168" cy="274320"/>
          </a:xfrm>
          <a:prstGeom prst="rect">
            <a:avLst/>
          </a:prstGeom>
          <a:noFill/>
          <a:ln/>
        </p:spPr>
        <p:txBody>
          <a:bodyPr wrap="square" lIns="0" tIns="0" rIns="0" bIns="0"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CDM   </a:t>
            </a:r>
            <a:r>
              <a:rPr lang="en-US" sz="1200" i="1" dirty="0">
                <a:solidFill>
                  <a:srgbClr val="6B7670"/>
                </a:solidFill>
                <a:latin typeface="Calibri" pitchFamily="34" charset="0"/>
                <a:ea typeface="Calibri" pitchFamily="34" charset="-122"/>
                <a:cs typeface="Calibri" pitchFamily="34" charset="-120"/>
              </a:rPr>
              <a:t>end-of-day batch</a:t>
            </a:r>
            <a:endParaRPr lang="en-US" sz="1200" dirty="0"/>
          </a:p>
        </p:txBody>
      </p:sp>
      <p:sp>
        <p:nvSpPr>
          <p:cNvPr id="15" name="Text 11"/>
          <p:cNvSpPr/>
          <p:nvPr/>
        </p:nvSpPr>
        <p:spPr>
          <a:xfrm>
            <a:off x="1152144" y="3236976"/>
            <a:ext cx="2487168" cy="237744"/>
          </a:xfrm>
          <a:prstGeom prst="rect">
            <a:avLst/>
          </a:prstGeom>
          <a:noFill/>
          <a:ln/>
        </p:spPr>
        <p:txBody>
          <a:bodyPr wrap="square" lIns="0" tIns="0" rIns="0" bIns="0" rtlCol="0" anchor="ctr"/>
          <a:lstStyle/>
          <a:p>
            <a:pPr marL="0" indent="0">
              <a:buNone/>
            </a:pPr>
            <a:r>
              <a:rPr lang="en-US" sz="900" dirty="0">
                <a:solidFill>
                  <a:srgbClr val="262B27"/>
                </a:solidFill>
                <a:latin typeface="Calibri" pitchFamily="34" charset="0"/>
                <a:ea typeface="Calibri" pitchFamily="34" charset="-122"/>
                <a:cs typeface="Calibri" pitchFamily="34" charset="-120"/>
              </a:rPr>
              <a:t>Conformed, governed model · new</a:t>
            </a:r>
            <a:endParaRPr lang="en-US" sz="900" dirty="0"/>
          </a:p>
        </p:txBody>
      </p:sp>
      <p:sp>
        <p:nvSpPr>
          <p:cNvPr id="16" name="Shape 12"/>
          <p:cNvSpPr/>
          <p:nvPr/>
        </p:nvSpPr>
        <p:spPr>
          <a:xfrm>
            <a:off x="3803904" y="2432304"/>
            <a:ext cx="768096" cy="393192"/>
          </a:xfrm>
          <a:prstGeom prst="line">
            <a:avLst/>
          </a:prstGeom>
          <a:noFill/>
          <a:ln w="19050">
            <a:solidFill>
              <a:srgbClr val="9C6B16"/>
            </a:solidFill>
            <a:prstDash val="solid"/>
            <a:tailEnd type="triangle"/>
          </a:ln>
        </p:spPr>
        <p:txBody>
          <a:bodyPr/>
          <a:lstStyle/>
          <a:p>
            <a:endParaRPr lang="en-US"/>
          </a:p>
        </p:txBody>
      </p:sp>
      <p:sp>
        <p:nvSpPr>
          <p:cNvPr id="17" name="Shape 13"/>
          <p:cNvSpPr/>
          <p:nvPr/>
        </p:nvSpPr>
        <p:spPr>
          <a:xfrm>
            <a:off x="3803904" y="3218688"/>
            <a:ext cx="768096" cy="0"/>
          </a:xfrm>
          <a:prstGeom prst="line">
            <a:avLst/>
          </a:prstGeom>
          <a:noFill/>
          <a:ln w="19050">
            <a:solidFill>
              <a:srgbClr val="1F7A47"/>
            </a:solidFill>
            <a:prstDash val="solid"/>
            <a:tailEnd type="triangle"/>
          </a:ln>
        </p:spPr>
        <p:txBody>
          <a:bodyPr/>
          <a:lstStyle/>
          <a:p>
            <a:endParaRPr lang="en-US"/>
          </a:p>
        </p:txBody>
      </p:sp>
      <p:sp>
        <p:nvSpPr>
          <p:cNvPr id="18" name="Shape 14"/>
          <p:cNvSpPr/>
          <p:nvPr/>
        </p:nvSpPr>
        <p:spPr>
          <a:xfrm>
            <a:off x="4572000" y="2139696"/>
            <a:ext cx="1783080" cy="1371600"/>
          </a:xfrm>
          <a:prstGeom prst="roundRect">
            <a:avLst>
              <a:gd name="adj" fmla="val 4000"/>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19" name="Text 15"/>
          <p:cNvSpPr/>
          <p:nvPr/>
        </p:nvSpPr>
        <p:spPr>
          <a:xfrm>
            <a:off x="4572000" y="2322576"/>
            <a:ext cx="1783080" cy="274320"/>
          </a:xfrm>
          <a:prstGeom prst="rect">
            <a:avLst/>
          </a:prstGeom>
          <a:noFill/>
          <a:ln/>
        </p:spPr>
        <p:txBody>
          <a:bodyPr wrap="square" lIns="0" tIns="0" rIns="0" bIns="0" rtlCol="0" anchor="ctr"/>
          <a:lstStyle/>
          <a:p>
            <a:pPr marL="0" indent="0" algn="ctr">
              <a:buNone/>
            </a:pPr>
            <a:r>
              <a:rPr lang="en-US" sz="1250" b="1" dirty="0">
                <a:solidFill>
                  <a:srgbClr val="0E3D29"/>
                </a:solidFill>
                <a:latin typeface="Calibri" pitchFamily="34" charset="0"/>
                <a:ea typeface="Calibri" pitchFamily="34" charset="-122"/>
                <a:cs typeface="Calibri" pitchFamily="34" charset="-120"/>
              </a:rPr>
              <a:t>Risk apps</a:t>
            </a:r>
            <a:endParaRPr lang="en-US" sz="1250" dirty="0"/>
          </a:p>
        </p:txBody>
      </p:sp>
      <p:sp>
        <p:nvSpPr>
          <p:cNvPr id="20" name="Text 16"/>
          <p:cNvSpPr/>
          <p:nvPr/>
        </p:nvSpPr>
        <p:spPr>
          <a:xfrm>
            <a:off x="4572000" y="2633472"/>
            <a:ext cx="1783080" cy="237744"/>
          </a:xfrm>
          <a:prstGeom prst="rect">
            <a:avLst/>
          </a:prstGeom>
          <a:noFill/>
          <a:ln/>
        </p:spPr>
        <p:txBody>
          <a:bodyPr wrap="square" lIns="0" tIns="0" rIns="0" bIns="0" rtlCol="0" anchor="ctr"/>
          <a:lstStyle/>
          <a:p>
            <a:pPr marL="0" indent="0" algn="ctr">
              <a:buNone/>
            </a:pPr>
            <a:r>
              <a:rPr lang="en-US" sz="900" i="1" dirty="0">
                <a:solidFill>
                  <a:srgbClr val="6B7670"/>
                </a:solidFill>
                <a:latin typeface="Calibri" pitchFamily="34" charset="0"/>
                <a:ea typeface="Calibri" pitchFamily="34" charset="-122"/>
                <a:cs typeface="Calibri" pitchFamily="34" charset="-120"/>
              </a:rPr>
              <a:t>consume both paths</a:t>
            </a:r>
            <a:endParaRPr lang="en-US" sz="900" dirty="0"/>
          </a:p>
        </p:txBody>
      </p:sp>
      <p:sp>
        <p:nvSpPr>
          <p:cNvPr id="21" name="Text 17"/>
          <p:cNvSpPr/>
          <p:nvPr/>
        </p:nvSpPr>
        <p:spPr>
          <a:xfrm>
            <a:off x="4572000" y="2907792"/>
            <a:ext cx="1783080" cy="457200"/>
          </a:xfrm>
          <a:prstGeom prst="rect">
            <a:avLst/>
          </a:prstGeom>
          <a:noFill/>
          <a:ln/>
        </p:spPr>
        <p:txBody>
          <a:bodyPr wrap="square" lIns="0" tIns="0" rIns="0" bIns="0" rtlCol="0" anchor="t"/>
          <a:lstStyle/>
          <a:p>
            <a:pPr marL="0" indent="0" algn="ctr">
              <a:lnSpc>
                <a:spcPct val="104000"/>
              </a:lnSpc>
              <a:buNone/>
            </a:pPr>
            <a:r>
              <a:rPr lang="en-US" sz="900" dirty="0">
                <a:solidFill>
                  <a:srgbClr val="262B27"/>
                </a:solidFill>
                <a:latin typeface="Calibri" pitchFamily="34" charset="0"/>
                <a:ea typeface="Calibri" pitchFamily="34" charset="-122"/>
                <a:cs typeface="Calibri" pitchFamily="34" charset="-120"/>
              </a:rPr>
              <a:t>each app lines them up itself</a:t>
            </a:r>
            <a:endParaRPr lang="en-US" sz="900" dirty="0"/>
          </a:p>
        </p:txBody>
      </p:sp>
      <p:sp>
        <p:nvSpPr>
          <p:cNvPr id="22" name="Shape 18"/>
          <p:cNvSpPr/>
          <p:nvPr/>
        </p:nvSpPr>
        <p:spPr>
          <a:xfrm>
            <a:off x="6720840" y="2139696"/>
            <a:ext cx="4922215" cy="1371600"/>
          </a:xfrm>
          <a:prstGeom prst="roundRect">
            <a:avLst>
              <a:gd name="adj" fmla="val 4000"/>
            </a:avLst>
          </a:prstGeom>
          <a:solidFill>
            <a:srgbClr val="F7E9E3"/>
          </a:solidFill>
          <a:ln w="12700">
            <a:solidFill>
              <a:srgbClr val="E3C3B5"/>
            </a:solidFill>
            <a:prstDash val="solid"/>
          </a:ln>
        </p:spPr>
        <p:txBody>
          <a:bodyPr/>
          <a:lstStyle/>
          <a:p>
            <a:endParaRPr lang="en-US"/>
          </a:p>
        </p:txBody>
      </p:sp>
      <p:sp>
        <p:nvSpPr>
          <p:cNvPr id="23" name="Text 19"/>
          <p:cNvSpPr/>
          <p:nvPr/>
        </p:nvSpPr>
        <p:spPr>
          <a:xfrm>
            <a:off x="6903720" y="2286000"/>
            <a:ext cx="4556455" cy="1097280"/>
          </a:xfrm>
          <a:prstGeom prst="rect">
            <a:avLst/>
          </a:prstGeom>
          <a:noFill/>
          <a:ln/>
        </p:spPr>
        <p:txBody>
          <a:bodyPr wrap="square" lIns="0" tIns="0" rIns="0" bIns="0" rtlCol="0" anchor="ctr"/>
          <a:lstStyle/>
          <a:p>
            <a:pPr marL="0" indent="0">
              <a:lnSpc>
                <a:spcPct val="105000"/>
              </a:lnSpc>
              <a:buNone/>
            </a:pPr>
            <a:r>
              <a:rPr lang="en-US" sz="950" b="1" dirty="0">
                <a:solidFill>
                  <a:srgbClr val="9C3D1E"/>
                </a:solidFill>
                <a:latin typeface="Calibri" pitchFamily="34" charset="0"/>
                <a:ea typeface="Calibri" pitchFamily="34" charset="-122"/>
                <a:cs typeface="Calibri" pitchFamily="34" charset="-120"/>
              </a:rPr>
              <a:t>The risk: </a:t>
            </a:r>
            <a:r>
              <a:rPr lang="en-US" sz="950" dirty="0">
                <a:solidFill>
                  <a:srgbClr val="262B27"/>
                </a:solidFill>
                <a:latin typeface="Calibri" pitchFamily="34" charset="0"/>
                <a:ea typeface="Calibri" pitchFamily="34" charset="-122"/>
                <a:cs typeface="Calibri" pitchFamily="34" charset="-120"/>
              </a:rPr>
              <a:t>the two paths can carry the same number differently — a figure read live may not match the one reported at end-of-day. </a:t>
            </a:r>
            <a:r>
              <a:rPr lang="en-US" sz="950" i="1" dirty="0">
                <a:solidFill>
                  <a:srgbClr val="9C3D1E"/>
                </a:solidFill>
                <a:latin typeface="Calibri" pitchFamily="34" charset="0"/>
                <a:ea typeface="Calibri" pitchFamily="34" charset="-122"/>
                <a:cs typeface="Calibri" pitchFamily="34" charset="-120"/>
              </a:rPr>
              <a:t>Different semantics; reconciliation between two data models is left to the apps.</a:t>
            </a:r>
            <a:endParaRPr lang="en-US" sz="950" dirty="0"/>
          </a:p>
        </p:txBody>
      </p:sp>
      <p:sp>
        <p:nvSpPr>
          <p:cNvPr id="24" name="Text 20"/>
          <p:cNvSpPr/>
          <p:nvPr/>
        </p:nvSpPr>
        <p:spPr>
          <a:xfrm>
            <a:off x="548640" y="3822192"/>
            <a:ext cx="9144000" cy="219456"/>
          </a:xfrm>
          <a:prstGeom prst="rect">
            <a:avLst/>
          </a:prstGeom>
          <a:noFill/>
          <a:ln/>
        </p:spPr>
        <p:txBody>
          <a:bodyPr wrap="square" lIns="0" tIns="0" rIns="0" bIns="0" rtlCol="0" anchor="ctr"/>
          <a:lstStyle/>
          <a:p>
            <a:pPr marL="0" indent="0">
              <a:buNone/>
            </a:pPr>
            <a:r>
              <a:rPr lang="en-US" sz="1050" b="1" kern="0" spc="100" dirty="0">
                <a:solidFill>
                  <a:srgbClr val="1F7A47"/>
                </a:solidFill>
                <a:latin typeface="Calibri" pitchFamily="34" charset="0"/>
                <a:ea typeface="Calibri" pitchFamily="34" charset="-122"/>
                <a:cs typeface="Calibri" pitchFamily="34" charset="-120"/>
              </a:rPr>
              <a:t>THE OPPORTUNITY — ONE GOVERNED MODEL, SERVED TWO WAYS</a:t>
            </a:r>
            <a:endParaRPr lang="en-US" sz="1050" dirty="0"/>
          </a:p>
        </p:txBody>
      </p:sp>
      <p:sp>
        <p:nvSpPr>
          <p:cNvPr id="25" name="Shape 21"/>
          <p:cNvSpPr/>
          <p:nvPr/>
        </p:nvSpPr>
        <p:spPr>
          <a:xfrm>
            <a:off x="548640" y="4114800"/>
            <a:ext cx="2320976" cy="1554480"/>
          </a:xfrm>
          <a:prstGeom prst="roundRect">
            <a:avLst>
              <a:gd name="adj" fmla="val 3529"/>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26" name="Shape 22"/>
          <p:cNvSpPr/>
          <p:nvPr/>
        </p:nvSpPr>
        <p:spPr>
          <a:xfrm>
            <a:off x="1498816" y="4279392"/>
            <a:ext cx="420624" cy="420624"/>
          </a:xfrm>
          <a:prstGeom prst="ellipse">
            <a:avLst/>
          </a:prstGeom>
          <a:solidFill>
            <a:srgbClr val="1F7A47"/>
          </a:solidFill>
          <a:ln/>
        </p:spPr>
        <p:txBody>
          <a:bodyPr/>
          <a:lstStyle/>
          <a:p>
            <a:endParaRPr lang="en-US"/>
          </a:p>
        </p:txBody>
      </p:sp>
      <p:pic>
        <p:nvPicPr>
          <p:cNvPr id="27" name="Image 2" descr="preencoded.png"/>
          <p:cNvPicPr>
            <a:picLocks noChangeAspect="1"/>
          </p:cNvPicPr>
          <p:nvPr/>
        </p:nvPicPr>
        <p:blipFill>
          <a:blip r:embed="rId3"/>
          <a:stretch>
            <a:fillRect/>
          </a:stretch>
        </p:blipFill>
        <p:spPr>
          <a:xfrm>
            <a:off x="1603972" y="4384548"/>
            <a:ext cx="210312" cy="210312"/>
          </a:xfrm>
          <a:prstGeom prst="rect">
            <a:avLst/>
          </a:prstGeom>
        </p:spPr>
      </p:pic>
      <p:sp>
        <p:nvSpPr>
          <p:cNvPr id="28" name="Text 23"/>
          <p:cNvSpPr/>
          <p:nvPr/>
        </p:nvSpPr>
        <p:spPr>
          <a:xfrm>
            <a:off x="640080" y="4773168"/>
            <a:ext cx="2138096" cy="365760"/>
          </a:xfrm>
          <a:prstGeom prst="rect">
            <a:avLst/>
          </a:prstGeom>
          <a:noFill/>
          <a:ln/>
        </p:spPr>
        <p:txBody>
          <a:bodyPr wrap="square" lIns="0" tIns="0" rIns="0" bIns="0" rtlCol="0" anchor="t"/>
          <a:lstStyle/>
          <a:p>
            <a:pPr marL="0" indent="0" algn="ctr">
              <a:lnSpc>
                <a:spcPct val="98000"/>
              </a:lnSpc>
              <a:buNone/>
            </a:pPr>
            <a:r>
              <a:rPr lang="en-US" sz="1100" b="1" dirty="0">
                <a:solidFill>
                  <a:srgbClr val="0E3D29"/>
                </a:solidFill>
                <a:latin typeface="Calibri" pitchFamily="34" charset="0"/>
                <a:ea typeface="Calibri" pitchFamily="34" charset="-122"/>
                <a:cs typeface="Calibri" pitchFamily="34" charset="-120"/>
              </a:rPr>
              <a:t>Live feed in</a:t>
            </a:r>
            <a:endParaRPr lang="en-US" sz="1100" dirty="0"/>
          </a:p>
        </p:txBody>
      </p:sp>
      <p:sp>
        <p:nvSpPr>
          <p:cNvPr id="29" name="Text 24"/>
          <p:cNvSpPr/>
          <p:nvPr/>
        </p:nvSpPr>
        <p:spPr>
          <a:xfrm>
            <a:off x="658368" y="5084064"/>
            <a:ext cx="2101520" cy="512064"/>
          </a:xfrm>
          <a:prstGeom prst="rect">
            <a:avLst/>
          </a:prstGeom>
          <a:noFill/>
          <a:ln/>
        </p:spPr>
        <p:txBody>
          <a:bodyPr wrap="square" lIns="0" tIns="0" rIns="0" bIns="0" rtlCol="0" anchor="t"/>
          <a:lstStyle/>
          <a:p>
            <a:pPr marL="0" indent="0" algn="ctr">
              <a:lnSpc>
                <a:spcPct val="102000"/>
              </a:lnSpc>
              <a:buNone/>
            </a:pPr>
            <a:r>
              <a:rPr lang="en-US" sz="850" dirty="0">
                <a:solidFill>
                  <a:srgbClr val="262B27"/>
                </a:solidFill>
                <a:latin typeface="Calibri" pitchFamily="34" charset="0"/>
                <a:ea typeface="Calibri" pitchFamily="34" charset="-122"/>
                <a:cs typeface="Calibri" pitchFamily="34" charset="-120"/>
              </a:rPr>
              <a:t>Real-time data flows in as the input — not as a second model</a:t>
            </a:r>
            <a:endParaRPr lang="en-US" sz="850" dirty="0"/>
          </a:p>
        </p:txBody>
      </p:sp>
      <p:sp>
        <p:nvSpPr>
          <p:cNvPr id="30" name="Text 25"/>
          <p:cNvSpPr/>
          <p:nvPr/>
        </p:nvSpPr>
        <p:spPr>
          <a:xfrm>
            <a:off x="2906192" y="4599432"/>
            <a:ext cx="329184" cy="585216"/>
          </a:xfrm>
          <a:prstGeom prst="rect">
            <a:avLst/>
          </a:prstGeom>
          <a:noFill/>
          <a:ln/>
        </p:spPr>
        <p:txBody>
          <a:bodyPr wrap="square" lIns="0" tIns="0" rIns="0" bIns="0" rtlCol="0" anchor="ctr"/>
          <a:lstStyle/>
          <a:p>
            <a:pPr marL="0" indent="0" algn="ctr">
              <a:buNone/>
            </a:pPr>
            <a:r>
              <a:rPr lang="en-US" sz="3000" b="1" dirty="0">
                <a:solidFill>
                  <a:srgbClr val="3E9E68"/>
                </a:solidFill>
                <a:latin typeface="Calibri" pitchFamily="34" charset="0"/>
                <a:ea typeface="Calibri" pitchFamily="34" charset="-122"/>
                <a:cs typeface="Calibri" pitchFamily="34" charset="-120"/>
              </a:rPr>
              <a:t>›</a:t>
            </a:r>
            <a:endParaRPr lang="en-US" sz="3000" dirty="0"/>
          </a:p>
        </p:txBody>
      </p:sp>
      <p:sp>
        <p:nvSpPr>
          <p:cNvPr id="31" name="Shape 26"/>
          <p:cNvSpPr/>
          <p:nvPr/>
        </p:nvSpPr>
        <p:spPr>
          <a:xfrm>
            <a:off x="3473120" y="4114800"/>
            <a:ext cx="2320976" cy="1554480"/>
          </a:xfrm>
          <a:prstGeom prst="roundRect">
            <a:avLst>
              <a:gd name="adj" fmla="val 3529"/>
            </a:avLst>
          </a:prstGeom>
          <a:solidFill>
            <a:srgbClr val="EAF3EC"/>
          </a:solidFill>
          <a:ln w="1905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32" name="Shape 27"/>
          <p:cNvSpPr/>
          <p:nvPr/>
        </p:nvSpPr>
        <p:spPr>
          <a:xfrm>
            <a:off x="4423296" y="4279392"/>
            <a:ext cx="420624" cy="420624"/>
          </a:xfrm>
          <a:prstGeom prst="ellipse">
            <a:avLst/>
          </a:prstGeom>
          <a:solidFill>
            <a:srgbClr val="1F7A47"/>
          </a:solidFill>
          <a:ln/>
        </p:spPr>
        <p:txBody>
          <a:bodyPr/>
          <a:lstStyle/>
          <a:p>
            <a:endParaRPr lang="en-US"/>
          </a:p>
        </p:txBody>
      </p:sp>
      <p:pic>
        <p:nvPicPr>
          <p:cNvPr id="33" name="Image 3" descr="preencoded.png"/>
          <p:cNvPicPr>
            <a:picLocks noChangeAspect="1"/>
          </p:cNvPicPr>
          <p:nvPr/>
        </p:nvPicPr>
        <p:blipFill>
          <a:blip r:embed="rId5"/>
          <a:stretch>
            <a:fillRect/>
          </a:stretch>
        </p:blipFill>
        <p:spPr>
          <a:xfrm>
            <a:off x="4528452" y="4384548"/>
            <a:ext cx="210312" cy="210312"/>
          </a:xfrm>
          <a:prstGeom prst="rect">
            <a:avLst/>
          </a:prstGeom>
        </p:spPr>
      </p:pic>
      <p:sp>
        <p:nvSpPr>
          <p:cNvPr id="34" name="Text 28"/>
          <p:cNvSpPr/>
          <p:nvPr/>
        </p:nvSpPr>
        <p:spPr>
          <a:xfrm>
            <a:off x="3564560" y="4773168"/>
            <a:ext cx="2138096" cy="365760"/>
          </a:xfrm>
          <a:prstGeom prst="rect">
            <a:avLst/>
          </a:prstGeom>
          <a:noFill/>
          <a:ln/>
        </p:spPr>
        <p:txBody>
          <a:bodyPr wrap="square" lIns="0" tIns="0" rIns="0" bIns="0" rtlCol="0" anchor="t"/>
          <a:lstStyle/>
          <a:p>
            <a:pPr marL="0" indent="0" algn="ctr">
              <a:lnSpc>
                <a:spcPct val="98000"/>
              </a:lnSpc>
              <a:buNone/>
            </a:pPr>
            <a:r>
              <a:rPr lang="en-US" sz="1100" b="1" dirty="0">
                <a:solidFill>
                  <a:srgbClr val="0E3D29"/>
                </a:solidFill>
                <a:latin typeface="Calibri" pitchFamily="34" charset="0"/>
                <a:ea typeface="Calibri" pitchFamily="34" charset="-122"/>
                <a:cs typeface="Calibri" pitchFamily="34" charset="-120"/>
              </a:rPr>
              <a:t>One governed model</a:t>
            </a:r>
            <a:endParaRPr lang="en-US" sz="1100" dirty="0"/>
          </a:p>
        </p:txBody>
      </p:sp>
      <p:sp>
        <p:nvSpPr>
          <p:cNvPr id="35" name="Text 29"/>
          <p:cNvSpPr/>
          <p:nvPr/>
        </p:nvSpPr>
        <p:spPr>
          <a:xfrm>
            <a:off x="3582848" y="5084064"/>
            <a:ext cx="2101520" cy="512064"/>
          </a:xfrm>
          <a:prstGeom prst="rect">
            <a:avLst/>
          </a:prstGeom>
          <a:noFill/>
          <a:ln/>
        </p:spPr>
        <p:txBody>
          <a:bodyPr wrap="square" lIns="0" tIns="0" rIns="0" bIns="0" rtlCol="0" anchor="t"/>
          <a:lstStyle/>
          <a:p>
            <a:pPr marL="0" indent="0" algn="ctr">
              <a:lnSpc>
                <a:spcPct val="102000"/>
              </a:lnSpc>
              <a:buNone/>
            </a:pPr>
            <a:r>
              <a:rPr lang="en-US" sz="850" dirty="0">
                <a:solidFill>
                  <a:srgbClr val="262B27"/>
                </a:solidFill>
                <a:latin typeface="Calibri" pitchFamily="34" charset="0"/>
                <a:ea typeface="Calibri" pitchFamily="34" charset="-122"/>
                <a:cs typeface="Calibri" pitchFamily="34" charset="-120"/>
              </a:rPr>
              <a:t>Agreed meaning, lineage and a data contract — defined once</a:t>
            </a:r>
            <a:endParaRPr lang="en-US" sz="850" dirty="0"/>
          </a:p>
        </p:txBody>
      </p:sp>
      <p:sp>
        <p:nvSpPr>
          <p:cNvPr id="36" name="Text 30"/>
          <p:cNvSpPr/>
          <p:nvPr/>
        </p:nvSpPr>
        <p:spPr>
          <a:xfrm>
            <a:off x="5830672" y="4599432"/>
            <a:ext cx="329184" cy="585216"/>
          </a:xfrm>
          <a:prstGeom prst="rect">
            <a:avLst/>
          </a:prstGeom>
          <a:noFill/>
          <a:ln/>
        </p:spPr>
        <p:txBody>
          <a:bodyPr wrap="square" lIns="0" tIns="0" rIns="0" bIns="0" rtlCol="0" anchor="ctr"/>
          <a:lstStyle/>
          <a:p>
            <a:pPr marL="0" indent="0" algn="ctr">
              <a:buNone/>
            </a:pPr>
            <a:r>
              <a:rPr lang="en-US" sz="3000" b="1" dirty="0">
                <a:solidFill>
                  <a:srgbClr val="3E9E68"/>
                </a:solidFill>
                <a:latin typeface="Calibri" pitchFamily="34" charset="0"/>
                <a:ea typeface="Calibri" pitchFamily="34" charset="-122"/>
                <a:cs typeface="Calibri" pitchFamily="34" charset="-120"/>
              </a:rPr>
              <a:t>›</a:t>
            </a:r>
            <a:endParaRPr lang="en-US" sz="3000" dirty="0"/>
          </a:p>
        </p:txBody>
      </p:sp>
      <p:sp>
        <p:nvSpPr>
          <p:cNvPr id="37" name="Shape 31"/>
          <p:cNvSpPr/>
          <p:nvPr/>
        </p:nvSpPr>
        <p:spPr>
          <a:xfrm>
            <a:off x="6397600" y="4114800"/>
            <a:ext cx="2320976" cy="1554480"/>
          </a:xfrm>
          <a:prstGeom prst="roundRect">
            <a:avLst>
              <a:gd name="adj" fmla="val 3529"/>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38" name="Shape 32"/>
          <p:cNvSpPr/>
          <p:nvPr/>
        </p:nvSpPr>
        <p:spPr>
          <a:xfrm>
            <a:off x="7347776" y="4279392"/>
            <a:ext cx="420624" cy="420624"/>
          </a:xfrm>
          <a:prstGeom prst="ellipse">
            <a:avLst/>
          </a:prstGeom>
          <a:solidFill>
            <a:srgbClr val="1F7A47"/>
          </a:solidFill>
          <a:ln/>
        </p:spPr>
        <p:txBody>
          <a:bodyPr/>
          <a:lstStyle/>
          <a:p>
            <a:endParaRPr lang="en-US"/>
          </a:p>
        </p:txBody>
      </p:sp>
      <p:pic>
        <p:nvPicPr>
          <p:cNvPr id="39" name="Image 4" descr="preencoded.png"/>
          <p:cNvPicPr>
            <a:picLocks noChangeAspect="1"/>
          </p:cNvPicPr>
          <p:nvPr/>
        </p:nvPicPr>
        <p:blipFill>
          <a:blip r:embed="rId6"/>
          <a:stretch>
            <a:fillRect/>
          </a:stretch>
        </p:blipFill>
        <p:spPr>
          <a:xfrm>
            <a:off x="7452932" y="4384548"/>
            <a:ext cx="210312" cy="210312"/>
          </a:xfrm>
          <a:prstGeom prst="rect">
            <a:avLst/>
          </a:prstGeom>
        </p:spPr>
      </p:pic>
      <p:sp>
        <p:nvSpPr>
          <p:cNvPr id="40" name="Text 33"/>
          <p:cNvSpPr/>
          <p:nvPr/>
        </p:nvSpPr>
        <p:spPr>
          <a:xfrm>
            <a:off x="6489040" y="4773168"/>
            <a:ext cx="2138096" cy="365760"/>
          </a:xfrm>
          <a:prstGeom prst="rect">
            <a:avLst/>
          </a:prstGeom>
          <a:noFill/>
          <a:ln/>
        </p:spPr>
        <p:txBody>
          <a:bodyPr wrap="square" lIns="0" tIns="0" rIns="0" bIns="0" rtlCol="0" anchor="t"/>
          <a:lstStyle/>
          <a:p>
            <a:pPr marL="0" indent="0" algn="ctr">
              <a:lnSpc>
                <a:spcPct val="98000"/>
              </a:lnSpc>
              <a:buNone/>
            </a:pPr>
            <a:r>
              <a:rPr lang="en-US" sz="1100" b="1" dirty="0">
                <a:solidFill>
                  <a:srgbClr val="0E3D29"/>
                </a:solidFill>
                <a:latin typeface="Calibri" pitchFamily="34" charset="0"/>
                <a:ea typeface="Calibri" pitchFamily="34" charset="-122"/>
                <a:cs typeface="Calibri" pitchFamily="34" charset="-120"/>
              </a:rPr>
              <a:t>Served two ways</a:t>
            </a:r>
            <a:endParaRPr lang="en-US" sz="1100" dirty="0"/>
          </a:p>
        </p:txBody>
      </p:sp>
      <p:sp>
        <p:nvSpPr>
          <p:cNvPr id="41" name="Text 34"/>
          <p:cNvSpPr/>
          <p:nvPr/>
        </p:nvSpPr>
        <p:spPr>
          <a:xfrm>
            <a:off x="6507328" y="5084064"/>
            <a:ext cx="2101520" cy="512064"/>
          </a:xfrm>
          <a:prstGeom prst="rect">
            <a:avLst/>
          </a:prstGeom>
          <a:noFill/>
          <a:ln/>
        </p:spPr>
        <p:txBody>
          <a:bodyPr wrap="square" lIns="0" tIns="0" rIns="0" bIns="0" rtlCol="0" anchor="t"/>
          <a:lstStyle/>
          <a:p>
            <a:pPr marL="0" indent="0" algn="ctr">
              <a:lnSpc>
                <a:spcPct val="102000"/>
              </a:lnSpc>
              <a:buNone/>
            </a:pPr>
            <a:r>
              <a:rPr lang="en-US" sz="850" dirty="0">
                <a:solidFill>
                  <a:srgbClr val="262B27"/>
                </a:solidFill>
                <a:latin typeface="Calibri" pitchFamily="34" charset="0"/>
                <a:ea typeface="Calibri" pitchFamily="34" charset="-122"/>
                <a:cs typeface="Calibri" pitchFamily="34" charset="-120"/>
              </a:rPr>
              <a:t>A live view and an official end-of-day snapshot — from the same model</a:t>
            </a:r>
            <a:endParaRPr lang="en-US" sz="850" dirty="0"/>
          </a:p>
        </p:txBody>
      </p:sp>
      <p:sp>
        <p:nvSpPr>
          <p:cNvPr id="42" name="Text 35"/>
          <p:cNvSpPr/>
          <p:nvPr/>
        </p:nvSpPr>
        <p:spPr>
          <a:xfrm>
            <a:off x="8755151" y="4599432"/>
            <a:ext cx="329184" cy="585216"/>
          </a:xfrm>
          <a:prstGeom prst="rect">
            <a:avLst/>
          </a:prstGeom>
          <a:noFill/>
          <a:ln/>
        </p:spPr>
        <p:txBody>
          <a:bodyPr wrap="square" lIns="0" tIns="0" rIns="0" bIns="0" rtlCol="0" anchor="ctr"/>
          <a:lstStyle/>
          <a:p>
            <a:pPr marL="0" indent="0" algn="ctr">
              <a:buNone/>
            </a:pPr>
            <a:r>
              <a:rPr lang="en-US" sz="3000" b="1" dirty="0">
                <a:solidFill>
                  <a:srgbClr val="3E9E68"/>
                </a:solidFill>
                <a:latin typeface="Calibri" pitchFamily="34" charset="0"/>
                <a:ea typeface="Calibri" pitchFamily="34" charset="-122"/>
                <a:cs typeface="Calibri" pitchFamily="34" charset="-120"/>
              </a:rPr>
              <a:t>›</a:t>
            </a:r>
            <a:endParaRPr lang="en-US" sz="3000" dirty="0"/>
          </a:p>
        </p:txBody>
      </p:sp>
      <p:sp>
        <p:nvSpPr>
          <p:cNvPr id="43" name="Shape 36"/>
          <p:cNvSpPr/>
          <p:nvPr/>
        </p:nvSpPr>
        <p:spPr>
          <a:xfrm>
            <a:off x="9322079" y="4114800"/>
            <a:ext cx="2320976" cy="1554480"/>
          </a:xfrm>
          <a:prstGeom prst="roundRect">
            <a:avLst>
              <a:gd name="adj" fmla="val 3529"/>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44" name="Shape 37"/>
          <p:cNvSpPr/>
          <p:nvPr/>
        </p:nvSpPr>
        <p:spPr>
          <a:xfrm>
            <a:off x="10272255" y="4279392"/>
            <a:ext cx="420624" cy="420624"/>
          </a:xfrm>
          <a:prstGeom prst="ellipse">
            <a:avLst/>
          </a:prstGeom>
          <a:solidFill>
            <a:srgbClr val="1F7A47"/>
          </a:solidFill>
          <a:ln/>
        </p:spPr>
        <p:txBody>
          <a:bodyPr/>
          <a:lstStyle/>
          <a:p>
            <a:endParaRPr lang="en-US"/>
          </a:p>
        </p:txBody>
      </p:sp>
      <p:pic>
        <p:nvPicPr>
          <p:cNvPr id="45" name="Image 5" descr="preencoded.png"/>
          <p:cNvPicPr>
            <a:picLocks noChangeAspect="1"/>
          </p:cNvPicPr>
          <p:nvPr/>
        </p:nvPicPr>
        <p:blipFill>
          <a:blip r:embed="rId7"/>
          <a:stretch>
            <a:fillRect/>
          </a:stretch>
        </p:blipFill>
        <p:spPr>
          <a:xfrm>
            <a:off x="10377411" y="4384548"/>
            <a:ext cx="210312" cy="210312"/>
          </a:xfrm>
          <a:prstGeom prst="rect">
            <a:avLst/>
          </a:prstGeom>
        </p:spPr>
      </p:pic>
      <p:sp>
        <p:nvSpPr>
          <p:cNvPr id="46" name="Text 38"/>
          <p:cNvSpPr/>
          <p:nvPr/>
        </p:nvSpPr>
        <p:spPr>
          <a:xfrm>
            <a:off x="9413519" y="4773168"/>
            <a:ext cx="2138096" cy="365760"/>
          </a:xfrm>
          <a:prstGeom prst="rect">
            <a:avLst/>
          </a:prstGeom>
          <a:noFill/>
          <a:ln/>
        </p:spPr>
        <p:txBody>
          <a:bodyPr wrap="square" lIns="0" tIns="0" rIns="0" bIns="0" rtlCol="0" anchor="t"/>
          <a:lstStyle/>
          <a:p>
            <a:pPr marL="0" indent="0" algn="ctr">
              <a:lnSpc>
                <a:spcPct val="98000"/>
              </a:lnSpc>
              <a:buNone/>
            </a:pPr>
            <a:r>
              <a:rPr lang="en-US" sz="1100" b="1" dirty="0">
                <a:solidFill>
                  <a:srgbClr val="0E3D29"/>
                </a:solidFill>
                <a:latin typeface="Calibri" pitchFamily="34" charset="0"/>
                <a:ea typeface="Calibri" pitchFamily="34" charset="-122"/>
                <a:cs typeface="Calibri" pitchFamily="34" charset="-120"/>
              </a:rPr>
              <a:t>Same answer for every app</a:t>
            </a:r>
            <a:endParaRPr lang="en-US" sz="1100" dirty="0"/>
          </a:p>
        </p:txBody>
      </p:sp>
      <p:sp>
        <p:nvSpPr>
          <p:cNvPr id="47" name="Text 39"/>
          <p:cNvSpPr/>
          <p:nvPr/>
        </p:nvSpPr>
        <p:spPr>
          <a:xfrm>
            <a:off x="9431807" y="5084064"/>
            <a:ext cx="2101520" cy="512064"/>
          </a:xfrm>
          <a:prstGeom prst="rect">
            <a:avLst/>
          </a:prstGeom>
          <a:noFill/>
          <a:ln/>
        </p:spPr>
        <p:txBody>
          <a:bodyPr wrap="square" lIns="0" tIns="0" rIns="0" bIns="0" rtlCol="0" anchor="t"/>
          <a:lstStyle/>
          <a:p>
            <a:pPr marL="0" indent="0" algn="ctr">
              <a:lnSpc>
                <a:spcPct val="102000"/>
              </a:lnSpc>
              <a:buNone/>
            </a:pPr>
            <a:r>
              <a:rPr lang="en-US" sz="850" dirty="0">
                <a:solidFill>
                  <a:srgbClr val="262B27"/>
                </a:solidFill>
                <a:latin typeface="Calibri" pitchFamily="34" charset="0"/>
                <a:ea typeface="Calibri" pitchFamily="34" charset="-122"/>
                <a:cs typeface="Calibri" pitchFamily="34" charset="-120"/>
              </a:rPr>
              <a:t>No one re-does the mapping; the numbers line up</a:t>
            </a:r>
            <a:endParaRPr lang="en-US" sz="850" dirty="0"/>
          </a:p>
        </p:txBody>
      </p:sp>
      <p:sp>
        <p:nvSpPr>
          <p:cNvPr id="48" name="Text 40"/>
          <p:cNvSpPr/>
          <p:nvPr/>
        </p:nvSpPr>
        <p:spPr>
          <a:xfrm>
            <a:off x="548640" y="5779008"/>
            <a:ext cx="11094415" cy="292608"/>
          </a:xfrm>
          <a:prstGeom prst="rect">
            <a:avLst/>
          </a:prstGeom>
          <a:noFill/>
          <a:ln/>
        </p:spPr>
        <p:txBody>
          <a:bodyPr wrap="square" lIns="0" tIns="0" rIns="0" bIns="0" rtlCol="0" anchor="ctr"/>
          <a:lstStyle/>
          <a:p>
            <a:pPr marL="0" indent="0">
              <a:lnSpc>
                <a:spcPct val="103000"/>
              </a:lnSpc>
              <a:buNone/>
            </a:pPr>
            <a:r>
              <a:rPr lang="en-US" sz="950" i="1" dirty="0">
                <a:solidFill>
                  <a:srgbClr val="6B7670"/>
                </a:solidFill>
                <a:latin typeface="Calibri" pitchFamily="34" charset="0"/>
                <a:ea typeface="Calibri" pitchFamily="34" charset="-122"/>
                <a:cs typeface="Calibri" pitchFamily="34" charset="-120"/>
              </a:rPr>
              <a:t>Stance: coexist today, converge to one governed model — Risk helps shape CDM direction, not a rip-and-replace of Veritas.  Live and end-of-day won't match every second, but they mean the same thing and reconcile at end-of-day; governing the live feed (lineage + contract) is the price of entry.</a:t>
            </a:r>
            <a:endParaRPr lang="en-US" sz="950" dirty="0"/>
          </a:p>
        </p:txBody>
      </p:sp>
      <p:sp>
        <p:nvSpPr>
          <p:cNvPr id="49" name="Text 41"/>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50" name="Text 42"/>
          <p:cNvSpPr/>
          <p:nvPr/>
        </p:nvSpPr>
        <p:spPr>
          <a:xfrm>
            <a:off x="9357055" y="6473952"/>
            <a:ext cx="146304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a:t>
            </a:r>
            <a:endParaRPr lang="en-US" sz="900" dirty="0"/>
          </a:p>
        </p:txBody>
      </p:sp>
      <p:sp>
        <p:nvSpPr>
          <p:cNvPr id="51" name="Text 43"/>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lIns="0" tIns="0" rIns="0" bIns="0" rtlCol="0" anchor="ctr"/>
          <a:lstStyle/>
          <a:p>
            <a:pPr marL="0" indent="0">
              <a:buNone/>
            </a:pPr>
            <a:r>
              <a:rPr lang="en-US" sz="1100" b="1" kern="0" spc="300" dirty="0">
                <a:solidFill>
                  <a:srgbClr val="1F7A47"/>
                </a:solidFill>
                <a:latin typeface="Calibri" pitchFamily="34" charset="0"/>
                <a:ea typeface="Calibri" pitchFamily="34" charset="-122"/>
                <a:cs typeface="Calibri" pitchFamily="34" charset="-120"/>
              </a:rPr>
              <a:t>WHERE WE'RE GOING  ·  THE DECISIONS AHEAD</a:t>
            </a:r>
            <a:endParaRPr lang="en-US" sz="1100" dirty="0"/>
          </a:p>
        </p:txBody>
      </p:sp>
      <p:sp>
        <p:nvSpPr>
          <p:cNvPr id="3" name="Text 1"/>
          <p:cNvSpPr/>
          <p:nvPr/>
        </p:nvSpPr>
        <p:spPr>
          <a:xfrm>
            <a:off x="548640" y="640080"/>
            <a:ext cx="11094415" cy="548640"/>
          </a:xfrm>
          <a:prstGeom prst="rect">
            <a:avLst/>
          </a:prstGeom>
          <a:noFill/>
          <a:ln/>
        </p:spPr>
        <p:txBody>
          <a:bodyPr wrap="square" lIns="0" tIns="0" rIns="0" bIns="0" rtlCol="0" anchor="ctr"/>
          <a:lstStyle/>
          <a:p>
            <a:pPr marL="0" indent="0">
              <a:buNone/>
            </a:pPr>
            <a:r>
              <a:rPr lang="en-US" sz="2600" b="1" dirty="0">
                <a:solidFill>
                  <a:srgbClr val="0E3D29"/>
                </a:solidFill>
                <a:latin typeface="Calibri" pitchFamily="34" charset="0"/>
                <a:ea typeface="Calibri" pitchFamily="34" charset="-122"/>
                <a:cs typeface="Calibri" pitchFamily="34" charset="-120"/>
              </a:rPr>
              <a:t>The Decisions Ahead — Technology &amp; Data</a:t>
            </a:r>
            <a:endParaRPr lang="en-US" sz="2600" dirty="0"/>
          </a:p>
        </p:txBody>
      </p:sp>
      <p:sp>
        <p:nvSpPr>
          <p:cNvPr id="4" name="Text 2"/>
          <p:cNvSpPr/>
          <p:nvPr/>
        </p:nvSpPr>
        <p:spPr>
          <a:xfrm>
            <a:off x="548640" y="1280160"/>
            <a:ext cx="11094415" cy="329184"/>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The platform is stood up and the model is proven. </a:t>
            </a:r>
            <a:r>
              <a:rPr lang="en-US" sz="1300" dirty="0">
                <a:solidFill>
                  <a:srgbClr val="262B27"/>
                </a:solidFill>
                <a:latin typeface="Calibri" pitchFamily="34" charset="0"/>
                <a:ea typeface="Calibri" pitchFamily="34" charset="-122"/>
                <a:cs typeface="Calibri" pitchFamily="34" charset="-120"/>
              </a:rPr>
              <a:t>What still slows us down day to day falls into two groups — one technical, one about where the data lives.</a:t>
            </a:r>
            <a:endParaRPr lang="en-US" sz="1300" dirty="0"/>
          </a:p>
        </p:txBody>
      </p:sp>
      <p:sp>
        <p:nvSpPr>
          <p:cNvPr id="5" name="Text 3"/>
          <p:cNvSpPr/>
          <p:nvPr/>
        </p:nvSpPr>
        <p:spPr>
          <a:xfrm>
            <a:off x="548640" y="1664208"/>
            <a:ext cx="11094415" cy="274320"/>
          </a:xfrm>
          <a:prstGeom prst="rect">
            <a:avLst/>
          </a:prstGeom>
          <a:noFill/>
          <a:ln/>
        </p:spPr>
        <p:txBody>
          <a:bodyPr wrap="square" lIns="0" tIns="0" rIns="0" bIns="0" rtlCol="0" anchor="ctr"/>
          <a:lstStyle/>
          <a:p>
            <a:pPr marL="0" indent="0">
              <a:buNone/>
            </a:pPr>
            <a:r>
              <a:rPr lang="en-US" sz="1050" b="1" dirty="0">
                <a:solidFill>
                  <a:srgbClr val="1F7A47"/>
                </a:solidFill>
                <a:latin typeface="Calibri" pitchFamily="34" charset="0"/>
                <a:ea typeface="Calibri" pitchFamily="34" charset="-122"/>
                <a:cs typeface="Calibri" pitchFamily="34" charset="-120"/>
              </a:rPr>
              <a:t>Where we are:  </a:t>
            </a:r>
            <a:r>
              <a:rPr lang="en-US" sz="1050" i="1" dirty="0">
                <a:solidFill>
                  <a:srgbClr val="6B7670"/>
                </a:solidFill>
                <a:latin typeface="Calibri" pitchFamily="34" charset="0"/>
                <a:ea typeface="Calibri" pitchFamily="34" charset="-122"/>
                <a:cs typeface="Calibri" pitchFamily="34" charset="-120"/>
              </a:rPr>
              <a:t>landing Risk data into TDVIP is under way; conformance and enterprise (CDM) alignment follow.</a:t>
            </a:r>
            <a:endParaRPr lang="en-US" sz="1050" dirty="0"/>
          </a:p>
        </p:txBody>
      </p:sp>
      <p:sp>
        <p:nvSpPr>
          <p:cNvPr id="6" name="Shape 4"/>
          <p:cNvSpPr/>
          <p:nvPr/>
        </p:nvSpPr>
        <p:spPr>
          <a:xfrm>
            <a:off x="548640" y="2139696"/>
            <a:ext cx="365760" cy="365760"/>
          </a:xfrm>
          <a:prstGeom prst="ellipse">
            <a:avLst/>
          </a:prstGeom>
          <a:solidFill>
            <a:srgbClr val="55636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640080" y="2231136"/>
            <a:ext cx="182880" cy="182880"/>
          </a:xfrm>
          <a:prstGeom prst="rect">
            <a:avLst/>
          </a:prstGeom>
        </p:spPr>
      </p:pic>
      <p:sp>
        <p:nvSpPr>
          <p:cNvPr id="8" name="Text 5"/>
          <p:cNvSpPr/>
          <p:nvPr/>
        </p:nvSpPr>
        <p:spPr>
          <a:xfrm>
            <a:off x="1024128" y="2139696"/>
            <a:ext cx="4788256" cy="365760"/>
          </a:xfrm>
          <a:prstGeom prst="rect">
            <a:avLst/>
          </a:prstGeom>
          <a:noFill/>
          <a:ln/>
        </p:spPr>
        <p:txBody>
          <a:bodyPr wrap="square" lIns="0" tIns="0" rIns="0" bIns="0" rtlCol="0" anchor="ctr"/>
          <a:lstStyle/>
          <a:p>
            <a:pPr marL="0" indent="0">
              <a:buNone/>
            </a:pPr>
            <a:r>
              <a:rPr lang="en-US" sz="1300" b="1" kern="0" spc="100" dirty="0">
                <a:solidFill>
                  <a:srgbClr val="0E3D29"/>
                </a:solidFill>
                <a:latin typeface="Calibri" pitchFamily="34" charset="0"/>
                <a:ea typeface="Calibri" pitchFamily="34" charset="-122"/>
                <a:cs typeface="Calibri" pitchFamily="34" charset="-120"/>
              </a:rPr>
              <a:t>TECHNOLOGY</a:t>
            </a:r>
            <a:endParaRPr lang="en-US" sz="1300" dirty="0"/>
          </a:p>
        </p:txBody>
      </p:sp>
      <p:sp>
        <p:nvSpPr>
          <p:cNvPr id="9" name="Text 6"/>
          <p:cNvSpPr/>
          <p:nvPr/>
        </p:nvSpPr>
        <p:spPr>
          <a:xfrm>
            <a:off x="1024128" y="2468880"/>
            <a:ext cx="4788256" cy="201168"/>
          </a:xfrm>
          <a:prstGeom prst="rect">
            <a:avLst/>
          </a:prstGeom>
          <a:noFill/>
          <a:ln/>
        </p:spPr>
        <p:txBody>
          <a:bodyPr wrap="square" lIns="0" tIns="0" rIns="0" bIns="0" rtlCol="0" anchor="ctr"/>
          <a:lstStyle/>
          <a:p>
            <a:pPr marL="0" indent="0">
              <a:buNone/>
            </a:pPr>
            <a:r>
              <a:rPr lang="en-US" sz="900" i="1" dirty="0">
                <a:solidFill>
                  <a:srgbClr val="6B7670"/>
                </a:solidFill>
                <a:latin typeface="Calibri" pitchFamily="34" charset="0"/>
                <a:ea typeface="Calibri" pitchFamily="34" charset="-122"/>
                <a:cs typeface="Calibri" pitchFamily="34" charset="-120"/>
              </a:rPr>
              <a:t>make the platform usable by the domain</a:t>
            </a:r>
            <a:endParaRPr lang="en-US" sz="900" dirty="0"/>
          </a:p>
        </p:txBody>
      </p:sp>
      <p:sp>
        <p:nvSpPr>
          <p:cNvPr id="10" name="Shape 7"/>
          <p:cNvSpPr/>
          <p:nvPr/>
        </p:nvSpPr>
        <p:spPr>
          <a:xfrm>
            <a:off x="6306160" y="2139696"/>
            <a:ext cx="365760" cy="365760"/>
          </a:xfrm>
          <a:prstGeom prst="ellipse">
            <a:avLst/>
          </a:prstGeom>
          <a:solidFill>
            <a:srgbClr val="1F7A47"/>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397600" y="2231136"/>
            <a:ext cx="182880" cy="182880"/>
          </a:xfrm>
          <a:prstGeom prst="rect">
            <a:avLst/>
          </a:prstGeom>
        </p:spPr>
      </p:pic>
      <p:sp>
        <p:nvSpPr>
          <p:cNvPr id="12" name="Text 8"/>
          <p:cNvSpPr/>
          <p:nvPr/>
        </p:nvSpPr>
        <p:spPr>
          <a:xfrm>
            <a:off x="6781648" y="2139696"/>
            <a:ext cx="4788256" cy="365760"/>
          </a:xfrm>
          <a:prstGeom prst="rect">
            <a:avLst/>
          </a:prstGeom>
          <a:noFill/>
          <a:ln/>
        </p:spPr>
        <p:txBody>
          <a:bodyPr wrap="square" lIns="0" tIns="0" rIns="0" bIns="0" rtlCol="0" anchor="ctr"/>
          <a:lstStyle/>
          <a:p>
            <a:pPr marL="0" indent="0">
              <a:buNone/>
            </a:pPr>
            <a:r>
              <a:rPr lang="en-US" sz="1300" b="1" kern="0" spc="100" dirty="0">
                <a:solidFill>
                  <a:srgbClr val="0E3D29"/>
                </a:solidFill>
                <a:latin typeface="Calibri" pitchFamily="34" charset="0"/>
                <a:ea typeface="Calibri" pitchFamily="34" charset="-122"/>
                <a:cs typeface="Calibri" pitchFamily="34" charset="-120"/>
              </a:rPr>
              <a:t>DATA</a:t>
            </a:r>
            <a:endParaRPr lang="en-US" sz="1300" dirty="0"/>
          </a:p>
        </p:txBody>
      </p:sp>
      <p:sp>
        <p:nvSpPr>
          <p:cNvPr id="13" name="Text 9"/>
          <p:cNvSpPr/>
          <p:nvPr/>
        </p:nvSpPr>
        <p:spPr>
          <a:xfrm>
            <a:off x="6781648" y="2468880"/>
            <a:ext cx="4788256" cy="201168"/>
          </a:xfrm>
          <a:prstGeom prst="rect">
            <a:avLst/>
          </a:prstGeom>
          <a:noFill/>
          <a:ln/>
        </p:spPr>
        <p:txBody>
          <a:bodyPr wrap="square" lIns="0" tIns="0" rIns="0" bIns="0" rtlCol="0" anchor="ctr"/>
          <a:lstStyle/>
          <a:p>
            <a:pPr marL="0" indent="0">
              <a:buNone/>
            </a:pPr>
            <a:r>
              <a:rPr lang="en-US" sz="900" i="1" dirty="0">
                <a:solidFill>
                  <a:srgbClr val="6B7670"/>
                </a:solidFill>
                <a:latin typeface="Calibri" pitchFamily="34" charset="0"/>
                <a:ea typeface="Calibri" pitchFamily="34" charset="-122"/>
                <a:cs typeface="Calibri" pitchFamily="34" charset="-120"/>
              </a:rPr>
              <a:t>bring the data onto the strategic platform</a:t>
            </a:r>
            <a:endParaRPr lang="en-US" sz="900" dirty="0"/>
          </a:p>
        </p:txBody>
      </p:sp>
      <p:sp>
        <p:nvSpPr>
          <p:cNvPr id="14" name="Shape 10"/>
          <p:cNvSpPr/>
          <p:nvPr/>
        </p:nvSpPr>
        <p:spPr>
          <a:xfrm>
            <a:off x="548640" y="2816352"/>
            <a:ext cx="5336896" cy="914400"/>
          </a:xfrm>
          <a:prstGeom prst="roundRect">
            <a:avLst>
              <a:gd name="adj" fmla="val 6000"/>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15" name="Shape 11"/>
          <p:cNvSpPr/>
          <p:nvPr/>
        </p:nvSpPr>
        <p:spPr>
          <a:xfrm>
            <a:off x="713232" y="2935224"/>
            <a:ext cx="292608" cy="292608"/>
          </a:xfrm>
          <a:prstGeom prst="ellipse">
            <a:avLst/>
          </a:prstGeom>
          <a:solidFill>
            <a:srgbClr val="1F7A47"/>
          </a:solidFill>
          <a:ln/>
        </p:spPr>
        <p:txBody>
          <a:bodyPr/>
          <a:lstStyle/>
          <a:p>
            <a:endParaRPr lang="en-US"/>
          </a:p>
        </p:txBody>
      </p:sp>
      <p:sp>
        <p:nvSpPr>
          <p:cNvPr id="16" name="Text 12"/>
          <p:cNvSpPr/>
          <p:nvPr/>
        </p:nvSpPr>
        <p:spPr>
          <a:xfrm>
            <a:off x="713232" y="293522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7" name="Text 13"/>
          <p:cNvSpPr/>
          <p:nvPr/>
        </p:nvSpPr>
        <p:spPr>
          <a:xfrm>
            <a:off x="1115568" y="2926080"/>
            <a:ext cx="4587088" cy="256032"/>
          </a:xfrm>
          <a:prstGeom prst="rect">
            <a:avLst/>
          </a:prstGeom>
          <a:noFill/>
          <a:ln/>
        </p:spPr>
        <p:txBody>
          <a:bodyPr wrap="square" lIns="0" tIns="0" rIns="0" bIns="0" rtlCol="0" anchor="ctr"/>
          <a:lstStyle/>
          <a:p>
            <a:pPr marL="0" indent="0">
              <a:buNone/>
            </a:pPr>
            <a:r>
              <a:rPr lang="en-US" sz="1150" b="1" dirty="0">
                <a:solidFill>
                  <a:srgbClr val="0E3D29"/>
                </a:solidFill>
                <a:latin typeface="Calibri" pitchFamily="34" charset="0"/>
                <a:ea typeface="Calibri" pitchFamily="34" charset="-122"/>
                <a:cs typeface="Calibri" pitchFamily="34" charset="-120"/>
              </a:rPr>
              <a:t>Self-service in guardrails</a:t>
            </a:r>
            <a:endParaRPr lang="en-US" sz="1150" dirty="0"/>
          </a:p>
        </p:txBody>
      </p:sp>
      <p:sp>
        <p:nvSpPr>
          <p:cNvPr id="18" name="Text 14"/>
          <p:cNvSpPr/>
          <p:nvPr/>
        </p:nvSpPr>
        <p:spPr>
          <a:xfrm>
            <a:off x="731520" y="3236976"/>
            <a:ext cx="4971136" cy="438912"/>
          </a:xfrm>
          <a:prstGeom prst="rect">
            <a:avLst/>
          </a:prstGeom>
          <a:noFill/>
          <a:ln/>
        </p:spPr>
        <p:txBody>
          <a:bodyPr wrap="square" lIns="0" tIns="0" rIns="0" bIns="0" rtlCol="0" anchor="t"/>
          <a:lstStyle/>
          <a:p>
            <a:pPr marL="0" indent="0">
              <a:lnSpc>
                <a:spcPct val="100000"/>
              </a:lnSpc>
              <a:buNone/>
            </a:pPr>
            <a:r>
              <a:rPr lang="en-US" sz="900" dirty="0">
                <a:solidFill>
                  <a:srgbClr val="262B27"/>
                </a:solidFill>
                <a:latin typeface="Calibri" pitchFamily="34" charset="0"/>
                <a:ea typeface="Calibri" pitchFamily="34" charset="-122"/>
                <a:cs typeface="Calibri" pitchFamily="34" charset="-120"/>
              </a:rPr>
              <a:t>Every new data area is a platform ticket, named by deployment code, and we can't change our own space.  </a:t>
            </a:r>
            <a:r>
              <a:rPr lang="en-US" sz="900" b="1" dirty="0">
                <a:solidFill>
                  <a:srgbClr val="1F7A47"/>
                </a:solidFill>
                <a:latin typeface="Calibri" pitchFamily="34" charset="0"/>
                <a:ea typeface="Calibri" pitchFamily="34" charset="-122"/>
                <a:cs typeface="Calibri" pitchFamily="34" charset="-120"/>
              </a:rPr>
              <a:t>Grant CREATE SCHEMA / ownership in Unity Catalog so the domain sets up and owns its area.</a:t>
            </a:r>
            <a:endParaRPr lang="en-US" sz="900" dirty="0"/>
          </a:p>
        </p:txBody>
      </p:sp>
      <p:sp>
        <p:nvSpPr>
          <p:cNvPr id="19" name="Shape 15"/>
          <p:cNvSpPr/>
          <p:nvPr/>
        </p:nvSpPr>
        <p:spPr>
          <a:xfrm>
            <a:off x="548640" y="3858768"/>
            <a:ext cx="5336896" cy="914400"/>
          </a:xfrm>
          <a:prstGeom prst="roundRect">
            <a:avLst>
              <a:gd name="adj" fmla="val 6000"/>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20" name="Shape 16"/>
          <p:cNvSpPr/>
          <p:nvPr/>
        </p:nvSpPr>
        <p:spPr>
          <a:xfrm>
            <a:off x="713232" y="3977640"/>
            <a:ext cx="292608" cy="292608"/>
          </a:xfrm>
          <a:prstGeom prst="ellipse">
            <a:avLst/>
          </a:prstGeom>
          <a:solidFill>
            <a:srgbClr val="1F7A47"/>
          </a:solidFill>
          <a:ln/>
        </p:spPr>
        <p:txBody>
          <a:bodyPr/>
          <a:lstStyle/>
          <a:p>
            <a:endParaRPr lang="en-US"/>
          </a:p>
        </p:txBody>
      </p:sp>
      <p:sp>
        <p:nvSpPr>
          <p:cNvPr id="21" name="Text 17"/>
          <p:cNvSpPr/>
          <p:nvPr/>
        </p:nvSpPr>
        <p:spPr>
          <a:xfrm>
            <a:off x="713232" y="397764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2" name="Text 18"/>
          <p:cNvSpPr/>
          <p:nvPr/>
        </p:nvSpPr>
        <p:spPr>
          <a:xfrm>
            <a:off x="1115568" y="3968496"/>
            <a:ext cx="4587088" cy="256032"/>
          </a:xfrm>
          <a:prstGeom prst="rect">
            <a:avLst/>
          </a:prstGeom>
          <a:noFill/>
          <a:ln/>
        </p:spPr>
        <p:txBody>
          <a:bodyPr wrap="square" lIns="0" tIns="0" rIns="0" bIns="0" rtlCol="0" anchor="ctr"/>
          <a:lstStyle/>
          <a:p>
            <a:pPr marL="0" indent="0">
              <a:buNone/>
            </a:pPr>
            <a:r>
              <a:rPr lang="en-US" sz="1150" b="1" dirty="0">
                <a:solidFill>
                  <a:srgbClr val="0E3D29"/>
                </a:solidFill>
                <a:latin typeface="Calibri" pitchFamily="34" charset="0"/>
                <a:ea typeface="Calibri" pitchFamily="34" charset="-122"/>
                <a:cs typeface="Calibri" pitchFamily="34" charset="-120"/>
              </a:rPr>
              <a:t>Enable serverless</a:t>
            </a:r>
            <a:endParaRPr lang="en-US" sz="1150" dirty="0"/>
          </a:p>
        </p:txBody>
      </p:sp>
      <p:sp>
        <p:nvSpPr>
          <p:cNvPr id="23" name="Text 19"/>
          <p:cNvSpPr/>
          <p:nvPr/>
        </p:nvSpPr>
        <p:spPr>
          <a:xfrm>
            <a:off x="731520" y="4279392"/>
            <a:ext cx="4971136" cy="438912"/>
          </a:xfrm>
          <a:prstGeom prst="rect">
            <a:avLst/>
          </a:prstGeom>
          <a:noFill/>
          <a:ln/>
        </p:spPr>
        <p:txBody>
          <a:bodyPr wrap="square" lIns="0" tIns="0" rIns="0" bIns="0" rtlCol="0" anchor="t"/>
          <a:lstStyle/>
          <a:p>
            <a:pPr marL="0" indent="0">
              <a:lnSpc>
                <a:spcPct val="100000"/>
              </a:lnSpc>
              <a:buNone/>
            </a:pPr>
            <a:r>
              <a:rPr lang="en-US" sz="900" dirty="0">
                <a:solidFill>
                  <a:srgbClr val="262B27"/>
                </a:solidFill>
                <a:latin typeface="Calibri" pitchFamily="34" charset="0"/>
                <a:ea typeface="Calibri" pitchFamily="34" charset="-122"/>
                <a:cs typeface="Calibri" pitchFamily="34" charset="-120"/>
              </a:rPr>
              <a:t>Serverless is off, so Genie, agentic AI, the metric layer and self-service are unavailable.  </a:t>
            </a:r>
            <a:r>
              <a:rPr lang="en-US" sz="900" b="1" dirty="0">
                <a:solidFill>
                  <a:srgbClr val="1F7A47"/>
                </a:solidFill>
                <a:latin typeface="Calibri" pitchFamily="34" charset="0"/>
                <a:ea typeface="Calibri" pitchFamily="34" charset="-122"/>
                <a:cs typeface="Calibri" pitchFamily="34" charset="-120"/>
              </a:rPr>
              <a:t>Turn it on — no product change — and a much larger group of users can self-serve with Genie and agentic AI.</a:t>
            </a:r>
            <a:endParaRPr lang="en-US" sz="900" dirty="0"/>
          </a:p>
        </p:txBody>
      </p:sp>
      <p:sp>
        <p:nvSpPr>
          <p:cNvPr id="24" name="Shape 20"/>
          <p:cNvSpPr/>
          <p:nvPr/>
        </p:nvSpPr>
        <p:spPr>
          <a:xfrm>
            <a:off x="548640" y="4901184"/>
            <a:ext cx="5336896" cy="914400"/>
          </a:xfrm>
          <a:prstGeom prst="roundRect">
            <a:avLst>
              <a:gd name="adj" fmla="val 6000"/>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25" name="Shape 21"/>
          <p:cNvSpPr/>
          <p:nvPr/>
        </p:nvSpPr>
        <p:spPr>
          <a:xfrm>
            <a:off x="713232" y="5020056"/>
            <a:ext cx="292608" cy="292608"/>
          </a:xfrm>
          <a:prstGeom prst="ellipse">
            <a:avLst/>
          </a:prstGeom>
          <a:solidFill>
            <a:srgbClr val="1F7A47"/>
          </a:solidFill>
          <a:ln/>
        </p:spPr>
        <p:txBody>
          <a:bodyPr/>
          <a:lstStyle/>
          <a:p>
            <a:endParaRPr lang="en-US"/>
          </a:p>
        </p:txBody>
      </p:sp>
      <p:sp>
        <p:nvSpPr>
          <p:cNvPr id="26" name="Text 22"/>
          <p:cNvSpPr/>
          <p:nvPr/>
        </p:nvSpPr>
        <p:spPr>
          <a:xfrm>
            <a:off x="713232" y="502005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3"/>
          <p:cNvSpPr/>
          <p:nvPr/>
        </p:nvSpPr>
        <p:spPr>
          <a:xfrm>
            <a:off x="1115568" y="5010912"/>
            <a:ext cx="4587088" cy="256032"/>
          </a:xfrm>
          <a:prstGeom prst="rect">
            <a:avLst/>
          </a:prstGeom>
          <a:noFill/>
          <a:ln/>
        </p:spPr>
        <p:txBody>
          <a:bodyPr wrap="square" lIns="0" tIns="0" rIns="0" bIns="0" rtlCol="0" anchor="ctr"/>
          <a:lstStyle/>
          <a:p>
            <a:pPr marL="0" indent="0">
              <a:buNone/>
            </a:pPr>
            <a:r>
              <a:rPr lang="en-US" sz="1150" b="1" dirty="0">
                <a:solidFill>
                  <a:srgbClr val="0E3D29"/>
                </a:solidFill>
                <a:latin typeface="Calibri" pitchFamily="34" charset="0"/>
                <a:ea typeface="Calibri" pitchFamily="34" charset="-122"/>
                <a:cs typeface="Calibri" pitchFamily="34" charset="-120"/>
              </a:rPr>
              <a:t>Converge on one catalog</a:t>
            </a:r>
            <a:endParaRPr lang="en-US" sz="1150" dirty="0"/>
          </a:p>
        </p:txBody>
      </p:sp>
      <p:sp>
        <p:nvSpPr>
          <p:cNvPr id="28" name="Text 24"/>
          <p:cNvSpPr/>
          <p:nvPr/>
        </p:nvSpPr>
        <p:spPr>
          <a:xfrm>
            <a:off x="731520" y="5321808"/>
            <a:ext cx="4971136" cy="438912"/>
          </a:xfrm>
          <a:prstGeom prst="rect">
            <a:avLst/>
          </a:prstGeom>
          <a:noFill/>
          <a:ln/>
        </p:spPr>
        <p:txBody>
          <a:bodyPr wrap="square" lIns="0" tIns="0" rIns="0" bIns="0" rtlCol="0" anchor="t"/>
          <a:lstStyle/>
          <a:p>
            <a:pPr marL="0" indent="0">
              <a:lnSpc>
                <a:spcPct val="100000"/>
              </a:lnSpc>
              <a:buNone/>
            </a:pPr>
            <a:r>
              <a:rPr lang="en-US" sz="900" dirty="0">
                <a:solidFill>
                  <a:srgbClr val="262B27"/>
                </a:solidFill>
                <a:latin typeface="Calibri" pitchFamily="34" charset="0"/>
                <a:ea typeface="Calibri" pitchFamily="34" charset="-122"/>
                <a:cs typeface="Calibri" pitchFamily="34" charset="-120"/>
              </a:rPr>
              <a:t>Data is described in two places (Unity Catalog and Dremio) and can drift.  </a:t>
            </a:r>
            <a:r>
              <a:rPr lang="en-US" sz="900" b="1" dirty="0">
                <a:solidFill>
                  <a:srgbClr val="1F7A47"/>
                </a:solidFill>
                <a:latin typeface="Calibri" pitchFamily="34" charset="0"/>
                <a:ea typeface="Calibri" pitchFamily="34" charset="-122"/>
                <a:cs typeface="Calibri" pitchFamily="34" charset="-120"/>
              </a:rPr>
              <a:t>Make Unity Catalog the single plane; retire the dual-catalog.</a:t>
            </a:r>
            <a:endParaRPr lang="en-US" sz="900" dirty="0"/>
          </a:p>
        </p:txBody>
      </p:sp>
      <p:sp>
        <p:nvSpPr>
          <p:cNvPr id="29" name="Shape 25"/>
          <p:cNvSpPr/>
          <p:nvPr/>
        </p:nvSpPr>
        <p:spPr>
          <a:xfrm>
            <a:off x="6306160" y="2816352"/>
            <a:ext cx="5336896" cy="1463040"/>
          </a:xfrm>
          <a:prstGeom prst="roundRect">
            <a:avLst>
              <a:gd name="adj" fmla="val 3750"/>
            </a:avLst>
          </a:prstGeom>
          <a:solidFill>
            <a:srgbClr val="EAF3EC"/>
          </a:solidFill>
          <a:ln w="1270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30" name="Shape 26"/>
          <p:cNvSpPr/>
          <p:nvPr/>
        </p:nvSpPr>
        <p:spPr>
          <a:xfrm>
            <a:off x="6470752" y="2953512"/>
            <a:ext cx="292608" cy="292608"/>
          </a:xfrm>
          <a:prstGeom prst="ellipse">
            <a:avLst/>
          </a:prstGeom>
          <a:solidFill>
            <a:srgbClr val="1F7A47"/>
          </a:solidFill>
          <a:ln/>
        </p:spPr>
        <p:txBody>
          <a:bodyPr/>
          <a:lstStyle/>
          <a:p>
            <a:endParaRPr lang="en-US"/>
          </a:p>
        </p:txBody>
      </p:sp>
      <p:sp>
        <p:nvSpPr>
          <p:cNvPr id="31" name="Text 27"/>
          <p:cNvSpPr/>
          <p:nvPr/>
        </p:nvSpPr>
        <p:spPr>
          <a:xfrm>
            <a:off x="6470752" y="295351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Text 28"/>
          <p:cNvSpPr/>
          <p:nvPr/>
        </p:nvSpPr>
        <p:spPr>
          <a:xfrm>
            <a:off x="6873088" y="2944368"/>
            <a:ext cx="4587088" cy="274320"/>
          </a:xfrm>
          <a:prstGeom prst="rect">
            <a:avLst/>
          </a:prstGeom>
          <a:noFill/>
          <a:ln/>
        </p:spPr>
        <p:txBody>
          <a:bodyPr wrap="square" lIns="0" tIns="0" rIns="0" bIns="0" rtlCol="0" anchor="ctr"/>
          <a:lstStyle/>
          <a:p>
            <a:pPr marL="0" indent="0">
              <a:buNone/>
            </a:pPr>
            <a:r>
              <a:rPr lang="en-US" sz="1150" b="1" dirty="0">
                <a:solidFill>
                  <a:srgbClr val="0E3D29"/>
                </a:solidFill>
                <a:latin typeface="Calibri" pitchFamily="34" charset="0"/>
                <a:ea typeface="Calibri" pitchFamily="34" charset="-122"/>
                <a:cs typeface="Calibri" pitchFamily="34" charset="-120"/>
              </a:rPr>
              <a:t>Bring CDM &amp; domain data onto TDVIP</a:t>
            </a:r>
            <a:endParaRPr lang="en-US" sz="1150" dirty="0"/>
          </a:p>
        </p:txBody>
      </p:sp>
      <p:sp>
        <p:nvSpPr>
          <p:cNvPr id="33" name="Text 29"/>
          <p:cNvSpPr/>
          <p:nvPr/>
        </p:nvSpPr>
        <p:spPr>
          <a:xfrm>
            <a:off x="6489040" y="3273552"/>
            <a:ext cx="4971136" cy="914400"/>
          </a:xfrm>
          <a:prstGeom prst="rect">
            <a:avLst/>
          </a:prstGeom>
          <a:noFill/>
          <a:ln/>
        </p:spPr>
        <p:txBody>
          <a:bodyPr wrap="square" lIns="0" tIns="0" rIns="0" bIns="0" rtlCol="0" anchor="t"/>
          <a:lstStyle/>
          <a:p>
            <a:pPr marL="0" indent="0">
              <a:lnSpc>
                <a:spcPct val="103000"/>
              </a:lnSpc>
              <a:buNone/>
            </a:pPr>
            <a:r>
              <a:rPr lang="en-US" sz="930" dirty="0">
                <a:solidFill>
                  <a:srgbClr val="262B27"/>
                </a:solidFill>
                <a:latin typeface="Calibri" pitchFamily="34" charset="0"/>
                <a:ea typeface="Calibri" pitchFamily="34" charset="-122"/>
                <a:cs typeface="Calibri" pitchFamily="34" charset="-120"/>
              </a:rPr>
              <a:t>Upstream data and the CDM keep landing in InfoP (Cloudera), not TDVIP. Risk can only reach them by copying them over or querying through Dremio — which isn't integrated with Unity Catalog.  </a:t>
            </a:r>
            <a:r>
              <a:rPr lang="en-US" sz="930" b="1" dirty="0">
                <a:solidFill>
                  <a:srgbClr val="1F7A47"/>
                </a:solidFill>
                <a:latin typeface="Calibri" pitchFamily="34" charset="0"/>
                <a:ea typeface="Calibri" pitchFamily="34" charset="-122"/>
                <a:cs typeface="Calibri" pitchFamily="34" charset="-120"/>
              </a:rPr>
              <a:t>Move domain &amp; CDM data onto TDVIP so Risk reads it in place, instead of loading it into InfoP.</a:t>
            </a:r>
            <a:endParaRPr lang="en-US" sz="930" dirty="0"/>
          </a:p>
        </p:txBody>
      </p:sp>
      <p:sp>
        <p:nvSpPr>
          <p:cNvPr id="34" name="Shape 30"/>
          <p:cNvSpPr/>
          <p:nvPr/>
        </p:nvSpPr>
        <p:spPr>
          <a:xfrm>
            <a:off x="6306160" y="4407408"/>
            <a:ext cx="5336896" cy="1463040"/>
          </a:xfrm>
          <a:prstGeom prst="roundRect">
            <a:avLst>
              <a:gd name="adj" fmla="val 3750"/>
            </a:avLst>
          </a:prstGeom>
          <a:solidFill>
            <a:srgbClr val="EAF3EC"/>
          </a:solidFill>
          <a:ln w="1270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35" name="Shape 31"/>
          <p:cNvSpPr/>
          <p:nvPr/>
        </p:nvSpPr>
        <p:spPr>
          <a:xfrm>
            <a:off x="6470752" y="4544568"/>
            <a:ext cx="292608" cy="292608"/>
          </a:xfrm>
          <a:prstGeom prst="ellipse">
            <a:avLst/>
          </a:prstGeom>
          <a:solidFill>
            <a:srgbClr val="1F7A47"/>
          </a:solidFill>
          <a:ln/>
        </p:spPr>
        <p:txBody>
          <a:bodyPr/>
          <a:lstStyle/>
          <a:p>
            <a:endParaRPr lang="en-US"/>
          </a:p>
        </p:txBody>
      </p:sp>
      <p:sp>
        <p:nvSpPr>
          <p:cNvPr id="36" name="Text 32"/>
          <p:cNvSpPr/>
          <p:nvPr/>
        </p:nvSpPr>
        <p:spPr>
          <a:xfrm>
            <a:off x="6470752" y="454456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7" name="Text 33"/>
          <p:cNvSpPr/>
          <p:nvPr/>
        </p:nvSpPr>
        <p:spPr>
          <a:xfrm>
            <a:off x="6873088" y="4535424"/>
            <a:ext cx="4587088" cy="274320"/>
          </a:xfrm>
          <a:prstGeom prst="rect">
            <a:avLst/>
          </a:prstGeom>
          <a:noFill/>
          <a:ln/>
        </p:spPr>
        <p:txBody>
          <a:bodyPr wrap="square" lIns="0" tIns="0" rIns="0" bIns="0" rtlCol="0" anchor="ctr"/>
          <a:lstStyle/>
          <a:p>
            <a:pPr marL="0" indent="0">
              <a:buNone/>
            </a:pPr>
            <a:r>
              <a:rPr lang="en-US" sz="1150" b="1" dirty="0">
                <a:solidFill>
                  <a:srgbClr val="0E3D29"/>
                </a:solidFill>
                <a:latin typeface="Calibri" pitchFamily="34" charset="0"/>
                <a:ea typeface="Calibri" pitchFamily="34" charset="-122"/>
                <a:cs typeface="Calibri" pitchFamily="34" charset="-120"/>
              </a:rPr>
              <a:t>One governed model — real-time and batch</a:t>
            </a:r>
            <a:endParaRPr lang="en-US" sz="1150" dirty="0"/>
          </a:p>
        </p:txBody>
      </p:sp>
      <p:sp>
        <p:nvSpPr>
          <p:cNvPr id="38" name="Text 34"/>
          <p:cNvSpPr/>
          <p:nvPr/>
        </p:nvSpPr>
        <p:spPr>
          <a:xfrm>
            <a:off x="6489040" y="4864608"/>
            <a:ext cx="4971136" cy="914400"/>
          </a:xfrm>
          <a:prstGeom prst="rect">
            <a:avLst/>
          </a:prstGeom>
          <a:noFill/>
          <a:ln/>
        </p:spPr>
        <p:txBody>
          <a:bodyPr wrap="square" lIns="0" tIns="0" rIns="0" bIns="0" rtlCol="0" anchor="t"/>
          <a:lstStyle/>
          <a:p>
            <a:pPr marL="0" indent="0">
              <a:lnSpc>
                <a:spcPct val="103000"/>
              </a:lnSpc>
              <a:buNone/>
            </a:pPr>
            <a:r>
              <a:rPr lang="en-US" sz="930" dirty="0">
                <a:solidFill>
                  <a:srgbClr val="262B27"/>
                </a:solidFill>
                <a:latin typeface="Calibri" pitchFamily="34" charset="0"/>
                <a:ea typeface="Calibri" pitchFamily="34" charset="-122"/>
                <a:cs typeface="Calibri" pitchFamily="34" charset="-120"/>
              </a:rPr>
              <a:t>Veritas (real-time, ungoverned) and the CDM (end-of-day, governed) are two models, and each app reconciles them itself.  </a:t>
            </a:r>
            <a:r>
              <a:rPr lang="en-US" sz="930" b="1" dirty="0">
                <a:solidFill>
                  <a:srgbClr val="1F7A47"/>
                </a:solidFill>
                <a:latin typeface="Calibri" pitchFamily="34" charset="0"/>
                <a:ea typeface="Calibri" pitchFamily="34" charset="-122"/>
                <a:cs typeface="Calibri" pitchFamily="34" charset="-120"/>
              </a:rPr>
              <a:t>Agree one governed model that serves both, so live and official numbers line up.</a:t>
            </a:r>
            <a:endParaRPr lang="en-US" sz="930" dirty="0"/>
          </a:p>
        </p:txBody>
      </p:sp>
      <p:sp>
        <p:nvSpPr>
          <p:cNvPr id="39" name="Shape 35"/>
          <p:cNvSpPr/>
          <p:nvPr/>
        </p:nvSpPr>
        <p:spPr>
          <a:xfrm>
            <a:off x="548640" y="5943600"/>
            <a:ext cx="11094415" cy="512064"/>
          </a:xfrm>
          <a:prstGeom prst="roundRect">
            <a:avLst>
              <a:gd name="adj" fmla="val 10714"/>
            </a:avLst>
          </a:prstGeom>
          <a:solidFill>
            <a:srgbClr val="0E3D29"/>
          </a:solidFill>
          <a:ln/>
        </p:spPr>
        <p:txBody>
          <a:bodyPr/>
          <a:lstStyle/>
          <a:p>
            <a:endParaRPr lang="en-US"/>
          </a:p>
        </p:txBody>
      </p:sp>
      <p:sp>
        <p:nvSpPr>
          <p:cNvPr id="40" name="Text 36"/>
          <p:cNvSpPr/>
          <p:nvPr/>
        </p:nvSpPr>
        <p:spPr>
          <a:xfrm>
            <a:off x="804672" y="5943600"/>
            <a:ext cx="10582351" cy="512064"/>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Calibri" pitchFamily="34" charset="0"/>
                <a:ea typeface="Calibri" pitchFamily="34" charset="-122"/>
                <a:cs typeface="Calibri" pitchFamily="34" charset="-120"/>
              </a:rPr>
              <a:t>Why now:  </a:t>
            </a:r>
            <a:r>
              <a:rPr lang="en-US" sz="1050" dirty="0">
                <a:solidFill>
                  <a:srgbClr val="C9DBD0"/>
                </a:solidFill>
                <a:latin typeface="Calibri" pitchFamily="34" charset="0"/>
                <a:ea typeface="Calibri" pitchFamily="34" charset="-122"/>
                <a:cs typeface="Calibri" pitchFamily="34" charset="-120"/>
              </a:rPr>
              <a:t>regulatory aggregation, consistent exposure numbers, the cost of duplicated data — and direct savings: one collateral picture enables the collateral optimization the business is already asking for.</a:t>
            </a:r>
            <a:endParaRPr lang="en-US" sz="1050" dirty="0"/>
          </a:p>
        </p:txBody>
      </p:sp>
      <p:sp>
        <p:nvSpPr>
          <p:cNvPr id="41" name="Text 3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42" name="Text 38"/>
          <p:cNvSpPr/>
          <p:nvPr/>
        </p:nvSpPr>
        <p:spPr>
          <a:xfrm>
            <a:off x="9357055" y="6473952"/>
            <a:ext cx="146304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a:t>
            </a:r>
            <a:endParaRPr lang="en-US" sz="900" dirty="0"/>
          </a:p>
        </p:txBody>
      </p:sp>
      <p:sp>
        <p:nvSpPr>
          <p:cNvPr id="43" name="Text 39"/>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lIns="0" tIns="0" rIns="0" bIns="0" rtlCol="0" anchor="ctr"/>
          <a:lstStyle/>
          <a:p>
            <a:pPr marL="0" indent="0">
              <a:buNone/>
            </a:pPr>
            <a:r>
              <a:rPr lang="en-US" sz="1100" b="1" kern="0" spc="300" dirty="0">
                <a:solidFill>
                  <a:srgbClr val="9C6B16"/>
                </a:solidFill>
                <a:latin typeface="Calibri" pitchFamily="34" charset="0"/>
                <a:ea typeface="Calibri" pitchFamily="34" charset="-122"/>
                <a:cs typeface="Calibri" pitchFamily="34" charset="-120"/>
              </a:rPr>
              <a:t>APPENDIX  ·  A1</a:t>
            </a:r>
            <a:endParaRPr lang="en-US" sz="1100" dirty="0"/>
          </a:p>
        </p:txBody>
      </p:sp>
      <p:sp>
        <p:nvSpPr>
          <p:cNvPr id="3" name="Text 1"/>
          <p:cNvSpPr/>
          <p:nvPr/>
        </p:nvSpPr>
        <p:spPr>
          <a:xfrm>
            <a:off x="548640" y="640080"/>
            <a:ext cx="11094415" cy="548640"/>
          </a:xfrm>
          <a:prstGeom prst="rect">
            <a:avLst/>
          </a:prstGeom>
          <a:noFill/>
          <a:ln/>
        </p:spPr>
        <p:txBody>
          <a:bodyPr wrap="square" lIns="0" tIns="0" rIns="0" bIns="0" rtlCol="0" anchor="ctr"/>
          <a:lstStyle/>
          <a:p>
            <a:pPr marL="0" indent="0">
              <a:buNone/>
            </a:pPr>
            <a:r>
              <a:rPr lang="en-US" sz="2600" b="1" dirty="0">
                <a:solidFill>
                  <a:srgbClr val="0E3D29"/>
                </a:solidFill>
                <a:latin typeface="Calibri" pitchFamily="34" charset="0"/>
                <a:ea typeface="Calibri" pitchFamily="34" charset="-122"/>
                <a:cs typeface="Calibri" pitchFamily="34" charset="-120"/>
              </a:rPr>
              <a:t>TDS Data Domains — the Enterprise View</a:t>
            </a:r>
            <a:endParaRPr lang="en-US" sz="2600" dirty="0"/>
          </a:p>
        </p:txBody>
      </p:sp>
      <p:sp>
        <p:nvSpPr>
          <p:cNvPr id="4" name="Text 2"/>
          <p:cNvSpPr/>
          <p:nvPr/>
        </p:nvSpPr>
        <p:spPr>
          <a:xfrm>
            <a:off x="548640" y="1280160"/>
            <a:ext cx="11094415" cy="365760"/>
          </a:xfrm>
          <a:prstGeom prst="rect">
            <a:avLst/>
          </a:prstGeom>
          <a:noFill/>
          <a:ln/>
        </p:spPr>
        <p:txBody>
          <a:bodyPr wrap="square" lIns="0" tIns="0" rIns="0" bIns="0" rtlCol="0" anchor="ctr"/>
          <a:lstStyle/>
          <a:p>
            <a:pPr marL="0" indent="0">
              <a:buNone/>
            </a:pPr>
            <a:r>
              <a:rPr lang="en-US" sz="1250" dirty="0">
                <a:solidFill>
                  <a:srgbClr val="262B27"/>
                </a:solidFill>
                <a:latin typeface="Calibri" pitchFamily="34" charset="0"/>
                <a:ea typeface="Calibri" pitchFamily="34" charset="-122"/>
                <a:cs typeface="Calibri" pitchFamily="34" charset="-120"/>
              </a:rPr>
              <a:t>The domains the enterprise CDM models. Risk's generated outputs sit primarily in Derived Data &amp; Metrics; everything else is shared enterprise data Risk consumes.</a:t>
            </a:r>
            <a:endParaRPr lang="en-US" sz="1250" dirty="0"/>
          </a:p>
        </p:txBody>
      </p:sp>
      <p:sp>
        <p:nvSpPr>
          <p:cNvPr id="5" name="Shape 3"/>
          <p:cNvSpPr/>
          <p:nvPr/>
        </p:nvSpPr>
        <p:spPr>
          <a:xfrm>
            <a:off x="548640" y="1828800"/>
            <a:ext cx="2581580" cy="1213104"/>
          </a:xfrm>
          <a:prstGeom prst="roundRect">
            <a:avLst>
              <a:gd name="adj" fmla="val 4523"/>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6" name="Text 4"/>
          <p:cNvSpPr/>
          <p:nvPr/>
        </p:nvSpPr>
        <p:spPr>
          <a:xfrm>
            <a:off x="713232" y="1975104"/>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Pre-Trade</a:t>
            </a:r>
            <a:endParaRPr lang="en-US" sz="1300" dirty="0"/>
          </a:p>
        </p:txBody>
      </p:sp>
      <p:sp>
        <p:nvSpPr>
          <p:cNvPr id="7" name="Text 5"/>
          <p:cNvSpPr/>
          <p:nvPr/>
        </p:nvSpPr>
        <p:spPr>
          <a:xfrm>
            <a:off x="713232" y="2377440"/>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Cash · OTC Derivs · Listed Derivs</a:t>
            </a:r>
            <a:endParaRPr lang="en-US" sz="950" dirty="0"/>
          </a:p>
        </p:txBody>
      </p:sp>
      <p:sp>
        <p:nvSpPr>
          <p:cNvPr id="8" name="Shape 6"/>
          <p:cNvSpPr/>
          <p:nvPr/>
        </p:nvSpPr>
        <p:spPr>
          <a:xfrm>
            <a:off x="3386252" y="1828800"/>
            <a:ext cx="2581580" cy="1213104"/>
          </a:xfrm>
          <a:prstGeom prst="roundRect">
            <a:avLst>
              <a:gd name="adj" fmla="val 4523"/>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9" name="Text 7"/>
          <p:cNvSpPr/>
          <p:nvPr/>
        </p:nvSpPr>
        <p:spPr>
          <a:xfrm>
            <a:off x="3550844" y="1975104"/>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Post-Trade</a:t>
            </a:r>
            <a:endParaRPr lang="en-US" sz="1300" dirty="0"/>
          </a:p>
        </p:txBody>
      </p:sp>
      <p:sp>
        <p:nvSpPr>
          <p:cNvPr id="10" name="Text 8"/>
          <p:cNvSpPr/>
          <p:nvPr/>
        </p:nvSpPr>
        <p:spPr>
          <a:xfrm>
            <a:off x="3550844" y="2377440"/>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Cash · OTC Derivs · Listed Derivs</a:t>
            </a:r>
            <a:endParaRPr lang="en-US" sz="950" dirty="0"/>
          </a:p>
        </p:txBody>
      </p:sp>
      <p:sp>
        <p:nvSpPr>
          <p:cNvPr id="11" name="Shape 9"/>
          <p:cNvSpPr/>
          <p:nvPr/>
        </p:nvSpPr>
        <p:spPr>
          <a:xfrm>
            <a:off x="6223864" y="1828800"/>
            <a:ext cx="2581580" cy="1213104"/>
          </a:xfrm>
          <a:prstGeom prst="roundRect">
            <a:avLst>
              <a:gd name="adj" fmla="val 4523"/>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12" name="Text 10"/>
          <p:cNvSpPr/>
          <p:nvPr/>
        </p:nvSpPr>
        <p:spPr>
          <a:xfrm>
            <a:off x="6388456" y="1975104"/>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Position</a:t>
            </a:r>
            <a:endParaRPr lang="en-US" sz="1300" dirty="0"/>
          </a:p>
        </p:txBody>
      </p:sp>
      <p:sp>
        <p:nvSpPr>
          <p:cNvPr id="13" name="Text 11"/>
          <p:cNvSpPr/>
          <p:nvPr/>
        </p:nvSpPr>
        <p:spPr>
          <a:xfrm>
            <a:off x="6388456" y="2377440"/>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Position · Cash Balances</a:t>
            </a:r>
            <a:endParaRPr lang="en-US" sz="950" dirty="0"/>
          </a:p>
        </p:txBody>
      </p:sp>
      <p:sp>
        <p:nvSpPr>
          <p:cNvPr id="14" name="Shape 12"/>
          <p:cNvSpPr/>
          <p:nvPr/>
        </p:nvSpPr>
        <p:spPr>
          <a:xfrm>
            <a:off x="9061475" y="1828800"/>
            <a:ext cx="2581580" cy="1213104"/>
          </a:xfrm>
          <a:prstGeom prst="roundRect">
            <a:avLst>
              <a:gd name="adj" fmla="val 4523"/>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15" name="Text 13"/>
          <p:cNvSpPr/>
          <p:nvPr/>
        </p:nvSpPr>
        <p:spPr>
          <a:xfrm>
            <a:off x="9226067" y="1975104"/>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Payments</a:t>
            </a:r>
            <a:endParaRPr lang="en-US" sz="1300" dirty="0"/>
          </a:p>
        </p:txBody>
      </p:sp>
      <p:sp>
        <p:nvSpPr>
          <p:cNvPr id="16" name="Text 14"/>
          <p:cNvSpPr/>
          <p:nvPr/>
        </p:nvSpPr>
        <p:spPr>
          <a:xfrm>
            <a:off x="9226067" y="2377440"/>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Payments</a:t>
            </a:r>
            <a:endParaRPr lang="en-US" sz="950" dirty="0"/>
          </a:p>
        </p:txBody>
      </p:sp>
      <p:sp>
        <p:nvSpPr>
          <p:cNvPr id="17" name="Shape 15"/>
          <p:cNvSpPr/>
          <p:nvPr/>
        </p:nvSpPr>
        <p:spPr>
          <a:xfrm>
            <a:off x="548640" y="3279648"/>
            <a:ext cx="2581580" cy="1213104"/>
          </a:xfrm>
          <a:prstGeom prst="roundRect">
            <a:avLst>
              <a:gd name="adj" fmla="val 4523"/>
            </a:avLst>
          </a:prstGeom>
          <a:solidFill>
            <a:srgbClr val="EAF3EC"/>
          </a:solidFill>
          <a:ln w="25400">
            <a:solidFill>
              <a:srgbClr val="3E9E68"/>
            </a:solidFill>
            <a:prstDash val="solid"/>
          </a:ln>
          <a:effectLst>
            <a:outerShdw blurRad="88900" dist="38100" dir="5400000" algn="bl" rotWithShape="0">
              <a:srgbClr val="000000">
                <a:alpha val="10000"/>
              </a:srgbClr>
            </a:outerShdw>
          </a:effectLst>
        </p:spPr>
        <p:txBody>
          <a:bodyPr/>
          <a:lstStyle/>
          <a:p>
            <a:endParaRPr lang="en-US"/>
          </a:p>
        </p:txBody>
      </p:sp>
      <p:sp>
        <p:nvSpPr>
          <p:cNvPr id="18" name="Text 16"/>
          <p:cNvSpPr/>
          <p:nvPr/>
        </p:nvSpPr>
        <p:spPr>
          <a:xfrm>
            <a:off x="713232" y="3425952"/>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Derived Data &amp; Metrics</a:t>
            </a:r>
            <a:endParaRPr lang="en-US" sz="1300" dirty="0"/>
          </a:p>
        </p:txBody>
      </p:sp>
      <p:sp>
        <p:nvSpPr>
          <p:cNvPr id="19" name="Text 17"/>
          <p:cNvSpPr/>
          <p:nvPr/>
        </p:nvSpPr>
        <p:spPr>
          <a:xfrm>
            <a:off x="713232" y="3828288"/>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VaR · xVA · Valuations · Collateral · PnL · Cash Flows</a:t>
            </a:r>
            <a:endParaRPr lang="en-US" sz="950" dirty="0"/>
          </a:p>
        </p:txBody>
      </p:sp>
      <p:sp>
        <p:nvSpPr>
          <p:cNvPr id="20" name="Text 18"/>
          <p:cNvSpPr/>
          <p:nvPr/>
        </p:nvSpPr>
        <p:spPr>
          <a:xfrm>
            <a:off x="2288972" y="3444240"/>
            <a:ext cx="676656" cy="219456"/>
          </a:xfrm>
          <a:prstGeom prst="rect">
            <a:avLst/>
          </a:prstGeom>
          <a:noFill/>
          <a:ln/>
        </p:spPr>
        <p:txBody>
          <a:bodyPr wrap="square" lIns="0" tIns="0" rIns="0" bIns="0" rtlCol="0" anchor="ctr"/>
          <a:lstStyle/>
          <a:p>
            <a:pPr marL="0" indent="0" algn="r">
              <a:buNone/>
            </a:pPr>
            <a:r>
              <a:rPr lang="en-US" sz="800" b="1" kern="0" spc="100" dirty="0">
                <a:solidFill>
                  <a:srgbClr val="1F7A47"/>
                </a:solidFill>
                <a:latin typeface="Calibri" pitchFamily="34" charset="0"/>
                <a:ea typeface="Calibri" pitchFamily="34" charset="-122"/>
                <a:cs typeface="Calibri" pitchFamily="34" charset="-120"/>
              </a:rPr>
              <a:t>RISK</a:t>
            </a:r>
            <a:endParaRPr lang="en-US" sz="800" dirty="0"/>
          </a:p>
        </p:txBody>
      </p:sp>
      <p:sp>
        <p:nvSpPr>
          <p:cNvPr id="21" name="Shape 19"/>
          <p:cNvSpPr/>
          <p:nvPr/>
        </p:nvSpPr>
        <p:spPr>
          <a:xfrm>
            <a:off x="3386252" y="3279648"/>
            <a:ext cx="2581580" cy="1213104"/>
          </a:xfrm>
          <a:prstGeom prst="roundRect">
            <a:avLst>
              <a:gd name="adj" fmla="val 4523"/>
            </a:avLst>
          </a:prstGeom>
          <a:solidFill>
            <a:srgbClr val="F5F7F5"/>
          </a:solidFill>
          <a:ln w="12700">
            <a:solidFill>
              <a:srgbClr val="D8E0DA"/>
            </a:solidFill>
            <a:prstDash val="solid"/>
          </a:ln>
          <a:effectLst>
            <a:outerShdw blurRad="88900" dist="38100" dir="5400000" algn="bl" rotWithShape="0">
              <a:srgbClr val="000000">
                <a:alpha val="10000"/>
              </a:srgbClr>
            </a:outerShdw>
          </a:effectLst>
        </p:spPr>
        <p:txBody>
          <a:bodyPr/>
          <a:lstStyle/>
          <a:p>
            <a:endParaRPr lang="en-US"/>
          </a:p>
        </p:txBody>
      </p:sp>
      <p:sp>
        <p:nvSpPr>
          <p:cNvPr id="22" name="Text 20"/>
          <p:cNvSpPr/>
          <p:nvPr/>
        </p:nvSpPr>
        <p:spPr>
          <a:xfrm>
            <a:off x="3550844" y="3425952"/>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Transactions</a:t>
            </a:r>
            <a:endParaRPr lang="en-US" sz="1300" dirty="0"/>
          </a:p>
        </p:txBody>
      </p:sp>
      <p:sp>
        <p:nvSpPr>
          <p:cNvPr id="23" name="Text 21"/>
          <p:cNvSpPr/>
          <p:nvPr/>
        </p:nvSpPr>
        <p:spPr>
          <a:xfrm>
            <a:off x="3550844" y="3828288"/>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Margin · Deals · Fees · Loans · Deposits</a:t>
            </a:r>
            <a:endParaRPr lang="en-US" sz="950" dirty="0"/>
          </a:p>
        </p:txBody>
      </p:sp>
      <p:sp>
        <p:nvSpPr>
          <p:cNvPr id="24" name="Shape 22"/>
          <p:cNvSpPr/>
          <p:nvPr/>
        </p:nvSpPr>
        <p:spPr>
          <a:xfrm>
            <a:off x="6223864" y="3279648"/>
            <a:ext cx="2581580" cy="1213104"/>
          </a:xfrm>
          <a:prstGeom prst="roundRect">
            <a:avLst>
              <a:gd name="adj" fmla="val 4523"/>
            </a:avLst>
          </a:prstGeom>
          <a:solidFill>
            <a:srgbClr val="F0ECF3"/>
          </a:solidFill>
          <a:ln w="12700">
            <a:solidFill>
              <a:srgbClr val="D6CBE0"/>
            </a:solidFill>
            <a:prstDash val="solid"/>
          </a:ln>
          <a:effectLst>
            <a:outerShdw blurRad="88900" dist="38100" dir="5400000" algn="bl" rotWithShape="0">
              <a:srgbClr val="000000">
                <a:alpha val="10000"/>
              </a:srgbClr>
            </a:outerShdw>
          </a:effectLst>
        </p:spPr>
        <p:txBody>
          <a:bodyPr/>
          <a:lstStyle/>
          <a:p>
            <a:endParaRPr lang="en-US"/>
          </a:p>
        </p:txBody>
      </p:sp>
      <p:sp>
        <p:nvSpPr>
          <p:cNvPr id="25" name="Text 23"/>
          <p:cNvSpPr/>
          <p:nvPr/>
        </p:nvSpPr>
        <p:spPr>
          <a:xfrm>
            <a:off x="6388456" y="3425952"/>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GL</a:t>
            </a:r>
            <a:endParaRPr lang="en-US" sz="1300" dirty="0"/>
          </a:p>
        </p:txBody>
      </p:sp>
      <p:sp>
        <p:nvSpPr>
          <p:cNvPr id="26" name="Text 24"/>
          <p:cNvSpPr/>
          <p:nvPr/>
        </p:nvSpPr>
        <p:spPr>
          <a:xfrm>
            <a:off x="6388456" y="3828288"/>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NOSTRO / VOSTRO</a:t>
            </a:r>
            <a:endParaRPr lang="en-US" sz="950" dirty="0"/>
          </a:p>
        </p:txBody>
      </p:sp>
      <p:sp>
        <p:nvSpPr>
          <p:cNvPr id="27" name="Shape 25"/>
          <p:cNvSpPr/>
          <p:nvPr/>
        </p:nvSpPr>
        <p:spPr>
          <a:xfrm>
            <a:off x="9061475" y="3279648"/>
            <a:ext cx="2581580" cy="1213104"/>
          </a:xfrm>
          <a:prstGeom prst="roundRect">
            <a:avLst>
              <a:gd name="adj" fmla="val 4523"/>
            </a:avLst>
          </a:prstGeom>
          <a:solidFill>
            <a:srgbClr val="EAF0EC"/>
          </a:solidFill>
          <a:ln w="12700">
            <a:solidFill>
              <a:srgbClr val="C4D2C8"/>
            </a:solidFill>
            <a:prstDash val="solid"/>
          </a:ln>
          <a:effectLst>
            <a:outerShdw blurRad="88900" dist="38100" dir="5400000" algn="bl" rotWithShape="0">
              <a:srgbClr val="000000">
                <a:alpha val="10000"/>
              </a:srgbClr>
            </a:outerShdw>
          </a:effectLst>
        </p:spPr>
        <p:txBody>
          <a:bodyPr/>
          <a:lstStyle/>
          <a:p>
            <a:endParaRPr lang="en-US"/>
          </a:p>
        </p:txBody>
      </p:sp>
      <p:sp>
        <p:nvSpPr>
          <p:cNvPr id="28" name="Text 26"/>
          <p:cNvSpPr/>
          <p:nvPr/>
        </p:nvSpPr>
        <p:spPr>
          <a:xfrm>
            <a:off x="9226067" y="3425952"/>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Reference &amp; Master</a:t>
            </a:r>
            <a:endParaRPr lang="en-US" sz="1300" dirty="0"/>
          </a:p>
        </p:txBody>
      </p:sp>
      <p:sp>
        <p:nvSpPr>
          <p:cNvPr id="29" name="Text 27"/>
          <p:cNvSpPr/>
          <p:nvPr/>
        </p:nvSpPr>
        <p:spPr>
          <a:xfrm>
            <a:off x="9226067" y="3828288"/>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Party · Account · Facilities · Trading Agreements</a:t>
            </a:r>
            <a:endParaRPr lang="en-US" sz="950" dirty="0"/>
          </a:p>
        </p:txBody>
      </p:sp>
      <p:sp>
        <p:nvSpPr>
          <p:cNvPr id="30" name="Shape 28"/>
          <p:cNvSpPr/>
          <p:nvPr/>
        </p:nvSpPr>
        <p:spPr>
          <a:xfrm>
            <a:off x="548640" y="4730496"/>
            <a:ext cx="2581580" cy="1213104"/>
          </a:xfrm>
          <a:prstGeom prst="roundRect">
            <a:avLst>
              <a:gd name="adj" fmla="val 4523"/>
            </a:avLst>
          </a:prstGeom>
          <a:solidFill>
            <a:srgbClr val="EAF0EC"/>
          </a:solidFill>
          <a:ln w="12700">
            <a:solidFill>
              <a:srgbClr val="C4D2C8"/>
            </a:solidFill>
            <a:prstDash val="solid"/>
          </a:ln>
          <a:effectLst>
            <a:outerShdw blurRad="88900" dist="38100" dir="5400000" algn="bl" rotWithShape="0">
              <a:srgbClr val="000000">
                <a:alpha val="10000"/>
              </a:srgbClr>
            </a:outerShdw>
          </a:effectLst>
        </p:spPr>
        <p:txBody>
          <a:bodyPr/>
          <a:lstStyle/>
          <a:p>
            <a:endParaRPr lang="en-US"/>
          </a:p>
        </p:txBody>
      </p:sp>
      <p:sp>
        <p:nvSpPr>
          <p:cNvPr id="31" name="Text 29"/>
          <p:cNvSpPr/>
          <p:nvPr/>
        </p:nvSpPr>
        <p:spPr>
          <a:xfrm>
            <a:off x="713232" y="4876800"/>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Product / Instrument</a:t>
            </a:r>
            <a:endParaRPr lang="en-US" sz="1300" dirty="0"/>
          </a:p>
        </p:txBody>
      </p:sp>
      <p:sp>
        <p:nvSpPr>
          <p:cNvPr id="32" name="Text 30"/>
          <p:cNvSpPr/>
          <p:nvPr/>
        </p:nvSpPr>
        <p:spPr>
          <a:xfrm>
            <a:off x="713232" y="5279136"/>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Product · Instruments · Basket Comp.</a:t>
            </a:r>
            <a:endParaRPr lang="en-US" sz="950" dirty="0"/>
          </a:p>
        </p:txBody>
      </p:sp>
      <p:sp>
        <p:nvSpPr>
          <p:cNvPr id="33" name="Shape 31"/>
          <p:cNvSpPr/>
          <p:nvPr/>
        </p:nvSpPr>
        <p:spPr>
          <a:xfrm>
            <a:off x="3386252" y="4730496"/>
            <a:ext cx="2581580" cy="1213104"/>
          </a:xfrm>
          <a:prstGeom prst="roundRect">
            <a:avLst>
              <a:gd name="adj" fmla="val 4523"/>
            </a:avLst>
          </a:prstGeom>
          <a:solidFill>
            <a:srgbClr val="EDF1F3"/>
          </a:solidFill>
          <a:ln w="12700">
            <a:solidFill>
              <a:srgbClr val="D3DCE0"/>
            </a:solidFill>
            <a:prstDash val="solid"/>
          </a:ln>
          <a:effectLst>
            <a:outerShdw blurRad="88900" dist="38100" dir="5400000" algn="bl" rotWithShape="0">
              <a:srgbClr val="000000">
                <a:alpha val="10000"/>
              </a:srgbClr>
            </a:outerShdw>
          </a:effectLst>
        </p:spPr>
        <p:txBody>
          <a:bodyPr/>
          <a:lstStyle/>
          <a:p>
            <a:endParaRPr lang="en-US"/>
          </a:p>
        </p:txBody>
      </p:sp>
      <p:sp>
        <p:nvSpPr>
          <p:cNvPr id="34" name="Text 32"/>
          <p:cNvSpPr/>
          <p:nvPr/>
        </p:nvSpPr>
        <p:spPr>
          <a:xfrm>
            <a:off x="3550844" y="4876800"/>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3rd Party Market Data</a:t>
            </a:r>
            <a:endParaRPr lang="en-US" sz="1300" dirty="0"/>
          </a:p>
        </p:txBody>
      </p:sp>
      <p:sp>
        <p:nvSpPr>
          <p:cNvPr id="35" name="Text 33"/>
          <p:cNvSpPr/>
          <p:nvPr/>
        </p:nvSpPr>
        <p:spPr>
          <a:xfrm>
            <a:off x="3550844" y="5279136"/>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Pricing · Corporate Actions · Other</a:t>
            </a:r>
            <a:endParaRPr lang="en-US" sz="950" dirty="0"/>
          </a:p>
        </p:txBody>
      </p:sp>
      <p:sp>
        <p:nvSpPr>
          <p:cNvPr id="36" name="Shape 34"/>
          <p:cNvSpPr/>
          <p:nvPr/>
        </p:nvSpPr>
        <p:spPr>
          <a:xfrm>
            <a:off x="6223864" y="4730496"/>
            <a:ext cx="2581580" cy="1213104"/>
          </a:xfrm>
          <a:prstGeom prst="roundRect">
            <a:avLst>
              <a:gd name="adj" fmla="val 4523"/>
            </a:avLst>
          </a:prstGeom>
          <a:solidFill>
            <a:srgbClr val="EDF1F3"/>
          </a:solidFill>
          <a:ln w="12700">
            <a:solidFill>
              <a:srgbClr val="D3DCE0"/>
            </a:solidFill>
            <a:prstDash val="solid"/>
          </a:ln>
          <a:effectLst>
            <a:outerShdw blurRad="88900" dist="38100" dir="5400000" algn="bl" rotWithShape="0">
              <a:srgbClr val="000000">
                <a:alpha val="10000"/>
              </a:srgbClr>
            </a:outerShdw>
          </a:effectLst>
        </p:spPr>
        <p:txBody>
          <a:bodyPr/>
          <a:lstStyle/>
          <a:p>
            <a:endParaRPr lang="en-US"/>
          </a:p>
        </p:txBody>
      </p:sp>
      <p:sp>
        <p:nvSpPr>
          <p:cNvPr id="37" name="Text 35"/>
          <p:cNvSpPr/>
          <p:nvPr/>
        </p:nvSpPr>
        <p:spPr>
          <a:xfrm>
            <a:off x="6388456" y="4876800"/>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Internal Pricing Data</a:t>
            </a:r>
            <a:endParaRPr lang="en-US" sz="1300" dirty="0"/>
          </a:p>
        </p:txBody>
      </p:sp>
      <p:sp>
        <p:nvSpPr>
          <p:cNvPr id="38" name="Text 36"/>
          <p:cNvSpPr/>
          <p:nvPr/>
        </p:nvSpPr>
        <p:spPr>
          <a:xfrm>
            <a:off x="6388456" y="5279136"/>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Pricing · Other Internal Data</a:t>
            </a:r>
            <a:endParaRPr lang="en-US" sz="950" dirty="0"/>
          </a:p>
        </p:txBody>
      </p:sp>
      <p:sp>
        <p:nvSpPr>
          <p:cNvPr id="39" name="Shape 37"/>
          <p:cNvSpPr/>
          <p:nvPr/>
        </p:nvSpPr>
        <p:spPr>
          <a:xfrm>
            <a:off x="9061475" y="4730496"/>
            <a:ext cx="2581580" cy="1213104"/>
          </a:xfrm>
          <a:prstGeom prst="roundRect">
            <a:avLst>
              <a:gd name="adj" fmla="val 4523"/>
            </a:avLst>
          </a:prstGeom>
          <a:solidFill>
            <a:srgbClr val="EAF0EC"/>
          </a:solidFill>
          <a:ln w="12700">
            <a:solidFill>
              <a:srgbClr val="C4D2C8"/>
            </a:solidFill>
            <a:prstDash val="solid"/>
          </a:ln>
          <a:effectLst>
            <a:outerShdw blurRad="88900" dist="38100" dir="5400000" algn="bl" rotWithShape="0">
              <a:srgbClr val="000000">
                <a:alpha val="10000"/>
              </a:srgbClr>
            </a:outerShdw>
          </a:effectLst>
        </p:spPr>
        <p:txBody>
          <a:bodyPr/>
          <a:lstStyle/>
          <a:p>
            <a:endParaRPr lang="en-US"/>
          </a:p>
        </p:txBody>
      </p:sp>
      <p:sp>
        <p:nvSpPr>
          <p:cNvPr id="40" name="Text 38"/>
          <p:cNvSpPr/>
          <p:nvPr/>
        </p:nvSpPr>
        <p:spPr>
          <a:xfrm>
            <a:off x="9226067" y="4876800"/>
            <a:ext cx="2252396" cy="365760"/>
          </a:xfrm>
          <a:prstGeom prst="rect">
            <a:avLst/>
          </a:prstGeom>
          <a:noFill/>
          <a:ln/>
        </p:spPr>
        <p:txBody>
          <a:bodyPr wrap="square" lIns="0" tIns="0" rIns="0" bIns="0" rtlCol="0" anchor="ctr"/>
          <a:lstStyle/>
          <a:p>
            <a:pPr marL="0" indent="0">
              <a:buNone/>
            </a:pPr>
            <a:r>
              <a:rPr lang="en-US" sz="1300" b="1" dirty="0">
                <a:solidFill>
                  <a:srgbClr val="0E3D29"/>
                </a:solidFill>
                <a:latin typeface="Calibri" pitchFamily="34" charset="0"/>
                <a:ea typeface="Calibri" pitchFamily="34" charset="-122"/>
                <a:cs typeface="Calibri" pitchFamily="34" charset="-120"/>
              </a:rPr>
              <a:t>Research</a:t>
            </a:r>
            <a:endParaRPr lang="en-US" sz="1300" dirty="0"/>
          </a:p>
        </p:txBody>
      </p:sp>
      <p:sp>
        <p:nvSpPr>
          <p:cNvPr id="41" name="Text 39"/>
          <p:cNvSpPr/>
          <p:nvPr/>
        </p:nvSpPr>
        <p:spPr>
          <a:xfrm>
            <a:off x="9226067" y="5279136"/>
            <a:ext cx="2252396" cy="554736"/>
          </a:xfrm>
          <a:prstGeom prst="rect">
            <a:avLst/>
          </a:prstGeom>
          <a:noFill/>
          <a:ln/>
        </p:spPr>
        <p:txBody>
          <a:bodyPr wrap="square" lIns="0" tIns="0" rIns="0" bIns="0" rtlCol="0" anchor="t"/>
          <a:lstStyle/>
          <a:p>
            <a:pPr marL="0" indent="0">
              <a:lnSpc>
                <a:spcPct val="104000"/>
              </a:lnSpc>
              <a:buNone/>
            </a:pPr>
            <a:r>
              <a:rPr lang="en-US" sz="950" dirty="0">
                <a:solidFill>
                  <a:srgbClr val="262B27"/>
                </a:solidFill>
                <a:latin typeface="Calibri" pitchFamily="34" charset="0"/>
                <a:ea typeface="Calibri" pitchFamily="34" charset="-122"/>
                <a:cs typeface="Calibri" pitchFamily="34" charset="-120"/>
              </a:rPr>
              <a:t>Research</a:t>
            </a:r>
            <a:endParaRPr lang="en-US" sz="950" dirty="0"/>
          </a:p>
        </p:txBody>
      </p:sp>
      <p:sp>
        <p:nvSpPr>
          <p:cNvPr id="42" name="Shape 40"/>
          <p:cNvSpPr/>
          <p:nvPr/>
        </p:nvSpPr>
        <p:spPr>
          <a:xfrm>
            <a:off x="548640" y="6236208"/>
            <a:ext cx="182880" cy="182880"/>
          </a:xfrm>
          <a:prstGeom prst="rect">
            <a:avLst/>
          </a:prstGeom>
          <a:solidFill>
            <a:srgbClr val="EAF3EC"/>
          </a:solidFill>
          <a:ln w="12700">
            <a:solidFill>
              <a:srgbClr val="3E9E68"/>
            </a:solidFill>
            <a:prstDash val="solid"/>
          </a:ln>
        </p:spPr>
        <p:txBody>
          <a:bodyPr/>
          <a:lstStyle/>
          <a:p>
            <a:endParaRPr lang="en-US"/>
          </a:p>
        </p:txBody>
      </p:sp>
      <p:sp>
        <p:nvSpPr>
          <p:cNvPr id="43" name="Text 41"/>
          <p:cNvSpPr/>
          <p:nvPr/>
        </p:nvSpPr>
        <p:spPr>
          <a:xfrm>
            <a:off x="786384" y="6199632"/>
            <a:ext cx="1371600" cy="256032"/>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Risk</a:t>
            </a:r>
            <a:endParaRPr lang="en-US" sz="900" dirty="0"/>
          </a:p>
        </p:txBody>
      </p:sp>
      <p:sp>
        <p:nvSpPr>
          <p:cNvPr id="44" name="Shape 42"/>
          <p:cNvSpPr/>
          <p:nvPr/>
        </p:nvSpPr>
        <p:spPr>
          <a:xfrm>
            <a:off x="1609344" y="6236208"/>
            <a:ext cx="182880" cy="182880"/>
          </a:xfrm>
          <a:prstGeom prst="rect">
            <a:avLst/>
          </a:prstGeom>
          <a:solidFill>
            <a:srgbClr val="EAF0EC"/>
          </a:solidFill>
          <a:ln w="12700">
            <a:solidFill>
              <a:srgbClr val="C4D2C8"/>
            </a:solidFill>
            <a:prstDash val="solid"/>
          </a:ln>
        </p:spPr>
        <p:txBody>
          <a:bodyPr/>
          <a:lstStyle/>
          <a:p>
            <a:endParaRPr lang="en-US"/>
          </a:p>
        </p:txBody>
      </p:sp>
      <p:sp>
        <p:nvSpPr>
          <p:cNvPr id="45" name="Text 43"/>
          <p:cNvSpPr/>
          <p:nvPr/>
        </p:nvSpPr>
        <p:spPr>
          <a:xfrm>
            <a:off x="1847088" y="6199632"/>
            <a:ext cx="1371600" cy="256032"/>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Reference</a:t>
            </a:r>
            <a:endParaRPr lang="en-US" sz="900" dirty="0"/>
          </a:p>
        </p:txBody>
      </p:sp>
      <p:sp>
        <p:nvSpPr>
          <p:cNvPr id="46" name="Shape 44"/>
          <p:cNvSpPr/>
          <p:nvPr/>
        </p:nvSpPr>
        <p:spPr>
          <a:xfrm>
            <a:off x="3012948" y="6236208"/>
            <a:ext cx="182880" cy="182880"/>
          </a:xfrm>
          <a:prstGeom prst="rect">
            <a:avLst/>
          </a:prstGeom>
          <a:solidFill>
            <a:srgbClr val="EDF1F3"/>
          </a:solidFill>
          <a:ln w="12700">
            <a:solidFill>
              <a:srgbClr val="D3DCE0"/>
            </a:solidFill>
            <a:prstDash val="solid"/>
          </a:ln>
        </p:spPr>
        <p:txBody>
          <a:bodyPr/>
          <a:lstStyle/>
          <a:p>
            <a:endParaRPr lang="en-US"/>
          </a:p>
        </p:txBody>
      </p:sp>
      <p:sp>
        <p:nvSpPr>
          <p:cNvPr id="47" name="Text 45"/>
          <p:cNvSpPr/>
          <p:nvPr/>
        </p:nvSpPr>
        <p:spPr>
          <a:xfrm>
            <a:off x="3250692" y="6199632"/>
            <a:ext cx="1371600" cy="256032"/>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Market</a:t>
            </a:r>
            <a:endParaRPr lang="en-US" sz="900" dirty="0"/>
          </a:p>
        </p:txBody>
      </p:sp>
      <p:sp>
        <p:nvSpPr>
          <p:cNvPr id="48" name="Shape 46"/>
          <p:cNvSpPr/>
          <p:nvPr/>
        </p:nvSpPr>
        <p:spPr>
          <a:xfrm>
            <a:off x="4210812" y="6236208"/>
            <a:ext cx="182880" cy="182880"/>
          </a:xfrm>
          <a:prstGeom prst="rect">
            <a:avLst/>
          </a:prstGeom>
          <a:solidFill>
            <a:srgbClr val="F0ECF3"/>
          </a:solidFill>
          <a:ln w="12700">
            <a:solidFill>
              <a:srgbClr val="D6CBE0"/>
            </a:solidFill>
            <a:prstDash val="solid"/>
          </a:ln>
        </p:spPr>
        <p:txBody>
          <a:bodyPr/>
          <a:lstStyle/>
          <a:p>
            <a:endParaRPr lang="en-US"/>
          </a:p>
        </p:txBody>
      </p:sp>
      <p:sp>
        <p:nvSpPr>
          <p:cNvPr id="49" name="Text 47"/>
          <p:cNvSpPr/>
          <p:nvPr/>
        </p:nvSpPr>
        <p:spPr>
          <a:xfrm>
            <a:off x="4448556" y="6199632"/>
            <a:ext cx="1371600" cy="256032"/>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Finance / GL</a:t>
            </a:r>
            <a:endParaRPr lang="en-US" sz="900" dirty="0"/>
          </a:p>
        </p:txBody>
      </p:sp>
      <p:sp>
        <p:nvSpPr>
          <p:cNvPr id="50" name="Shape 48"/>
          <p:cNvSpPr/>
          <p:nvPr/>
        </p:nvSpPr>
        <p:spPr>
          <a:xfrm>
            <a:off x="5820156" y="6236208"/>
            <a:ext cx="182880" cy="182880"/>
          </a:xfrm>
          <a:prstGeom prst="rect">
            <a:avLst/>
          </a:prstGeom>
          <a:solidFill>
            <a:srgbClr val="F5F7F5"/>
          </a:solidFill>
          <a:ln w="12700">
            <a:solidFill>
              <a:srgbClr val="D8E0DA"/>
            </a:solidFill>
            <a:prstDash val="solid"/>
          </a:ln>
        </p:spPr>
        <p:txBody>
          <a:bodyPr/>
          <a:lstStyle/>
          <a:p>
            <a:endParaRPr lang="en-US"/>
          </a:p>
        </p:txBody>
      </p:sp>
      <p:sp>
        <p:nvSpPr>
          <p:cNvPr id="51" name="Text 49"/>
          <p:cNvSpPr/>
          <p:nvPr/>
        </p:nvSpPr>
        <p:spPr>
          <a:xfrm>
            <a:off x="6057900" y="6199632"/>
            <a:ext cx="1371600" cy="256032"/>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Transactional</a:t>
            </a:r>
            <a:endParaRPr lang="en-US" sz="900" dirty="0"/>
          </a:p>
        </p:txBody>
      </p:sp>
      <p:sp>
        <p:nvSpPr>
          <p:cNvPr id="52" name="Text 5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53" name="Text 51"/>
          <p:cNvSpPr/>
          <p:nvPr/>
        </p:nvSpPr>
        <p:spPr>
          <a:xfrm>
            <a:off x="9357055" y="6473952"/>
            <a:ext cx="146304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a:t>
            </a:r>
            <a:endParaRPr lang="en-US" sz="900" dirty="0"/>
          </a:p>
        </p:txBody>
      </p:sp>
      <p:sp>
        <p:nvSpPr>
          <p:cNvPr id="54" name="Text 52"/>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A1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lIns="0" tIns="0" rIns="0" bIns="0" rtlCol="0" anchor="ctr"/>
          <a:lstStyle/>
          <a:p>
            <a:pPr marL="0" indent="0">
              <a:buNone/>
            </a:pPr>
            <a:r>
              <a:rPr lang="en-US" sz="1100" b="1" kern="0" spc="300" dirty="0">
                <a:solidFill>
                  <a:srgbClr val="9C6B16"/>
                </a:solidFill>
                <a:latin typeface="Calibri" pitchFamily="34" charset="0"/>
                <a:ea typeface="Calibri" pitchFamily="34" charset="-122"/>
                <a:cs typeface="Calibri" pitchFamily="34" charset="-120"/>
              </a:rPr>
              <a:t>APPENDIX  ·  A2</a:t>
            </a:r>
            <a:endParaRPr lang="en-US" sz="1100" dirty="0"/>
          </a:p>
        </p:txBody>
      </p:sp>
      <p:sp>
        <p:nvSpPr>
          <p:cNvPr id="3" name="Text 1"/>
          <p:cNvSpPr/>
          <p:nvPr/>
        </p:nvSpPr>
        <p:spPr>
          <a:xfrm>
            <a:off x="548640" y="640080"/>
            <a:ext cx="11094415" cy="548640"/>
          </a:xfrm>
          <a:prstGeom prst="rect">
            <a:avLst/>
          </a:prstGeom>
          <a:noFill/>
          <a:ln/>
        </p:spPr>
        <p:txBody>
          <a:bodyPr wrap="square" lIns="0" tIns="0" rIns="0" bIns="0" rtlCol="0" anchor="ctr"/>
          <a:lstStyle/>
          <a:p>
            <a:pPr marL="0" indent="0">
              <a:buNone/>
            </a:pPr>
            <a:r>
              <a:rPr lang="en-US" sz="2600" b="1" dirty="0">
                <a:solidFill>
                  <a:srgbClr val="0E3D29"/>
                </a:solidFill>
                <a:latin typeface="Calibri" pitchFamily="34" charset="0"/>
                <a:ea typeface="Calibri" pitchFamily="34" charset="-122"/>
                <a:cs typeface="Calibri" pitchFamily="34" charset="-120"/>
              </a:rPr>
              <a:t>Databricks Governance Control — Who Owns What</a:t>
            </a:r>
            <a:endParaRPr lang="en-US" sz="2600" dirty="0"/>
          </a:p>
        </p:txBody>
      </p:sp>
      <p:sp>
        <p:nvSpPr>
          <p:cNvPr id="4" name="Text 2"/>
          <p:cNvSpPr/>
          <p:nvPr/>
        </p:nvSpPr>
        <p:spPr>
          <a:xfrm>
            <a:off x="548640" y="1280160"/>
            <a:ext cx="11094415" cy="365760"/>
          </a:xfrm>
          <a:prstGeom prst="rect">
            <a:avLst/>
          </a:prstGeom>
          <a:noFill/>
          <a:ln/>
        </p:spPr>
        <p:txBody>
          <a:bodyPr wrap="square" lIns="0" tIns="0" rIns="0" bIns="0" rtlCol="0" anchor="ctr"/>
          <a:lstStyle/>
          <a:p>
            <a:pPr marL="0" indent="0">
              <a:buNone/>
            </a:pPr>
            <a:r>
              <a:rPr lang="en-US" sz="1250" dirty="0">
                <a:solidFill>
                  <a:srgbClr val="262B27"/>
                </a:solidFill>
                <a:latin typeface="Calibri" pitchFamily="34" charset="0"/>
                <a:ea typeface="Calibri" pitchFamily="34" charset="-122"/>
                <a:cs typeface="Calibri" pitchFamily="34" charset="-120"/>
              </a:rPr>
              <a:t>Control sits largely with the platform team (amber). Risk's control begins inside the schema (green). This is the detail behind the constraints.</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069080"/>
        </p:xfrm>
        <a:graphic>
          <a:graphicData uri="http://schemas.openxmlformats.org/drawingml/2006/table">
            <a:tbl>
              <a:tblPr/>
              <a:tblGrid>
                <a:gridCol w="32918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130552">
                  <a:extLst>
                    <a:ext uri="{9D8B030D-6E8A-4147-A177-3AD203B41FA5}">
                      <a16:colId xmlns:a16="http://schemas.microsoft.com/office/drawing/2014/main" val="20004"/>
                    </a:ext>
                  </a:extLst>
                </a:gridCol>
              </a:tblGrid>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Control area</a:t>
                      </a:r>
                      <a:endParaRPr lang="en-US" sz="110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0E3D2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Cloud Ops</a:t>
                      </a:r>
                      <a:endParaRPr lang="en-US" sz="110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0E3D2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TDVIP</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(Workspace)</a:t>
                      </a:r>
                      <a:endParaRPr lang="en-US" sz="110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0E3D2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Catalog</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0E3D2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Schema</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Owner (App / Risk)</a:t>
                      </a:r>
                      <a:endParaRPr lang="en-US" sz="110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0E3D29"/>
                    </a:solidFill>
                  </a:tcPr>
                </a:tc>
                <a:extLst>
                  <a:ext uri="{0D108BD9-81ED-4DB2-BD59-A6C34878D82A}">
                    <a16:rowId xmlns:a16="http://schemas.microsoft.com/office/drawing/2014/main" val="10000"/>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Workspace / Network / Storage</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b="1" dirty="0">
                          <a:solidFill>
                            <a:srgbClr val="9C6B16"/>
                          </a:solidFill>
                          <a:latin typeface="Calibri" pitchFamily="34" charset="0"/>
                          <a:ea typeface="Calibri" pitchFamily="34" charset="-122"/>
                          <a:cs typeface="Calibri" pitchFamily="34" charset="-120"/>
                        </a:rPr>
                        <a:t>Provisions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6EFE0"/>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Requests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Unity Catalog binding</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9C6B16"/>
                          </a:solidFill>
                          <a:latin typeface="Calibri" pitchFamily="34" charset="0"/>
                          <a:ea typeface="Calibri" pitchFamily="34" charset="-122"/>
                          <a:cs typeface="Calibri" pitchFamily="34" charset="-120"/>
                        </a:rPr>
                        <a:t>Configures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6EFE0"/>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SQL Warehouse</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9C6B16"/>
                          </a:solidFill>
                          <a:latin typeface="Calibri" pitchFamily="34" charset="0"/>
                          <a:ea typeface="Calibri" pitchFamily="34" charset="-122"/>
                          <a:cs typeface="Calibri" pitchFamily="34" charset="-120"/>
                        </a:rPr>
                        <a:t>Provisions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6EFE0"/>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Uses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Catalog creation</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9C6B16"/>
                          </a:solidFill>
                          <a:latin typeface="Calibri" pitchFamily="34" charset="0"/>
                          <a:ea typeface="Calibri" pitchFamily="34" charset="-122"/>
                          <a:cs typeface="Calibri" pitchFamily="34" charset="-120"/>
                        </a:rPr>
                        <a:t>Creates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6EFE0"/>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Schema creation</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9C6B16"/>
                          </a:solidFill>
                          <a:latin typeface="Calibri" pitchFamily="34" charset="0"/>
                          <a:ea typeface="Calibri" pitchFamily="34" charset="-122"/>
                          <a:cs typeface="Calibri" pitchFamily="34" charset="-120"/>
                        </a:rPr>
                        <a:t>Creates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6EFE0"/>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Provides names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Schema properties / tags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9C6B16"/>
                          </a:solidFill>
                          <a:latin typeface="Calibri" pitchFamily="34" charset="0"/>
                          <a:ea typeface="Calibri" pitchFamily="34" charset="-122"/>
                          <a:cs typeface="Calibri" pitchFamily="34" charset="-120"/>
                        </a:rPr>
                        <a:t>Owns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6EFE0"/>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Requests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Cluster policy</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9C6B16"/>
                          </a:solidFill>
                          <a:latin typeface="Calibri" pitchFamily="34" charset="0"/>
                          <a:ea typeface="Calibri" pitchFamily="34" charset="-122"/>
                          <a:cs typeface="Calibri" pitchFamily="34" charset="-120"/>
                        </a:rPr>
                        <a:t>Creates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6EFE0"/>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Must follow</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Cluster · Jobs · Tables · Views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E3D29"/>
                          </a:solidFill>
                          <a:latin typeface="Calibri" pitchFamily="34" charset="0"/>
                          <a:ea typeface="Calibri" pitchFamily="34" charset="-122"/>
                          <a:cs typeface="Calibri" pitchFamily="34" charset="-120"/>
                        </a:rPr>
                        <a:t>Creates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EAF3EC"/>
                    </a:solidFill>
                  </a:tcPr>
                </a:tc>
                <a:extLst>
                  <a:ext uri="{0D108BD9-81ED-4DB2-BD59-A6C34878D82A}">
                    <a16:rowId xmlns:a16="http://schemas.microsoft.com/office/drawing/2014/main" val="10008"/>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Data permissions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E3D29"/>
                          </a:solidFill>
                          <a:latin typeface="Calibri" pitchFamily="34" charset="0"/>
                          <a:ea typeface="Calibri" pitchFamily="34" charset="-122"/>
                          <a:cs typeface="Calibri" pitchFamily="34" charset="-120"/>
                        </a:rPr>
                        <a:t>Cross-schema</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EAF3EC"/>
                    </a:solidFill>
                  </a:tcPr>
                </a:tc>
                <a:tc>
                  <a:txBody>
                    <a:bodyPr/>
                    <a:lstStyle/>
                    <a:p>
                      <a:pPr marL="0" indent="0" algn="ctr">
                        <a:buNone/>
                      </a:pPr>
                      <a:r>
                        <a:rPr lang="en-US" sz="1050" b="1" dirty="0">
                          <a:solidFill>
                            <a:srgbClr val="0E3D29"/>
                          </a:solidFill>
                          <a:latin typeface="Calibri" pitchFamily="34" charset="0"/>
                          <a:ea typeface="Calibri" pitchFamily="34" charset="-122"/>
                          <a:cs typeface="Calibri" pitchFamily="34" charset="-120"/>
                        </a:rPr>
                        <a:t>Own schema</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EAF3EC"/>
                    </a:solidFill>
                  </a:tcPr>
                </a:tc>
                <a:extLst>
                  <a:ext uri="{0D108BD9-81ED-4DB2-BD59-A6C34878D82A}">
                    <a16:rowId xmlns:a16="http://schemas.microsoft.com/office/drawing/2014/main" val="10009"/>
                  </a:ext>
                </a:extLst>
              </a:tr>
              <a:tr h="365760">
                <a:tc>
                  <a:txBody>
                    <a:bodyPr/>
                    <a:lstStyle/>
                    <a:p>
                      <a:pPr marL="0" indent="0">
                        <a:buNone/>
                      </a:pPr>
                      <a:r>
                        <a:rPr lang="en-US" sz="1050" b="1" dirty="0">
                          <a:solidFill>
                            <a:srgbClr val="262B27"/>
                          </a:solidFill>
                          <a:latin typeface="Calibri" pitchFamily="34" charset="0"/>
                          <a:ea typeface="Calibri" pitchFamily="34" charset="-122"/>
                          <a:cs typeface="Calibri" pitchFamily="34" charset="-120"/>
                        </a:rPr>
                        <a:t>Cross-catalog sharing</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5F7F5"/>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E3D29"/>
                          </a:solidFill>
                          <a:latin typeface="Calibri" pitchFamily="34" charset="0"/>
                          <a:ea typeface="Calibri" pitchFamily="34" charset="-122"/>
                          <a:cs typeface="Calibri" pitchFamily="34" charset="-120"/>
                        </a:rPr>
                        <a:t>Approves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EAF3EC"/>
                    </a:solidFill>
                  </a:tcPr>
                </a:tc>
                <a:tc>
                  <a:txBody>
                    <a:bodyPr/>
                    <a:lstStyle/>
                    <a:p>
                      <a:pPr marL="0" indent="0" algn="ctr">
                        <a:buNone/>
                      </a:pPr>
                      <a:r>
                        <a:rPr lang="en-US" sz="1050" dirty="0">
                          <a:solidFill>
                            <a:srgbClr val="6B7670"/>
                          </a:solidFill>
                          <a:latin typeface="Calibri" pitchFamily="34" charset="0"/>
                          <a:ea typeface="Calibri" pitchFamily="34" charset="-122"/>
                          <a:cs typeface="Calibri" pitchFamily="34" charset="-120"/>
                        </a:rPr>
                        <a:t>Requests</a:t>
                      </a:r>
                      <a:endParaRPr lang="en-US" sz="1050" dirty="0">
                        <a:latin typeface="Calibri" charset="0"/>
                        <a:ea typeface="Calibri" charset="0"/>
                        <a:cs typeface="Calibri" charset="0"/>
                      </a:endParaRPr>
                    </a:p>
                  </a:txBody>
                  <a:tcPr marL="38100" marR="38100" marT="38100" marB="38100" anchor="ctr">
                    <a:lnL w="6350" cap="flat" cmpd="sng" algn="ctr">
                      <a:solidFill>
                        <a:srgbClr val="D8E0DA"/>
                      </a:solidFill>
                      <a:prstDash val="solid"/>
                      <a:round/>
                      <a:headEnd type="none" w="med" len="med"/>
                      <a:tailEnd type="none" w="med" len="med"/>
                    </a:lnL>
                    <a:lnR w="6350" cap="flat" cmpd="sng" algn="ctr">
                      <a:solidFill>
                        <a:srgbClr val="D8E0DA"/>
                      </a:solidFill>
                      <a:prstDash val="solid"/>
                      <a:round/>
                      <a:headEnd type="none" w="med" len="med"/>
                      <a:tailEnd type="none" w="med" len="med"/>
                    </a:lnR>
                    <a:lnT w="6350" cap="flat" cmpd="sng" algn="ctr">
                      <a:solidFill>
                        <a:srgbClr val="D8E0DA"/>
                      </a:solidFill>
                      <a:prstDash val="solid"/>
                      <a:round/>
                      <a:headEnd type="none" w="med" len="med"/>
                      <a:tailEnd type="none" w="med" len="med"/>
                    </a:lnT>
                    <a:lnB w="6350" cap="flat" cmpd="sng" algn="ctr">
                      <a:solidFill>
                        <a:srgbClr val="D8E0D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hape 3"/>
          <p:cNvSpPr/>
          <p:nvPr/>
        </p:nvSpPr>
        <p:spPr>
          <a:xfrm>
            <a:off x="548640" y="5934456"/>
            <a:ext cx="182880" cy="182880"/>
          </a:xfrm>
          <a:prstGeom prst="rect">
            <a:avLst/>
          </a:prstGeom>
          <a:solidFill>
            <a:srgbClr val="F6EFE0"/>
          </a:solidFill>
          <a:ln w="12700">
            <a:solidFill>
              <a:srgbClr val="E6D6B5"/>
            </a:solidFill>
            <a:prstDash val="solid"/>
          </a:ln>
        </p:spPr>
        <p:txBody>
          <a:bodyPr/>
          <a:lstStyle/>
          <a:p>
            <a:endParaRPr lang="en-US"/>
          </a:p>
        </p:txBody>
      </p:sp>
      <p:sp>
        <p:nvSpPr>
          <p:cNvPr id="7" name="Text 4"/>
          <p:cNvSpPr/>
          <p:nvPr/>
        </p:nvSpPr>
        <p:spPr>
          <a:xfrm>
            <a:off x="786384" y="5897880"/>
            <a:ext cx="1554480" cy="256032"/>
          </a:xfrm>
          <a:prstGeom prst="rect">
            <a:avLst/>
          </a:prstGeom>
          <a:noFill/>
          <a:ln/>
        </p:spPr>
        <p:txBody>
          <a:bodyPr wrap="square" lIns="0" tIns="0" rIns="0" bIns="0" rtlCol="0" anchor="ctr"/>
          <a:lstStyle/>
          <a:p>
            <a:pPr marL="0" indent="0">
              <a:buNone/>
            </a:pPr>
            <a:r>
              <a:rPr lang="en-US" sz="950" dirty="0">
                <a:solidFill>
                  <a:srgbClr val="6B7670"/>
                </a:solidFill>
                <a:latin typeface="Calibri" pitchFamily="34" charset="0"/>
                <a:ea typeface="Calibri" pitchFamily="34" charset="-122"/>
                <a:cs typeface="Calibri" pitchFamily="34" charset="-120"/>
              </a:rPr>
              <a:t>Platform-owned</a:t>
            </a:r>
            <a:endParaRPr lang="en-US" sz="950" dirty="0"/>
          </a:p>
        </p:txBody>
      </p:sp>
      <p:sp>
        <p:nvSpPr>
          <p:cNvPr id="8" name="Shape 5"/>
          <p:cNvSpPr/>
          <p:nvPr/>
        </p:nvSpPr>
        <p:spPr>
          <a:xfrm>
            <a:off x="2377440" y="5934456"/>
            <a:ext cx="182880" cy="182880"/>
          </a:xfrm>
          <a:prstGeom prst="rect">
            <a:avLst/>
          </a:prstGeom>
          <a:solidFill>
            <a:srgbClr val="EAF3EC"/>
          </a:solidFill>
          <a:ln w="12700">
            <a:solidFill>
              <a:srgbClr val="3E9E68"/>
            </a:solidFill>
            <a:prstDash val="solid"/>
          </a:ln>
        </p:spPr>
        <p:txBody>
          <a:bodyPr/>
          <a:lstStyle/>
          <a:p>
            <a:endParaRPr lang="en-US"/>
          </a:p>
        </p:txBody>
      </p:sp>
      <p:sp>
        <p:nvSpPr>
          <p:cNvPr id="9" name="Text 6"/>
          <p:cNvSpPr/>
          <p:nvPr/>
        </p:nvSpPr>
        <p:spPr>
          <a:xfrm>
            <a:off x="2615184" y="5897880"/>
            <a:ext cx="2743200" cy="256032"/>
          </a:xfrm>
          <a:prstGeom prst="rect">
            <a:avLst/>
          </a:prstGeom>
          <a:noFill/>
          <a:ln/>
        </p:spPr>
        <p:txBody>
          <a:bodyPr wrap="square" lIns="0" tIns="0" rIns="0" bIns="0" rtlCol="0" anchor="ctr"/>
          <a:lstStyle/>
          <a:p>
            <a:pPr marL="0" indent="0">
              <a:buNone/>
            </a:pPr>
            <a:r>
              <a:rPr lang="en-US" sz="950" dirty="0">
                <a:solidFill>
                  <a:srgbClr val="6B7670"/>
                </a:solidFill>
                <a:latin typeface="Calibri" pitchFamily="34" charset="0"/>
                <a:ea typeface="Calibri" pitchFamily="34" charset="-122"/>
                <a:cs typeface="Calibri" pitchFamily="34" charset="-120"/>
              </a:rPr>
              <a:t>Risk-owned (within a schema)</a:t>
            </a:r>
            <a:endParaRPr lang="en-US" sz="950" dirty="0"/>
          </a:p>
        </p:txBody>
      </p:sp>
      <p:sp>
        <p:nvSpPr>
          <p:cNvPr id="5" name="Text 7"/>
          <p:cNvSpPr/>
          <p:nvPr/>
        </p:nvSpPr>
        <p:spPr>
          <a:xfrm>
            <a:off x="5486400" y="5879592"/>
            <a:ext cx="6156655" cy="457200"/>
          </a:xfrm>
          <a:prstGeom prst="rect">
            <a:avLst/>
          </a:prstGeom>
          <a:noFill/>
          <a:ln/>
        </p:spPr>
        <p:txBody>
          <a:bodyPr wrap="square" lIns="0" tIns="0" rIns="0" bIns="0" rtlCol="0" anchor="ctr"/>
          <a:lstStyle/>
          <a:p>
            <a:pPr marL="0" indent="0">
              <a:lnSpc>
                <a:spcPct val="104000"/>
              </a:lnSpc>
              <a:buNone/>
            </a:pPr>
            <a:r>
              <a:rPr lang="en-US" sz="900" i="1" dirty="0">
                <a:solidFill>
                  <a:srgbClr val="6B7670"/>
                </a:solidFill>
                <a:latin typeface="Calibri" pitchFamily="34" charset="0"/>
                <a:ea typeface="Calibri" pitchFamily="34" charset="-122"/>
                <a:cs typeface="Calibri" pitchFamily="34" charset="-120"/>
              </a:rPr>
              <a:t>Industry practice: domain teams are granted schema creation and ownership within central guardrails, so the green boundary sits higher. Granting CREATE SCHEMA / ownership in Unity Catalog moves it there — domain self-service without a product change.</a:t>
            </a:r>
            <a:endParaRPr lang="en-US" sz="900" dirty="0"/>
          </a:p>
        </p:txBody>
      </p:sp>
      <p:sp>
        <p:nvSpPr>
          <p:cNvPr id="11" name="Text 8"/>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12" name="Text 9"/>
          <p:cNvSpPr/>
          <p:nvPr/>
        </p:nvSpPr>
        <p:spPr>
          <a:xfrm>
            <a:off x="9357055" y="6473952"/>
            <a:ext cx="146304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a:t>
            </a:r>
            <a:endParaRPr lang="en-US" sz="900" dirty="0"/>
          </a:p>
        </p:txBody>
      </p:sp>
      <p:sp>
        <p:nvSpPr>
          <p:cNvPr id="13" name="Text 10"/>
          <p:cNvSpPr/>
          <p:nvPr/>
        </p:nvSpPr>
        <p:spPr>
          <a:xfrm>
            <a:off x="10911535" y="6473952"/>
            <a:ext cx="731520" cy="274320"/>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A2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64592"/>
            <a:ext cx="11430000" cy="347472"/>
          </a:xfrm>
          <a:prstGeom prst="rect">
            <a:avLst/>
          </a:prstGeom>
          <a:noFill/>
          <a:ln/>
        </p:spPr>
        <p:txBody>
          <a:bodyPr wrap="square" rtlCol="0" anchor="ctr"/>
          <a:lstStyle/>
          <a:p>
            <a:pPr marL="0" indent="0">
              <a:buNone/>
            </a:pPr>
            <a:r>
              <a:rPr lang="en-US" sz="1900" b="1" dirty="0">
                <a:solidFill>
                  <a:srgbClr val="0E3D29"/>
                </a:solidFill>
                <a:latin typeface="Calibri" pitchFamily="34" charset="0"/>
                <a:ea typeface="Calibri" pitchFamily="34" charset="-122"/>
                <a:cs typeface="Calibri" pitchFamily="34" charset="-120"/>
              </a:rPr>
              <a:t>THE OPERATING MODEL — BUSINESS DOMAINS TO PLATFORM</a:t>
            </a:r>
            <a:endParaRPr lang="en-US" sz="1900" dirty="0"/>
          </a:p>
        </p:txBody>
      </p:sp>
      <p:sp>
        <p:nvSpPr>
          <p:cNvPr id="3" name="Text 1"/>
          <p:cNvSpPr/>
          <p:nvPr/>
        </p:nvSpPr>
        <p:spPr>
          <a:xfrm>
            <a:off x="365760" y="493776"/>
            <a:ext cx="11430000" cy="219456"/>
          </a:xfrm>
          <a:prstGeom prst="rect">
            <a:avLst/>
          </a:prstGeom>
          <a:noFill/>
          <a:ln/>
        </p:spPr>
        <p:txBody>
          <a:bodyPr wrap="square" rtlCol="0" anchor="ctr"/>
          <a:lstStyle/>
          <a:p>
            <a:pPr marL="0" indent="0">
              <a:buNone/>
            </a:pPr>
            <a:r>
              <a:rPr lang="en-US" sz="1100" i="1" dirty="0">
                <a:solidFill>
                  <a:srgbClr val="6B7670"/>
                </a:solidFill>
                <a:latin typeface="Calibri" pitchFamily="34" charset="0"/>
                <a:ea typeface="Calibri" pitchFamily="34" charset="-122"/>
                <a:cs typeface="Calibri" pitchFamily="34" charset="-120"/>
              </a:rPr>
              <a:t>Each box exists because of the one above it — consumption is why the platform exists at all.</a:t>
            </a:r>
            <a:endParaRPr lang="en-US" sz="1100" dirty="0"/>
          </a:p>
        </p:txBody>
      </p:sp>
      <p:sp>
        <p:nvSpPr>
          <p:cNvPr id="4" name="Shape 2"/>
          <p:cNvSpPr/>
          <p:nvPr/>
        </p:nvSpPr>
        <p:spPr>
          <a:xfrm>
            <a:off x="320040" y="694944"/>
            <a:ext cx="1920240" cy="3099816"/>
          </a:xfrm>
          <a:prstGeom prst="rect">
            <a:avLst/>
          </a:prstGeom>
          <a:solidFill>
            <a:srgbClr val="EAF3EC"/>
          </a:solidFill>
          <a:ln w="15875">
            <a:solidFill>
              <a:srgbClr val="1F7A47"/>
            </a:solidFill>
            <a:prstDash val="solid"/>
          </a:ln>
        </p:spPr>
        <p:txBody>
          <a:bodyPr/>
          <a:lstStyle/>
          <a:p>
            <a:endParaRPr lang="en-US"/>
          </a:p>
        </p:txBody>
      </p:sp>
      <p:sp>
        <p:nvSpPr>
          <p:cNvPr id="5" name="Shape 3"/>
          <p:cNvSpPr/>
          <p:nvPr/>
        </p:nvSpPr>
        <p:spPr>
          <a:xfrm>
            <a:off x="457200" y="804672"/>
            <a:ext cx="822960" cy="237744"/>
          </a:xfrm>
          <a:prstGeom prst="roundRect">
            <a:avLst>
              <a:gd name="adj" fmla="val 19231"/>
            </a:avLst>
          </a:prstGeom>
          <a:solidFill>
            <a:srgbClr val="0E3D29"/>
          </a:solidFill>
          <a:ln/>
        </p:spPr>
        <p:txBody>
          <a:bodyPr/>
          <a:lstStyle/>
          <a:p>
            <a:endParaRPr lang="en-US"/>
          </a:p>
        </p:txBody>
      </p:sp>
      <p:sp>
        <p:nvSpPr>
          <p:cNvPr id="6" name="Text 4"/>
          <p:cNvSpPr/>
          <p:nvPr/>
        </p:nvSpPr>
        <p:spPr>
          <a:xfrm>
            <a:off x="457200" y="804672"/>
            <a:ext cx="822960"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CDO</a:t>
            </a:r>
            <a:endParaRPr lang="en-US" sz="1000" dirty="0"/>
          </a:p>
        </p:txBody>
      </p:sp>
      <p:sp>
        <p:nvSpPr>
          <p:cNvPr id="7" name="Text 5"/>
          <p:cNvSpPr/>
          <p:nvPr/>
        </p:nvSpPr>
        <p:spPr>
          <a:xfrm>
            <a:off x="457200" y="1115568"/>
            <a:ext cx="1645920" cy="274320"/>
          </a:xfrm>
          <a:prstGeom prst="rect">
            <a:avLst/>
          </a:prstGeom>
          <a:noFill/>
          <a:ln/>
        </p:spPr>
        <p:txBody>
          <a:bodyPr wrap="square" rtlCol="0" anchor="ctr"/>
          <a:lstStyle/>
          <a:p>
            <a:pPr marL="0" indent="0">
              <a:buNone/>
            </a:pPr>
            <a:r>
              <a:rPr lang="en-US" sz="1150" b="1" dirty="0">
                <a:solidFill>
                  <a:srgbClr val="0E3D29"/>
                </a:solidFill>
                <a:latin typeface="Calibri" pitchFamily="34" charset="0"/>
                <a:ea typeface="Calibri" pitchFamily="34" charset="-122"/>
                <a:cs typeface="Calibri" pitchFamily="34" charset="-120"/>
              </a:rPr>
              <a:t>Federated Governance</a:t>
            </a:r>
            <a:endParaRPr lang="en-US" sz="1150" dirty="0"/>
          </a:p>
        </p:txBody>
      </p:sp>
      <p:sp>
        <p:nvSpPr>
          <p:cNvPr id="8" name="Text 6"/>
          <p:cNvSpPr/>
          <p:nvPr/>
        </p:nvSpPr>
        <p:spPr>
          <a:xfrm>
            <a:off x="457200" y="1426464"/>
            <a:ext cx="1645920" cy="2185416"/>
          </a:xfrm>
          <a:prstGeom prst="rect">
            <a:avLst/>
          </a:prstGeom>
          <a:noFill/>
          <a:ln/>
        </p:spPr>
        <p:txBody>
          <a:bodyPr wrap="square" rtlCol="0" anchor="t"/>
          <a:lstStyle/>
          <a:p>
            <a:pPr marL="0" indent="0">
              <a:buNone/>
            </a:pPr>
            <a:r>
              <a:rPr lang="en-US" sz="900" dirty="0">
                <a:solidFill>
                  <a:srgbClr val="1C2830"/>
                </a:solidFill>
                <a:latin typeface="Calibri" pitchFamily="34" charset="0"/>
                <a:ea typeface="Calibri" pitchFamily="34" charset="-122"/>
                <a:cs typeface="Calibri" pitchFamily="34" charset="-120"/>
              </a:rPr>
              <a:t>Checks &amp; balances — owns the meaning layers (Business Domains, Data Architecture) without operating them. Ratifies definitions; doesn't run the pipeline.</a:t>
            </a:r>
            <a:endParaRPr lang="en-US" sz="900" dirty="0"/>
          </a:p>
        </p:txBody>
      </p:sp>
      <p:sp>
        <p:nvSpPr>
          <p:cNvPr id="9" name="Shape 7"/>
          <p:cNvSpPr/>
          <p:nvPr/>
        </p:nvSpPr>
        <p:spPr>
          <a:xfrm>
            <a:off x="2423160" y="694944"/>
            <a:ext cx="9418320" cy="1417320"/>
          </a:xfrm>
          <a:prstGeom prst="rect">
            <a:avLst/>
          </a:prstGeom>
          <a:solidFill>
            <a:srgbClr val="FFFFFF"/>
          </a:solidFill>
          <a:ln w="15875">
            <a:solidFill>
              <a:srgbClr val="1F7A47"/>
            </a:solidFill>
            <a:prstDash val="solid"/>
          </a:ln>
        </p:spPr>
        <p:txBody>
          <a:bodyPr/>
          <a:lstStyle/>
          <a:p>
            <a:endParaRPr lang="en-US"/>
          </a:p>
        </p:txBody>
      </p:sp>
      <p:sp>
        <p:nvSpPr>
          <p:cNvPr id="10" name="Text 8"/>
          <p:cNvSpPr/>
          <p:nvPr/>
        </p:nvSpPr>
        <p:spPr>
          <a:xfrm>
            <a:off x="2560320" y="749808"/>
            <a:ext cx="9144000" cy="201168"/>
          </a:xfrm>
          <a:prstGeom prst="rect">
            <a:avLst/>
          </a:prstGeom>
          <a:noFill/>
          <a:ln/>
        </p:spPr>
        <p:txBody>
          <a:bodyPr wrap="square"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1   BUSINESS DOMAINS</a:t>
            </a:r>
            <a:endParaRPr lang="en-US" sz="1200" dirty="0"/>
          </a:p>
        </p:txBody>
      </p:sp>
      <p:sp>
        <p:nvSpPr>
          <p:cNvPr id="11" name="Text 9"/>
          <p:cNvSpPr/>
          <p:nvPr/>
        </p:nvSpPr>
        <p:spPr>
          <a:xfrm>
            <a:off x="2560320" y="950976"/>
            <a:ext cx="9144000" cy="164592"/>
          </a:xfrm>
          <a:prstGeom prst="rect">
            <a:avLst/>
          </a:prstGeom>
          <a:noFill/>
          <a:ln/>
        </p:spPr>
        <p:txBody>
          <a:bodyPr wrap="square" rtlCol="0" anchor="ctr"/>
          <a:lstStyle/>
          <a:p>
            <a:pPr marL="0" indent="0">
              <a:buNone/>
            </a:pPr>
            <a:r>
              <a:rPr lang="en-US" sz="850" i="1" dirty="0">
                <a:solidFill>
                  <a:srgbClr val="6B7670"/>
                </a:solidFill>
                <a:latin typeface="Calibri" pitchFamily="34" charset="0"/>
                <a:ea typeface="Calibri" pitchFamily="34" charset="-122"/>
                <a:cs typeface="Calibri" pitchFamily="34" charset="-120"/>
              </a:rPr>
              <a:t>what the business is, and the capabilities each domain needs</a:t>
            </a:r>
            <a:endParaRPr lang="en-US" sz="850" dirty="0"/>
          </a:p>
        </p:txBody>
      </p:sp>
      <p:sp>
        <p:nvSpPr>
          <p:cNvPr id="12" name="Shape 10"/>
          <p:cNvSpPr/>
          <p:nvPr/>
        </p:nvSpPr>
        <p:spPr>
          <a:xfrm>
            <a:off x="2560320" y="1152144"/>
            <a:ext cx="2203704" cy="850392"/>
          </a:xfrm>
          <a:prstGeom prst="rect">
            <a:avLst/>
          </a:prstGeom>
          <a:solidFill>
            <a:srgbClr val="FFFFFF"/>
          </a:solidFill>
          <a:ln w="9525">
            <a:solidFill>
              <a:srgbClr val="1F7A47"/>
            </a:solidFill>
            <a:prstDash val="solid"/>
          </a:ln>
        </p:spPr>
        <p:txBody>
          <a:bodyPr/>
          <a:lstStyle/>
          <a:p>
            <a:endParaRPr lang="en-US"/>
          </a:p>
        </p:txBody>
      </p:sp>
      <p:sp>
        <p:nvSpPr>
          <p:cNvPr id="13" name="Text 11"/>
          <p:cNvSpPr/>
          <p:nvPr/>
        </p:nvSpPr>
        <p:spPr>
          <a:xfrm>
            <a:off x="2633472" y="1188720"/>
            <a:ext cx="2057400" cy="164592"/>
          </a:xfrm>
          <a:prstGeom prst="rect">
            <a:avLst/>
          </a:prstGeom>
          <a:noFill/>
          <a:ln/>
        </p:spPr>
        <p:txBody>
          <a:bodyPr wrap="square" rtlCol="0" anchor="ctr"/>
          <a:lstStyle/>
          <a:p>
            <a:pPr marL="0" indent="0">
              <a:buNone/>
            </a:pPr>
            <a:r>
              <a:rPr lang="en-US" sz="900" b="1" dirty="0">
                <a:solidFill>
                  <a:srgbClr val="0E3D29"/>
                </a:solidFill>
                <a:latin typeface="Calibri" pitchFamily="34" charset="0"/>
                <a:ea typeface="Calibri" pitchFamily="34" charset="-122"/>
                <a:cs typeface="Calibri" pitchFamily="34" charset="-120"/>
              </a:rPr>
              <a:t>Risk</a:t>
            </a:r>
            <a:endParaRPr lang="en-US" sz="900" dirty="0"/>
          </a:p>
        </p:txBody>
      </p:sp>
      <p:sp>
        <p:nvSpPr>
          <p:cNvPr id="14" name="Text 12"/>
          <p:cNvSpPr/>
          <p:nvPr/>
        </p:nvSpPr>
        <p:spPr>
          <a:xfrm>
            <a:off x="2633472" y="1371600"/>
            <a:ext cx="2057400" cy="594360"/>
          </a:xfrm>
          <a:prstGeom prst="rect">
            <a:avLst/>
          </a:prstGeom>
          <a:noFill/>
          <a:ln/>
        </p:spPr>
        <p:txBody>
          <a:bodyPr wrap="square" rtlCol="0" anchor="t"/>
          <a:lstStyle/>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Counterparty Limits</a:t>
            </a:r>
            <a:endParaRPr lang="en-US" sz="700" dirty="0"/>
          </a:p>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Credit Limit (XVACA)</a:t>
            </a:r>
            <a:endParaRPr lang="en-US" sz="700" dirty="0"/>
          </a:p>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Counterparty RWA</a:t>
            </a:r>
            <a:endParaRPr lang="en-US" sz="700" dirty="0"/>
          </a:p>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Liquidity Pool</a:t>
            </a:r>
            <a:endParaRPr lang="en-US" sz="700" dirty="0"/>
          </a:p>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OTC Collateral</a:t>
            </a:r>
            <a:endParaRPr lang="en-US" sz="700" dirty="0"/>
          </a:p>
        </p:txBody>
      </p:sp>
      <p:sp>
        <p:nvSpPr>
          <p:cNvPr id="15" name="Shape 13"/>
          <p:cNvSpPr/>
          <p:nvPr/>
        </p:nvSpPr>
        <p:spPr>
          <a:xfrm>
            <a:off x="4873752" y="1152144"/>
            <a:ext cx="2203704" cy="850392"/>
          </a:xfrm>
          <a:prstGeom prst="rect">
            <a:avLst/>
          </a:prstGeom>
          <a:solidFill>
            <a:srgbClr val="FFFFFF"/>
          </a:solidFill>
          <a:ln w="9525">
            <a:solidFill>
              <a:srgbClr val="1F7A47"/>
            </a:solidFill>
            <a:prstDash val="solid"/>
          </a:ln>
        </p:spPr>
        <p:txBody>
          <a:bodyPr/>
          <a:lstStyle/>
          <a:p>
            <a:endParaRPr lang="en-US"/>
          </a:p>
        </p:txBody>
      </p:sp>
      <p:sp>
        <p:nvSpPr>
          <p:cNvPr id="16" name="Text 14"/>
          <p:cNvSpPr/>
          <p:nvPr/>
        </p:nvSpPr>
        <p:spPr>
          <a:xfrm>
            <a:off x="4946904" y="1188720"/>
            <a:ext cx="2057400" cy="164592"/>
          </a:xfrm>
          <a:prstGeom prst="rect">
            <a:avLst/>
          </a:prstGeom>
          <a:noFill/>
          <a:ln/>
        </p:spPr>
        <p:txBody>
          <a:bodyPr wrap="square" rtlCol="0" anchor="ctr"/>
          <a:lstStyle/>
          <a:p>
            <a:pPr marL="0" indent="0">
              <a:buNone/>
            </a:pPr>
            <a:r>
              <a:rPr lang="en-US" sz="900" b="1" dirty="0">
                <a:solidFill>
                  <a:srgbClr val="0E3D29"/>
                </a:solidFill>
                <a:latin typeface="Calibri" pitchFamily="34" charset="0"/>
                <a:ea typeface="Calibri" pitchFamily="34" charset="-122"/>
                <a:cs typeface="Calibri" pitchFamily="34" charset="-120"/>
              </a:rPr>
              <a:t>Trading (Front Office)</a:t>
            </a:r>
            <a:endParaRPr lang="en-US" sz="900" dirty="0"/>
          </a:p>
        </p:txBody>
      </p:sp>
      <p:sp>
        <p:nvSpPr>
          <p:cNvPr id="17" name="Text 15"/>
          <p:cNvSpPr/>
          <p:nvPr/>
        </p:nvSpPr>
        <p:spPr>
          <a:xfrm>
            <a:off x="4946904" y="1371600"/>
            <a:ext cx="2057400" cy="594360"/>
          </a:xfrm>
          <a:prstGeom prst="rect">
            <a:avLst/>
          </a:prstGeom>
          <a:noFill/>
          <a:ln/>
        </p:spPr>
        <p:txBody>
          <a:bodyPr wrap="square" rtlCol="0" anchor="t"/>
          <a:lstStyle/>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…its own capabilities</a:t>
            </a:r>
            <a:endParaRPr lang="en-US" sz="700" dirty="0"/>
          </a:p>
        </p:txBody>
      </p:sp>
      <p:sp>
        <p:nvSpPr>
          <p:cNvPr id="18" name="Shape 16"/>
          <p:cNvSpPr/>
          <p:nvPr/>
        </p:nvSpPr>
        <p:spPr>
          <a:xfrm>
            <a:off x="7187184" y="1152144"/>
            <a:ext cx="2203704" cy="850392"/>
          </a:xfrm>
          <a:prstGeom prst="rect">
            <a:avLst/>
          </a:prstGeom>
          <a:solidFill>
            <a:srgbClr val="FFFFFF"/>
          </a:solidFill>
          <a:ln w="9525">
            <a:solidFill>
              <a:srgbClr val="1F7A47"/>
            </a:solidFill>
            <a:prstDash val="solid"/>
          </a:ln>
        </p:spPr>
        <p:txBody>
          <a:bodyPr/>
          <a:lstStyle/>
          <a:p>
            <a:endParaRPr lang="en-US"/>
          </a:p>
        </p:txBody>
      </p:sp>
      <p:sp>
        <p:nvSpPr>
          <p:cNvPr id="19" name="Text 17"/>
          <p:cNvSpPr/>
          <p:nvPr/>
        </p:nvSpPr>
        <p:spPr>
          <a:xfrm>
            <a:off x="7260336" y="1188720"/>
            <a:ext cx="2057400" cy="164592"/>
          </a:xfrm>
          <a:prstGeom prst="rect">
            <a:avLst/>
          </a:prstGeom>
          <a:noFill/>
          <a:ln/>
        </p:spPr>
        <p:txBody>
          <a:bodyPr wrap="square" rtlCol="0" anchor="ctr"/>
          <a:lstStyle/>
          <a:p>
            <a:pPr marL="0" indent="0">
              <a:buNone/>
            </a:pPr>
            <a:r>
              <a:rPr lang="en-US" sz="900" b="1" dirty="0">
                <a:solidFill>
                  <a:srgbClr val="0E3D29"/>
                </a:solidFill>
                <a:latin typeface="Calibri" pitchFamily="34" charset="0"/>
                <a:ea typeface="Calibri" pitchFamily="34" charset="-122"/>
                <a:cs typeface="Calibri" pitchFamily="34" charset="-120"/>
              </a:rPr>
              <a:t>Surveillance</a:t>
            </a:r>
            <a:endParaRPr lang="en-US" sz="900" dirty="0"/>
          </a:p>
        </p:txBody>
      </p:sp>
      <p:sp>
        <p:nvSpPr>
          <p:cNvPr id="20" name="Text 18"/>
          <p:cNvSpPr/>
          <p:nvPr/>
        </p:nvSpPr>
        <p:spPr>
          <a:xfrm>
            <a:off x="7260336" y="1371600"/>
            <a:ext cx="2057400" cy="594360"/>
          </a:xfrm>
          <a:prstGeom prst="rect">
            <a:avLst/>
          </a:prstGeom>
          <a:noFill/>
          <a:ln/>
        </p:spPr>
        <p:txBody>
          <a:bodyPr wrap="square" rtlCol="0" anchor="t"/>
          <a:lstStyle/>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…its own capabilities</a:t>
            </a:r>
            <a:endParaRPr lang="en-US" sz="700" dirty="0"/>
          </a:p>
        </p:txBody>
      </p:sp>
      <p:sp>
        <p:nvSpPr>
          <p:cNvPr id="21" name="Shape 19"/>
          <p:cNvSpPr/>
          <p:nvPr/>
        </p:nvSpPr>
        <p:spPr>
          <a:xfrm>
            <a:off x="9500616" y="1152144"/>
            <a:ext cx="2203704" cy="850392"/>
          </a:xfrm>
          <a:prstGeom prst="rect">
            <a:avLst/>
          </a:prstGeom>
          <a:solidFill>
            <a:srgbClr val="FFFFFF"/>
          </a:solidFill>
          <a:ln w="9525">
            <a:solidFill>
              <a:srgbClr val="6B7670"/>
            </a:solidFill>
            <a:prstDash val="dash"/>
          </a:ln>
        </p:spPr>
        <p:txBody>
          <a:bodyPr/>
          <a:lstStyle/>
          <a:p>
            <a:endParaRPr lang="en-US"/>
          </a:p>
        </p:txBody>
      </p:sp>
      <p:sp>
        <p:nvSpPr>
          <p:cNvPr id="22" name="Text 20"/>
          <p:cNvSpPr/>
          <p:nvPr/>
        </p:nvSpPr>
        <p:spPr>
          <a:xfrm>
            <a:off x="9500616" y="1152144"/>
            <a:ext cx="2203704" cy="850392"/>
          </a:xfrm>
          <a:prstGeom prst="rect">
            <a:avLst/>
          </a:prstGeom>
          <a:noFill/>
          <a:ln/>
        </p:spPr>
        <p:txBody>
          <a:bodyPr wrap="square" rtlCol="0" anchor="ctr"/>
          <a:lstStyle/>
          <a:p>
            <a:pPr marL="0" indent="0" algn="ctr">
              <a:buNone/>
            </a:pPr>
            <a:r>
              <a:rPr lang="en-US" sz="850" i="1" dirty="0">
                <a:solidFill>
                  <a:srgbClr val="6B7670"/>
                </a:solidFill>
                <a:latin typeface="Calibri" pitchFamily="34" charset="0"/>
                <a:ea typeface="Calibri" pitchFamily="34" charset="-122"/>
                <a:cs typeface="Calibri" pitchFamily="34" charset="-120"/>
              </a:rPr>
              <a:t>+ other domains</a:t>
            </a:r>
            <a:endParaRPr lang="en-US" sz="850" dirty="0"/>
          </a:p>
        </p:txBody>
      </p:sp>
      <p:sp>
        <p:nvSpPr>
          <p:cNvPr id="23" name="Shape 21"/>
          <p:cNvSpPr/>
          <p:nvPr/>
        </p:nvSpPr>
        <p:spPr>
          <a:xfrm>
            <a:off x="7132320" y="2112264"/>
            <a:ext cx="0" cy="128016"/>
          </a:xfrm>
          <a:prstGeom prst="line">
            <a:avLst/>
          </a:prstGeom>
          <a:noFill/>
          <a:ln w="15875">
            <a:solidFill>
              <a:srgbClr val="6B7670"/>
            </a:solidFill>
            <a:prstDash val="solid"/>
            <a:tailEnd type="triangle"/>
          </a:ln>
        </p:spPr>
        <p:txBody>
          <a:bodyPr/>
          <a:lstStyle/>
          <a:p>
            <a:endParaRPr lang="en-US"/>
          </a:p>
        </p:txBody>
      </p:sp>
      <p:sp>
        <p:nvSpPr>
          <p:cNvPr id="24" name="Text 22"/>
          <p:cNvSpPr/>
          <p:nvPr/>
        </p:nvSpPr>
        <p:spPr>
          <a:xfrm>
            <a:off x="6537960" y="2103120"/>
            <a:ext cx="1188720" cy="146304"/>
          </a:xfrm>
          <a:prstGeom prst="rect">
            <a:avLst/>
          </a:prstGeom>
          <a:solidFill>
            <a:srgbClr val="FBF9F4"/>
          </a:solidFill>
          <a:ln/>
        </p:spPr>
        <p:txBody>
          <a:bodyPr wrap="square" rtlCol="0" anchor="ctr"/>
          <a:lstStyle/>
          <a:p>
            <a:pPr marL="0" indent="0" algn="ctr">
              <a:buNone/>
            </a:pPr>
            <a:r>
              <a:rPr lang="en-US" sz="750" b="1" dirty="0">
                <a:solidFill>
                  <a:srgbClr val="6B7670"/>
                </a:solidFill>
                <a:latin typeface="Calibri" pitchFamily="34" charset="0"/>
                <a:ea typeface="Calibri" pitchFamily="34" charset="-122"/>
                <a:cs typeface="Calibri" pitchFamily="34" charset="-120"/>
              </a:rPr>
              <a:t>drives</a:t>
            </a:r>
            <a:endParaRPr lang="en-US" sz="750" dirty="0"/>
          </a:p>
        </p:txBody>
      </p:sp>
      <p:sp>
        <p:nvSpPr>
          <p:cNvPr id="25" name="Shape 23"/>
          <p:cNvSpPr/>
          <p:nvPr/>
        </p:nvSpPr>
        <p:spPr>
          <a:xfrm>
            <a:off x="2423160" y="2240280"/>
            <a:ext cx="9418320" cy="1554480"/>
          </a:xfrm>
          <a:prstGeom prst="rect">
            <a:avLst/>
          </a:prstGeom>
          <a:solidFill>
            <a:srgbClr val="EAF3EC"/>
          </a:solidFill>
          <a:ln w="15875">
            <a:solidFill>
              <a:srgbClr val="1F7A47"/>
            </a:solidFill>
            <a:prstDash val="solid"/>
          </a:ln>
        </p:spPr>
        <p:txBody>
          <a:bodyPr/>
          <a:lstStyle/>
          <a:p>
            <a:endParaRPr lang="en-US"/>
          </a:p>
        </p:txBody>
      </p:sp>
      <p:sp>
        <p:nvSpPr>
          <p:cNvPr id="26" name="Text 24"/>
          <p:cNvSpPr/>
          <p:nvPr/>
        </p:nvSpPr>
        <p:spPr>
          <a:xfrm>
            <a:off x="2560320" y="2295144"/>
            <a:ext cx="9144000" cy="201168"/>
          </a:xfrm>
          <a:prstGeom prst="rect">
            <a:avLst/>
          </a:prstGeom>
          <a:noFill/>
          <a:ln/>
        </p:spPr>
        <p:txBody>
          <a:bodyPr wrap="square" rtlCol="0" anchor="ctr"/>
          <a:lstStyle/>
          <a:p>
            <a:pPr marL="0" indent="0">
              <a:buNone/>
            </a:pPr>
            <a:r>
              <a:rPr lang="en-US" sz="1200" b="1" dirty="0">
                <a:solidFill>
                  <a:srgbClr val="0E3D29"/>
                </a:solidFill>
                <a:latin typeface="Calibri" pitchFamily="34" charset="0"/>
                <a:ea typeface="Calibri" pitchFamily="34" charset="-122"/>
                <a:cs typeface="Calibri" pitchFamily="34" charset="-120"/>
              </a:rPr>
              <a:t>2   DATA ARCHITECTURE</a:t>
            </a:r>
            <a:endParaRPr lang="en-US" sz="1200" dirty="0"/>
          </a:p>
        </p:txBody>
      </p:sp>
      <p:sp>
        <p:nvSpPr>
          <p:cNvPr id="27" name="Text 25"/>
          <p:cNvSpPr/>
          <p:nvPr/>
        </p:nvSpPr>
        <p:spPr>
          <a:xfrm>
            <a:off x="2560320" y="2496312"/>
            <a:ext cx="9144000" cy="164592"/>
          </a:xfrm>
          <a:prstGeom prst="rect">
            <a:avLst/>
          </a:prstGeom>
          <a:noFill/>
          <a:ln/>
        </p:spPr>
        <p:txBody>
          <a:bodyPr wrap="square" rtlCol="0" anchor="ctr"/>
          <a:lstStyle/>
          <a:p>
            <a:pPr marL="0" indent="0">
              <a:buNone/>
            </a:pPr>
            <a:r>
              <a:rPr lang="en-US" sz="850" i="1" dirty="0">
                <a:solidFill>
                  <a:srgbClr val="6B7670"/>
                </a:solidFill>
                <a:latin typeface="Calibri" pitchFamily="34" charset="0"/>
                <a:ea typeface="Calibri" pitchFamily="34" charset="-122"/>
                <a:cs typeface="Calibri" pitchFamily="34" charset="-120"/>
              </a:rPr>
              <a:t>data domains &amp; data products — a peer structure to business domains, not nested inside one</a:t>
            </a:r>
            <a:endParaRPr lang="en-US" sz="850" dirty="0"/>
          </a:p>
        </p:txBody>
      </p:sp>
      <p:sp>
        <p:nvSpPr>
          <p:cNvPr id="28" name="Shape 26"/>
          <p:cNvSpPr/>
          <p:nvPr/>
        </p:nvSpPr>
        <p:spPr>
          <a:xfrm>
            <a:off x="2560320" y="2697480"/>
            <a:ext cx="2377440" cy="201168"/>
          </a:xfrm>
          <a:prstGeom prst="roundRect">
            <a:avLst>
              <a:gd name="adj" fmla="val 18182"/>
            </a:avLst>
          </a:prstGeom>
          <a:solidFill>
            <a:srgbClr val="0E3D29"/>
          </a:solidFill>
          <a:ln/>
        </p:spPr>
        <p:txBody>
          <a:bodyPr/>
          <a:lstStyle/>
          <a:p>
            <a:endParaRPr lang="en-US"/>
          </a:p>
        </p:txBody>
      </p:sp>
      <p:sp>
        <p:nvSpPr>
          <p:cNvPr id="29" name="Text 27"/>
          <p:cNvSpPr/>
          <p:nvPr/>
        </p:nvSpPr>
        <p:spPr>
          <a:xfrm>
            <a:off x="2560320" y="2697480"/>
            <a:ext cx="2377440" cy="201168"/>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ONTOLOGY — shared definitions, owner: CDO</a:t>
            </a:r>
            <a:endParaRPr lang="en-US" sz="750" dirty="0"/>
          </a:p>
        </p:txBody>
      </p:sp>
      <p:sp>
        <p:nvSpPr>
          <p:cNvPr id="30" name="Shape 28"/>
          <p:cNvSpPr/>
          <p:nvPr/>
        </p:nvSpPr>
        <p:spPr>
          <a:xfrm>
            <a:off x="2560320" y="2953512"/>
            <a:ext cx="9144000" cy="731520"/>
          </a:xfrm>
          <a:prstGeom prst="rect">
            <a:avLst/>
          </a:prstGeom>
          <a:solidFill>
            <a:srgbClr val="FFFFFF"/>
          </a:solidFill>
          <a:ln w="9525">
            <a:solidFill>
              <a:srgbClr val="1F7A47"/>
            </a:solidFill>
            <a:prstDash val="solid"/>
          </a:ln>
        </p:spPr>
        <p:txBody>
          <a:bodyPr/>
          <a:lstStyle/>
          <a:p>
            <a:endParaRPr lang="en-US"/>
          </a:p>
        </p:txBody>
      </p:sp>
      <p:sp>
        <p:nvSpPr>
          <p:cNvPr id="31" name="Text 29"/>
          <p:cNvSpPr/>
          <p:nvPr/>
        </p:nvSpPr>
        <p:spPr>
          <a:xfrm>
            <a:off x="2697480" y="3008376"/>
            <a:ext cx="8869680" cy="164592"/>
          </a:xfrm>
          <a:prstGeom prst="rect">
            <a:avLst/>
          </a:prstGeom>
          <a:noFill/>
          <a:ln/>
        </p:spPr>
        <p:txBody>
          <a:bodyPr wrap="square" rtlCol="0" anchor="ctr"/>
          <a:lstStyle/>
          <a:p>
            <a:pPr marL="0" indent="0">
              <a:buNone/>
            </a:pPr>
            <a:r>
              <a:rPr lang="en-US" sz="900" b="1" dirty="0">
                <a:solidFill>
                  <a:srgbClr val="0E3D29"/>
                </a:solidFill>
                <a:latin typeface="Calibri" pitchFamily="34" charset="0"/>
                <a:ea typeface="Calibri" pitchFamily="34" charset="-122"/>
                <a:cs typeface="Calibri" pitchFamily="34" charset="-120"/>
              </a:rPr>
              <a:t>Data Domains produced from Risk's capabilities</a:t>
            </a:r>
            <a:endParaRPr lang="en-US" sz="900" dirty="0"/>
          </a:p>
        </p:txBody>
      </p:sp>
      <p:sp>
        <p:nvSpPr>
          <p:cNvPr id="32" name="Shape 30"/>
          <p:cNvSpPr/>
          <p:nvPr/>
        </p:nvSpPr>
        <p:spPr>
          <a:xfrm>
            <a:off x="2766060" y="3209544"/>
            <a:ext cx="1097280" cy="219456"/>
          </a:xfrm>
          <a:prstGeom prst="roundRect">
            <a:avLst>
              <a:gd name="adj" fmla="val 16667"/>
            </a:avLst>
          </a:prstGeom>
          <a:solidFill>
            <a:srgbClr val="1F7A47"/>
          </a:solidFill>
          <a:ln/>
        </p:spPr>
        <p:txBody>
          <a:bodyPr/>
          <a:lstStyle/>
          <a:p>
            <a:endParaRPr lang="en-US"/>
          </a:p>
        </p:txBody>
      </p:sp>
      <p:sp>
        <p:nvSpPr>
          <p:cNvPr id="33" name="Text 31"/>
          <p:cNvSpPr/>
          <p:nvPr/>
        </p:nvSpPr>
        <p:spPr>
          <a:xfrm>
            <a:off x="2697480" y="3209544"/>
            <a:ext cx="109728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Valuation</a:t>
            </a:r>
            <a:endParaRPr lang="en-US" sz="850" dirty="0"/>
          </a:p>
        </p:txBody>
      </p:sp>
      <p:sp>
        <p:nvSpPr>
          <p:cNvPr id="34" name="Shape 32"/>
          <p:cNvSpPr/>
          <p:nvPr/>
        </p:nvSpPr>
        <p:spPr>
          <a:xfrm>
            <a:off x="3931920" y="3209544"/>
            <a:ext cx="1097280" cy="219456"/>
          </a:xfrm>
          <a:prstGeom prst="roundRect">
            <a:avLst>
              <a:gd name="adj" fmla="val 16667"/>
            </a:avLst>
          </a:prstGeom>
          <a:solidFill>
            <a:srgbClr val="1F7A47"/>
          </a:solidFill>
          <a:ln/>
        </p:spPr>
        <p:txBody>
          <a:bodyPr/>
          <a:lstStyle/>
          <a:p>
            <a:endParaRPr lang="en-US"/>
          </a:p>
        </p:txBody>
      </p:sp>
      <p:sp>
        <p:nvSpPr>
          <p:cNvPr id="35" name="Text 33"/>
          <p:cNvSpPr/>
          <p:nvPr/>
        </p:nvSpPr>
        <p:spPr>
          <a:xfrm>
            <a:off x="3931920" y="3209544"/>
            <a:ext cx="109728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Trade</a:t>
            </a:r>
            <a:endParaRPr lang="en-US" sz="850" dirty="0"/>
          </a:p>
        </p:txBody>
      </p:sp>
      <p:sp>
        <p:nvSpPr>
          <p:cNvPr id="36" name="Shape 34"/>
          <p:cNvSpPr/>
          <p:nvPr/>
        </p:nvSpPr>
        <p:spPr>
          <a:xfrm>
            <a:off x="5166360" y="3209544"/>
            <a:ext cx="1097280" cy="219456"/>
          </a:xfrm>
          <a:prstGeom prst="roundRect">
            <a:avLst>
              <a:gd name="adj" fmla="val 16667"/>
            </a:avLst>
          </a:prstGeom>
          <a:solidFill>
            <a:srgbClr val="1F7A47"/>
          </a:solidFill>
          <a:ln/>
        </p:spPr>
        <p:txBody>
          <a:bodyPr/>
          <a:lstStyle/>
          <a:p>
            <a:endParaRPr lang="en-US"/>
          </a:p>
        </p:txBody>
      </p:sp>
      <p:sp>
        <p:nvSpPr>
          <p:cNvPr id="37" name="Text 35"/>
          <p:cNvSpPr/>
          <p:nvPr/>
        </p:nvSpPr>
        <p:spPr>
          <a:xfrm>
            <a:off x="5166360" y="3209544"/>
            <a:ext cx="109728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Collateral</a:t>
            </a:r>
            <a:endParaRPr lang="en-US" sz="850" dirty="0"/>
          </a:p>
        </p:txBody>
      </p:sp>
      <p:sp>
        <p:nvSpPr>
          <p:cNvPr id="38" name="Shape 36"/>
          <p:cNvSpPr/>
          <p:nvPr/>
        </p:nvSpPr>
        <p:spPr>
          <a:xfrm>
            <a:off x="6400800" y="3209544"/>
            <a:ext cx="1097280" cy="219456"/>
          </a:xfrm>
          <a:prstGeom prst="roundRect">
            <a:avLst>
              <a:gd name="adj" fmla="val 16667"/>
            </a:avLst>
          </a:prstGeom>
          <a:solidFill>
            <a:srgbClr val="1F7A47"/>
          </a:solidFill>
          <a:ln/>
        </p:spPr>
        <p:txBody>
          <a:bodyPr/>
          <a:lstStyle/>
          <a:p>
            <a:endParaRPr lang="en-US"/>
          </a:p>
        </p:txBody>
      </p:sp>
      <p:sp>
        <p:nvSpPr>
          <p:cNvPr id="39" name="Text 37"/>
          <p:cNvSpPr/>
          <p:nvPr/>
        </p:nvSpPr>
        <p:spPr>
          <a:xfrm>
            <a:off x="6400800" y="3209544"/>
            <a:ext cx="109728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Party</a:t>
            </a:r>
            <a:endParaRPr lang="en-US" sz="850" dirty="0"/>
          </a:p>
        </p:txBody>
      </p:sp>
      <p:sp>
        <p:nvSpPr>
          <p:cNvPr id="40" name="Text 38"/>
          <p:cNvSpPr/>
          <p:nvPr/>
        </p:nvSpPr>
        <p:spPr>
          <a:xfrm>
            <a:off x="2697480" y="3456432"/>
            <a:ext cx="8869680" cy="201168"/>
          </a:xfrm>
          <a:prstGeom prst="rect">
            <a:avLst/>
          </a:prstGeom>
          <a:noFill/>
          <a:ln/>
        </p:spPr>
        <p:txBody>
          <a:bodyPr wrap="square" rtlCol="0" anchor="t"/>
          <a:lstStyle/>
          <a:p>
            <a:pPr marL="0" indent="0">
              <a:lnSpc>
                <a:spcPts val="900"/>
              </a:lnSpc>
              <a:buNone/>
            </a:pPr>
            <a:r>
              <a:rPr lang="en-US" sz="700" i="1" dirty="0">
                <a:solidFill>
                  <a:srgbClr val="6B7670"/>
                </a:solidFill>
                <a:latin typeface="Calibri" pitchFamily="34" charset="0"/>
                <a:ea typeface="Calibri" pitchFamily="34" charset="-122"/>
                <a:cs typeface="Calibri" pitchFamily="34" charset="-120"/>
              </a:rPr>
              <a:t>A data domain can be sourced from one business domain, or assembled from several (e.g. Collateral draws from Risk and other desks) — that correlation need is exactly why the Catalog exists.</a:t>
            </a:r>
            <a:endParaRPr lang="en-US" sz="700" dirty="0"/>
          </a:p>
        </p:txBody>
      </p:sp>
      <p:sp>
        <p:nvSpPr>
          <p:cNvPr id="41" name="Shape 39"/>
          <p:cNvSpPr/>
          <p:nvPr/>
        </p:nvSpPr>
        <p:spPr>
          <a:xfrm>
            <a:off x="7132320" y="3794760"/>
            <a:ext cx="0" cy="128016"/>
          </a:xfrm>
          <a:prstGeom prst="line">
            <a:avLst/>
          </a:prstGeom>
          <a:noFill/>
          <a:ln w="15875">
            <a:solidFill>
              <a:srgbClr val="6B7670"/>
            </a:solidFill>
            <a:prstDash val="solid"/>
            <a:tailEnd type="triangle"/>
          </a:ln>
        </p:spPr>
        <p:txBody>
          <a:bodyPr/>
          <a:lstStyle/>
          <a:p>
            <a:endParaRPr lang="en-US"/>
          </a:p>
        </p:txBody>
      </p:sp>
      <p:sp>
        <p:nvSpPr>
          <p:cNvPr id="42" name="Text 40"/>
          <p:cNvSpPr/>
          <p:nvPr/>
        </p:nvSpPr>
        <p:spPr>
          <a:xfrm>
            <a:off x="6537960" y="3785616"/>
            <a:ext cx="1188720" cy="146304"/>
          </a:xfrm>
          <a:prstGeom prst="rect">
            <a:avLst/>
          </a:prstGeom>
          <a:solidFill>
            <a:srgbClr val="FBF9F4"/>
          </a:solidFill>
          <a:ln/>
        </p:spPr>
        <p:txBody>
          <a:bodyPr wrap="square" rtlCol="0" anchor="ctr"/>
          <a:lstStyle/>
          <a:p>
            <a:pPr marL="0" indent="0" algn="ctr">
              <a:buNone/>
            </a:pPr>
            <a:r>
              <a:rPr lang="en-US" sz="750" b="1" dirty="0">
                <a:solidFill>
                  <a:srgbClr val="6B7670"/>
                </a:solidFill>
                <a:latin typeface="Calibri" pitchFamily="34" charset="0"/>
                <a:ea typeface="Calibri" pitchFamily="34" charset="-122"/>
                <a:cs typeface="Calibri" pitchFamily="34" charset="-120"/>
              </a:rPr>
              <a:t>implemented by</a:t>
            </a:r>
            <a:endParaRPr lang="en-US" sz="750" dirty="0"/>
          </a:p>
        </p:txBody>
      </p:sp>
      <p:sp>
        <p:nvSpPr>
          <p:cNvPr id="43" name="Shape 41"/>
          <p:cNvSpPr/>
          <p:nvPr/>
        </p:nvSpPr>
        <p:spPr>
          <a:xfrm>
            <a:off x="2423160" y="3922776"/>
            <a:ext cx="9418320" cy="914400"/>
          </a:xfrm>
          <a:prstGeom prst="rect">
            <a:avLst/>
          </a:prstGeom>
          <a:solidFill>
            <a:srgbClr val="FFFFFF"/>
          </a:solidFill>
          <a:ln w="15875">
            <a:solidFill>
              <a:srgbClr val="2E4A66"/>
            </a:solidFill>
            <a:prstDash val="solid"/>
          </a:ln>
        </p:spPr>
        <p:txBody>
          <a:bodyPr/>
          <a:lstStyle/>
          <a:p>
            <a:endParaRPr lang="en-US"/>
          </a:p>
        </p:txBody>
      </p:sp>
      <p:sp>
        <p:nvSpPr>
          <p:cNvPr id="44" name="Text 42"/>
          <p:cNvSpPr/>
          <p:nvPr/>
        </p:nvSpPr>
        <p:spPr>
          <a:xfrm>
            <a:off x="2560320" y="3977640"/>
            <a:ext cx="9144000" cy="182880"/>
          </a:xfrm>
          <a:prstGeom prst="rect">
            <a:avLst/>
          </a:prstGeom>
          <a:noFill/>
          <a:ln/>
        </p:spPr>
        <p:txBody>
          <a:bodyPr wrap="square" rtlCol="0" anchor="ctr"/>
          <a:lstStyle/>
          <a:p>
            <a:pPr marL="0" indent="0">
              <a:buNone/>
            </a:pPr>
            <a:r>
              <a:rPr lang="en-US" sz="1200" b="1" dirty="0">
                <a:solidFill>
                  <a:srgbClr val="2E4A66"/>
                </a:solidFill>
                <a:latin typeface="Calibri" pitchFamily="34" charset="0"/>
                <a:ea typeface="Calibri" pitchFamily="34" charset="-122"/>
                <a:cs typeface="Calibri" pitchFamily="34" charset="-120"/>
              </a:rPr>
              <a:t>3   APPLICATION ARCHITECTURE</a:t>
            </a:r>
            <a:endParaRPr lang="en-US" sz="1200" dirty="0"/>
          </a:p>
        </p:txBody>
      </p:sp>
      <p:sp>
        <p:nvSpPr>
          <p:cNvPr id="45" name="Text 43"/>
          <p:cNvSpPr/>
          <p:nvPr/>
        </p:nvSpPr>
        <p:spPr>
          <a:xfrm>
            <a:off x="2560320" y="4169664"/>
            <a:ext cx="9144000" cy="146304"/>
          </a:xfrm>
          <a:prstGeom prst="rect">
            <a:avLst/>
          </a:prstGeom>
          <a:noFill/>
          <a:ln/>
        </p:spPr>
        <p:txBody>
          <a:bodyPr wrap="square" rtlCol="0" anchor="ctr"/>
          <a:lstStyle/>
          <a:p>
            <a:pPr marL="0" indent="0">
              <a:buNone/>
            </a:pPr>
            <a:r>
              <a:rPr lang="en-US" sz="800" i="1" dirty="0">
                <a:solidFill>
                  <a:srgbClr val="6B7670"/>
                </a:solidFill>
                <a:latin typeface="Calibri" pitchFamily="34" charset="0"/>
                <a:ea typeface="Calibri" pitchFamily="34" charset="-122"/>
                <a:cs typeface="Calibri" pitchFamily="34" charset="-120"/>
              </a:rPr>
              <a:t>the apps that build and manage each domain's data — vendor trading systems are consumed, not owned, by Risk</a:t>
            </a:r>
            <a:endParaRPr lang="en-US" sz="800" dirty="0"/>
          </a:p>
        </p:txBody>
      </p:sp>
      <p:sp>
        <p:nvSpPr>
          <p:cNvPr id="46" name="Shape 44"/>
          <p:cNvSpPr/>
          <p:nvPr/>
        </p:nvSpPr>
        <p:spPr>
          <a:xfrm>
            <a:off x="2560320" y="4343400"/>
            <a:ext cx="2974848" cy="402336"/>
          </a:xfrm>
          <a:prstGeom prst="rect">
            <a:avLst/>
          </a:prstGeom>
          <a:solidFill>
            <a:srgbClr val="FFFFFF"/>
          </a:solidFill>
          <a:ln w="9525">
            <a:solidFill>
              <a:srgbClr val="2E4A66"/>
            </a:solidFill>
            <a:prstDash val="solid"/>
          </a:ln>
        </p:spPr>
        <p:txBody>
          <a:bodyPr/>
          <a:lstStyle/>
          <a:p>
            <a:endParaRPr lang="en-US"/>
          </a:p>
        </p:txBody>
      </p:sp>
      <p:sp>
        <p:nvSpPr>
          <p:cNvPr id="47" name="Text 45"/>
          <p:cNvSpPr/>
          <p:nvPr/>
        </p:nvSpPr>
        <p:spPr>
          <a:xfrm>
            <a:off x="2633472" y="4370832"/>
            <a:ext cx="2828544" cy="237744"/>
          </a:xfrm>
          <a:prstGeom prst="rect">
            <a:avLst/>
          </a:prstGeom>
          <a:noFill/>
          <a:ln/>
        </p:spPr>
        <p:txBody>
          <a:bodyPr wrap="square" rtlCol="0" anchor="t"/>
          <a:lstStyle/>
          <a:p>
            <a:pPr marL="0" indent="0">
              <a:buNone/>
            </a:pPr>
            <a:r>
              <a:rPr lang="en-US" sz="750" b="1" dirty="0">
                <a:solidFill>
                  <a:srgbClr val="2E4A66"/>
                </a:solidFill>
                <a:latin typeface="Calibri" pitchFamily="34" charset="0"/>
                <a:ea typeface="Calibri" pitchFamily="34" charset="-122"/>
                <a:cs typeface="Calibri" pitchFamily="34" charset="-120"/>
              </a:rPr>
              <a:t>Risk apps (Risk-owned)</a:t>
            </a:r>
            <a:endParaRPr lang="en-US" sz="750" dirty="0"/>
          </a:p>
        </p:txBody>
      </p:sp>
      <p:sp>
        <p:nvSpPr>
          <p:cNvPr id="48" name="Text 46"/>
          <p:cNvSpPr/>
          <p:nvPr/>
        </p:nvSpPr>
        <p:spPr>
          <a:xfrm>
            <a:off x="2633472" y="4562856"/>
            <a:ext cx="2828544" cy="164592"/>
          </a:xfrm>
          <a:prstGeom prst="rect">
            <a:avLst/>
          </a:prstGeom>
          <a:noFill/>
          <a:ln/>
        </p:spPr>
        <p:txBody>
          <a:bodyPr wrap="square" rtlCol="0" anchor="t"/>
          <a:lstStyle/>
          <a:p>
            <a:pPr marL="0" indent="0">
              <a:buNone/>
            </a:pPr>
            <a:r>
              <a:rPr lang="en-US" sz="750" dirty="0">
                <a:solidFill>
                  <a:srgbClr val="1C2830"/>
                </a:solidFill>
                <a:latin typeface="Calibri" pitchFamily="34" charset="0"/>
                <a:ea typeface="Calibri" pitchFamily="34" charset="-122"/>
                <a:cs typeface="Calibri" pitchFamily="34" charset="-120"/>
              </a:rPr>
              <a:t>CMOS · XVALA · TCC · REGDS</a:t>
            </a:r>
            <a:endParaRPr lang="en-US" sz="750" dirty="0"/>
          </a:p>
        </p:txBody>
      </p:sp>
      <p:sp>
        <p:nvSpPr>
          <p:cNvPr id="49" name="Shape 47"/>
          <p:cNvSpPr/>
          <p:nvPr/>
        </p:nvSpPr>
        <p:spPr>
          <a:xfrm>
            <a:off x="5644896" y="4343400"/>
            <a:ext cx="2974848" cy="402336"/>
          </a:xfrm>
          <a:prstGeom prst="rect">
            <a:avLst/>
          </a:prstGeom>
          <a:solidFill>
            <a:srgbClr val="FFFFFF"/>
          </a:solidFill>
          <a:ln w="9525">
            <a:solidFill>
              <a:srgbClr val="2E4A66"/>
            </a:solidFill>
            <a:prstDash val="solid"/>
          </a:ln>
        </p:spPr>
        <p:txBody>
          <a:bodyPr/>
          <a:lstStyle/>
          <a:p>
            <a:endParaRPr lang="en-US"/>
          </a:p>
        </p:txBody>
      </p:sp>
      <p:sp>
        <p:nvSpPr>
          <p:cNvPr id="50" name="Text 48"/>
          <p:cNvSpPr/>
          <p:nvPr/>
        </p:nvSpPr>
        <p:spPr>
          <a:xfrm>
            <a:off x="5718048" y="4370832"/>
            <a:ext cx="2828544" cy="237744"/>
          </a:xfrm>
          <a:prstGeom prst="rect">
            <a:avLst/>
          </a:prstGeom>
          <a:noFill/>
          <a:ln/>
        </p:spPr>
        <p:txBody>
          <a:bodyPr wrap="square" rtlCol="0" anchor="t"/>
          <a:lstStyle/>
          <a:p>
            <a:pPr marL="0" indent="0">
              <a:buNone/>
            </a:pPr>
            <a:r>
              <a:rPr lang="en-US" sz="750" b="1" dirty="0">
                <a:solidFill>
                  <a:srgbClr val="2E4A66"/>
                </a:solidFill>
                <a:latin typeface="Calibri" pitchFamily="34" charset="0"/>
                <a:ea typeface="Calibri" pitchFamily="34" charset="-122"/>
                <a:cs typeface="Calibri" pitchFamily="34" charset="-120"/>
              </a:rPr>
              <a:t>TMS — trading apps (consumed, not built by Risk)</a:t>
            </a:r>
            <a:endParaRPr lang="en-US" sz="750" dirty="0"/>
          </a:p>
        </p:txBody>
      </p:sp>
      <p:sp>
        <p:nvSpPr>
          <p:cNvPr id="51" name="Text 49"/>
          <p:cNvSpPr/>
          <p:nvPr/>
        </p:nvSpPr>
        <p:spPr>
          <a:xfrm>
            <a:off x="5718048" y="4562856"/>
            <a:ext cx="2828544" cy="164592"/>
          </a:xfrm>
          <a:prstGeom prst="rect">
            <a:avLst/>
          </a:prstGeom>
          <a:noFill/>
          <a:ln/>
        </p:spPr>
        <p:txBody>
          <a:bodyPr wrap="square" rtlCol="0" anchor="t"/>
          <a:lstStyle/>
          <a:p>
            <a:pPr marL="0" indent="0">
              <a:buNone/>
            </a:pPr>
            <a:r>
              <a:rPr lang="en-US" sz="750" dirty="0">
                <a:solidFill>
                  <a:srgbClr val="1C2830"/>
                </a:solidFill>
                <a:latin typeface="Calibri" pitchFamily="34" charset="0"/>
                <a:ea typeface="Calibri" pitchFamily="34" charset="-122"/>
                <a:cs typeface="Calibri" pitchFamily="34" charset="-120"/>
              </a:rPr>
              <a:t>Calypso · Murex · Sophis</a:t>
            </a:r>
            <a:endParaRPr lang="en-US" sz="750" dirty="0"/>
          </a:p>
        </p:txBody>
      </p:sp>
      <p:sp>
        <p:nvSpPr>
          <p:cNvPr id="52" name="Shape 50"/>
          <p:cNvSpPr/>
          <p:nvPr/>
        </p:nvSpPr>
        <p:spPr>
          <a:xfrm>
            <a:off x="8729472" y="4343400"/>
            <a:ext cx="2974848" cy="402336"/>
          </a:xfrm>
          <a:prstGeom prst="rect">
            <a:avLst/>
          </a:prstGeom>
          <a:solidFill>
            <a:srgbClr val="FFFFFF"/>
          </a:solidFill>
          <a:ln w="9525">
            <a:solidFill>
              <a:srgbClr val="2E4A66"/>
            </a:solidFill>
            <a:prstDash val="solid"/>
          </a:ln>
        </p:spPr>
        <p:txBody>
          <a:bodyPr/>
          <a:lstStyle/>
          <a:p>
            <a:endParaRPr lang="en-US"/>
          </a:p>
        </p:txBody>
      </p:sp>
      <p:sp>
        <p:nvSpPr>
          <p:cNvPr id="53" name="Text 51"/>
          <p:cNvSpPr/>
          <p:nvPr/>
        </p:nvSpPr>
        <p:spPr>
          <a:xfrm>
            <a:off x="8802624" y="4370832"/>
            <a:ext cx="2828544" cy="237744"/>
          </a:xfrm>
          <a:prstGeom prst="rect">
            <a:avLst/>
          </a:prstGeom>
          <a:noFill/>
          <a:ln/>
        </p:spPr>
        <p:txBody>
          <a:bodyPr wrap="square" rtlCol="0" anchor="t"/>
          <a:lstStyle/>
          <a:p>
            <a:pPr marL="0" indent="0">
              <a:buNone/>
            </a:pPr>
            <a:r>
              <a:rPr lang="en-US" sz="750" b="1" dirty="0">
                <a:solidFill>
                  <a:srgbClr val="2E4A66"/>
                </a:solidFill>
                <a:latin typeface="Calibri" pitchFamily="34" charset="0"/>
                <a:ea typeface="Calibri" pitchFamily="34" charset="-122"/>
                <a:cs typeface="Calibri" pitchFamily="34" charset="-120"/>
              </a:rPr>
              <a:t>Portfolio apps</a:t>
            </a:r>
            <a:endParaRPr lang="en-US" sz="750" dirty="0"/>
          </a:p>
        </p:txBody>
      </p:sp>
      <p:sp>
        <p:nvSpPr>
          <p:cNvPr id="54" name="Text 52"/>
          <p:cNvSpPr/>
          <p:nvPr/>
        </p:nvSpPr>
        <p:spPr>
          <a:xfrm>
            <a:off x="8802624" y="4562856"/>
            <a:ext cx="2828544" cy="164592"/>
          </a:xfrm>
          <a:prstGeom prst="rect">
            <a:avLst/>
          </a:prstGeom>
          <a:noFill/>
          <a:ln/>
        </p:spPr>
        <p:txBody>
          <a:bodyPr wrap="square" rtlCol="0" anchor="t"/>
          <a:lstStyle/>
          <a:p>
            <a:pPr marL="0" indent="0">
              <a:buNone/>
            </a:pPr>
            <a:r>
              <a:rPr lang="en-US" sz="750" dirty="0">
                <a:solidFill>
                  <a:srgbClr val="1C2830"/>
                </a:solidFill>
                <a:latin typeface="Calibri" pitchFamily="34" charset="0"/>
                <a:ea typeface="Calibri" pitchFamily="34" charset="-122"/>
                <a:cs typeface="Calibri" pitchFamily="34" charset="-120"/>
              </a:rPr>
              <a:t>…its own application layer</a:t>
            </a:r>
            <a:endParaRPr lang="en-US" sz="750" dirty="0"/>
          </a:p>
        </p:txBody>
      </p:sp>
      <p:sp>
        <p:nvSpPr>
          <p:cNvPr id="55" name="Shape 53"/>
          <p:cNvSpPr/>
          <p:nvPr/>
        </p:nvSpPr>
        <p:spPr>
          <a:xfrm>
            <a:off x="7132320" y="4837176"/>
            <a:ext cx="0" cy="128016"/>
          </a:xfrm>
          <a:prstGeom prst="line">
            <a:avLst/>
          </a:prstGeom>
          <a:noFill/>
          <a:ln w="15875">
            <a:solidFill>
              <a:srgbClr val="6B7670"/>
            </a:solidFill>
            <a:prstDash val="solid"/>
            <a:tailEnd type="triangle"/>
          </a:ln>
        </p:spPr>
        <p:txBody>
          <a:bodyPr/>
          <a:lstStyle/>
          <a:p>
            <a:endParaRPr lang="en-US"/>
          </a:p>
        </p:txBody>
      </p:sp>
      <p:sp>
        <p:nvSpPr>
          <p:cNvPr id="56" name="Text 54"/>
          <p:cNvSpPr/>
          <p:nvPr/>
        </p:nvSpPr>
        <p:spPr>
          <a:xfrm>
            <a:off x="6537960" y="4828032"/>
            <a:ext cx="1188720" cy="146304"/>
          </a:xfrm>
          <a:prstGeom prst="rect">
            <a:avLst/>
          </a:prstGeom>
          <a:solidFill>
            <a:srgbClr val="FBF9F4"/>
          </a:solidFill>
          <a:ln/>
        </p:spPr>
        <p:txBody>
          <a:bodyPr wrap="square" rtlCol="0" anchor="ctr"/>
          <a:lstStyle/>
          <a:p>
            <a:pPr marL="0" indent="0" algn="ctr">
              <a:buNone/>
            </a:pPr>
            <a:r>
              <a:rPr lang="en-US" sz="750" b="1" dirty="0">
                <a:solidFill>
                  <a:srgbClr val="6B7670"/>
                </a:solidFill>
                <a:latin typeface="Calibri" pitchFamily="34" charset="0"/>
                <a:ea typeface="Calibri" pitchFamily="34" charset="-122"/>
                <a:cs typeface="Calibri" pitchFamily="34" charset="-120"/>
              </a:rPr>
              <a:t>runs on</a:t>
            </a:r>
            <a:endParaRPr lang="en-US" sz="750" dirty="0"/>
          </a:p>
        </p:txBody>
      </p:sp>
      <p:sp>
        <p:nvSpPr>
          <p:cNvPr id="57" name="Shape 55"/>
          <p:cNvSpPr/>
          <p:nvPr/>
        </p:nvSpPr>
        <p:spPr>
          <a:xfrm>
            <a:off x="2423160" y="4965192"/>
            <a:ext cx="9418320" cy="1389888"/>
          </a:xfrm>
          <a:prstGeom prst="rect">
            <a:avLst/>
          </a:prstGeom>
          <a:solidFill>
            <a:srgbClr val="FFFFFF"/>
          </a:solidFill>
          <a:ln w="15875">
            <a:solidFill>
              <a:srgbClr val="9C6B16"/>
            </a:solidFill>
            <a:prstDash val="solid"/>
          </a:ln>
        </p:spPr>
        <p:txBody>
          <a:bodyPr/>
          <a:lstStyle/>
          <a:p>
            <a:endParaRPr lang="en-US"/>
          </a:p>
        </p:txBody>
      </p:sp>
      <p:sp>
        <p:nvSpPr>
          <p:cNvPr id="58" name="Text 56"/>
          <p:cNvSpPr/>
          <p:nvPr/>
        </p:nvSpPr>
        <p:spPr>
          <a:xfrm>
            <a:off x="2560320" y="5020056"/>
            <a:ext cx="9144000" cy="182880"/>
          </a:xfrm>
          <a:prstGeom prst="rect">
            <a:avLst/>
          </a:prstGeom>
          <a:noFill/>
          <a:ln/>
        </p:spPr>
        <p:txBody>
          <a:bodyPr wrap="square" rtlCol="0" anchor="ctr"/>
          <a:lstStyle/>
          <a:p>
            <a:pPr marL="0" indent="0">
              <a:buNone/>
            </a:pPr>
            <a:r>
              <a:rPr lang="en-US" sz="1200" b="1" dirty="0">
                <a:solidFill>
                  <a:srgbClr val="9C6B16"/>
                </a:solidFill>
                <a:latin typeface="Calibri" pitchFamily="34" charset="0"/>
                <a:ea typeface="Calibri" pitchFamily="34" charset="-122"/>
                <a:cs typeface="Calibri" pitchFamily="34" charset="-120"/>
              </a:rPr>
              <a:t>4   PLATFORM</a:t>
            </a:r>
            <a:endParaRPr lang="en-US" sz="1200" dirty="0"/>
          </a:p>
        </p:txBody>
      </p:sp>
      <p:sp>
        <p:nvSpPr>
          <p:cNvPr id="59" name="Text 57"/>
          <p:cNvSpPr/>
          <p:nvPr/>
        </p:nvSpPr>
        <p:spPr>
          <a:xfrm>
            <a:off x="2560320" y="5212080"/>
            <a:ext cx="9144000" cy="146304"/>
          </a:xfrm>
          <a:prstGeom prst="rect">
            <a:avLst/>
          </a:prstGeom>
          <a:noFill/>
          <a:ln/>
        </p:spPr>
        <p:txBody>
          <a:bodyPr wrap="square" rtlCol="0" anchor="ctr"/>
          <a:lstStyle/>
          <a:p>
            <a:pPr marL="0" indent="0">
              <a:buNone/>
            </a:pPr>
            <a:r>
              <a:rPr lang="en-US" sz="800" i="1" dirty="0">
                <a:solidFill>
                  <a:srgbClr val="6B7670"/>
                </a:solidFill>
                <a:latin typeface="Calibri" pitchFamily="34" charset="0"/>
                <a:ea typeface="Calibri" pitchFamily="34" charset="-122"/>
                <a:cs typeface="Calibri" pitchFamily="34" charset="-120"/>
              </a:rPr>
              <a:t>the enablement layer — built because of what the left side needs</a:t>
            </a:r>
            <a:endParaRPr lang="en-US" sz="800" dirty="0"/>
          </a:p>
        </p:txBody>
      </p:sp>
      <p:sp>
        <p:nvSpPr>
          <p:cNvPr id="60" name="Shape 58"/>
          <p:cNvSpPr/>
          <p:nvPr/>
        </p:nvSpPr>
        <p:spPr>
          <a:xfrm>
            <a:off x="2615184" y="5367528"/>
            <a:ext cx="4343400" cy="877824"/>
          </a:xfrm>
          <a:prstGeom prst="rect">
            <a:avLst/>
          </a:prstGeom>
          <a:solidFill>
            <a:srgbClr val="F6EFE0"/>
          </a:solidFill>
          <a:ln w="9525">
            <a:solidFill>
              <a:srgbClr val="9C6B16"/>
            </a:solidFill>
            <a:prstDash val="solid"/>
          </a:ln>
        </p:spPr>
        <p:txBody>
          <a:bodyPr/>
          <a:lstStyle/>
          <a:p>
            <a:endParaRPr lang="en-US"/>
          </a:p>
        </p:txBody>
      </p:sp>
      <p:sp>
        <p:nvSpPr>
          <p:cNvPr id="61" name="Text 59"/>
          <p:cNvSpPr/>
          <p:nvPr/>
        </p:nvSpPr>
        <p:spPr>
          <a:xfrm>
            <a:off x="2670048" y="5422392"/>
            <a:ext cx="4123944" cy="164592"/>
          </a:xfrm>
          <a:prstGeom prst="rect">
            <a:avLst/>
          </a:prstGeom>
          <a:noFill/>
          <a:ln/>
        </p:spPr>
        <p:txBody>
          <a:bodyPr wrap="square" rtlCol="0" anchor="ctr"/>
          <a:lstStyle/>
          <a:p>
            <a:pPr marL="0" indent="0">
              <a:buNone/>
            </a:pPr>
            <a:r>
              <a:rPr lang="en-US" sz="850" b="1" dirty="0">
                <a:solidFill>
                  <a:srgbClr val="9C6B16"/>
                </a:solidFill>
                <a:latin typeface="Calibri" pitchFamily="34" charset="0"/>
                <a:ea typeface="Calibri" pitchFamily="34" charset="-122"/>
                <a:cs typeface="Calibri" pitchFamily="34" charset="-120"/>
              </a:rPr>
              <a:t>The driver: Consumption</a:t>
            </a:r>
            <a:endParaRPr lang="en-US" sz="850" dirty="0"/>
          </a:p>
        </p:txBody>
      </p:sp>
      <p:sp>
        <p:nvSpPr>
          <p:cNvPr id="62" name="Text 60"/>
          <p:cNvSpPr/>
          <p:nvPr/>
        </p:nvSpPr>
        <p:spPr>
          <a:xfrm>
            <a:off x="2670048" y="5605272"/>
            <a:ext cx="4123944" cy="621792"/>
          </a:xfrm>
          <a:prstGeom prst="rect">
            <a:avLst/>
          </a:prstGeom>
          <a:noFill/>
          <a:ln/>
        </p:spPr>
        <p:txBody>
          <a:bodyPr wrap="square" rtlCol="0" anchor="t"/>
          <a:lstStyle/>
          <a:p>
            <a:pPr marL="342900" indent="-342900">
              <a:lnSpc>
                <a:spcPts val="850"/>
              </a:lnSpc>
              <a:buSzPct val="100000"/>
              <a:buChar char="▪"/>
            </a:pPr>
            <a:r>
              <a:rPr lang="en-US" sz="700" dirty="0">
                <a:solidFill>
                  <a:srgbClr val="1C2830"/>
                </a:solidFill>
                <a:latin typeface="Calibri" pitchFamily="34" charset="0"/>
                <a:ea typeface="Calibri" pitchFamily="34" charset="-122"/>
                <a:cs typeface="Calibri" pitchFamily="34" charset="-120"/>
              </a:rPr>
              <a:t>Discover</a:t>
            </a:r>
            <a:endParaRPr lang="en-US" sz="700" dirty="0"/>
          </a:p>
          <a:p>
            <a:pPr marL="342900" indent="-342900">
              <a:lnSpc>
                <a:spcPts val="850"/>
              </a:lnSpc>
              <a:buSzPct val="100000"/>
              <a:buChar char="▪"/>
            </a:pPr>
            <a:r>
              <a:rPr lang="en-US" sz="700" dirty="0">
                <a:solidFill>
                  <a:srgbClr val="1C2830"/>
                </a:solidFill>
                <a:latin typeface="Calibri" pitchFamily="34" charset="0"/>
                <a:ea typeface="Calibri" pitchFamily="34" charset="-122"/>
                <a:cs typeface="Calibri" pitchFamily="34" charset="-120"/>
              </a:rPr>
              <a:t>Explore</a:t>
            </a:r>
            <a:endParaRPr lang="en-US" sz="700" dirty="0"/>
          </a:p>
          <a:p>
            <a:pPr marL="342900" indent="-342900">
              <a:lnSpc>
                <a:spcPts val="850"/>
              </a:lnSpc>
              <a:buSzPct val="100000"/>
              <a:buChar char="▪"/>
            </a:pPr>
            <a:r>
              <a:rPr lang="en-US" sz="700" dirty="0">
                <a:solidFill>
                  <a:srgbClr val="1C2830"/>
                </a:solidFill>
                <a:latin typeface="Calibri" pitchFamily="34" charset="0"/>
                <a:ea typeface="Calibri" pitchFamily="34" charset="-122"/>
                <a:cs typeface="Calibri" pitchFamily="34" charset="-120"/>
              </a:rPr>
              <a:t>Query</a:t>
            </a:r>
            <a:endParaRPr lang="en-US" sz="700" dirty="0"/>
          </a:p>
          <a:p>
            <a:pPr marL="342900" indent="-342900">
              <a:lnSpc>
                <a:spcPts val="850"/>
              </a:lnSpc>
              <a:buSzPct val="100000"/>
              <a:buChar char="▪"/>
            </a:pPr>
            <a:r>
              <a:rPr lang="en-US" sz="700" dirty="0">
                <a:solidFill>
                  <a:srgbClr val="1C2830"/>
                </a:solidFill>
                <a:latin typeface="Calibri" pitchFamily="34" charset="0"/>
                <a:ea typeface="Calibri" pitchFamily="34" charset="-122"/>
                <a:cs typeface="Calibri" pitchFamily="34" charset="-120"/>
              </a:rPr>
              <a:t>Run / Execute</a:t>
            </a:r>
            <a:endParaRPr lang="en-US" sz="700" dirty="0"/>
          </a:p>
          <a:p>
            <a:pPr marL="342900" indent="-342900">
              <a:lnSpc>
                <a:spcPts val="850"/>
              </a:lnSpc>
              <a:buSzPct val="100000"/>
              <a:buChar char="▪"/>
            </a:pPr>
            <a:r>
              <a:rPr lang="en-US" sz="700" dirty="0">
                <a:solidFill>
                  <a:srgbClr val="1C2830"/>
                </a:solidFill>
                <a:latin typeface="Calibri" pitchFamily="34" charset="0"/>
                <a:ea typeface="Calibri" pitchFamily="34" charset="-122"/>
                <a:cs typeface="Calibri" pitchFamily="34" charset="-120"/>
              </a:rPr>
              <a:t>Analytics</a:t>
            </a:r>
            <a:endParaRPr lang="en-US" sz="700" dirty="0"/>
          </a:p>
        </p:txBody>
      </p:sp>
      <p:sp>
        <p:nvSpPr>
          <p:cNvPr id="63" name="Shape 61"/>
          <p:cNvSpPr/>
          <p:nvPr/>
        </p:nvSpPr>
        <p:spPr>
          <a:xfrm>
            <a:off x="6958584" y="5824728"/>
            <a:ext cx="347472" cy="0"/>
          </a:xfrm>
          <a:prstGeom prst="line">
            <a:avLst/>
          </a:prstGeom>
          <a:noFill/>
          <a:ln w="19050">
            <a:solidFill>
              <a:srgbClr val="9C6B16"/>
            </a:solidFill>
            <a:prstDash val="solid"/>
            <a:tailEnd type="triangle"/>
          </a:ln>
        </p:spPr>
        <p:txBody>
          <a:bodyPr/>
          <a:lstStyle/>
          <a:p>
            <a:endParaRPr lang="en-US"/>
          </a:p>
        </p:txBody>
      </p:sp>
      <p:sp>
        <p:nvSpPr>
          <p:cNvPr id="64" name="Text 62"/>
          <p:cNvSpPr/>
          <p:nvPr/>
        </p:nvSpPr>
        <p:spPr>
          <a:xfrm>
            <a:off x="6885432" y="5641848"/>
            <a:ext cx="457200" cy="146304"/>
          </a:xfrm>
          <a:prstGeom prst="rect">
            <a:avLst/>
          </a:prstGeom>
          <a:noFill/>
          <a:ln/>
        </p:spPr>
        <p:txBody>
          <a:bodyPr wrap="square" rtlCol="0" anchor="ctr"/>
          <a:lstStyle/>
          <a:p>
            <a:pPr marL="0" indent="0" algn="ctr">
              <a:buNone/>
            </a:pPr>
            <a:r>
              <a:rPr lang="en-US" sz="650" i="1" dirty="0">
                <a:solidFill>
                  <a:srgbClr val="6B7670"/>
                </a:solidFill>
                <a:latin typeface="Calibri" pitchFamily="34" charset="0"/>
                <a:ea typeface="Calibri" pitchFamily="34" charset="-122"/>
                <a:cs typeface="Calibri" pitchFamily="34" charset="-120"/>
              </a:rPr>
              <a:t>requires</a:t>
            </a:r>
            <a:endParaRPr lang="en-US" sz="650" dirty="0"/>
          </a:p>
        </p:txBody>
      </p:sp>
      <p:sp>
        <p:nvSpPr>
          <p:cNvPr id="65" name="Shape 63"/>
          <p:cNvSpPr/>
          <p:nvPr/>
        </p:nvSpPr>
        <p:spPr>
          <a:xfrm>
            <a:off x="7360920" y="5385816"/>
            <a:ext cx="4343400" cy="877824"/>
          </a:xfrm>
          <a:prstGeom prst="rect">
            <a:avLst/>
          </a:prstGeom>
          <a:solidFill>
            <a:srgbClr val="F6EFE0"/>
          </a:solidFill>
          <a:ln w="9525">
            <a:solidFill>
              <a:srgbClr val="9C6B16"/>
            </a:solidFill>
            <a:prstDash val="solid"/>
          </a:ln>
        </p:spPr>
        <p:txBody>
          <a:bodyPr/>
          <a:lstStyle/>
          <a:p>
            <a:endParaRPr lang="en-US"/>
          </a:p>
        </p:txBody>
      </p:sp>
      <p:sp>
        <p:nvSpPr>
          <p:cNvPr id="66" name="Text 64"/>
          <p:cNvSpPr/>
          <p:nvPr/>
        </p:nvSpPr>
        <p:spPr>
          <a:xfrm>
            <a:off x="7470648" y="5422392"/>
            <a:ext cx="4123944" cy="164592"/>
          </a:xfrm>
          <a:prstGeom prst="rect">
            <a:avLst/>
          </a:prstGeom>
          <a:noFill/>
          <a:ln/>
        </p:spPr>
        <p:txBody>
          <a:bodyPr wrap="square" rtlCol="0" anchor="ctr"/>
          <a:lstStyle/>
          <a:p>
            <a:pPr marL="0" indent="0">
              <a:buNone/>
            </a:pPr>
            <a:r>
              <a:rPr lang="en-US" sz="850" b="1" dirty="0">
                <a:solidFill>
                  <a:srgbClr val="9C6B16"/>
                </a:solidFill>
                <a:latin typeface="Calibri" pitchFamily="34" charset="0"/>
                <a:ea typeface="Calibri" pitchFamily="34" charset="-122"/>
                <a:cs typeface="Calibri" pitchFamily="34" charset="-120"/>
              </a:rPr>
              <a:t>The response: Enablement</a:t>
            </a:r>
            <a:endParaRPr lang="en-US" sz="850" dirty="0"/>
          </a:p>
        </p:txBody>
      </p:sp>
      <p:sp>
        <p:nvSpPr>
          <p:cNvPr id="67" name="Text 65"/>
          <p:cNvSpPr/>
          <p:nvPr/>
        </p:nvSpPr>
        <p:spPr>
          <a:xfrm>
            <a:off x="7470648" y="5605272"/>
            <a:ext cx="4123944" cy="621792"/>
          </a:xfrm>
          <a:prstGeom prst="rect">
            <a:avLst/>
          </a:prstGeom>
          <a:noFill/>
          <a:ln/>
        </p:spPr>
        <p:txBody>
          <a:bodyPr wrap="square" rtlCol="0" anchor="t"/>
          <a:lstStyle/>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Data Marketplace &amp; Catalog</a:t>
            </a:r>
            <a:endParaRPr lang="en-US" sz="700" dirty="0"/>
          </a:p>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Unity Catalog</a:t>
            </a:r>
            <a:endParaRPr lang="en-US" sz="700" dirty="0"/>
          </a:p>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Data Contracts</a:t>
            </a:r>
            <a:endParaRPr lang="en-US" sz="700" dirty="0"/>
          </a:p>
          <a:p>
            <a:pPr marL="342900" indent="-342900">
              <a:lnSpc>
                <a:spcPts val="900"/>
              </a:lnSpc>
              <a:buSzPct val="100000"/>
              <a:buChar char="▪"/>
            </a:pPr>
            <a:r>
              <a:rPr lang="en-US" sz="700" dirty="0">
                <a:solidFill>
                  <a:srgbClr val="1C2830"/>
                </a:solidFill>
                <a:latin typeface="Calibri" pitchFamily="34" charset="0"/>
                <a:ea typeface="Calibri" pitchFamily="34" charset="-122"/>
                <a:cs typeface="Calibri" pitchFamily="34" charset="-120"/>
              </a:rPr>
              <a:t>Registration / Onboarding</a:t>
            </a:r>
            <a:endParaRPr lang="en-US" sz="700" dirty="0"/>
          </a:p>
        </p:txBody>
      </p:sp>
      <p:sp>
        <p:nvSpPr>
          <p:cNvPr id="68" name="Shape 66"/>
          <p:cNvSpPr/>
          <p:nvPr/>
        </p:nvSpPr>
        <p:spPr>
          <a:xfrm>
            <a:off x="320040" y="6400800"/>
            <a:ext cx="11548872" cy="182880"/>
          </a:xfrm>
          <a:prstGeom prst="rect">
            <a:avLst/>
          </a:prstGeom>
          <a:ln w="12700">
            <a:solidFill>
              <a:srgbClr val="D8D2C4"/>
            </a:solidFill>
            <a:prstDash val="dash"/>
          </a:ln>
        </p:spPr>
        <p:txBody>
          <a:bodyPr/>
          <a:lstStyle/>
          <a:p>
            <a:endParaRPr lang="en-US"/>
          </a:p>
        </p:txBody>
      </p:sp>
      <p:sp>
        <p:nvSpPr>
          <p:cNvPr id="69" name="Text 67"/>
          <p:cNvSpPr/>
          <p:nvPr/>
        </p:nvSpPr>
        <p:spPr>
          <a:xfrm>
            <a:off x="411480" y="6400800"/>
            <a:ext cx="11365992" cy="182880"/>
          </a:xfrm>
          <a:prstGeom prst="rect">
            <a:avLst/>
          </a:prstGeom>
          <a:noFill/>
          <a:ln/>
        </p:spPr>
        <p:txBody>
          <a:bodyPr wrap="square" rtlCol="0" anchor="ctr"/>
          <a:lstStyle/>
          <a:p>
            <a:pPr marL="0" indent="0" algn="ctr">
              <a:buNone/>
            </a:pPr>
            <a:r>
              <a:rPr lang="en-US" sz="800" i="1" dirty="0">
                <a:solidFill>
                  <a:srgbClr val="6B7670"/>
                </a:solidFill>
                <a:latin typeface="Calibri" pitchFamily="34" charset="0"/>
                <a:ea typeface="Calibri" pitchFamily="34" charset="-122"/>
                <a:cs typeface="Calibri" pitchFamily="34" charset="-120"/>
              </a:rPr>
              <a:t>Next pass: show current state — Risk-produced data already lands in the lake today (finished outcomes only); the processing and consumption behind it still sit outside the platform.</a:t>
            </a:r>
            <a:endParaRPr lang="en-US" sz="800" dirty="0"/>
          </a:p>
        </p:txBody>
      </p:sp>
      <p:sp>
        <p:nvSpPr>
          <p:cNvPr id="70" name="Text 68"/>
          <p:cNvSpPr/>
          <p:nvPr/>
        </p:nvSpPr>
        <p:spPr>
          <a:xfrm>
            <a:off x="365760" y="6620256"/>
            <a:ext cx="5486400" cy="164592"/>
          </a:xfrm>
          <a:prstGeom prst="rect">
            <a:avLst/>
          </a:prstGeom>
          <a:noFill/>
          <a:ln/>
        </p:spPr>
        <p:txBody>
          <a:bodyPr wrap="square" rtlCol="0" anchor="ctr"/>
          <a:lstStyle/>
          <a:p>
            <a:pPr marL="0" indent="0">
              <a:buNone/>
            </a:pPr>
            <a:r>
              <a:rPr lang="en-US" sz="800" dirty="0">
                <a:solidFill>
                  <a:srgbClr val="6B7670"/>
                </a:solidFill>
                <a:latin typeface="Calibri" pitchFamily="34" charset="0"/>
                <a:ea typeface="Calibri" pitchFamily="34" charset="-122"/>
                <a:cs typeface="Calibri" pitchFamily="34" charset="-120"/>
              </a:rPr>
              <a:t>TD Securities · Risk Data Platform</a:t>
            </a:r>
            <a:endParaRPr lang="en-US" sz="800" dirty="0"/>
          </a:p>
        </p:txBody>
      </p:sp>
      <p:sp>
        <p:nvSpPr>
          <p:cNvPr id="71" name="Text 69"/>
          <p:cNvSpPr/>
          <p:nvPr/>
        </p:nvSpPr>
        <p:spPr>
          <a:xfrm>
            <a:off x="10424160" y="6620256"/>
            <a:ext cx="1371600" cy="164592"/>
          </a:xfrm>
          <a:prstGeom prst="rect">
            <a:avLst/>
          </a:prstGeom>
          <a:noFill/>
          <a:ln/>
        </p:spPr>
        <p:txBody>
          <a:bodyPr wrap="square" rtlCol="0" anchor="ctr"/>
          <a:lstStyle/>
          <a:p>
            <a:pPr marL="0" indent="0" algn="r">
              <a:buNone/>
            </a:pPr>
            <a:r>
              <a:rPr lang="en-US" sz="800" dirty="0">
                <a:solidFill>
                  <a:srgbClr val="6B7670"/>
                </a:solidFill>
                <a:latin typeface="Calibri" pitchFamily="34" charset="0"/>
                <a:ea typeface="Calibri" pitchFamily="34" charset="-122"/>
                <a:cs typeface="Calibri" pitchFamily="34" charset="-120"/>
              </a:rPr>
              <a:t>Internal   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31706-C77C-7324-E4B3-32C9111A2BFD}"/>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EE934C1F-6886-D222-3381-5CADCEDBE60C}"/>
              </a:ext>
            </a:extLst>
          </p:cNvPr>
          <p:cNvSpPr/>
          <p:nvPr/>
        </p:nvSpPr>
        <p:spPr>
          <a:xfrm>
            <a:off x="380000" y="1269986"/>
            <a:ext cx="2077370" cy="3776330"/>
          </a:xfrm>
          <a:prstGeom prst="roundRect">
            <a:avLst>
              <a:gd name="adj" fmla="val 1087"/>
            </a:avLst>
          </a:prstGeom>
          <a:noFill/>
          <a:ln w="15240">
            <a:solidFill>
              <a:srgbClr val="1F7A47"/>
            </a:solidFill>
            <a:prstDash val="solid"/>
          </a:ln>
        </p:spPr>
        <p:txBody>
          <a:bodyPr/>
          <a:lstStyle/>
          <a:p>
            <a:endParaRPr lang="en-US"/>
          </a:p>
        </p:txBody>
      </p:sp>
      <p:sp>
        <p:nvSpPr>
          <p:cNvPr id="8" name="TextBox 7">
            <a:extLst>
              <a:ext uri="{FF2B5EF4-FFF2-40B4-BE49-F238E27FC236}">
                <a16:creationId xmlns:a16="http://schemas.microsoft.com/office/drawing/2014/main" id="{8235C131-979B-63EA-C65E-0CD6C30F2E2B}"/>
              </a:ext>
            </a:extLst>
          </p:cNvPr>
          <p:cNvSpPr txBox="1"/>
          <p:nvPr/>
        </p:nvSpPr>
        <p:spPr>
          <a:xfrm>
            <a:off x="546409" y="890143"/>
            <a:ext cx="1308371" cy="276999"/>
          </a:xfrm>
          <a:prstGeom prst="rect">
            <a:avLst/>
          </a:prstGeom>
          <a:noFill/>
        </p:spPr>
        <p:txBody>
          <a:bodyPr wrap="none" rtlCol="0">
            <a:spAutoFit/>
          </a:bodyPr>
          <a:lstStyle/>
          <a:p>
            <a:r>
              <a:rPr lang="en-US" sz="1200" dirty="0"/>
              <a:t>Business Domains</a:t>
            </a:r>
          </a:p>
        </p:txBody>
      </p:sp>
      <p:grpSp>
        <p:nvGrpSpPr>
          <p:cNvPr id="12" name="Group 11">
            <a:extLst>
              <a:ext uri="{FF2B5EF4-FFF2-40B4-BE49-F238E27FC236}">
                <a16:creationId xmlns:a16="http://schemas.microsoft.com/office/drawing/2014/main" id="{E234312D-D17B-3E1B-9A10-4434D8A72BBE}"/>
              </a:ext>
            </a:extLst>
          </p:cNvPr>
          <p:cNvGrpSpPr/>
          <p:nvPr/>
        </p:nvGrpSpPr>
        <p:grpSpPr>
          <a:xfrm>
            <a:off x="380000" y="1307703"/>
            <a:ext cx="1986456" cy="1510783"/>
            <a:chOff x="4120055" y="4733086"/>
            <a:chExt cx="1986456" cy="1510783"/>
          </a:xfrm>
        </p:grpSpPr>
        <p:sp>
          <p:nvSpPr>
            <p:cNvPr id="9" name="Shape 2">
              <a:extLst>
                <a:ext uri="{FF2B5EF4-FFF2-40B4-BE49-F238E27FC236}">
                  <a16:creationId xmlns:a16="http://schemas.microsoft.com/office/drawing/2014/main" id="{2DDDDBF1-46FF-C06E-BA07-9D2D91F12EC0}"/>
                </a:ext>
              </a:extLst>
            </p:cNvPr>
            <p:cNvSpPr/>
            <p:nvPr/>
          </p:nvSpPr>
          <p:spPr>
            <a:xfrm>
              <a:off x="4200220" y="5001835"/>
              <a:ext cx="1906290" cy="1230799"/>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10" name="TextBox 9">
              <a:extLst>
                <a:ext uri="{FF2B5EF4-FFF2-40B4-BE49-F238E27FC236}">
                  <a16:creationId xmlns:a16="http://schemas.microsoft.com/office/drawing/2014/main" id="{6E66620C-1CBF-3D20-7D56-2E9D4B8815CC}"/>
                </a:ext>
              </a:extLst>
            </p:cNvPr>
            <p:cNvSpPr txBox="1"/>
            <p:nvPr/>
          </p:nvSpPr>
          <p:spPr>
            <a:xfrm>
              <a:off x="4200220" y="4858874"/>
              <a:ext cx="1906291" cy="1384995"/>
            </a:xfrm>
            <a:prstGeom prst="rect">
              <a:avLst/>
            </a:prstGeom>
            <a:noFill/>
          </p:spPr>
          <p:txBody>
            <a:bodyPr wrap="none" rtlCol="0">
              <a:spAutoFit/>
            </a:bodyPr>
            <a:lstStyle/>
            <a:p>
              <a:endParaRPr lang="en-US" sz="1200" b="1" dirty="0"/>
            </a:p>
            <a:p>
              <a:r>
                <a:rPr lang="en-US" sz="1100" b="1" i="1" dirty="0"/>
                <a:t>Capabilities</a:t>
              </a:r>
            </a:p>
            <a:p>
              <a:pPr marL="171450" indent="-171450">
                <a:buFont typeface="Arial" panose="020B0604020202020204" pitchFamily="34" charset="0"/>
                <a:buChar char="•"/>
              </a:pPr>
              <a:r>
                <a:rPr lang="en-US" sz="1000" dirty="0"/>
                <a:t>Valuations</a:t>
              </a:r>
            </a:p>
            <a:p>
              <a:pPr marL="171450" indent="-171450">
                <a:buFont typeface="Arial" panose="020B0604020202020204" pitchFamily="34" charset="0"/>
                <a:buChar char="•"/>
              </a:pPr>
              <a:r>
                <a:rPr lang="en-US" sz="1000" dirty="0"/>
                <a:t>Credit Risk – XVALA</a:t>
              </a:r>
            </a:p>
            <a:p>
              <a:pPr marL="171450" indent="-171450">
                <a:buFont typeface="Arial" panose="020B0604020202020204" pitchFamily="34" charset="0"/>
                <a:buChar char="•"/>
              </a:pPr>
              <a:r>
                <a:rPr lang="en-US" sz="1000" dirty="0"/>
                <a:t>Counterparty Risk</a:t>
              </a:r>
            </a:p>
            <a:p>
              <a:pPr marL="171450" indent="-171450">
                <a:buFont typeface="Arial" panose="020B0604020202020204" pitchFamily="34" charset="0"/>
                <a:buChar char="•"/>
              </a:pPr>
              <a:r>
                <a:rPr lang="en-US" sz="1000" dirty="0"/>
                <a:t>Limit Management</a:t>
              </a:r>
            </a:p>
            <a:p>
              <a:pPr marL="171450" indent="-171450">
                <a:buFont typeface="Arial" panose="020B0604020202020204" pitchFamily="34" charset="0"/>
                <a:buChar char="•"/>
              </a:pPr>
              <a:r>
                <a:rPr lang="en-US" sz="1000" dirty="0"/>
                <a:t>Collateral Management (OTC)</a:t>
              </a:r>
            </a:p>
            <a:p>
              <a:pPr marL="171450" indent="-171450">
                <a:buFont typeface="Arial" panose="020B0604020202020204" pitchFamily="34" charset="0"/>
                <a:buChar char="•"/>
              </a:pPr>
              <a:r>
                <a:rPr lang="en-US" sz="1000" dirty="0"/>
                <a:t>Liquidity Risk</a:t>
              </a:r>
            </a:p>
          </p:txBody>
        </p:sp>
        <p:sp>
          <p:nvSpPr>
            <p:cNvPr id="11" name="TextBox 10">
              <a:extLst>
                <a:ext uri="{FF2B5EF4-FFF2-40B4-BE49-F238E27FC236}">
                  <a16:creationId xmlns:a16="http://schemas.microsoft.com/office/drawing/2014/main" id="{8CDD86A6-CF59-63C3-0BA0-E2A3C9282084}"/>
                </a:ext>
              </a:extLst>
            </p:cNvPr>
            <p:cNvSpPr txBox="1"/>
            <p:nvPr/>
          </p:nvSpPr>
          <p:spPr>
            <a:xfrm>
              <a:off x="4120055" y="4733086"/>
              <a:ext cx="457176" cy="276999"/>
            </a:xfrm>
            <a:prstGeom prst="rect">
              <a:avLst/>
            </a:prstGeom>
            <a:noFill/>
          </p:spPr>
          <p:txBody>
            <a:bodyPr wrap="none" rtlCol="0">
              <a:spAutoFit/>
            </a:bodyPr>
            <a:lstStyle/>
            <a:p>
              <a:r>
                <a:rPr lang="en-US" sz="1200" dirty="0"/>
                <a:t>RISK</a:t>
              </a:r>
            </a:p>
          </p:txBody>
        </p:sp>
      </p:grpSp>
      <p:grpSp>
        <p:nvGrpSpPr>
          <p:cNvPr id="17" name="Group 16">
            <a:extLst>
              <a:ext uri="{FF2B5EF4-FFF2-40B4-BE49-F238E27FC236}">
                <a16:creationId xmlns:a16="http://schemas.microsoft.com/office/drawing/2014/main" id="{79DBA5A2-1DB4-A1B0-0E63-CBE6AF3AF4FE}"/>
              </a:ext>
            </a:extLst>
          </p:cNvPr>
          <p:cNvGrpSpPr/>
          <p:nvPr/>
        </p:nvGrpSpPr>
        <p:grpSpPr>
          <a:xfrm>
            <a:off x="420084" y="2883660"/>
            <a:ext cx="1906289" cy="297285"/>
            <a:chOff x="1080972" y="4568687"/>
            <a:chExt cx="1641190" cy="297285"/>
          </a:xfrm>
        </p:grpSpPr>
        <p:sp>
          <p:nvSpPr>
            <p:cNvPr id="13" name="Shape 2">
              <a:extLst>
                <a:ext uri="{FF2B5EF4-FFF2-40B4-BE49-F238E27FC236}">
                  <a16:creationId xmlns:a16="http://schemas.microsoft.com/office/drawing/2014/main" id="{215FD1B1-5977-C13C-A42C-D5B29DA1ACE3}"/>
                </a:ext>
              </a:extLst>
            </p:cNvPr>
            <p:cNvSpPr/>
            <p:nvPr/>
          </p:nvSpPr>
          <p:spPr>
            <a:xfrm>
              <a:off x="1080972" y="4568687"/>
              <a:ext cx="1641190" cy="297285"/>
            </a:xfrm>
            <a:prstGeom prst="roundRect">
              <a:avLst>
                <a:gd name="adj" fmla="val 1087"/>
              </a:avLst>
            </a:prstGeom>
            <a:solidFill>
              <a:srgbClr val="FBFDFB"/>
            </a:solidFill>
            <a:ln w="15240">
              <a:solidFill>
                <a:srgbClr val="1F7A47"/>
              </a:solidFill>
              <a:prstDash val="solid"/>
            </a:ln>
          </p:spPr>
          <p:txBody>
            <a:bodyPr/>
            <a:lstStyle/>
            <a:p>
              <a:endParaRPr lang="en-US" dirty="0"/>
            </a:p>
          </p:txBody>
        </p:sp>
        <p:sp>
          <p:nvSpPr>
            <p:cNvPr id="14" name="TextBox 13">
              <a:extLst>
                <a:ext uri="{FF2B5EF4-FFF2-40B4-BE49-F238E27FC236}">
                  <a16:creationId xmlns:a16="http://schemas.microsoft.com/office/drawing/2014/main" id="{05584269-6D9A-3E55-C564-3B11DE419035}"/>
                </a:ext>
              </a:extLst>
            </p:cNvPr>
            <p:cNvSpPr txBox="1"/>
            <p:nvPr/>
          </p:nvSpPr>
          <p:spPr>
            <a:xfrm>
              <a:off x="1230256" y="4568687"/>
              <a:ext cx="1234179" cy="276999"/>
            </a:xfrm>
            <a:prstGeom prst="rect">
              <a:avLst/>
            </a:prstGeom>
            <a:noFill/>
          </p:spPr>
          <p:txBody>
            <a:bodyPr wrap="none" rtlCol="0">
              <a:spAutoFit/>
            </a:bodyPr>
            <a:lstStyle/>
            <a:p>
              <a:r>
                <a:rPr lang="en-US" sz="1200" dirty="0"/>
                <a:t>Transaction Banking</a:t>
              </a:r>
            </a:p>
          </p:txBody>
        </p:sp>
      </p:grpSp>
      <p:grpSp>
        <p:nvGrpSpPr>
          <p:cNvPr id="18" name="Group 17">
            <a:extLst>
              <a:ext uri="{FF2B5EF4-FFF2-40B4-BE49-F238E27FC236}">
                <a16:creationId xmlns:a16="http://schemas.microsoft.com/office/drawing/2014/main" id="{EE9BEC85-FBED-189D-7A94-664CBAC647C7}"/>
              </a:ext>
            </a:extLst>
          </p:cNvPr>
          <p:cNvGrpSpPr/>
          <p:nvPr/>
        </p:nvGrpSpPr>
        <p:grpSpPr>
          <a:xfrm>
            <a:off x="420084" y="3263455"/>
            <a:ext cx="1906289" cy="297285"/>
            <a:chOff x="1091500" y="5196820"/>
            <a:chExt cx="1641190" cy="297285"/>
          </a:xfrm>
        </p:grpSpPr>
        <p:sp>
          <p:nvSpPr>
            <p:cNvPr id="15" name="Shape 2">
              <a:extLst>
                <a:ext uri="{FF2B5EF4-FFF2-40B4-BE49-F238E27FC236}">
                  <a16:creationId xmlns:a16="http://schemas.microsoft.com/office/drawing/2014/main" id="{E2CB7D62-6325-9CBC-3D13-102398D09647}"/>
                </a:ext>
              </a:extLst>
            </p:cNvPr>
            <p:cNvSpPr/>
            <p:nvPr/>
          </p:nvSpPr>
          <p:spPr>
            <a:xfrm>
              <a:off x="1091500" y="5196820"/>
              <a:ext cx="1641190" cy="297285"/>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16" name="TextBox 15">
              <a:extLst>
                <a:ext uri="{FF2B5EF4-FFF2-40B4-BE49-F238E27FC236}">
                  <a16:creationId xmlns:a16="http://schemas.microsoft.com/office/drawing/2014/main" id="{AB7F2471-DDA3-DB24-F3AC-3D5880C69D3C}"/>
                </a:ext>
              </a:extLst>
            </p:cNvPr>
            <p:cNvSpPr txBox="1"/>
            <p:nvPr/>
          </p:nvSpPr>
          <p:spPr>
            <a:xfrm>
              <a:off x="1235260" y="5217106"/>
              <a:ext cx="1413258" cy="276999"/>
            </a:xfrm>
            <a:prstGeom prst="rect">
              <a:avLst/>
            </a:prstGeom>
            <a:noFill/>
          </p:spPr>
          <p:txBody>
            <a:bodyPr wrap="none" rtlCol="0">
              <a:spAutoFit/>
            </a:bodyPr>
            <a:lstStyle>
              <a:lvl1pPr>
                <a:defRPr sz="1400"/>
              </a:lvl1pPr>
            </a:lstStyle>
            <a:p>
              <a:r>
                <a:rPr lang="en-US" sz="1200" dirty="0"/>
                <a:t>Trade Lifecycle &amp; Oper</a:t>
              </a:r>
            </a:p>
          </p:txBody>
        </p:sp>
      </p:grpSp>
      <p:grpSp>
        <p:nvGrpSpPr>
          <p:cNvPr id="86" name="Group 85">
            <a:extLst>
              <a:ext uri="{FF2B5EF4-FFF2-40B4-BE49-F238E27FC236}">
                <a16:creationId xmlns:a16="http://schemas.microsoft.com/office/drawing/2014/main" id="{739B040B-A533-FC91-47D3-AFA8A76F5711}"/>
              </a:ext>
            </a:extLst>
          </p:cNvPr>
          <p:cNvGrpSpPr/>
          <p:nvPr/>
        </p:nvGrpSpPr>
        <p:grpSpPr>
          <a:xfrm>
            <a:off x="5933189" y="974522"/>
            <a:ext cx="1698863" cy="3992364"/>
            <a:chOff x="4660015" y="944023"/>
            <a:chExt cx="1698863" cy="3992364"/>
          </a:xfrm>
        </p:grpSpPr>
        <p:sp>
          <p:nvSpPr>
            <p:cNvPr id="3" name="Shape 2">
              <a:extLst>
                <a:ext uri="{FF2B5EF4-FFF2-40B4-BE49-F238E27FC236}">
                  <a16:creationId xmlns:a16="http://schemas.microsoft.com/office/drawing/2014/main" id="{7DB71644-4F71-AC1A-6BA6-1DE265673805}"/>
                </a:ext>
              </a:extLst>
            </p:cNvPr>
            <p:cNvSpPr/>
            <p:nvPr/>
          </p:nvSpPr>
          <p:spPr>
            <a:xfrm>
              <a:off x="4717688" y="1295399"/>
              <a:ext cx="1641190" cy="3640988"/>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50" name="Shape 2">
              <a:extLst>
                <a:ext uri="{FF2B5EF4-FFF2-40B4-BE49-F238E27FC236}">
                  <a16:creationId xmlns:a16="http://schemas.microsoft.com/office/drawing/2014/main" id="{8F2AD3A9-EC60-5480-B94A-AD3D1B70449C}"/>
                </a:ext>
              </a:extLst>
            </p:cNvPr>
            <p:cNvSpPr/>
            <p:nvPr/>
          </p:nvSpPr>
          <p:spPr>
            <a:xfrm>
              <a:off x="4815317" y="1586170"/>
              <a:ext cx="1436396" cy="717036"/>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43" name="TextBox 42">
              <a:extLst>
                <a:ext uri="{FF2B5EF4-FFF2-40B4-BE49-F238E27FC236}">
                  <a16:creationId xmlns:a16="http://schemas.microsoft.com/office/drawing/2014/main" id="{E469DB44-96F1-3A06-94F3-A0E69CEDCBE9}"/>
                </a:ext>
              </a:extLst>
            </p:cNvPr>
            <p:cNvSpPr txBox="1"/>
            <p:nvPr/>
          </p:nvSpPr>
          <p:spPr>
            <a:xfrm>
              <a:off x="4843815" y="1595320"/>
              <a:ext cx="627095" cy="707886"/>
            </a:xfrm>
            <a:prstGeom prst="rect">
              <a:avLst/>
            </a:prstGeom>
            <a:noFill/>
          </p:spPr>
          <p:txBody>
            <a:bodyPr wrap="none" rtlCol="0">
              <a:spAutoFit/>
            </a:bodyPr>
            <a:lstStyle/>
            <a:p>
              <a:r>
                <a:rPr lang="en-US" sz="1000" dirty="0"/>
                <a:t>XVALA</a:t>
              </a:r>
            </a:p>
            <a:p>
              <a:r>
                <a:rPr lang="en-US" sz="1000" dirty="0"/>
                <a:t>SCREAM</a:t>
              </a:r>
            </a:p>
            <a:p>
              <a:r>
                <a:rPr lang="en-US" sz="1000" dirty="0"/>
                <a:t>CMOS</a:t>
              </a:r>
            </a:p>
            <a:p>
              <a:r>
                <a:rPr lang="en-US" sz="1000" dirty="0"/>
                <a:t>RCAPS</a:t>
              </a:r>
            </a:p>
          </p:txBody>
        </p:sp>
        <p:sp>
          <p:nvSpPr>
            <p:cNvPr id="44" name="TextBox 43">
              <a:extLst>
                <a:ext uri="{FF2B5EF4-FFF2-40B4-BE49-F238E27FC236}">
                  <a16:creationId xmlns:a16="http://schemas.microsoft.com/office/drawing/2014/main" id="{5D3C057B-4C76-0674-A0B9-5FE51D803603}"/>
                </a:ext>
              </a:extLst>
            </p:cNvPr>
            <p:cNvSpPr txBox="1"/>
            <p:nvPr/>
          </p:nvSpPr>
          <p:spPr>
            <a:xfrm>
              <a:off x="4660015" y="944023"/>
              <a:ext cx="1698863" cy="276999"/>
            </a:xfrm>
            <a:prstGeom prst="rect">
              <a:avLst/>
            </a:prstGeom>
            <a:noFill/>
          </p:spPr>
          <p:txBody>
            <a:bodyPr wrap="none" rtlCol="0">
              <a:spAutoFit/>
            </a:bodyPr>
            <a:lstStyle/>
            <a:p>
              <a:r>
                <a:rPr lang="en-US" sz="1200" dirty="0"/>
                <a:t>Application Architecture</a:t>
              </a:r>
            </a:p>
          </p:txBody>
        </p:sp>
        <p:sp>
          <p:nvSpPr>
            <p:cNvPr id="52" name="TextBox 51">
              <a:extLst>
                <a:ext uri="{FF2B5EF4-FFF2-40B4-BE49-F238E27FC236}">
                  <a16:creationId xmlns:a16="http://schemas.microsoft.com/office/drawing/2014/main" id="{4C0BA487-034B-52CA-BB44-6A7B0A151FDA}"/>
                </a:ext>
              </a:extLst>
            </p:cNvPr>
            <p:cNvSpPr txBox="1"/>
            <p:nvPr/>
          </p:nvSpPr>
          <p:spPr>
            <a:xfrm>
              <a:off x="4711214" y="1321261"/>
              <a:ext cx="780214" cy="276999"/>
            </a:xfrm>
            <a:prstGeom prst="rect">
              <a:avLst/>
            </a:prstGeom>
            <a:noFill/>
          </p:spPr>
          <p:txBody>
            <a:bodyPr wrap="none" rtlCol="0">
              <a:spAutoFit/>
            </a:bodyPr>
            <a:lstStyle/>
            <a:p>
              <a:r>
                <a:rPr lang="en-US" sz="1200" dirty="0"/>
                <a:t>Risk Apps</a:t>
              </a:r>
            </a:p>
          </p:txBody>
        </p:sp>
        <p:grpSp>
          <p:nvGrpSpPr>
            <p:cNvPr id="56" name="Group 55">
              <a:extLst>
                <a:ext uri="{FF2B5EF4-FFF2-40B4-BE49-F238E27FC236}">
                  <a16:creationId xmlns:a16="http://schemas.microsoft.com/office/drawing/2014/main" id="{D8729756-DDB7-3BAA-57C1-10D989A7A5AB}"/>
                </a:ext>
              </a:extLst>
            </p:cNvPr>
            <p:cNvGrpSpPr/>
            <p:nvPr/>
          </p:nvGrpSpPr>
          <p:grpSpPr>
            <a:xfrm>
              <a:off x="4815317" y="2563210"/>
              <a:ext cx="1436396" cy="717036"/>
              <a:chOff x="4804397" y="2431194"/>
              <a:chExt cx="1436396" cy="717036"/>
            </a:xfrm>
          </p:grpSpPr>
          <p:sp>
            <p:nvSpPr>
              <p:cNvPr id="53" name="Shape 2">
                <a:extLst>
                  <a:ext uri="{FF2B5EF4-FFF2-40B4-BE49-F238E27FC236}">
                    <a16:creationId xmlns:a16="http://schemas.microsoft.com/office/drawing/2014/main" id="{58781EC4-4832-255E-A883-CDEC55CE7A89}"/>
                  </a:ext>
                </a:extLst>
              </p:cNvPr>
              <p:cNvSpPr/>
              <p:nvPr/>
            </p:nvSpPr>
            <p:spPr>
              <a:xfrm>
                <a:off x="4804397" y="2431194"/>
                <a:ext cx="1436396" cy="717036"/>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54" name="TextBox 53">
                <a:extLst>
                  <a:ext uri="{FF2B5EF4-FFF2-40B4-BE49-F238E27FC236}">
                    <a16:creationId xmlns:a16="http://schemas.microsoft.com/office/drawing/2014/main" id="{AE3DE2D4-1536-8CA9-899C-A26AC16D5ADE}"/>
                  </a:ext>
                </a:extLst>
              </p:cNvPr>
              <p:cNvSpPr txBox="1"/>
              <p:nvPr/>
            </p:nvSpPr>
            <p:spPr>
              <a:xfrm>
                <a:off x="4878020" y="2481998"/>
                <a:ext cx="585417" cy="553998"/>
              </a:xfrm>
              <a:prstGeom prst="rect">
                <a:avLst/>
              </a:prstGeom>
              <a:noFill/>
            </p:spPr>
            <p:txBody>
              <a:bodyPr wrap="none" rtlCol="0">
                <a:spAutoFit/>
              </a:bodyPr>
              <a:lstStyle/>
              <a:p>
                <a:r>
                  <a:rPr lang="en-US" sz="1000" dirty="0"/>
                  <a:t>Murex</a:t>
                </a:r>
              </a:p>
              <a:p>
                <a:r>
                  <a:rPr lang="en-US" sz="1000" dirty="0"/>
                  <a:t>Calypso</a:t>
                </a:r>
              </a:p>
              <a:p>
                <a:r>
                  <a:rPr lang="en-US" sz="1000" dirty="0" err="1"/>
                  <a:t>Sophis</a:t>
                </a:r>
                <a:endParaRPr lang="en-US" sz="1000" dirty="0"/>
              </a:p>
            </p:txBody>
          </p:sp>
        </p:grpSp>
        <p:sp>
          <p:nvSpPr>
            <p:cNvPr id="55" name="TextBox 54">
              <a:extLst>
                <a:ext uri="{FF2B5EF4-FFF2-40B4-BE49-F238E27FC236}">
                  <a16:creationId xmlns:a16="http://schemas.microsoft.com/office/drawing/2014/main" id="{C731F57F-F6C1-EB55-4715-6AAE443DA7E9}"/>
                </a:ext>
              </a:extLst>
            </p:cNvPr>
            <p:cNvSpPr txBox="1"/>
            <p:nvPr/>
          </p:nvSpPr>
          <p:spPr>
            <a:xfrm>
              <a:off x="4723704" y="2316978"/>
              <a:ext cx="876522" cy="276999"/>
            </a:xfrm>
            <a:prstGeom prst="rect">
              <a:avLst/>
            </a:prstGeom>
            <a:noFill/>
          </p:spPr>
          <p:txBody>
            <a:bodyPr wrap="none" rtlCol="0">
              <a:spAutoFit/>
            </a:bodyPr>
            <a:lstStyle/>
            <a:p>
              <a:r>
                <a:rPr lang="en-US" sz="1200" dirty="0"/>
                <a:t>Trade Apps</a:t>
              </a:r>
            </a:p>
          </p:txBody>
        </p:sp>
      </p:grpSp>
      <p:sp>
        <p:nvSpPr>
          <p:cNvPr id="58" name="Shape 2">
            <a:extLst>
              <a:ext uri="{FF2B5EF4-FFF2-40B4-BE49-F238E27FC236}">
                <a16:creationId xmlns:a16="http://schemas.microsoft.com/office/drawing/2014/main" id="{2B54A274-9F69-203F-3AAF-406314667AAF}"/>
              </a:ext>
            </a:extLst>
          </p:cNvPr>
          <p:cNvSpPr/>
          <p:nvPr/>
        </p:nvSpPr>
        <p:spPr>
          <a:xfrm>
            <a:off x="6088491" y="3511123"/>
            <a:ext cx="1452875" cy="420011"/>
          </a:xfrm>
          <a:prstGeom prst="roundRect">
            <a:avLst>
              <a:gd name="adj" fmla="val 1087"/>
            </a:avLst>
          </a:prstGeom>
          <a:solidFill>
            <a:srgbClr val="FBFDFB"/>
          </a:solidFill>
          <a:ln w="15240">
            <a:solidFill>
              <a:srgbClr val="1F7A47"/>
            </a:solidFill>
            <a:prstDash val="solid"/>
          </a:ln>
        </p:spPr>
        <p:txBody>
          <a:bodyPr anchor="ctr"/>
          <a:lstStyle/>
          <a:p>
            <a:r>
              <a:rPr lang="en-US" sz="1000" dirty="0"/>
              <a:t>Other Apps</a:t>
            </a:r>
          </a:p>
        </p:txBody>
      </p:sp>
      <p:sp>
        <p:nvSpPr>
          <p:cNvPr id="59" name="TextBox 58">
            <a:extLst>
              <a:ext uri="{FF2B5EF4-FFF2-40B4-BE49-F238E27FC236}">
                <a16:creationId xmlns:a16="http://schemas.microsoft.com/office/drawing/2014/main" id="{72D5C1F8-90DE-CB51-8C76-E50CC8A9F875}"/>
              </a:ext>
            </a:extLst>
          </p:cNvPr>
          <p:cNvSpPr txBox="1"/>
          <p:nvPr/>
        </p:nvSpPr>
        <p:spPr>
          <a:xfrm>
            <a:off x="3396633" y="4694649"/>
            <a:ext cx="186850" cy="246221"/>
          </a:xfrm>
          <a:prstGeom prst="rect">
            <a:avLst/>
          </a:prstGeom>
          <a:noFill/>
        </p:spPr>
        <p:txBody>
          <a:bodyPr wrap="square" rtlCol="0">
            <a:spAutoFit/>
          </a:bodyPr>
          <a:lstStyle/>
          <a:p>
            <a:endParaRPr lang="en-US" sz="1000" dirty="0"/>
          </a:p>
        </p:txBody>
      </p:sp>
      <p:grpSp>
        <p:nvGrpSpPr>
          <p:cNvPr id="23" name="Group 22">
            <a:extLst>
              <a:ext uri="{FF2B5EF4-FFF2-40B4-BE49-F238E27FC236}">
                <a16:creationId xmlns:a16="http://schemas.microsoft.com/office/drawing/2014/main" id="{51A8DB7D-A235-A1D6-F3D3-BBCBFF04A586}"/>
              </a:ext>
            </a:extLst>
          </p:cNvPr>
          <p:cNvGrpSpPr/>
          <p:nvPr/>
        </p:nvGrpSpPr>
        <p:grpSpPr>
          <a:xfrm>
            <a:off x="8400178" y="1242816"/>
            <a:ext cx="2279072" cy="3693571"/>
            <a:chOff x="2280961" y="4505500"/>
            <a:chExt cx="2279072" cy="3693571"/>
          </a:xfrm>
        </p:grpSpPr>
        <p:sp>
          <p:nvSpPr>
            <p:cNvPr id="51" name="Shape 2">
              <a:extLst>
                <a:ext uri="{FF2B5EF4-FFF2-40B4-BE49-F238E27FC236}">
                  <a16:creationId xmlns:a16="http://schemas.microsoft.com/office/drawing/2014/main" id="{F5FD95F2-5E25-970A-4C2E-6461746953FF}"/>
                </a:ext>
              </a:extLst>
            </p:cNvPr>
            <p:cNvSpPr/>
            <p:nvPr/>
          </p:nvSpPr>
          <p:spPr>
            <a:xfrm>
              <a:off x="2280961" y="4541965"/>
              <a:ext cx="2250573" cy="3657106"/>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21" name="TextBox 20">
              <a:extLst>
                <a:ext uri="{FF2B5EF4-FFF2-40B4-BE49-F238E27FC236}">
                  <a16:creationId xmlns:a16="http://schemas.microsoft.com/office/drawing/2014/main" id="{5396B71E-8B3C-4365-C470-F3EE34609E5B}"/>
                </a:ext>
              </a:extLst>
            </p:cNvPr>
            <p:cNvSpPr txBox="1"/>
            <p:nvPr/>
          </p:nvSpPr>
          <p:spPr>
            <a:xfrm>
              <a:off x="3505084" y="4551666"/>
              <a:ext cx="1054949" cy="1631216"/>
            </a:xfrm>
            <a:prstGeom prst="rect">
              <a:avLst/>
            </a:prstGeom>
            <a:noFill/>
          </p:spPr>
          <p:txBody>
            <a:bodyPr wrap="square" rtlCol="0">
              <a:spAutoFit/>
            </a:bodyPr>
            <a:lstStyle/>
            <a:p>
              <a:r>
                <a:rPr lang="en-US" sz="1200" b="1" dirty="0"/>
                <a:t>Data Ports</a:t>
              </a:r>
            </a:p>
            <a:p>
              <a:pPr marL="171450" indent="-171450">
                <a:buFont typeface="Arial" panose="020B0604020202020204" pitchFamily="34" charset="0"/>
                <a:buChar char="•"/>
              </a:pPr>
              <a:r>
                <a:rPr lang="en-US" sz="1000" dirty="0"/>
                <a:t>Streaming</a:t>
              </a:r>
            </a:p>
            <a:p>
              <a:pPr marL="171450" indent="-171450">
                <a:buFont typeface="Arial" panose="020B0604020202020204" pitchFamily="34" charset="0"/>
                <a:buChar char="•"/>
              </a:pPr>
              <a:r>
                <a:rPr lang="en-US" sz="1000" dirty="0"/>
                <a:t>Batch</a:t>
              </a:r>
              <a:endParaRPr lang="en-US" sz="1000" dirty="0">
                <a:solidFill>
                  <a:srgbClr val="FF0000"/>
                </a:solidFill>
              </a:endParaRPr>
            </a:p>
            <a:p>
              <a:pPr marL="171450" indent="-171450">
                <a:buFont typeface="Arial" panose="020B0604020202020204" pitchFamily="34" charset="0"/>
                <a:buChar char="•"/>
              </a:pPr>
              <a:r>
                <a:rPr lang="en-US" sz="1000" dirty="0"/>
                <a:t>SQL</a:t>
              </a:r>
            </a:p>
            <a:p>
              <a:pPr marL="171450" indent="-171450">
                <a:buFont typeface="Arial" panose="020B0604020202020204" pitchFamily="34" charset="0"/>
                <a:buChar char="•"/>
              </a:pPr>
              <a:r>
                <a:rPr lang="en-US" sz="1000" dirty="0"/>
                <a:t>AI Tooling</a:t>
              </a:r>
            </a:p>
            <a:p>
              <a:pPr marL="171450" indent="-171450">
                <a:buFont typeface="Arial" panose="020B0604020202020204" pitchFamily="34" charset="0"/>
                <a:buChar char="•"/>
              </a:pPr>
              <a:r>
                <a:rPr lang="en-US" sz="1000" dirty="0"/>
                <a:t>ML Tooling</a:t>
              </a:r>
            </a:p>
            <a:p>
              <a:pPr marL="171450" indent="-171450">
                <a:buFont typeface="Arial" panose="020B0604020202020204" pitchFamily="34" charset="0"/>
                <a:buChar char="•"/>
              </a:pPr>
              <a:r>
                <a:rPr lang="en-US" sz="1000" dirty="0"/>
                <a:t>Monitoring</a:t>
              </a:r>
            </a:p>
            <a:p>
              <a:pPr marL="171450" indent="-171450">
                <a:buFont typeface="Arial" panose="020B0604020202020204" pitchFamily="34" charset="0"/>
                <a:buChar char="•"/>
              </a:pPr>
              <a:r>
                <a:rPr lang="en-US" sz="1000" dirty="0"/>
                <a:t>Notification</a:t>
              </a:r>
            </a:p>
            <a:p>
              <a:endParaRPr lang="en-US" dirty="0"/>
            </a:p>
          </p:txBody>
        </p:sp>
        <p:sp>
          <p:nvSpPr>
            <p:cNvPr id="22" name="TextBox 21">
              <a:extLst>
                <a:ext uri="{FF2B5EF4-FFF2-40B4-BE49-F238E27FC236}">
                  <a16:creationId xmlns:a16="http://schemas.microsoft.com/office/drawing/2014/main" id="{E0C03901-EDBB-6799-3A09-633134BFE30A}"/>
                </a:ext>
              </a:extLst>
            </p:cNvPr>
            <p:cNvSpPr txBox="1"/>
            <p:nvPr/>
          </p:nvSpPr>
          <p:spPr>
            <a:xfrm>
              <a:off x="2280962" y="4505500"/>
              <a:ext cx="1285929" cy="861774"/>
            </a:xfrm>
            <a:prstGeom prst="rect">
              <a:avLst/>
            </a:prstGeom>
            <a:noFill/>
          </p:spPr>
          <p:txBody>
            <a:bodyPr wrap="none" rtlCol="0">
              <a:spAutoFit/>
            </a:bodyPr>
            <a:lstStyle/>
            <a:p>
              <a:r>
                <a:rPr lang="en-US" sz="1200" b="1" dirty="0"/>
                <a:t>Data</a:t>
              </a:r>
              <a:r>
                <a:rPr lang="en-US" dirty="0"/>
                <a:t> </a:t>
              </a:r>
              <a:r>
                <a:rPr lang="en-US" sz="1200" b="1" dirty="0"/>
                <a:t>Discovery</a:t>
              </a:r>
            </a:p>
            <a:p>
              <a:pPr marL="171450" indent="-171450">
                <a:buFont typeface="Arial" panose="020B0604020202020204" pitchFamily="34" charset="0"/>
                <a:buChar char="•"/>
              </a:pPr>
              <a:r>
                <a:rPr lang="en-US" sz="1000" dirty="0"/>
                <a:t>Catalog</a:t>
              </a:r>
            </a:p>
            <a:p>
              <a:pPr marL="171450" indent="-171450">
                <a:buFont typeface="Arial" panose="020B0604020202020204" pitchFamily="34" charset="0"/>
                <a:buChar char="•"/>
              </a:pPr>
              <a:r>
                <a:rPr lang="en-US" sz="1000" dirty="0"/>
                <a:t>Data Marketplace</a:t>
              </a:r>
            </a:p>
            <a:p>
              <a:endParaRPr lang="en-US" sz="1200" b="1" dirty="0"/>
            </a:p>
          </p:txBody>
        </p:sp>
      </p:grpSp>
      <p:sp>
        <p:nvSpPr>
          <p:cNvPr id="41" name="TextBox 40">
            <a:extLst>
              <a:ext uri="{FF2B5EF4-FFF2-40B4-BE49-F238E27FC236}">
                <a16:creationId xmlns:a16="http://schemas.microsoft.com/office/drawing/2014/main" id="{569E8257-D22F-0BE6-B45B-F7A0E2AE640C}"/>
              </a:ext>
            </a:extLst>
          </p:cNvPr>
          <p:cNvSpPr txBox="1"/>
          <p:nvPr/>
        </p:nvSpPr>
        <p:spPr>
          <a:xfrm>
            <a:off x="8852904" y="940314"/>
            <a:ext cx="889154" cy="276999"/>
          </a:xfrm>
          <a:prstGeom prst="rect">
            <a:avLst/>
          </a:prstGeom>
          <a:noFill/>
        </p:spPr>
        <p:txBody>
          <a:bodyPr wrap="none" rtlCol="0">
            <a:spAutoFit/>
          </a:bodyPr>
          <a:lstStyle/>
          <a:p>
            <a:r>
              <a:rPr lang="en-US" sz="1200" dirty="0"/>
              <a:t>Technology</a:t>
            </a:r>
          </a:p>
        </p:txBody>
      </p:sp>
      <p:sp>
        <p:nvSpPr>
          <p:cNvPr id="46" name="TextBox 45">
            <a:extLst>
              <a:ext uri="{FF2B5EF4-FFF2-40B4-BE49-F238E27FC236}">
                <a16:creationId xmlns:a16="http://schemas.microsoft.com/office/drawing/2014/main" id="{3125EA5A-0FCF-95F5-454A-89788B7B1D35}"/>
              </a:ext>
            </a:extLst>
          </p:cNvPr>
          <p:cNvSpPr txBox="1"/>
          <p:nvPr/>
        </p:nvSpPr>
        <p:spPr>
          <a:xfrm>
            <a:off x="8508186" y="4052398"/>
            <a:ext cx="1452642" cy="707886"/>
          </a:xfrm>
          <a:prstGeom prst="rect">
            <a:avLst/>
          </a:prstGeom>
          <a:solidFill>
            <a:srgbClr val="00B050"/>
          </a:solidFill>
        </p:spPr>
        <p:txBody>
          <a:bodyPr wrap="none" rtlCol="0">
            <a:spAutoFit/>
          </a:bodyPr>
          <a:lstStyle/>
          <a:p>
            <a:r>
              <a:rPr lang="en-US" sz="1000" b="1" dirty="0">
                <a:solidFill>
                  <a:schemeClr val="bg1"/>
                </a:solidFill>
              </a:rPr>
              <a:t>Architecture Principles</a:t>
            </a:r>
            <a:r>
              <a:rPr lang="en-US" sz="1000" dirty="0">
                <a:solidFill>
                  <a:schemeClr val="bg1"/>
                </a:solidFill>
              </a:rPr>
              <a:t> </a:t>
            </a:r>
          </a:p>
          <a:p>
            <a:pPr marL="285750" indent="-285750">
              <a:buFont typeface="Arial" panose="020B0604020202020204" pitchFamily="34" charset="0"/>
              <a:buChar char="•"/>
            </a:pPr>
            <a:r>
              <a:rPr lang="en-US" sz="1000" dirty="0">
                <a:solidFill>
                  <a:schemeClr val="bg1"/>
                </a:solidFill>
              </a:rPr>
              <a:t>Domain Driven</a:t>
            </a:r>
          </a:p>
          <a:p>
            <a:pPr marL="285750" indent="-285750">
              <a:buFont typeface="Arial" panose="020B0604020202020204" pitchFamily="34" charset="0"/>
              <a:buChar char="•"/>
            </a:pPr>
            <a:r>
              <a:rPr lang="en-US" sz="1000" dirty="0">
                <a:solidFill>
                  <a:schemeClr val="bg1"/>
                </a:solidFill>
              </a:rPr>
              <a:t>Data Mesh</a:t>
            </a:r>
          </a:p>
          <a:p>
            <a:pPr marL="285750" indent="-285750">
              <a:buFont typeface="Arial" panose="020B0604020202020204" pitchFamily="34" charset="0"/>
              <a:buChar char="•"/>
            </a:pPr>
            <a:r>
              <a:rPr lang="en-US" sz="1000" dirty="0">
                <a:solidFill>
                  <a:schemeClr val="bg1"/>
                </a:solidFill>
              </a:rPr>
              <a:t>Data products</a:t>
            </a:r>
          </a:p>
        </p:txBody>
      </p:sp>
      <p:grpSp>
        <p:nvGrpSpPr>
          <p:cNvPr id="66" name="Group 65">
            <a:extLst>
              <a:ext uri="{FF2B5EF4-FFF2-40B4-BE49-F238E27FC236}">
                <a16:creationId xmlns:a16="http://schemas.microsoft.com/office/drawing/2014/main" id="{A3024CE0-7C75-C276-E5EE-255F678FF199}"/>
              </a:ext>
            </a:extLst>
          </p:cNvPr>
          <p:cNvGrpSpPr/>
          <p:nvPr/>
        </p:nvGrpSpPr>
        <p:grpSpPr>
          <a:xfrm>
            <a:off x="420084" y="3643250"/>
            <a:ext cx="1906289" cy="297285"/>
            <a:chOff x="1091500" y="5196820"/>
            <a:chExt cx="1641190" cy="297285"/>
          </a:xfrm>
        </p:grpSpPr>
        <p:sp>
          <p:nvSpPr>
            <p:cNvPr id="67" name="Shape 2">
              <a:extLst>
                <a:ext uri="{FF2B5EF4-FFF2-40B4-BE49-F238E27FC236}">
                  <a16:creationId xmlns:a16="http://schemas.microsoft.com/office/drawing/2014/main" id="{40F607BA-1553-7D51-66CE-DD1DB0C14B20}"/>
                </a:ext>
              </a:extLst>
            </p:cNvPr>
            <p:cNvSpPr/>
            <p:nvPr/>
          </p:nvSpPr>
          <p:spPr>
            <a:xfrm>
              <a:off x="1091500" y="5196820"/>
              <a:ext cx="1641190" cy="297285"/>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68" name="TextBox 67">
              <a:extLst>
                <a:ext uri="{FF2B5EF4-FFF2-40B4-BE49-F238E27FC236}">
                  <a16:creationId xmlns:a16="http://schemas.microsoft.com/office/drawing/2014/main" id="{3067D608-DB06-E1EB-4E13-ADFE596719FD}"/>
                </a:ext>
              </a:extLst>
            </p:cNvPr>
            <p:cNvSpPr txBox="1"/>
            <p:nvPr/>
          </p:nvSpPr>
          <p:spPr>
            <a:xfrm>
              <a:off x="1235260" y="5217106"/>
              <a:ext cx="1293853" cy="276999"/>
            </a:xfrm>
            <a:prstGeom prst="rect">
              <a:avLst/>
            </a:prstGeom>
            <a:noFill/>
          </p:spPr>
          <p:txBody>
            <a:bodyPr wrap="none" rtlCol="0">
              <a:spAutoFit/>
            </a:bodyPr>
            <a:lstStyle>
              <a:lvl1pPr>
                <a:defRPr sz="1400"/>
              </a:lvl1pPr>
            </a:lstStyle>
            <a:p>
              <a:r>
                <a:rPr lang="en-US" sz="1200" dirty="0"/>
                <a:t>Regulatory Reporting</a:t>
              </a:r>
            </a:p>
          </p:txBody>
        </p:sp>
      </p:grpSp>
      <p:grpSp>
        <p:nvGrpSpPr>
          <p:cNvPr id="69" name="Group 68">
            <a:extLst>
              <a:ext uri="{FF2B5EF4-FFF2-40B4-BE49-F238E27FC236}">
                <a16:creationId xmlns:a16="http://schemas.microsoft.com/office/drawing/2014/main" id="{1E7DFA20-3EC4-0DB1-BB1D-44EF99B268D5}"/>
              </a:ext>
            </a:extLst>
          </p:cNvPr>
          <p:cNvGrpSpPr/>
          <p:nvPr/>
        </p:nvGrpSpPr>
        <p:grpSpPr>
          <a:xfrm>
            <a:off x="405355" y="3987255"/>
            <a:ext cx="1906289" cy="297285"/>
            <a:chOff x="1091500" y="5196820"/>
            <a:chExt cx="1641190" cy="297285"/>
          </a:xfrm>
        </p:grpSpPr>
        <p:sp>
          <p:nvSpPr>
            <p:cNvPr id="70" name="Shape 2">
              <a:extLst>
                <a:ext uri="{FF2B5EF4-FFF2-40B4-BE49-F238E27FC236}">
                  <a16:creationId xmlns:a16="http://schemas.microsoft.com/office/drawing/2014/main" id="{71FFE9DC-C86B-7995-6BC0-4341659F4904}"/>
                </a:ext>
              </a:extLst>
            </p:cNvPr>
            <p:cNvSpPr/>
            <p:nvPr/>
          </p:nvSpPr>
          <p:spPr>
            <a:xfrm>
              <a:off x="1091500" y="5196820"/>
              <a:ext cx="1641190" cy="297285"/>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71" name="TextBox 70">
              <a:extLst>
                <a:ext uri="{FF2B5EF4-FFF2-40B4-BE49-F238E27FC236}">
                  <a16:creationId xmlns:a16="http://schemas.microsoft.com/office/drawing/2014/main" id="{8EA539DE-09CC-10F1-B49F-A1DA68C62676}"/>
                </a:ext>
              </a:extLst>
            </p:cNvPr>
            <p:cNvSpPr txBox="1"/>
            <p:nvPr/>
          </p:nvSpPr>
          <p:spPr>
            <a:xfrm>
              <a:off x="1175623" y="5217106"/>
              <a:ext cx="1332331" cy="276999"/>
            </a:xfrm>
            <a:prstGeom prst="rect">
              <a:avLst/>
            </a:prstGeom>
            <a:noFill/>
          </p:spPr>
          <p:txBody>
            <a:bodyPr wrap="none" rtlCol="0">
              <a:spAutoFit/>
            </a:bodyPr>
            <a:lstStyle>
              <a:lvl1pPr>
                <a:defRPr sz="1400"/>
              </a:lvl1pPr>
            </a:lstStyle>
            <a:p>
              <a:pPr algn="ctr"/>
              <a:r>
                <a:rPr lang="en-US" sz="1200" dirty="0"/>
                <a:t>Client &amp; Counterparty</a:t>
              </a:r>
            </a:p>
          </p:txBody>
        </p:sp>
      </p:grpSp>
      <p:grpSp>
        <p:nvGrpSpPr>
          <p:cNvPr id="72" name="Group 71">
            <a:extLst>
              <a:ext uri="{FF2B5EF4-FFF2-40B4-BE49-F238E27FC236}">
                <a16:creationId xmlns:a16="http://schemas.microsoft.com/office/drawing/2014/main" id="{34EC3833-124F-BCD8-2E51-8E21E56FA881}"/>
              </a:ext>
            </a:extLst>
          </p:cNvPr>
          <p:cNvGrpSpPr/>
          <p:nvPr/>
        </p:nvGrpSpPr>
        <p:grpSpPr>
          <a:xfrm>
            <a:off x="420084" y="4331260"/>
            <a:ext cx="1906289" cy="297285"/>
            <a:chOff x="1091500" y="5196820"/>
            <a:chExt cx="1641190" cy="297285"/>
          </a:xfrm>
        </p:grpSpPr>
        <p:sp>
          <p:nvSpPr>
            <p:cNvPr id="73" name="Shape 2">
              <a:extLst>
                <a:ext uri="{FF2B5EF4-FFF2-40B4-BE49-F238E27FC236}">
                  <a16:creationId xmlns:a16="http://schemas.microsoft.com/office/drawing/2014/main" id="{FD497B51-B30E-2CBC-1732-87CCF9952042}"/>
                </a:ext>
              </a:extLst>
            </p:cNvPr>
            <p:cNvSpPr/>
            <p:nvPr/>
          </p:nvSpPr>
          <p:spPr>
            <a:xfrm>
              <a:off x="1091500" y="5196820"/>
              <a:ext cx="1641190" cy="297285"/>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74" name="TextBox 73">
              <a:extLst>
                <a:ext uri="{FF2B5EF4-FFF2-40B4-BE49-F238E27FC236}">
                  <a16:creationId xmlns:a16="http://schemas.microsoft.com/office/drawing/2014/main" id="{C30515EA-B2D6-F091-4988-6DD19E911332}"/>
                </a:ext>
              </a:extLst>
            </p:cNvPr>
            <p:cNvSpPr txBox="1"/>
            <p:nvPr/>
          </p:nvSpPr>
          <p:spPr>
            <a:xfrm>
              <a:off x="1235260" y="5217106"/>
              <a:ext cx="1293853" cy="276999"/>
            </a:xfrm>
            <a:prstGeom prst="rect">
              <a:avLst/>
            </a:prstGeom>
            <a:noFill/>
          </p:spPr>
          <p:txBody>
            <a:bodyPr wrap="none" rtlCol="0">
              <a:spAutoFit/>
            </a:bodyPr>
            <a:lstStyle>
              <a:lvl1pPr>
                <a:defRPr sz="1400"/>
              </a:lvl1pPr>
            </a:lstStyle>
            <a:p>
              <a:r>
                <a:rPr lang="en-US" sz="1200" dirty="0"/>
                <a:t>Regulatory Reporting</a:t>
              </a:r>
            </a:p>
          </p:txBody>
        </p:sp>
      </p:grpSp>
      <p:grpSp>
        <p:nvGrpSpPr>
          <p:cNvPr id="75" name="Group 74">
            <a:extLst>
              <a:ext uri="{FF2B5EF4-FFF2-40B4-BE49-F238E27FC236}">
                <a16:creationId xmlns:a16="http://schemas.microsoft.com/office/drawing/2014/main" id="{A7C11749-3BE6-B10E-C509-56B265C90816}"/>
              </a:ext>
            </a:extLst>
          </p:cNvPr>
          <p:cNvGrpSpPr/>
          <p:nvPr/>
        </p:nvGrpSpPr>
        <p:grpSpPr>
          <a:xfrm>
            <a:off x="420084" y="4669601"/>
            <a:ext cx="1906289" cy="297285"/>
            <a:chOff x="1091500" y="5196820"/>
            <a:chExt cx="1641190" cy="297285"/>
          </a:xfrm>
        </p:grpSpPr>
        <p:sp>
          <p:nvSpPr>
            <p:cNvPr id="76" name="Shape 2">
              <a:extLst>
                <a:ext uri="{FF2B5EF4-FFF2-40B4-BE49-F238E27FC236}">
                  <a16:creationId xmlns:a16="http://schemas.microsoft.com/office/drawing/2014/main" id="{0F4F7C33-DFD4-4F43-7003-92B3312F9842}"/>
                </a:ext>
              </a:extLst>
            </p:cNvPr>
            <p:cNvSpPr/>
            <p:nvPr/>
          </p:nvSpPr>
          <p:spPr>
            <a:xfrm>
              <a:off x="1091500" y="5196820"/>
              <a:ext cx="1641190" cy="297285"/>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77" name="TextBox 76">
              <a:extLst>
                <a:ext uri="{FF2B5EF4-FFF2-40B4-BE49-F238E27FC236}">
                  <a16:creationId xmlns:a16="http://schemas.microsoft.com/office/drawing/2014/main" id="{BD2F642A-B67E-5C8B-F53B-A5EBEDFCAF4B}"/>
                </a:ext>
              </a:extLst>
            </p:cNvPr>
            <p:cNvSpPr txBox="1"/>
            <p:nvPr/>
          </p:nvSpPr>
          <p:spPr>
            <a:xfrm>
              <a:off x="1235260" y="5217106"/>
              <a:ext cx="913006" cy="276999"/>
            </a:xfrm>
            <a:prstGeom prst="rect">
              <a:avLst/>
            </a:prstGeom>
            <a:noFill/>
          </p:spPr>
          <p:txBody>
            <a:bodyPr wrap="none" rtlCol="0">
              <a:spAutoFit/>
            </a:bodyPr>
            <a:lstStyle>
              <a:lvl1pPr>
                <a:defRPr sz="1400"/>
              </a:lvl1pPr>
            </a:lstStyle>
            <a:p>
              <a:r>
                <a:rPr lang="en-US" sz="1200" dirty="0"/>
                <a:t>Others ---------</a:t>
              </a:r>
            </a:p>
          </p:txBody>
        </p:sp>
      </p:grpSp>
      <p:grpSp>
        <p:nvGrpSpPr>
          <p:cNvPr id="87" name="Group 86">
            <a:extLst>
              <a:ext uri="{FF2B5EF4-FFF2-40B4-BE49-F238E27FC236}">
                <a16:creationId xmlns:a16="http://schemas.microsoft.com/office/drawing/2014/main" id="{992CA59A-BAB6-B5E2-8692-3E712F2BE9A7}"/>
              </a:ext>
            </a:extLst>
          </p:cNvPr>
          <p:cNvGrpSpPr/>
          <p:nvPr/>
        </p:nvGrpSpPr>
        <p:grpSpPr>
          <a:xfrm>
            <a:off x="3495374" y="890143"/>
            <a:ext cx="1669688" cy="4187620"/>
            <a:chOff x="2890345" y="915556"/>
            <a:chExt cx="1669688" cy="4187620"/>
          </a:xfrm>
        </p:grpSpPr>
        <p:sp>
          <p:nvSpPr>
            <p:cNvPr id="7" name="Shape 2">
              <a:extLst>
                <a:ext uri="{FF2B5EF4-FFF2-40B4-BE49-F238E27FC236}">
                  <a16:creationId xmlns:a16="http://schemas.microsoft.com/office/drawing/2014/main" id="{3F80B186-DAFE-2DD9-ACB3-0C213C33BBEB}"/>
                </a:ext>
              </a:extLst>
            </p:cNvPr>
            <p:cNvSpPr/>
            <p:nvPr/>
          </p:nvSpPr>
          <p:spPr>
            <a:xfrm>
              <a:off x="2890345" y="1295400"/>
              <a:ext cx="1641190" cy="3807776"/>
            </a:xfrm>
            <a:prstGeom prst="roundRect">
              <a:avLst>
                <a:gd name="adj" fmla="val 1087"/>
              </a:avLst>
            </a:prstGeom>
            <a:noFill/>
            <a:ln w="9525">
              <a:solidFill>
                <a:srgbClr val="1F7A47"/>
              </a:solidFill>
              <a:prstDash val="solid"/>
            </a:ln>
          </p:spPr>
          <p:txBody>
            <a:bodyPr/>
            <a:lstStyle/>
            <a:p>
              <a:endParaRPr lang="en-US"/>
            </a:p>
          </p:txBody>
        </p:sp>
        <p:sp>
          <p:nvSpPr>
            <p:cNvPr id="19" name="TextBox 18">
              <a:extLst>
                <a:ext uri="{FF2B5EF4-FFF2-40B4-BE49-F238E27FC236}">
                  <a16:creationId xmlns:a16="http://schemas.microsoft.com/office/drawing/2014/main" id="{15135A38-C8FE-8156-AA28-704DDE36C143}"/>
                </a:ext>
              </a:extLst>
            </p:cNvPr>
            <p:cNvSpPr txBox="1"/>
            <p:nvPr/>
          </p:nvSpPr>
          <p:spPr>
            <a:xfrm>
              <a:off x="2890345" y="915556"/>
              <a:ext cx="1283108" cy="276999"/>
            </a:xfrm>
            <a:prstGeom prst="rect">
              <a:avLst/>
            </a:prstGeom>
            <a:noFill/>
          </p:spPr>
          <p:txBody>
            <a:bodyPr wrap="none" rtlCol="0">
              <a:spAutoFit/>
            </a:bodyPr>
            <a:lstStyle/>
            <a:p>
              <a:r>
                <a:rPr lang="en-US" sz="1200" dirty="0"/>
                <a:t>Data Architecture</a:t>
              </a:r>
            </a:p>
          </p:txBody>
        </p:sp>
        <p:grpSp>
          <p:nvGrpSpPr>
            <p:cNvPr id="64" name="Group 63">
              <a:extLst>
                <a:ext uri="{FF2B5EF4-FFF2-40B4-BE49-F238E27FC236}">
                  <a16:creationId xmlns:a16="http://schemas.microsoft.com/office/drawing/2014/main" id="{5E7AC818-0AC4-2262-3FD8-16796716058B}"/>
                </a:ext>
              </a:extLst>
            </p:cNvPr>
            <p:cNvGrpSpPr/>
            <p:nvPr/>
          </p:nvGrpSpPr>
          <p:grpSpPr>
            <a:xfrm>
              <a:off x="2934482" y="3053129"/>
              <a:ext cx="1536492" cy="614106"/>
              <a:chOff x="2944069" y="2866694"/>
              <a:chExt cx="1536492" cy="614106"/>
            </a:xfrm>
          </p:grpSpPr>
          <p:sp>
            <p:nvSpPr>
              <p:cNvPr id="42" name="Shape 2">
                <a:extLst>
                  <a:ext uri="{FF2B5EF4-FFF2-40B4-BE49-F238E27FC236}">
                    <a16:creationId xmlns:a16="http://schemas.microsoft.com/office/drawing/2014/main" id="{DEA753D9-B665-2CD9-AA4E-4C3CF38099CA}"/>
                  </a:ext>
                </a:extLst>
              </p:cNvPr>
              <p:cNvSpPr/>
              <p:nvPr/>
            </p:nvSpPr>
            <p:spPr>
              <a:xfrm>
                <a:off x="2977869" y="2896025"/>
                <a:ext cx="1502692" cy="584775"/>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40" name="TextBox 39">
                <a:extLst>
                  <a:ext uri="{FF2B5EF4-FFF2-40B4-BE49-F238E27FC236}">
                    <a16:creationId xmlns:a16="http://schemas.microsoft.com/office/drawing/2014/main" id="{386508BB-28CE-E8F7-C9DC-E5C7DB98513A}"/>
                  </a:ext>
                </a:extLst>
              </p:cNvPr>
              <p:cNvSpPr txBox="1"/>
              <p:nvPr/>
            </p:nvSpPr>
            <p:spPr>
              <a:xfrm>
                <a:off x="2944069" y="2866694"/>
                <a:ext cx="1316386" cy="584775"/>
              </a:xfrm>
              <a:prstGeom prst="rect">
                <a:avLst/>
              </a:prstGeom>
              <a:noFill/>
            </p:spPr>
            <p:txBody>
              <a:bodyPr wrap="none" rtlCol="0">
                <a:spAutoFit/>
              </a:bodyPr>
              <a:lstStyle/>
              <a:p>
                <a:r>
                  <a:rPr lang="en-US" sz="1200" dirty="0"/>
                  <a:t>Ontology</a:t>
                </a:r>
              </a:p>
              <a:p>
                <a:pPr marL="171450" indent="-171450">
                  <a:buFont typeface="Arial" panose="020B0604020202020204" pitchFamily="34" charset="0"/>
                  <a:buChar char="•"/>
                </a:pPr>
                <a:r>
                  <a:rPr lang="en-US" sz="1000" dirty="0"/>
                  <a:t>Business Concepts</a:t>
                </a:r>
              </a:p>
              <a:p>
                <a:pPr marL="171450" indent="-171450">
                  <a:buFont typeface="Arial" panose="020B0604020202020204" pitchFamily="34" charset="0"/>
                  <a:buChar char="•"/>
                </a:pPr>
                <a:r>
                  <a:rPr lang="en-US" sz="1000" dirty="0"/>
                  <a:t>Relationships</a:t>
                </a:r>
              </a:p>
            </p:txBody>
          </p:sp>
        </p:grpSp>
        <p:grpSp>
          <p:nvGrpSpPr>
            <p:cNvPr id="65" name="Group 64">
              <a:extLst>
                <a:ext uri="{FF2B5EF4-FFF2-40B4-BE49-F238E27FC236}">
                  <a16:creationId xmlns:a16="http://schemas.microsoft.com/office/drawing/2014/main" id="{17F76861-08F4-B34E-DF9B-746FBEEF1AFF}"/>
                </a:ext>
              </a:extLst>
            </p:cNvPr>
            <p:cNvGrpSpPr/>
            <p:nvPr/>
          </p:nvGrpSpPr>
          <p:grpSpPr>
            <a:xfrm>
              <a:off x="2890345" y="1401802"/>
              <a:ext cx="1669688" cy="1548482"/>
              <a:chOff x="2890345" y="1401802"/>
              <a:chExt cx="1669688" cy="1548482"/>
            </a:xfrm>
          </p:grpSpPr>
          <p:sp>
            <p:nvSpPr>
              <p:cNvPr id="37" name="Shape 2">
                <a:extLst>
                  <a:ext uri="{FF2B5EF4-FFF2-40B4-BE49-F238E27FC236}">
                    <a16:creationId xmlns:a16="http://schemas.microsoft.com/office/drawing/2014/main" id="{16F99EFF-8264-81B8-07C0-F2C64BAF836D}"/>
                  </a:ext>
                </a:extLst>
              </p:cNvPr>
              <p:cNvSpPr/>
              <p:nvPr/>
            </p:nvSpPr>
            <p:spPr>
              <a:xfrm>
                <a:off x="2965899" y="1433492"/>
                <a:ext cx="1514661" cy="1486706"/>
              </a:xfrm>
              <a:prstGeom prst="roundRect">
                <a:avLst>
                  <a:gd name="adj" fmla="val 1087"/>
                </a:avLst>
              </a:prstGeom>
              <a:solidFill>
                <a:srgbClr val="FBFDFB"/>
              </a:solidFill>
              <a:ln w="15240">
                <a:solidFill>
                  <a:srgbClr val="1F7A47"/>
                </a:solidFill>
                <a:prstDash val="solid"/>
              </a:ln>
            </p:spPr>
            <p:txBody>
              <a:bodyPr/>
              <a:lstStyle/>
              <a:p>
                <a:endParaRPr lang="en-US"/>
              </a:p>
            </p:txBody>
          </p:sp>
          <p:grpSp>
            <p:nvGrpSpPr>
              <p:cNvPr id="33" name="Group 32">
                <a:extLst>
                  <a:ext uri="{FF2B5EF4-FFF2-40B4-BE49-F238E27FC236}">
                    <a16:creationId xmlns:a16="http://schemas.microsoft.com/office/drawing/2014/main" id="{D5C69ACD-944A-13B5-F8B7-BD25A5E8E02E}"/>
                  </a:ext>
                </a:extLst>
              </p:cNvPr>
              <p:cNvGrpSpPr/>
              <p:nvPr/>
            </p:nvGrpSpPr>
            <p:grpSpPr>
              <a:xfrm>
                <a:off x="3007010" y="1648586"/>
                <a:ext cx="1165860" cy="219456"/>
                <a:chOff x="4480560" y="4451935"/>
                <a:chExt cx="1165860" cy="219456"/>
              </a:xfrm>
            </p:grpSpPr>
            <p:sp>
              <p:nvSpPr>
                <p:cNvPr id="25" name="Shape 30">
                  <a:extLst>
                    <a:ext uri="{FF2B5EF4-FFF2-40B4-BE49-F238E27FC236}">
                      <a16:creationId xmlns:a16="http://schemas.microsoft.com/office/drawing/2014/main" id="{94FDD37D-F378-EA91-1648-CAB7F83CEE2B}"/>
                    </a:ext>
                  </a:extLst>
                </p:cNvPr>
                <p:cNvSpPr/>
                <p:nvPr/>
              </p:nvSpPr>
              <p:spPr>
                <a:xfrm>
                  <a:off x="4549140" y="4451935"/>
                  <a:ext cx="1097280" cy="219456"/>
                </a:xfrm>
                <a:prstGeom prst="roundRect">
                  <a:avLst>
                    <a:gd name="adj" fmla="val 16667"/>
                  </a:avLst>
                </a:prstGeom>
                <a:solidFill>
                  <a:srgbClr val="1F7A47"/>
                </a:solidFill>
                <a:ln/>
              </p:spPr>
              <p:txBody>
                <a:bodyPr/>
                <a:lstStyle/>
                <a:p>
                  <a:endParaRPr lang="en-US"/>
                </a:p>
              </p:txBody>
            </p:sp>
            <p:sp>
              <p:nvSpPr>
                <p:cNvPr id="26" name="Text 31">
                  <a:extLst>
                    <a:ext uri="{FF2B5EF4-FFF2-40B4-BE49-F238E27FC236}">
                      <a16:creationId xmlns:a16="http://schemas.microsoft.com/office/drawing/2014/main" id="{486C1A74-401E-221A-ABCB-CDA7172038F2}"/>
                    </a:ext>
                  </a:extLst>
                </p:cNvPr>
                <p:cNvSpPr/>
                <p:nvPr/>
              </p:nvSpPr>
              <p:spPr>
                <a:xfrm>
                  <a:off x="4480560" y="4451935"/>
                  <a:ext cx="109728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Valuation</a:t>
                  </a:r>
                  <a:endParaRPr lang="en-US" sz="850" dirty="0"/>
                </a:p>
              </p:txBody>
            </p:sp>
          </p:grpSp>
          <p:grpSp>
            <p:nvGrpSpPr>
              <p:cNvPr id="36" name="Group 35">
                <a:extLst>
                  <a:ext uri="{FF2B5EF4-FFF2-40B4-BE49-F238E27FC236}">
                    <a16:creationId xmlns:a16="http://schemas.microsoft.com/office/drawing/2014/main" id="{E313B347-EE44-DCC8-6FF9-9A9205BB9CD9}"/>
                  </a:ext>
                </a:extLst>
              </p:cNvPr>
              <p:cNvGrpSpPr/>
              <p:nvPr/>
            </p:nvGrpSpPr>
            <p:grpSpPr>
              <a:xfrm>
                <a:off x="3075590" y="1923390"/>
                <a:ext cx="1097280" cy="219456"/>
                <a:chOff x="5715000" y="4451935"/>
                <a:chExt cx="1097280" cy="219456"/>
              </a:xfrm>
            </p:grpSpPr>
            <p:sp>
              <p:nvSpPr>
                <p:cNvPr id="27" name="Shape 32">
                  <a:extLst>
                    <a:ext uri="{FF2B5EF4-FFF2-40B4-BE49-F238E27FC236}">
                      <a16:creationId xmlns:a16="http://schemas.microsoft.com/office/drawing/2014/main" id="{71AF38C9-E81D-0434-5D17-2C2F279120E7}"/>
                    </a:ext>
                  </a:extLst>
                </p:cNvPr>
                <p:cNvSpPr/>
                <p:nvPr/>
              </p:nvSpPr>
              <p:spPr>
                <a:xfrm>
                  <a:off x="5715000" y="4451935"/>
                  <a:ext cx="1097280" cy="219456"/>
                </a:xfrm>
                <a:prstGeom prst="roundRect">
                  <a:avLst>
                    <a:gd name="adj" fmla="val 16667"/>
                  </a:avLst>
                </a:prstGeom>
                <a:solidFill>
                  <a:srgbClr val="1F7A47"/>
                </a:solidFill>
                <a:ln/>
              </p:spPr>
              <p:txBody>
                <a:bodyPr/>
                <a:lstStyle/>
                <a:p>
                  <a:endParaRPr lang="en-US"/>
                </a:p>
              </p:txBody>
            </p:sp>
            <p:sp>
              <p:nvSpPr>
                <p:cNvPr id="28" name="Text 33">
                  <a:extLst>
                    <a:ext uri="{FF2B5EF4-FFF2-40B4-BE49-F238E27FC236}">
                      <a16:creationId xmlns:a16="http://schemas.microsoft.com/office/drawing/2014/main" id="{202A7757-0C2A-9A7B-0B51-7F4164F0740A}"/>
                    </a:ext>
                  </a:extLst>
                </p:cNvPr>
                <p:cNvSpPr/>
                <p:nvPr/>
              </p:nvSpPr>
              <p:spPr>
                <a:xfrm>
                  <a:off x="5715000" y="4451935"/>
                  <a:ext cx="109728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Trade</a:t>
                  </a:r>
                  <a:endParaRPr lang="en-US" sz="850" dirty="0"/>
                </a:p>
              </p:txBody>
            </p:sp>
          </p:grpSp>
          <p:grpSp>
            <p:nvGrpSpPr>
              <p:cNvPr id="34" name="Group 33">
                <a:extLst>
                  <a:ext uri="{FF2B5EF4-FFF2-40B4-BE49-F238E27FC236}">
                    <a16:creationId xmlns:a16="http://schemas.microsoft.com/office/drawing/2014/main" id="{052BA73D-5CFB-19FF-0B0E-279D8F058B62}"/>
                  </a:ext>
                </a:extLst>
              </p:cNvPr>
              <p:cNvGrpSpPr/>
              <p:nvPr/>
            </p:nvGrpSpPr>
            <p:grpSpPr>
              <a:xfrm>
                <a:off x="3075590" y="2193478"/>
                <a:ext cx="1097280" cy="219456"/>
                <a:chOff x="6949440" y="4451935"/>
                <a:chExt cx="1097280" cy="219456"/>
              </a:xfrm>
            </p:grpSpPr>
            <p:sp>
              <p:nvSpPr>
                <p:cNvPr id="29" name="Shape 34">
                  <a:extLst>
                    <a:ext uri="{FF2B5EF4-FFF2-40B4-BE49-F238E27FC236}">
                      <a16:creationId xmlns:a16="http://schemas.microsoft.com/office/drawing/2014/main" id="{486AC819-8A24-B1B6-2C9A-92766F5B9639}"/>
                    </a:ext>
                  </a:extLst>
                </p:cNvPr>
                <p:cNvSpPr/>
                <p:nvPr/>
              </p:nvSpPr>
              <p:spPr>
                <a:xfrm>
                  <a:off x="6949440" y="4451935"/>
                  <a:ext cx="1097280" cy="219456"/>
                </a:xfrm>
                <a:prstGeom prst="roundRect">
                  <a:avLst>
                    <a:gd name="adj" fmla="val 16667"/>
                  </a:avLst>
                </a:prstGeom>
                <a:solidFill>
                  <a:srgbClr val="1F7A47"/>
                </a:solidFill>
                <a:ln/>
              </p:spPr>
              <p:txBody>
                <a:bodyPr/>
                <a:lstStyle/>
                <a:p>
                  <a:endParaRPr lang="en-US"/>
                </a:p>
              </p:txBody>
            </p:sp>
            <p:sp>
              <p:nvSpPr>
                <p:cNvPr id="30" name="Text 35">
                  <a:extLst>
                    <a:ext uri="{FF2B5EF4-FFF2-40B4-BE49-F238E27FC236}">
                      <a16:creationId xmlns:a16="http://schemas.microsoft.com/office/drawing/2014/main" id="{1DFB2760-FA04-543C-CDCB-FBDF4AC7E29B}"/>
                    </a:ext>
                  </a:extLst>
                </p:cNvPr>
                <p:cNvSpPr/>
                <p:nvPr/>
              </p:nvSpPr>
              <p:spPr>
                <a:xfrm>
                  <a:off x="6949440" y="4451935"/>
                  <a:ext cx="109728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Collateral</a:t>
                  </a:r>
                  <a:endParaRPr lang="en-US" sz="850" dirty="0"/>
                </a:p>
              </p:txBody>
            </p:sp>
          </p:grpSp>
          <p:grpSp>
            <p:nvGrpSpPr>
              <p:cNvPr id="35" name="Group 34">
                <a:extLst>
                  <a:ext uri="{FF2B5EF4-FFF2-40B4-BE49-F238E27FC236}">
                    <a16:creationId xmlns:a16="http://schemas.microsoft.com/office/drawing/2014/main" id="{598C2461-8B2E-9A1E-FF63-3D1E70FC540C}"/>
                  </a:ext>
                </a:extLst>
              </p:cNvPr>
              <p:cNvGrpSpPr/>
              <p:nvPr/>
            </p:nvGrpSpPr>
            <p:grpSpPr>
              <a:xfrm>
                <a:off x="3075590" y="2473107"/>
                <a:ext cx="1097280" cy="219456"/>
                <a:chOff x="8183880" y="4451935"/>
                <a:chExt cx="1097280" cy="219456"/>
              </a:xfrm>
            </p:grpSpPr>
            <p:sp>
              <p:nvSpPr>
                <p:cNvPr id="31" name="Shape 36">
                  <a:extLst>
                    <a:ext uri="{FF2B5EF4-FFF2-40B4-BE49-F238E27FC236}">
                      <a16:creationId xmlns:a16="http://schemas.microsoft.com/office/drawing/2014/main" id="{3A44E7F0-3A2D-F660-4FEF-6D56E64411F6}"/>
                    </a:ext>
                  </a:extLst>
                </p:cNvPr>
                <p:cNvSpPr/>
                <p:nvPr/>
              </p:nvSpPr>
              <p:spPr>
                <a:xfrm>
                  <a:off x="8183880" y="4451935"/>
                  <a:ext cx="1097280" cy="219456"/>
                </a:xfrm>
                <a:prstGeom prst="roundRect">
                  <a:avLst>
                    <a:gd name="adj" fmla="val 16667"/>
                  </a:avLst>
                </a:prstGeom>
                <a:solidFill>
                  <a:srgbClr val="1F7A47"/>
                </a:solidFill>
                <a:ln/>
              </p:spPr>
              <p:txBody>
                <a:bodyPr/>
                <a:lstStyle/>
                <a:p>
                  <a:endParaRPr lang="en-US"/>
                </a:p>
              </p:txBody>
            </p:sp>
            <p:sp>
              <p:nvSpPr>
                <p:cNvPr id="32" name="Text 37">
                  <a:extLst>
                    <a:ext uri="{FF2B5EF4-FFF2-40B4-BE49-F238E27FC236}">
                      <a16:creationId xmlns:a16="http://schemas.microsoft.com/office/drawing/2014/main" id="{B301906B-6385-A8FA-F76D-47D1168B4DA6}"/>
                    </a:ext>
                  </a:extLst>
                </p:cNvPr>
                <p:cNvSpPr/>
                <p:nvPr/>
              </p:nvSpPr>
              <p:spPr>
                <a:xfrm>
                  <a:off x="8183880" y="4451935"/>
                  <a:ext cx="109728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Party</a:t>
                  </a:r>
                  <a:endParaRPr lang="en-US" sz="850" dirty="0"/>
                </a:p>
              </p:txBody>
            </p:sp>
          </p:grpSp>
          <p:sp>
            <p:nvSpPr>
              <p:cNvPr id="38" name="TextBox 37">
                <a:extLst>
                  <a:ext uri="{FF2B5EF4-FFF2-40B4-BE49-F238E27FC236}">
                    <a16:creationId xmlns:a16="http://schemas.microsoft.com/office/drawing/2014/main" id="{9908F9AB-BD08-810F-3E0F-D7E8EA4DE59C}"/>
                  </a:ext>
                </a:extLst>
              </p:cNvPr>
              <p:cNvSpPr txBox="1"/>
              <p:nvPr/>
            </p:nvSpPr>
            <p:spPr>
              <a:xfrm>
                <a:off x="2890345" y="1401802"/>
                <a:ext cx="1669688" cy="276999"/>
              </a:xfrm>
              <a:prstGeom prst="rect">
                <a:avLst/>
              </a:prstGeom>
              <a:noFill/>
            </p:spPr>
            <p:txBody>
              <a:bodyPr wrap="none" rtlCol="0">
                <a:spAutoFit/>
              </a:bodyPr>
              <a:lstStyle/>
              <a:p>
                <a:r>
                  <a:rPr lang="en-US" sz="1200" dirty="0"/>
                  <a:t>Data Domains/Products</a:t>
                </a:r>
              </a:p>
            </p:txBody>
          </p:sp>
          <p:sp>
            <p:nvSpPr>
              <p:cNvPr id="63" name="Shape 36">
                <a:extLst>
                  <a:ext uri="{FF2B5EF4-FFF2-40B4-BE49-F238E27FC236}">
                    <a16:creationId xmlns:a16="http://schemas.microsoft.com/office/drawing/2014/main" id="{41C0050D-FEB5-A5D3-2D4C-0F5AFA5DC005}"/>
                  </a:ext>
                </a:extLst>
              </p:cNvPr>
              <p:cNvSpPr/>
              <p:nvPr/>
            </p:nvSpPr>
            <p:spPr>
              <a:xfrm>
                <a:off x="3095843" y="2730828"/>
                <a:ext cx="1097280" cy="219456"/>
              </a:xfrm>
              <a:prstGeom prst="roundRect">
                <a:avLst>
                  <a:gd name="adj" fmla="val 16667"/>
                </a:avLst>
              </a:prstGeom>
              <a:solidFill>
                <a:srgbClr val="1F7A47"/>
              </a:solidFill>
              <a:ln/>
            </p:spPr>
            <p:txBody>
              <a:bodyPr/>
              <a:lstStyle/>
              <a:p>
                <a:pPr algn="ctr"/>
                <a:r>
                  <a:rPr lang="en-US" sz="1000" dirty="0">
                    <a:solidFill>
                      <a:schemeClr val="bg1"/>
                    </a:solidFill>
                  </a:rPr>
                  <a:t>Others</a:t>
                </a:r>
              </a:p>
            </p:txBody>
          </p:sp>
        </p:grpSp>
        <p:grpSp>
          <p:nvGrpSpPr>
            <p:cNvPr id="82" name="Group 81">
              <a:extLst>
                <a:ext uri="{FF2B5EF4-FFF2-40B4-BE49-F238E27FC236}">
                  <a16:creationId xmlns:a16="http://schemas.microsoft.com/office/drawing/2014/main" id="{BD113338-A32D-16F6-0D1C-DF584028780F}"/>
                </a:ext>
              </a:extLst>
            </p:cNvPr>
            <p:cNvGrpSpPr/>
            <p:nvPr/>
          </p:nvGrpSpPr>
          <p:grpSpPr>
            <a:xfrm>
              <a:off x="2934482" y="3715494"/>
              <a:ext cx="1518351" cy="1200329"/>
              <a:chOff x="2541843" y="4948458"/>
              <a:chExt cx="1518351" cy="1200329"/>
            </a:xfrm>
          </p:grpSpPr>
          <p:sp>
            <p:nvSpPr>
              <p:cNvPr id="79" name="Shape 2">
                <a:extLst>
                  <a:ext uri="{FF2B5EF4-FFF2-40B4-BE49-F238E27FC236}">
                    <a16:creationId xmlns:a16="http://schemas.microsoft.com/office/drawing/2014/main" id="{7410B990-25FF-65C0-CD49-F02ADB02F57E}"/>
                  </a:ext>
                </a:extLst>
              </p:cNvPr>
              <p:cNvSpPr/>
              <p:nvPr/>
            </p:nvSpPr>
            <p:spPr>
              <a:xfrm>
                <a:off x="2557502" y="5025610"/>
                <a:ext cx="1502692" cy="1123177"/>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81" name="TextBox 80">
                <a:extLst>
                  <a:ext uri="{FF2B5EF4-FFF2-40B4-BE49-F238E27FC236}">
                    <a16:creationId xmlns:a16="http://schemas.microsoft.com/office/drawing/2014/main" id="{8DAD72C7-E6DC-67CB-8E8B-A1F8D457B68D}"/>
                  </a:ext>
                </a:extLst>
              </p:cNvPr>
              <p:cNvSpPr txBox="1"/>
              <p:nvPr/>
            </p:nvSpPr>
            <p:spPr>
              <a:xfrm>
                <a:off x="2541843" y="4948458"/>
                <a:ext cx="1359668" cy="1200329"/>
              </a:xfrm>
              <a:prstGeom prst="rect">
                <a:avLst/>
              </a:prstGeom>
              <a:noFill/>
            </p:spPr>
            <p:txBody>
              <a:bodyPr wrap="none" rtlCol="0">
                <a:spAutoFit/>
              </a:bodyPr>
              <a:lstStyle/>
              <a:p>
                <a:r>
                  <a:rPr lang="en-US" sz="1200" dirty="0"/>
                  <a:t>Governance</a:t>
                </a:r>
              </a:p>
              <a:p>
                <a:pPr marL="285750" indent="-285750">
                  <a:buFont typeface="Arial" panose="020B0604020202020204" pitchFamily="34" charset="0"/>
                  <a:buChar char="•"/>
                </a:pPr>
                <a:r>
                  <a:rPr lang="en-US" sz="1000" dirty="0"/>
                  <a:t>Data Contract</a:t>
                </a:r>
              </a:p>
              <a:p>
                <a:pPr marL="285750" indent="-285750">
                  <a:buFont typeface="Arial" panose="020B0604020202020204" pitchFamily="34" charset="0"/>
                  <a:buChar char="•"/>
                </a:pPr>
                <a:r>
                  <a:rPr lang="en-US" sz="1000" dirty="0"/>
                  <a:t>Data Quality</a:t>
                </a:r>
              </a:p>
              <a:p>
                <a:pPr marL="285750" indent="-285750">
                  <a:buFont typeface="Arial" panose="020B0604020202020204" pitchFamily="34" charset="0"/>
                  <a:buChar char="•"/>
                </a:pPr>
                <a:r>
                  <a:rPr lang="en-US" sz="1000" dirty="0"/>
                  <a:t>Data Provenance</a:t>
                </a:r>
              </a:p>
              <a:p>
                <a:pPr marL="285750" indent="-285750">
                  <a:buFont typeface="Arial" panose="020B0604020202020204" pitchFamily="34" charset="0"/>
                  <a:buChar char="•"/>
                </a:pPr>
                <a:r>
                  <a:rPr lang="en-US" sz="1000" dirty="0"/>
                  <a:t>Data Lineage</a:t>
                </a:r>
              </a:p>
              <a:p>
                <a:pPr marL="285750" indent="-285750">
                  <a:buFont typeface="Arial" panose="020B0604020202020204" pitchFamily="34" charset="0"/>
                  <a:buChar char="•"/>
                </a:pPr>
                <a:r>
                  <a:rPr lang="en-US" sz="1000" dirty="0"/>
                  <a:t>Data Security</a:t>
                </a:r>
              </a:p>
              <a:p>
                <a:pPr marL="285750" indent="-285750">
                  <a:buFont typeface="Arial" panose="020B0604020202020204" pitchFamily="34" charset="0"/>
                  <a:buChar char="•"/>
                </a:pPr>
                <a:r>
                  <a:rPr lang="en-US" sz="1000" dirty="0"/>
                  <a:t>Data Ownership</a:t>
                </a:r>
              </a:p>
            </p:txBody>
          </p:sp>
        </p:grpSp>
      </p:grpSp>
      <p:sp>
        <p:nvSpPr>
          <p:cNvPr id="2" name="TextBox 1">
            <a:extLst>
              <a:ext uri="{FF2B5EF4-FFF2-40B4-BE49-F238E27FC236}">
                <a16:creationId xmlns:a16="http://schemas.microsoft.com/office/drawing/2014/main" id="{3F37852F-C4A5-3A4F-A441-51BC0954C3A1}"/>
              </a:ext>
            </a:extLst>
          </p:cNvPr>
          <p:cNvSpPr txBox="1"/>
          <p:nvPr/>
        </p:nvSpPr>
        <p:spPr>
          <a:xfrm>
            <a:off x="8508186" y="3074935"/>
            <a:ext cx="904415" cy="400110"/>
          </a:xfrm>
          <a:prstGeom prst="rect">
            <a:avLst/>
          </a:prstGeom>
          <a:noFill/>
        </p:spPr>
        <p:txBody>
          <a:bodyPr wrap="none" rtlCol="0">
            <a:spAutoFit/>
          </a:bodyPr>
          <a:lstStyle/>
          <a:p>
            <a:r>
              <a:rPr lang="en-US" sz="1000" dirty="0"/>
              <a:t>Data Lake</a:t>
            </a:r>
          </a:p>
          <a:p>
            <a:pPr marL="171450" indent="-171450">
              <a:buFont typeface="Arial" panose="020B0604020202020204" pitchFamily="34" charset="0"/>
              <a:buChar char="•"/>
            </a:pPr>
            <a:r>
              <a:rPr lang="en-US" sz="1000" dirty="0"/>
              <a:t>Databricks</a:t>
            </a:r>
          </a:p>
        </p:txBody>
      </p:sp>
      <p:sp>
        <p:nvSpPr>
          <p:cNvPr id="6" name="TextBox 5">
            <a:extLst>
              <a:ext uri="{FF2B5EF4-FFF2-40B4-BE49-F238E27FC236}">
                <a16:creationId xmlns:a16="http://schemas.microsoft.com/office/drawing/2014/main" id="{03B12AC5-9F9D-EA1B-8E1D-8EC095F9A7E6}"/>
              </a:ext>
            </a:extLst>
          </p:cNvPr>
          <p:cNvSpPr txBox="1"/>
          <p:nvPr/>
        </p:nvSpPr>
        <p:spPr>
          <a:xfrm>
            <a:off x="8484197" y="2717445"/>
            <a:ext cx="1072730" cy="246221"/>
          </a:xfrm>
          <a:prstGeom prst="rect">
            <a:avLst/>
          </a:prstGeom>
          <a:noFill/>
        </p:spPr>
        <p:txBody>
          <a:bodyPr wrap="none" rtlCol="0">
            <a:spAutoFit/>
          </a:bodyPr>
          <a:lstStyle/>
          <a:p>
            <a:r>
              <a:rPr lang="en-US" sz="1000" dirty="0"/>
              <a:t>Data Distribution</a:t>
            </a:r>
          </a:p>
        </p:txBody>
      </p:sp>
      <p:sp>
        <p:nvSpPr>
          <p:cNvPr id="39" name="TextBox 38">
            <a:extLst>
              <a:ext uri="{FF2B5EF4-FFF2-40B4-BE49-F238E27FC236}">
                <a16:creationId xmlns:a16="http://schemas.microsoft.com/office/drawing/2014/main" id="{1CCEB652-2818-E072-DED4-92C3403159FC}"/>
              </a:ext>
            </a:extLst>
          </p:cNvPr>
          <p:cNvSpPr txBox="1"/>
          <p:nvPr/>
        </p:nvSpPr>
        <p:spPr>
          <a:xfrm>
            <a:off x="8486693" y="2563210"/>
            <a:ext cx="974947" cy="246221"/>
          </a:xfrm>
          <a:prstGeom prst="rect">
            <a:avLst/>
          </a:prstGeom>
          <a:noFill/>
        </p:spPr>
        <p:txBody>
          <a:bodyPr wrap="none" rtlCol="0">
            <a:spAutoFit/>
          </a:bodyPr>
          <a:lstStyle/>
          <a:p>
            <a:r>
              <a:rPr lang="en-US" sz="1000" dirty="0"/>
              <a:t>Data Packaging</a:t>
            </a:r>
          </a:p>
        </p:txBody>
      </p:sp>
      <p:sp>
        <p:nvSpPr>
          <p:cNvPr id="49" name="TextBox 48">
            <a:extLst>
              <a:ext uri="{FF2B5EF4-FFF2-40B4-BE49-F238E27FC236}">
                <a16:creationId xmlns:a16="http://schemas.microsoft.com/office/drawing/2014/main" id="{D3C00910-A57D-D566-2F3A-EB9D945CE26E}"/>
              </a:ext>
            </a:extLst>
          </p:cNvPr>
          <p:cNvSpPr txBox="1"/>
          <p:nvPr/>
        </p:nvSpPr>
        <p:spPr>
          <a:xfrm>
            <a:off x="8494616" y="2902111"/>
            <a:ext cx="960519" cy="553998"/>
          </a:xfrm>
          <a:prstGeom prst="rect">
            <a:avLst/>
          </a:prstGeom>
          <a:noFill/>
        </p:spPr>
        <p:txBody>
          <a:bodyPr wrap="none" rtlCol="0">
            <a:spAutoFit/>
          </a:bodyPr>
          <a:lstStyle/>
          <a:p>
            <a:r>
              <a:rPr lang="en-US" sz="1000" dirty="0"/>
              <a:t>Data Discovery</a:t>
            </a:r>
          </a:p>
          <a:p>
            <a:endParaRPr lang="en-US" sz="1000" dirty="0"/>
          </a:p>
          <a:p>
            <a:endParaRPr lang="en-US" sz="1000" dirty="0"/>
          </a:p>
        </p:txBody>
      </p:sp>
      <p:cxnSp>
        <p:nvCxnSpPr>
          <p:cNvPr id="78" name="Elbow Connector 77">
            <a:extLst>
              <a:ext uri="{FF2B5EF4-FFF2-40B4-BE49-F238E27FC236}">
                <a16:creationId xmlns:a16="http://schemas.microsoft.com/office/drawing/2014/main" id="{79097C5E-F530-BABB-CD28-073C02C18998}"/>
              </a:ext>
            </a:extLst>
          </p:cNvPr>
          <p:cNvCxnSpPr>
            <a:cxnSpLocks/>
            <a:stCxn id="7" idx="2"/>
          </p:cNvCxnSpPr>
          <p:nvPr/>
        </p:nvCxnSpPr>
        <p:spPr>
          <a:xfrm rot="5400000" flipH="1" flipV="1">
            <a:off x="6713697" y="2525316"/>
            <a:ext cx="154719" cy="4950176"/>
          </a:xfrm>
          <a:prstGeom prst="bentConnector4">
            <a:avLst>
              <a:gd name="adj1" fmla="val -147752"/>
              <a:gd name="adj2" fmla="val 58289"/>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42622CF4-DD20-AB91-0F65-4D6C72CCD45C}"/>
              </a:ext>
            </a:extLst>
          </p:cNvPr>
          <p:cNvSpPr txBox="1"/>
          <p:nvPr/>
        </p:nvSpPr>
        <p:spPr>
          <a:xfrm>
            <a:off x="5091563" y="5188352"/>
            <a:ext cx="537327" cy="246221"/>
          </a:xfrm>
          <a:prstGeom prst="rect">
            <a:avLst/>
          </a:prstGeom>
          <a:solidFill>
            <a:schemeClr val="bg1"/>
          </a:solidFill>
        </p:spPr>
        <p:txBody>
          <a:bodyPr wrap="square" rtlCol="0">
            <a:spAutoFit/>
          </a:bodyPr>
          <a:lstStyle/>
          <a:p>
            <a:r>
              <a:rPr lang="en-US" sz="1000" dirty="0"/>
              <a:t>enable</a:t>
            </a:r>
          </a:p>
        </p:txBody>
      </p:sp>
      <p:sp>
        <p:nvSpPr>
          <p:cNvPr id="89" name="TextBox 88">
            <a:extLst>
              <a:ext uri="{FF2B5EF4-FFF2-40B4-BE49-F238E27FC236}">
                <a16:creationId xmlns:a16="http://schemas.microsoft.com/office/drawing/2014/main" id="{A70A7FA4-3214-D9A0-81D7-C1594B5F1BFF}"/>
              </a:ext>
            </a:extLst>
          </p:cNvPr>
          <p:cNvSpPr txBox="1"/>
          <p:nvPr/>
        </p:nvSpPr>
        <p:spPr>
          <a:xfrm>
            <a:off x="1454795" y="5177383"/>
            <a:ext cx="2869862" cy="861774"/>
          </a:xfrm>
          <a:prstGeom prst="rect">
            <a:avLst/>
          </a:prstGeom>
          <a:noFill/>
        </p:spPr>
        <p:txBody>
          <a:bodyPr wrap="square" rtlCol="0">
            <a:spAutoFit/>
          </a:bodyPr>
          <a:lstStyle/>
          <a:p>
            <a:pPr marL="171450" indent="-171450">
              <a:buFont typeface="Arial" panose="020B0604020202020204" pitchFamily="34" charset="0"/>
              <a:buChar char="•"/>
            </a:pPr>
            <a:r>
              <a:rPr lang="en-US" sz="1000" dirty="0"/>
              <a:t>Multiple Business Domain capabilities map to Data Domain Products</a:t>
            </a:r>
          </a:p>
          <a:p>
            <a:pPr marL="171450" indent="-171450">
              <a:buFont typeface="Arial" panose="020B0604020202020204" pitchFamily="34" charset="0"/>
              <a:buChar char="•"/>
            </a:pPr>
            <a:r>
              <a:rPr lang="en-US" sz="1000" dirty="0"/>
              <a:t>Ontology defined by Business / Data Architect- Conflict resolution (CDO)</a:t>
            </a:r>
          </a:p>
          <a:p>
            <a:pPr marL="171450" indent="-171450">
              <a:buFont typeface="Arial" panose="020B0604020202020204" pitchFamily="34" charset="0"/>
              <a:buChar char="•"/>
            </a:pPr>
            <a:r>
              <a:rPr lang="en-US" sz="1000" dirty="0"/>
              <a:t>Checks &amp; Balances ( CDO)</a:t>
            </a:r>
          </a:p>
        </p:txBody>
      </p:sp>
      <p:cxnSp>
        <p:nvCxnSpPr>
          <p:cNvPr id="94" name="Straight Arrow Connector 93">
            <a:extLst>
              <a:ext uri="{FF2B5EF4-FFF2-40B4-BE49-F238E27FC236}">
                <a16:creationId xmlns:a16="http://schemas.microsoft.com/office/drawing/2014/main" id="{BC2B1ACA-12D0-4775-EFC1-DAC69FE0B583}"/>
              </a:ext>
            </a:extLst>
          </p:cNvPr>
          <p:cNvCxnSpPr/>
          <p:nvPr/>
        </p:nvCxnSpPr>
        <p:spPr>
          <a:xfrm>
            <a:off x="2647507" y="2168065"/>
            <a:ext cx="6592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F30FCBC1-FA5B-8741-3448-3DB69C52BF18}"/>
              </a:ext>
            </a:extLst>
          </p:cNvPr>
          <p:cNvCxnSpPr>
            <a:cxnSpLocks/>
          </p:cNvCxnSpPr>
          <p:nvPr/>
        </p:nvCxnSpPr>
        <p:spPr>
          <a:xfrm flipH="1">
            <a:off x="2624351" y="3408380"/>
            <a:ext cx="594671" cy="13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DD93444D-C790-DE54-D1C4-2C4AE271A6AB}"/>
              </a:ext>
            </a:extLst>
          </p:cNvPr>
          <p:cNvCxnSpPr>
            <a:cxnSpLocks/>
          </p:cNvCxnSpPr>
          <p:nvPr/>
        </p:nvCxnSpPr>
        <p:spPr>
          <a:xfrm flipH="1">
            <a:off x="2663318" y="4426439"/>
            <a:ext cx="594671" cy="13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E968558-9FD3-3AB1-419C-2B6DB6EF2AA7}"/>
              </a:ext>
            </a:extLst>
          </p:cNvPr>
          <p:cNvCxnSpPr>
            <a:cxnSpLocks/>
          </p:cNvCxnSpPr>
          <p:nvPr/>
        </p:nvCxnSpPr>
        <p:spPr>
          <a:xfrm>
            <a:off x="5283653" y="3038796"/>
            <a:ext cx="5166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40D674D1-CF38-7053-459E-5F0E2EFD4EBD}"/>
              </a:ext>
            </a:extLst>
          </p:cNvPr>
          <p:cNvCxnSpPr>
            <a:cxnSpLocks/>
          </p:cNvCxnSpPr>
          <p:nvPr/>
        </p:nvCxnSpPr>
        <p:spPr>
          <a:xfrm>
            <a:off x="7785849" y="2807251"/>
            <a:ext cx="5166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433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AB49D89B-7DA1-C22C-0458-586F1CE66E4D}"/>
              </a:ext>
            </a:extLst>
          </p:cNvPr>
          <p:cNvSpPr/>
          <p:nvPr/>
        </p:nvSpPr>
        <p:spPr>
          <a:xfrm>
            <a:off x="8600116" y="1461501"/>
            <a:ext cx="2275367" cy="2825758"/>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B6EE123E-CE7E-347E-8984-73E941DE5052}"/>
              </a:ext>
            </a:extLst>
          </p:cNvPr>
          <p:cNvSpPr/>
          <p:nvPr/>
        </p:nvSpPr>
        <p:spPr>
          <a:xfrm>
            <a:off x="2160926" y="1461501"/>
            <a:ext cx="5350357" cy="3001862"/>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78" name="Rectangle 77">
            <a:extLst>
              <a:ext uri="{FF2B5EF4-FFF2-40B4-BE49-F238E27FC236}">
                <a16:creationId xmlns:a16="http://schemas.microsoft.com/office/drawing/2014/main" id="{A9543EC5-A58D-4F41-2806-1572871C9C04}"/>
              </a:ext>
            </a:extLst>
          </p:cNvPr>
          <p:cNvSpPr/>
          <p:nvPr/>
        </p:nvSpPr>
        <p:spPr>
          <a:xfrm>
            <a:off x="4040734" y="1638535"/>
            <a:ext cx="1714204" cy="2739336"/>
          </a:xfrm>
          <a:prstGeom prst="rect">
            <a:avLst/>
          </a:prstGeom>
          <a:solidFill>
            <a:schemeClr val="bg1"/>
          </a:solidFill>
          <a:ln w="31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 name="TextBox 1">
            <a:extLst>
              <a:ext uri="{FF2B5EF4-FFF2-40B4-BE49-F238E27FC236}">
                <a16:creationId xmlns:a16="http://schemas.microsoft.com/office/drawing/2014/main" id="{E05C4EE9-97B0-6EA4-ACA1-920D6F36712E}"/>
              </a:ext>
            </a:extLst>
          </p:cNvPr>
          <p:cNvSpPr txBox="1"/>
          <p:nvPr/>
        </p:nvSpPr>
        <p:spPr>
          <a:xfrm>
            <a:off x="3957401" y="95693"/>
            <a:ext cx="2138599" cy="369332"/>
          </a:xfrm>
          <a:prstGeom prst="rect">
            <a:avLst/>
          </a:prstGeom>
          <a:noFill/>
        </p:spPr>
        <p:txBody>
          <a:bodyPr wrap="none" rtlCol="0">
            <a:spAutoFit/>
          </a:bodyPr>
          <a:lstStyle/>
          <a:p>
            <a:r>
              <a:rPr lang="en-US" dirty="0"/>
              <a:t>What is next for RISK</a:t>
            </a:r>
          </a:p>
        </p:txBody>
      </p:sp>
      <p:sp>
        <p:nvSpPr>
          <p:cNvPr id="3" name="Rectangle 2">
            <a:extLst>
              <a:ext uri="{FF2B5EF4-FFF2-40B4-BE49-F238E27FC236}">
                <a16:creationId xmlns:a16="http://schemas.microsoft.com/office/drawing/2014/main" id="{543406EC-8653-5085-1826-80EF694B99A0}"/>
              </a:ext>
            </a:extLst>
          </p:cNvPr>
          <p:cNvSpPr/>
          <p:nvPr/>
        </p:nvSpPr>
        <p:spPr>
          <a:xfrm>
            <a:off x="4163905" y="3160337"/>
            <a:ext cx="1256604" cy="603586"/>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Risk </a:t>
            </a:r>
            <a:r>
              <a:rPr lang="en-US" sz="1200" dirty="0" err="1">
                <a:solidFill>
                  <a:schemeClr val="tx1"/>
                </a:solidFill>
              </a:rPr>
              <a:t>Apps</a:t>
            </a:r>
            <a:r>
              <a:rPr lang="en-US" sz="1200" dirty="0" err="1"/>
              <a:t>is</a:t>
            </a:r>
            <a:endParaRPr lang="en-US" sz="1200" dirty="0"/>
          </a:p>
        </p:txBody>
      </p:sp>
      <p:sp>
        <p:nvSpPr>
          <p:cNvPr id="4" name="Rectangle 3">
            <a:extLst>
              <a:ext uri="{FF2B5EF4-FFF2-40B4-BE49-F238E27FC236}">
                <a16:creationId xmlns:a16="http://schemas.microsoft.com/office/drawing/2014/main" id="{DD2385E2-06D6-377D-7604-D3DDC5E3F537}"/>
              </a:ext>
            </a:extLst>
          </p:cNvPr>
          <p:cNvSpPr/>
          <p:nvPr/>
        </p:nvSpPr>
        <p:spPr>
          <a:xfrm>
            <a:off x="1004777" y="2995575"/>
            <a:ext cx="988828" cy="768348"/>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Data Sources</a:t>
            </a:r>
          </a:p>
        </p:txBody>
      </p:sp>
      <p:sp>
        <p:nvSpPr>
          <p:cNvPr id="5" name="TextBox 4">
            <a:extLst>
              <a:ext uri="{FF2B5EF4-FFF2-40B4-BE49-F238E27FC236}">
                <a16:creationId xmlns:a16="http://schemas.microsoft.com/office/drawing/2014/main" id="{83A7944A-D68A-F745-032D-D3689E14D3A8}"/>
              </a:ext>
            </a:extLst>
          </p:cNvPr>
          <p:cNvSpPr txBox="1"/>
          <p:nvPr/>
        </p:nvSpPr>
        <p:spPr>
          <a:xfrm>
            <a:off x="98940" y="2606381"/>
            <a:ext cx="705771" cy="276999"/>
          </a:xfrm>
          <a:prstGeom prst="rect">
            <a:avLst/>
          </a:prstGeom>
          <a:noFill/>
        </p:spPr>
        <p:txBody>
          <a:bodyPr wrap="none" rtlCol="0">
            <a:spAutoFit/>
          </a:bodyPr>
          <a:lstStyle/>
          <a:p>
            <a:r>
              <a:rPr lang="en-US" sz="1200" dirty="0"/>
              <a:t>Internal </a:t>
            </a:r>
          </a:p>
        </p:txBody>
      </p:sp>
      <p:sp>
        <p:nvSpPr>
          <p:cNvPr id="6" name="TextBox 5">
            <a:extLst>
              <a:ext uri="{FF2B5EF4-FFF2-40B4-BE49-F238E27FC236}">
                <a16:creationId xmlns:a16="http://schemas.microsoft.com/office/drawing/2014/main" id="{56ABA2BF-467A-D1D8-089D-C29D92D4242E}"/>
              </a:ext>
            </a:extLst>
          </p:cNvPr>
          <p:cNvSpPr txBox="1"/>
          <p:nvPr/>
        </p:nvSpPr>
        <p:spPr>
          <a:xfrm>
            <a:off x="116958" y="3847582"/>
            <a:ext cx="696409" cy="276999"/>
          </a:xfrm>
          <a:prstGeom prst="rect">
            <a:avLst/>
          </a:prstGeom>
          <a:noFill/>
        </p:spPr>
        <p:txBody>
          <a:bodyPr wrap="none" rtlCol="0">
            <a:spAutoFit/>
          </a:bodyPr>
          <a:lstStyle/>
          <a:p>
            <a:r>
              <a:rPr lang="en-US" sz="1200" dirty="0"/>
              <a:t>External</a:t>
            </a:r>
          </a:p>
        </p:txBody>
      </p:sp>
      <p:cxnSp>
        <p:nvCxnSpPr>
          <p:cNvPr id="8" name="Elbow Connector 7">
            <a:extLst>
              <a:ext uri="{FF2B5EF4-FFF2-40B4-BE49-F238E27FC236}">
                <a16:creationId xmlns:a16="http://schemas.microsoft.com/office/drawing/2014/main" id="{D6F85A52-0C89-F4F7-42E8-00422B75BF2F}"/>
              </a:ext>
            </a:extLst>
          </p:cNvPr>
          <p:cNvCxnSpPr>
            <a:cxnSpLocks/>
            <a:stCxn id="5" idx="2"/>
            <a:endCxn id="4" idx="1"/>
          </p:cNvCxnSpPr>
          <p:nvPr/>
        </p:nvCxnSpPr>
        <p:spPr>
          <a:xfrm rot="16200000" flipH="1">
            <a:off x="480117" y="2855088"/>
            <a:ext cx="496369" cy="5529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6D5A5891-F2A9-7553-044E-804BC1A98099}"/>
              </a:ext>
            </a:extLst>
          </p:cNvPr>
          <p:cNvCxnSpPr>
            <a:cxnSpLocks/>
            <a:stCxn id="6" idx="0"/>
          </p:cNvCxnSpPr>
          <p:nvPr/>
        </p:nvCxnSpPr>
        <p:spPr>
          <a:xfrm rot="5400000" flipH="1" flipV="1">
            <a:off x="557152" y="3399957"/>
            <a:ext cx="355637" cy="5396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5FF9A27-5533-260B-A355-CFDD8FFE084F}"/>
              </a:ext>
            </a:extLst>
          </p:cNvPr>
          <p:cNvSpPr/>
          <p:nvPr/>
        </p:nvSpPr>
        <p:spPr>
          <a:xfrm>
            <a:off x="2516973" y="3506012"/>
            <a:ext cx="1256604" cy="871859"/>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Data Distribution(Central)</a:t>
            </a:r>
          </a:p>
          <a:p>
            <a:pPr marL="171450" indent="-171450">
              <a:buFont typeface="Arial" panose="020B0604020202020204" pitchFamily="34" charset="0"/>
              <a:buChar char="•"/>
            </a:pPr>
            <a:r>
              <a:rPr lang="en-US" sz="800" dirty="0">
                <a:solidFill>
                  <a:schemeClr val="tx1"/>
                </a:solidFill>
              </a:rPr>
              <a:t>Veritas</a:t>
            </a:r>
          </a:p>
          <a:p>
            <a:pPr marL="171450" indent="-171450">
              <a:buFont typeface="Arial" panose="020B0604020202020204" pitchFamily="34" charset="0"/>
              <a:buChar char="•"/>
            </a:pPr>
            <a:r>
              <a:rPr lang="en-US" sz="800" dirty="0" err="1">
                <a:solidFill>
                  <a:schemeClr val="tx1"/>
                </a:solidFill>
              </a:rPr>
              <a:t>InfoP</a:t>
            </a:r>
            <a:endParaRPr lang="en-US" sz="800" dirty="0">
              <a:solidFill>
                <a:schemeClr val="tx1"/>
              </a:solidFill>
            </a:endParaRPr>
          </a:p>
          <a:p>
            <a:pPr marL="171450" indent="-171450">
              <a:buFont typeface="Arial" panose="020B0604020202020204" pitchFamily="34" charset="0"/>
              <a:buChar char="•"/>
            </a:pPr>
            <a:r>
              <a:rPr lang="en-US" sz="800" dirty="0" err="1">
                <a:solidFill>
                  <a:schemeClr val="tx1"/>
                </a:solidFill>
              </a:rPr>
              <a:t>Dremio</a:t>
            </a:r>
            <a:endParaRPr lang="en-US" sz="800" dirty="0">
              <a:solidFill>
                <a:schemeClr val="tx1"/>
              </a:solidFill>
            </a:endParaRPr>
          </a:p>
          <a:p>
            <a:pPr marL="171450" indent="-171450">
              <a:buFont typeface="Arial" panose="020B0604020202020204" pitchFamily="34" charset="0"/>
              <a:buChar char="•"/>
            </a:pPr>
            <a:r>
              <a:rPr lang="en-US" sz="800" dirty="0">
                <a:solidFill>
                  <a:schemeClr val="tx1"/>
                </a:solidFill>
              </a:rPr>
              <a:t>RDS</a:t>
            </a:r>
          </a:p>
          <a:p>
            <a:pPr marL="171450" indent="-171450">
              <a:buFont typeface="Arial" panose="020B0604020202020204" pitchFamily="34" charset="0"/>
              <a:buChar char="•"/>
            </a:pPr>
            <a:r>
              <a:rPr lang="en-US" sz="800" dirty="0">
                <a:solidFill>
                  <a:schemeClr val="tx1"/>
                </a:solidFill>
              </a:rPr>
              <a:t>CDS</a:t>
            </a:r>
          </a:p>
        </p:txBody>
      </p:sp>
      <p:sp>
        <p:nvSpPr>
          <p:cNvPr id="20" name="Rectangle 19">
            <a:extLst>
              <a:ext uri="{FF2B5EF4-FFF2-40B4-BE49-F238E27FC236}">
                <a16:creationId xmlns:a16="http://schemas.microsoft.com/office/drawing/2014/main" id="{80C2EE93-C803-2EEC-CA82-FF7097C4F5E3}"/>
              </a:ext>
            </a:extLst>
          </p:cNvPr>
          <p:cNvSpPr/>
          <p:nvPr/>
        </p:nvSpPr>
        <p:spPr>
          <a:xfrm>
            <a:off x="2534741" y="2791004"/>
            <a:ext cx="1221068" cy="369332"/>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Direct Access</a:t>
            </a:r>
          </a:p>
        </p:txBody>
      </p:sp>
      <p:cxnSp>
        <p:nvCxnSpPr>
          <p:cNvPr id="24" name="Elbow Connector 23">
            <a:extLst>
              <a:ext uri="{FF2B5EF4-FFF2-40B4-BE49-F238E27FC236}">
                <a16:creationId xmlns:a16="http://schemas.microsoft.com/office/drawing/2014/main" id="{B66923CC-ACAC-F3A5-E066-ECDF4FA14F14}"/>
              </a:ext>
            </a:extLst>
          </p:cNvPr>
          <p:cNvCxnSpPr>
            <a:stCxn id="4" idx="3"/>
            <a:endCxn id="20" idx="1"/>
          </p:cNvCxnSpPr>
          <p:nvPr/>
        </p:nvCxnSpPr>
        <p:spPr>
          <a:xfrm flipV="1">
            <a:off x="1993605" y="2975670"/>
            <a:ext cx="541136" cy="40407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3AC25AFD-7B7E-76F5-5183-A63B814A4E15}"/>
              </a:ext>
            </a:extLst>
          </p:cNvPr>
          <p:cNvCxnSpPr>
            <a:cxnSpLocks/>
            <a:stCxn id="4" idx="3"/>
            <a:endCxn id="17" idx="1"/>
          </p:cNvCxnSpPr>
          <p:nvPr/>
        </p:nvCxnSpPr>
        <p:spPr>
          <a:xfrm>
            <a:off x="1993605" y="3379749"/>
            <a:ext cx="523368" cy="5621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9E9BCBB-5767-EACE-6726-B00A73021ABA}"/>
              </a:ext>
            </a:extLst>
          </p:cNvPr>
          <p:cNvSpPr txBox="1"/>
          <p:nvPr/>
        </p:nvSpPr>
        <p:spPr>
          <a:xfrm>
            <a:off x="2498741" y="4787345"/>
            <a:ext cx="1141659" cy="1046440"/>
          </a:xfrm>
          <a:prstGeom prst="rect">
            <a:avLst/>
          </a:prstGeom>
          <a:noFill/>
        </p:spPr>
        <p:txBody>
          <a:bodyPr wrap="none" rtlCol="0">
            <a:spAutoFit/>
          </a:bodyPr>
          <a:lstStyle/>
          <a:p>
            <a:r>
              <a:rPr lang="en-US" sz="1200" dirty="0"/>
              <a:t>Mode</a:t>
            </a:r>
          </a:p>
          <a:p>
            <a:pPr marL="171450" indent="-171450">
              <a:buFont typeface="Arial" panose="020B0604020202020204" pitchFamily="34" charset="0"/>
              <a:buChar char="•"/>
            </a:pPr>
            <a:r>
              <a:rPr lang="en-US" sz="1000" dirty="0"/>
              <a:t>API (Rest)</a:t>
            </a:r>
          </a:p>
          <a:p>
            <a:pPr marL="171450" indent="-171450">
              <a:buFont typeface="Arial" panose="020B0604020202020204" pitchFamily="34" charset="0"/>
              <a:buChar char="•"/>
            </a:pPr>
            <a:r>
              <a:rPr lang="en-US" sz="1000" dirty="0"/>
              <a:t>Batch (files)</a:t>
            </a:r>
          </a:p>
          <a:p>
            <a:pPr marL="171450" indent="-171450">
              <a:buFont typeface="Arial" panose="020B0604020202020204" pitchFamily="34" charset="0"/>
              <a:buChar char="•"/>
            </a:pPr>
            <a:r>
              <a:rPr lang="en-US" sz="1000" dirty="0" err="1"/>
              <a:t>Dremio</a:t>
            </a:r>
            <a:r>
              <a:rPr lang="en-US" sz="1000" dirty="0"/>
              <a:t>(Query)</a:t>
            </a:r>
          </a:p>
          <a:p>
            <a:pPr marL="171450" indent="-171450">
              <a:buFont typeface="Arial" panose="020B0604020202020204" pitchFamily="34" charset="0"/>
              <a:buChar char="•"/>
            </a:pPr>
            <a:r>
              <a:rPr lang="en-US" sz="1000" dirty="0"/>
              <a:t>Streaming</a:t>
            </a:r>
          </a:p>
          <a:p>
            <a:pPr marL="171450" indent="-171450">
              <a:buFont typeface="Arial" panose="020B0604020202020204" pitchFamily="34" charset="0"/>
              <a:buChar char="•"/>
            </a:pPr>
            <a:r>
              <a:rPr lang="en-US" sz="1000" dirty="0" err="1"/>
              <a:t>websocket</a:t>
            </a:r>
            <a:endParaRPr lang="en-US" sz="1000" dirty="0"/>
          </a:p>
        </p:txBody>
      </p:sp>
      <p:cxnSp>
        <p:nvCxnSpPr>
          <p:cNvPr id="36" name="Elbow Connector 35">
            <a:extLst>
              <a:ext uri="{FF2B5EF4-FFF2-40B4-BE49-F238E27FC236}">
                <a16:creationId xmlns:a16="http://schemas.microsoft.com/office/drawing/2014/main" id="{5C2000E9-1C3F-49C3-62B9-AA4A44FF7659}"/>
              </a:ext>
            </a:extLst>
          </p:cNvPr>
          <p:cNvCxnSpPr>
            <a:cxnSpLocks/>
            <a:stCxn id="20" idx="3"/>
            <a:endCxn id="3" idx="1"/>
          </p:cNvCxnSpPr>
          <p:nvPr/>
        </p:nvCxnSpPr>
        <p:spPr>
          <a:xfrm>
            <a:off x="3755809" y="2975670"/>
            <a:ext cx="408096" cy="4864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B90D0460-6812-14EE-98D5-B33066D903EE}"/>
              </a:ext>
            </a:extLst>
          </p:cNvPr>
          <p:cNvCxnSpPr>
            <a:cxnSpLocks/>
            <a:stCxn id="17" idx="3"/>
          </p:cNvCxnSpPr>
          <p:nvPr/>
        </p:nvCxnSpPr>
        <p:spPr>
          <a:xfrm flipV="1">
            <a:off x="3773577" y="3596271"/>
            <a:ext cx="390327" cy="34567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86DC0681-BAFE-FD6B-7A98-50AFF85EDB73}"/>
              </a:ext>
            </a:extLst>
          </p:cNvPr>
          <p:cNvSpPr txBox="1"/>
          <p:nvPr/>
        </p:nvSpPr>
        <p:spPr>
          <a:xfrm>
            <a:off x="4203790" y="4746575"/>
            <a:ext cx="1446230" cy="1046440"/>
          </a:xfrm>
          <a:prstGeom prst="rect">
            <a:avLst/>
          </a:prstGeom>
          <a:noFill/>
        </p:spPr>
        <p:txBody>
          <a:bodyPr wrap="none" rtlCol="0">
            <a:spAutoFit/>
          </a:bodyPr>
          <a:lstStyle/>
          <a:p>
            <a:r>
              <a:rPr lang="en-US" sz="1200" dirty="0"/>
              <a:t>Apps</a:t>
            </a:r>
          </a:p>
          <a:p>
            <a:pPr marL="171450" indent="-171450">
              <a:buFont typeface="Arial" panose="020B0604020202020204" pitchFamily="34" charset="0"/>
              <a:buChar char="•"/>
            </a:pPr>
            <a:r>
              <a:rPr lang="en-US" sz="1000" dirty="0"/>
              <a:t>Consume Data</a:t>
            </a:r>
          </a:p>
          <a:p>
            <a:pPr marL="171450" indent="-171450">
              <a:buFont typeface="Arial" panose="020B0604020202020204" pitchFamily="34" charset="0"/>
              <a:buChar char="•"/>
            </a:pPr>
            <a:r>
              <a:rPr lang="en-US" sz="1000" dirty="0"/>
              <a:t>Shape Data</a:t>
            </a:r>
          </a:p>
          <a:p>
            <a:pPr marL="171450" indent="-171450">
              <a:buFont typeface="Arial" panose="020B0604020202020204" pitchFamily="34" charset="0"/>
              <a:buChar char="•"/>
            </a:pPr>
            <a:r>
              <a:rPr lang="en-US" sz="1000" dirty="0"/>
              <a:t>DQ Checks</a:t>
            </a:r>
          </a:p>
          <a:p>
            <a:pPr marL="171450" indent="-171450">
              <a:buFont typeface="Arial" panose="020B0604020202020204" pitchFamily="34" charset="0"/>
              <a:buChar char="•"/>
            </a:pPr>
            <a:r>
              <a:rPr lang="en-US" sz="1000" dirty="0"/>
              <a:t>Process/Calculate</a:t>
            </a:r>
          </a:p>
          <a:p>
            <a:pPr marL="171450" indent="-171450">
              <a:buFont typeface="Arial" panose="020B0604020202020204" pitchFamily="34" charset="0"/>
              <a:buChar char="•"/>
            </a:pPr>
            <a:r>
              <a:rPr lang="en-US" sz="1000" dirty="0"/>
              <a:t>Produce Risk Metrics</a:t>
            </a:r>
          </a:p>
        </p:txBody>
      </p:sp>
      <p:sp>
        <p:nvSpPr>
          <p:cNvPr id="42" name="Rectangle 41">
            <a:extLst>
              <a:ext uri="{FF2B5EF4-FFF2-40B4-BE49-F238E27FC236}">
                <a16:creationId xmlns:a16="http://schemas.microsoft.com/office/drawing/2014/main" id="{3D7B0D09-F971-07EF-4291-51CA3DD504DC}"/>
              </a:ext>
            </a:extLst>
          </p:cNvPr>
          <p:cNvSpPr/>
          <p:nvPr/>
        </p:nvSpPr>
        <p:spPr>
          <a:xfrm>
            <a:off x="6290430" y="2556011"/>
            <a:ext cx="1555281" cy="570482"/>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Business</a:t>
            </a:r>
          </a:p>
          <a:p>
            <a:pPr algn="ctr"/>
            <a:r>
              <a:rPr lang="en-US" sz="1200" dirty="0">
                <a:solidFill>
                  <a:schemeClr val="tx1"/>
                </a:solidFill>
              </a:rPr>
              <a:t>(Consumer)</a:t>
            </a:r>
          </a:p>
        </p:txBody>
      </p:sp>
      <p:sp>
        <p:nvSpPr>
          <p:cNvPr id="43" name="TextBox 42">
            <a:extLst>
              <a:ext uri="{FF2B5EF4-FFF2-40B4-BE49-F238E27FC236}">
                <a16:creationId xmlns:a16="http://schemas.microsoft.com/office/drawing/2014/main" id="{F85B225A-C1EB-8C3B-FD51-01057303A466}"/>
              </a:ext>
            </a:extLst>
          </p:cNvPr>
          <p:cNvSpPr txBox="1"/>
          <p:nvPr/>
        </p:nvSpPr>
        <p:spPr>
          <a:xfrm>
            <a:off x="6239390" y="4733632"/>
            <a:ext cx="1879041" cy="1015663"/>
          </a:xfrm>
          <a:prstGeom prst="rect">
            <a:avLst/>
          </a:prstGeom>
          <a:noFill/>
        </p:spPr>
        <p:txBody>
          <a:bodyPr wrap="none" rtlCol="0">
            <a:spAutoFit/>
          </a:bodyPr>
          <a:lstStyle/>
          <a:p>
            <a:pPr marL="171450" indent="-171450">
              <a:buFont typeface="Arial" panose="020B0604020202020204" pitchFamily="34" charset="0"/>
              <a:buChar char="•"/>
            </a:pPr>
            <a:r>
              <a:rPr lang="en-US" sz="1000" dirty="0"/>
              <a:t>Business</a:t>
            </a:r>
          </a:p>
          <a:p>
            <a:pPr marL="171450" indent="-171450">
              <a:buFont typeface="Arial" panose="020B0604020202020204" pitchFamily="34" charset="0"/>
              <a:buChar char="•"/>
            </a:pPr>
            <a:r>
              <a:rPr lang="en-US" sz="1000" dirty="0"/>
              <a:t>Upstream/Downstream Apps</a:t>
            </a:r>
          </a:p>
          <a:p>
            <a:pPr marL="171450" indent="-171450">
              <a:buFont typeface="Arial" panose="020B0604020202020204" pitchFamily="34" charset="0"/>
              <a:buChar char="•"/>
            </a:pPr>
            <a:r>
              <a:rPr lang="en-US" sz="1000" dirty="0"/>
              <a:t>Published </a:t>
            </a:r>
          </a:p>
          <a:p>
            <a:pPr marL="628650" lvl="1" indent="-171450">
              <a:buFont typeface="Arial" panose="020B0604020202020204" pitchFamily="34" charset="0"/>
              <a:buChar char="•"/>
            </a:pPr>
            <a:r>
              <a:rPr lang="en-US" sz="1000" dirty="0"/>
              <a:t>CSV</a:t>
            </a:r>
          </a:p>
          <a:p>
            <a:pPr marL="628650" lvl="1" indent="-171450">
              <a:buFont typeface="Arial" panose="020B0604020202020204" pitchFamily="34" charset="0"/>
              <a:buChar char="•"/>
            </a:pPr>
            <a:r>
              <a:rPr lang="en-US" sz="1000" dirty="0"/>
              <a:t>Services</a:t>
            </a:r>
          </a:p>
          <a:p>
            <a:pPr marL="628650" lvl="1" indent="-171450">
              <a:buFont typeface="Arial" panose="020B0604020202020204" pitchFamily="34" charset="0"/>
              <a:buChar char="•"/>
            </a:pPr>
            <a:r>
              <a:rPr lang="en-US" sz="1000" dirty="0"/>
              <a:t>SQL Database</a:t>
            </a:r>
          </a:p>
        </p:txBody>
      </p:sp>
      <p:sp>
        <p:nvSpPr>
          <p:cNvPr id="44" name="Rectangle 43">
            <a:extLst>
              <a:ext uri="{FF2B5EF4-FFF2-40B4-BE49-F238E27FC236}">
                <a16:creationId xmlns:a16="http://schemas.microsoft.com/office/drawing/2014/main" id="{46C7B511-2A0B-259E-F1A2-58E1BA32DFFC}"/>
              </a:ext>
            </a:extLst>
          </p:cNvPr>
          <p:cNvSpPr/>
          <p:nvPr/>
        </p:nvSpPr>
        <p:spPr>
          <a:xfrm>
            <a:off x="4163905" y="2090159"/>
            <a:ext cx="1256604" cy="793178"/>
          </a:xfrm>
          <a:prstGeom prst="rect">
            <a:avLst/>
          </a:prstGeom>
          <a:solidFill>
            <a:srgbClr val="00B050"/>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Storage</a:t>
            </a:r>
          </a:p>
          <a:p>
            <a:pPr algn="ctr"/>
            <a:r>
              <a:rPr lang="en-US" sz="1000" dirty="0">
                <a:solidFill>
                  <a:schemeClr val="bg1"/>
                </a:solidFill>
              </a:rPr>
              <a:t>(risk produced Data)</a:t>
            </a:r>
          </a:p>
        </p:txBody>
      </p:sp>
      <p:grpSp>
        <p:nvGrpSpPr>
          <p:cNvPr id="52" name="Group 51">
            <a:extLst>
              <a:ext uri="{FF2B5EF4-FFF2-40B4-BE49-F238E27FC236}">
                <a16:creationId xmlns:a16="http://schemas.microsoft.com/office/drawing/2014/main" id="{4DF0D96D-C409-6BCF-6FBC-BA2DE0F4858E}"/>
              </a:ext>
            </a:extLst>
          </p:cNvPr>
          <p:cNvGrpSpPr/>
          <p:nvPr/>
        </p:nvGrpSpPr>
        <p:grpSpPr>
          <a:xfrm>
            <a:off x="3971464" y="1644763"/>
            <a:ext cx="1902970" cy="401514"/>
            <a:chOff x="8313545" y="710114"/>
            <a:chExt cx="1902970" cy="401514"/>
          </a:xfrm>
        </p:grpSpPr>
        <p:sp>
          <p:nvSpPr>
            <p:cNvPr id="47" name="TextBox 46">
              <a:extLst>
                <a:ext uri="{FF2B5EF4-FFF2-40B4-BE49-F238E27FC236}">
                  <a16:creationId xmlns:a16="http://schemas.microsoft.com/office/drawing/2014/main" id="{3100F3D1-0EC3-6616-4CE6-551E2361E539}"/>
                </a:ext>
              </a:extLst>
            </p:cNvPr>
            <p:cNvSpPr txBox="1"/>
            <p:nvPr/>
          </p:nvSpPr>
          <p:spPr>
            <a:xfrm>
              <a:off x="8313545" y="711518"/>
              <a:ext cx="1059906" cy="400110"/>
            </a:xfrm>
            <a:prstGeom prst="rect">
              <a:avLst/>
            </a:prstGeom>
            <a:noFill/>
          </p:spPr>
          <p:txBody>
            <a:bodyPr wrap="none" rtlCol="0">
              <a:spAutoFit/>
            </a:bodyPr>
            <a:lstStyle/>
            <a:p>
              <a:pPr marL="285750" indent="-285750">
                <a:buFont typeface="Arial" panose="020B0604020202020204" pitchFamily="34" charset="0"/>
                <a:buChar char="•"/>
              </a:pPr>
              <a:r>
                <a:rPr lang="en-US" sz="1000" dirty="0"/>
                <a:t>File System</a:t>
              </a:r>
            </a:p>
            <a:p>
              <a:pPr marL="285750" indent="-285750">
                <a:buFont typeface="Arial" panose="020B0604020202020204" pitchFamily="34" charset="0"/>
                <a:buChar char="•"/>
              </a:pPr>
              <a:r>
                <a:rPr lang="en-US" sz="1000" dirty="0"/>
                <a:t>SQL DB</a:t>
              </a:r>
            </a:p>
          </p:txBody>
        </p:sp>
        <p:sp>
          <p:nvSpPr>
            <p:cNvPr id="51" name="TextBox 50">
              <a:extLst>
                <a:ext uri="{FF2B5EF4-FFF2-40B4-BE49-F238E27FC236}">
                  <a16:creationId xmlns:a16="http://schemas.microsoft.com/office/drawing/2014/main" id="{E252AF94-64FC-D20D-E3FC-22D618416295}"/>
                </a:ext>
              </a:extLst>
            </p:cNvPr>
            <p:cNvSpPr txBox="1"/>
            <p:nvPr/>
          </p:nvSpPr>
          <p:spPr>
            <a:xfrm>
              <a:off x="9328130" y="710114"/>
              <a:ext cx="888385" cy="400110"/>
            </a:xfrm>
            <a:prstGeom prst="rect">
              <a:avLst/>
            </a:prstGeom>
            <a:noFill/>
          </p:spPr>
          <p:txBody>
            <a:bodyPr wrap="none" rtlCol="0">
              <a:spAutoFit/>
            </a:bodyPr>
            <a:lstStyle/>
            <a:p>
              <a:pPr marL="171450" indent="-171450">
                <a:buFont typeface="Arial" panose="020B0604020202020204" pitchFamily="34" charset="0"/>
                <a:buChar char="•"/>
              </a:pPr>
              <a:r>
                <a:rPr lang="en-US" sz="1000" dirty="0" err="1"/>
                <a:t>Hbase</a:t>
              </a:r>
              <a:endParaRPr lang="en-US" sz="1000" dirty="0"/>
            </a:p>
            <a:p>
              <a:pPr marL="171450" indent="-171450">
                <a:buFont typeface="Arial" panose="020B0604020202020204" pitchFamily="34" charset="0"/>
                <a:buChar char="•"/>
              </a:pPr>
              <a:r>
                <a:rPr lang="en-US" sz="1000" dirty="0"/>
                <a:t>Cassandra</a:t>
              </a:r>
            </a:p>
          </p:txBody>
        </p:sp>
      </p:grpSp>
      <p:cxnSp>
        <p:nvCxnSpPr>
          <p:cNvPr id="54" name="Straight Arrow Connector 53">
            <a:extLst>
              <a:ext uri="{FF2B5EF4-FFF2-40B4-BE49-F238E27FC236}">
                <a16:creationId xmlns:a16="http://schemas.microsoft.com/office/drawing/2014/main" id="{3A1A3D1C-1F60-A596-3563-E476CB6BEA9E}"/>
              </a:ext>
            </a:extLst>
          </p:cNvPr>
          <p:cNvCxnSpPr>
            <a:cxnSpLocks/>
            <a:stCxn id="3" idx="0"/>
            <a:endCxn id="44" idx="2"/>
          </p:cNvCxnSpPr>
          <p:nvPr/>
        </p:nvCxnSpPr>
        <p:spPr>
          <a:xfrm flipV="1">
            <a:off x="4792207" y="2883337"/>
            <a:ext cx="0" cy="277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A0FA32FD-1527-B967-CA4B-1D4A0AC3903A}"/>
              </a:ext>
            </a:extLst>
          </p:cNvPr>
          <p:cNvSpPr txBox="1"/>
          <p:nvPr/>
        </p:nvSpPr>
        <p:spPr>
          <a:xfrm>
            <a:off x="9373354" y="1519644"/>
            <a:ext cx="838819" cy="276999"/>
          </a:xfrm>
          <a:prstGeom prst="rect">
            <a:avLst/>
          </a:prstGeom>
          <a:noFill/>
        </p:spPr>
        <p:txBody>
          <a:bodyPr wrap="none" rtlCol="0">
            <a:spAutoFit/>
          </a:bodyPr>
          <a:lstStyle/>
          <a:p>
            <a:r>
              <a:rPr lang="en-US" sz="1200" dirty="0"/>
              <a:t>Databricks</a:t>
            </a:r>
          </a:p>
        </p:txBody>
      </p:sp>
      <p:sp>
        <p:nvSpPr>
          <p:cNvPr id="58" name="Rectangle 57">
            <a:extLst>
              <a:ext uri="{FF2B5EF4-FFF2-40B4-BE49-F238E27FC236}">
                <a16:creationId xmlns:a16="http://schemas.microsoft.com/office/drawing/2014/main" id="{2906452B-FF1E-C520-9103-76D639BA62F9}"/>
              </a:ext>
            </a:extLst>
          </p:cNvPr>
          <p:cNvSpPr/>
          <p:nvPr/>
        </p:nvSpPr>
        <p:spPr>
          <a:xfrm>
            <a:off x="10182367" y="2433716"/>
            <a:ext cx="939438" cy="355468"/>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Credit risk</a:t>
            </a:r>
          </a:p>
        </p:txBody>
      </p:sp>
      <p:sp>
        <p:nvSpPr>
          <p:cNvPr id="62" name="Rectangle 61">
            <a:extLst>
              <a:ext uri="{FF2B5EF4-FFF2-40B4-BE49-F238E27FC236}">
                <a16:creationId xmlns:a16="http://schemas.microsoft.com/office/drawing/2014/main" id="{755EF20C-0771-B32B-E39D-421ABA681BA0}"/>
              </a:ext>
            </a:extLst>
          </p:cNvPr>
          <p:cNvSpPr/>
          <p:nvPr/>
        </p:nvSpPr>
        <p:spPr>
          <a:xfrm>
            <a:off x="8714284" y="2437463"/>
            <a:ext cx="557390" cy="299078"/>
          </a:xfrm>
          <a:prstGeom prst="rect">
            <a:avLst/>
          </a:prstGeom>
          <a:solidFill>
            <a:schemeClr val="bg1"/>
          </a:solidFill>
          <a:ln w="95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tx1"/>
                </a:solidFill>
              </a:rPr>
              <a:t>xvala</a:t>
            </a:r>
            <a:endParaRPr lang="en-US" sz="1000" dirty="0">
              <a:solidFill>
                <a:schemeClr val="tx1"/>
              </a:solidFill>
            </a:endParaRPr>
          </a:p>
        </p:txBody>
      </p:sp>
      <p:sp>
        <p:nvSpPr>
          <p:cNvPr id="63" name="Rectangle 62">
            <a:extLst>
              <a:ext uri="{FF2B5EF4-FFF2-40B4-BE49-F238E27FC236}">
                <a16:creationId xmlns:a16="http://schemas.microsoft.com/office/drawing/2014/main" id="{78BCAF12-8D34-B27E-ABDC-A607BD1AE545}"/>
              </a:ext>
            </a:extLst>
          </p:cNvPr>
          <p:cNvSpPr/>
          <p:nvPr/>
        </p:nvSpPr>
        <p:spPr>
          <a:xfrm>
            <a:off x="9340052" y="2442315"/>
            <a:ext cx="557390" cy="299078"/>
          </a:xfrm>
          <a:prstGeom prst="rect">
            <a:avLst/>
          </a:prstGeom>
          <a:solidFill>
            <a:schemeClr val="bg1"/>
          </a:solidFill>
          <a:ln w="95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CMOS</a:t>
            </a:r>
          </a:p>
        </p:txBody>
      </p:sp>
      <p:sp>
        <p:nvSpPr>
          <p:cNvPr id="64" name="Rectangle 63">
            <a:extLst>
              <a:ext uri="{FF2B5EF4-FFF2-40B4-BE49-F238E27FC236}">
                <a16:creationId xmlns:a16="http://schemas.microsoft.com/office/drawing/2014/main" id="{218379A6-0132-DA12-C4FF-4F47CE9E0206}"/>
              </a:ext>
            </a:extLst>
          </p:cNvPr>
          <p:cNvSpPr/>
          <p:nvPr/>
        </p:nvSpPr>
        <p:spPr>
          <a:xfrm>
            <a:off x="8714284" y="2758795"/>
            <a:ext cx="557390" cy="299078"/>
          </a:xfrm>
          <a:prstGeom prst="rect">
            <a:avLst/>
          </a:prstGeom>
          <a:solidFill>
            <a:schemeClr val="bg1"/>
          </a:solidFill>
          <a:ln w="95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TAMS</a:t>
            </a:r>
          </a:p>
        </p:txBody>
      </p:sp>
      <p:sp>
        <p:nvSpPr>
          <p:cNvPr id="65" name="Rectangle 64">
            <a:extLst>
              <a:ext uri="{FF2B5EF4-FFF2-40B4-BE49-F238E27FC236}">
                <a16:creationId xmlns:a16="http://schemas.microsoft.com/office/drawing/2014/main" id="{CE5BF259-45A2-24D4-A188-B02E7F8FC803}"/>
              </a:ext>
            </a:extLst>
          </p:cNvPr>
          <p:cNvSpPr/>
          <p:nvPr/>
        </p:nvSpPr>
        <p:spPr>
          <a:xfrm>
            <a:off x="8723210" y="3104169"/>
            <a:ext cx="557390" cy="215911"/>
          </a:xfrm>
          <a:prstGeom prst="rect">
            <a:avLst/>
          </a:prstGeom>
          <a:solidFill>
            <a:schemeClr val="bg1"/>
          </a:solidFill>
          <a:ln w="95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ALFA</a:t>
            </a:r>
          </a:p>
        </p:txBody>
      </p:sp>
      <p:sp>
        <p:nvSpPr>
          <p:cNvPr id="66" name="Rectangle 65">
            <a:extLst>
              <a:ext uri="{FF2B5EF4-FFF2-40B4-BE49-F238E27FC236}">
                <a16:creationId xmlns:a16="http://schemas.microsoft.com/office/drawing/2014/main" id="{D29A550E-2288-75BF-3071-DC7A8D55AE96}"/>
              </a:ext>
            </a:extLst>
          </p:cNvPr>
          <p:cNvSpPr/>
          <p:nvPr/>
        </p:nvSpPr>
        <p:spPr>
          <a:xfrm>
            <a:off x="10213238" y="2827752"/>
            <a:ext cx="939439" cy="355468"/>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Liquidity</a:t>
            </a:r>
          </a:p>
        </p:txBody>
      </p:sp>
      <p:sp>
        <p:nvSpPr>
          <p:cNvPr id="67" name="Rectangle 66">
            <a:extLst>
              <a:ext uri="{FF2B5EF4-FFF2-40B4-BE49-F238E27FC236}">
                <a16:creationId xmlns:a16="http://schemas.microsoft.com/office/drawing/2014/main" id="{BB04E07B-1137-5E4E-DBBA-F8D98F80F4E3}"/>
              </a:ext>
            </a:extLst>
          </p:cNvPr>
          <p:cNvSpPr/>
          <p:nvPr/>
        </p:nvSpPr>
        <p:spPr>
          <a:xfrm>
            <a:off x="10213238" y="3243881"/>
            <a:ext cx="939439" cy="355468"/>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Market Risk</a:t>
            </a:r>
          </a:p>
        </p:txBody>
      </p:sp>
      <p:sp>
        <p:nvSpPr>
          <p:cNvPr id="68" name="TextBox 67">
            <a:extLst>
              <a:ext uri="{FF2B5EF4-FFF2-40B4-BE49-F238E27FC236}">
                <a16:creationId xmlns:a16="http://schemas.microsoft.com/office/drawing/2014/main" id="{58D7D14B-362D-6783-AC4B-AD2A86BB133F}"/>
              </a:ext>
            </a:extLst>
          </p:cNvPr>
          <p:cNvSpPr txBox="1"/>
          <p:nvPr/>
        </p:nvSpPr>
        <p:spPr>
          <a:xfrm>
            <a:off x="8600116" y="4410563"/>
            <a:ext cx="2361544" cy="553998"/>
          </a:xfrm>
          <a:prstGeom prst="rect">
            <a:avLst/>
          </a:prstGeom>
          <a:noFill/>
        </p:spPr>
        <p:txBody>
          <a:bodyPr wrap="none" rtlCol="0">
            <a:spAutoFit/>
          </a:bodyPr>
          <a:lstStyle/>
          <a:p>
            <a:r>
              <a:rPr lang="en-US" sz="1000" dirty="0"/>
              <a:t>Databricks Workspace -&gt; risk Domain</a:t>
            </a:r>
          </a:p>
          <a:p>
            <a:r>
              <a:rPr lang="en-US" sz="1000" dirty="0"/>
              <a:t>Databricks Catalog -&gt; Risk Product Groups</a:t>
            </a:r>
          </a:p>
          <a:p>
            <a:r>
              <a:rPr lang="en-US" sz="1000" dirty="0"/>
              <a:t>Databricks Schemas -&gt; Risk Apps</a:t>
            </a:r>
          </a:p>
        </p:txBody>
      </p:sp>
      <p:cxnSp>
        <p:nvCxnSpPr>
          <p:cNvPr id="70" name="Straight Arrow Connector 69">
            <a:extLst>
              <a:ext uri="{FF2B5EF4-FFF2-40B4-BE49-F238E27FC236}">
                <a16:creationId xmlns:a16="http://schemas.microsoft.com/office/drawing/2014/main" id="{2B59E02C-41B3-44DC-4AD2-26D4FED20D3E}"/>
              </a:ext>
            </a:extLst>
          </p:cNvPr>
          <p:cNvCxnSpPr>
            <a:cxnSpLocks/>
          </p:cNvCxnSpPr>
          <p:nvPr/>
        </p:nvCxnSpPr>
        <p:spPr>
          <a:xfrm>
            <a:off x="5420509" y="2360428"/>
            <a:ext cx="3043007"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55005585-00DD-DE9F-D26D-4BA71C94CE3E}"/>
              </a:ext>
            </a:extLst>
          </p:cNvPr>
          <p:cNvSpPr/>
          <p:nvPr/>
        </p:nvSpPr>
        <p:spPr>
          <a:xfrm>
            <a:off x="6290431" y="3286837"/>
            <a:ext cx="1152630" cy="570482"/>
          </a:xfrm>
          <a:prstGeom prst="rect">
            <a:avLst/>
          </a:prstGeom>
          <a:solidFill>
            <a:schemeClr val="bg1"/>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Others</a:t>
            </a:r>
          </a:p>
          <a:p>
            <a:pPr algn="ctr"/>
            <a:r>
              <a:rPr lang="en-US" sz="1200" dirty="0">
                <a:solidFill>
                  <a:schemeClr val="tx1"/>
                </a:solidFill>
              </a:rPr>
              <a:t>(Apps) </a:t>
            </a:r>
          </a:p>
        </p:txBody>
      </p:sp>
      <p:cxnSp>
        <p:nvCxnSpPr>
          <p:cNvPr id="85" name="Straight Arrow Connector 84">
            <a:extLst>
              <a:ext uri="{FF2B5EF4-FFF2-40B4-BE49-F238E27FC236}">
                <a16:creationId xmlns:a16="http://schemas.microsoft.com/office/drawing/2014/main" id="{3DF204BB-E42B-B0E5-A86F-F3F64A4015F9}"/>
              </a:ext>
            </a:extLst>
          </p:cNvPr>
          <p:cNvCxnSpPr>
            <a:cxnSpLocks/>
          </p:cNvCxnSpPr>
          <p:nvPr/>
        </p:nvCxnSpPr>
        <p:spPr>
          <a:xfrm>
            <a:off x="5754938" y="2883337"/>
            <a:ext cx="4544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4AF4D3D1-DA11-71EA-F9B7-730F589F710B}"/>
              </a:ext>
            </a:extLst>
          </p:cNvPr>
          <p:cNvCxnSpPr>
            <a:cxnSpLocks/>
          </p:cNvCxnSpPr>
          <p:nvPr/>
        </p:nvCxnSpPr>
        <p:spPr>
          <a:xfrm>
            <a:off x="5754938" y="3536955"/>
            <a:ext cx="4544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F05E4DE3-76F3-3174-9EEE-E82D5CF3F1A1}"/>
              </a:ext>
            </a:extLst>
          </p:cNvPr>
          <p:cNvSpPr txBox="1"/>
          <p:nvPr/>
        </p:nvSpPr>
        <p:spPr>
          <a:xfrm>
            <a:off x="7040892" y="2252706"/>
            <a:ext cx="1077539" cy="215444"/>
          </a:xfrm>
          <a:prstGeom prst="rect">
            <a:avLst/>
          </a:prstGeom>
          <a:solidFill>
            <a:schemeClr val="bg1"/>
          </a:solidFill>
        </p:spPr>
        <p:txBody>
          <a:bodyPr wrap="none" rtlCol="0">
            <a:spAutoFit/>
          </a:bodyPr>
          <a:lstStyle/>
          <a:p>
            <a:r>
              <a:rPr lang="en-US" sz="800" dirty="0"/>
              <a:t>App specific Schemas</a:t>
            </a:r>
          </a:p>
        </p:txBody>
      </p:sp>
      <p:sp>
        <p:nvSpPr>
          <p:cNvPr id="90" name="TextBox 89">
            <a:extLst>
              <a:ext uri="{FF2B5EF4-FFF2-40B4-BE49-F238E27FC236}">
                <a16:creationId xmlns:a16="http://schemas.microsoft.com/office/drawing/2014/main" id="{FF1D2623-A13B-3CD0-7744-01E5823A00B4}"/>
              </a:ext>
            </a:extLst>
          </p:cNvPr>
          <p:cNvSpPr txBox="1"/>
          <p:nvPr/>
        </p:nvSpPr>
        <p:spPr>
          <a:xfrm>
            <a:off x="8642053" y="5181759"/>
            <a:ext cx="2510624" cy="861774"/>
          </a:xfrm>
          <a:prstGeom prst="rect">
            <a:avLst/>
          </a:prstGeom>
          <a:noFill/>
        </p:spPr>
        <p:txBody>
          <a:bodyPr wrap="none" rtlCol="0">
            <a:spAutoFit/>
          </a:bodyPr>
          <a:lstStyle/>
          <a:p>
            <a:r>
              <a:rPr lang="en-US" sz="1200" b="1" dirty="0"/>
              <a:t>Outcome</a:t>
            </a:r>
          </a:p>
          <a:p>
            <a:pPr marL="342900" indent="-342900">
              <a:buAutoNum type="arabicPeriod"/>
            </a:pPr>
            <a:r>
              <a:rPr lang="en-US" sz="1000" dirty="0"/>
              <a:t>Schema for Risk produced Data added</a:t>
            </a:r>
          </a:p>
          <a:p>
            <a:pPr marL="342900" indent="-342900">
              <a:buAutoNum type="arabicPeriod"/>
            </a:pPr>
            <a:r>
              <a:rPr lang="en-US" sz="1000" dirty="0"/>
              <a:t>Exploration / Dashboards</a:t>
            </a:r>
          </a:p>
          <a:p>
            <a:endParaRPr lang="en-US" dirty="0"/>
          </a:p>
        </p:txBody>
      </p:sp>
      <p:cxnSp>
        <p:nvCxnSpPr>
          <p:cNvPr id="95" name="Straight Arrow Connector 94">
            <a:extLst>
              <a:ext uri="{FF2B5EF4-FFF2-40B4-BE49-F238E27FC236}">
                <a16:creationId xmlns:a16="http://schemas.microsoft.com/office/drawing/2014/main" id="{695ACA22-B2E4-D439-8C7A-B91D6EECFD79}"/>
              </a:ext>
            </a:extLst>
          </p:cNvPr>
          <p:cNvCxnSpPr>
            <a:cxnSpLocks/>
          </p:cNvCxnSpPr>
          <p:nvPr/>
        </p:nvCxnSpPr>
        <p:spPr>
          <a:xfrm flipH="1">
            <a:off x="7963786" y="2883337"/>
            <a:ext cx="4997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Elbow Connector 96">
            <a:extLst>
              <a:ext uri="{FF2B5EF4-FFF2-40B4-BE49-F238E27FC236}">
                <a16:creationId xmlns:a16="http://schemas.microsoft.com/office/drawing/2014/main" id="{4EA5D5B3-9501-E239-1C9D-1B3612861322}"/>
              </a:ext>
            </a:extLst>
          </p:cNvPr>
          <p:cNvCxnSpPr>
            <a:cxnSpLocks/>
            <a:stCxn id="4" idx="0"/>
            <a:endCxn id="57" idx="0"/>
          </p:cNvCxnSpPr>
          <p:nvPr/>
        </p:nvCxnSpPr>
        <p:spPr>
          <a:xfrm rot="5400000" flipH="1" flipV="1">
            <a:off x="4851458" y="-1890766"/>
            <a:ext cx="1534074" cy="8238609"/>
          </a:xfrm>
          <a:prstGeom prst="bentConnector3">
            <a:avLst>
              <a:gd name="adj1" fmla="val 114901"/>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C47E9E19-6FAC-3CA2-199F-6F70BA02929F}"/>
              </a:ext>
            </a:extLst>
          </p:cNvPr>
          <p:cNvSpPr txBox="1"/>
          <p:nvPr/>
        </p:nvSpPr>
        <p:spPr>
          <a:xfrm>
            <a:off x="6243057" y="1130797"/>
            <a:ext cx="2728632" cy="246221"/>
          </a:xfrm>
          <a:prstGeom prst="rect">
            <a:avLst/>
          </a:prstGeom>
          <a:solidFill>
            <a:schemeClr val="bg1"/>
          </a:solidFill>
        </p:spPr>
        <p:txBody>
          <a:bodyPr wrap="none" rtlCol="0">
            <a:spAutoFit/>
          </a:bodyPr>
          <a:lstStyle/>
          <a:p>
            <a:r>
              <a:rPr lang="en-US" sz="1000" dirty="0"/>
              <a:t>Data loaded into app specific schemas as needed</a:t>
            </a:r>
          </a:p>
        </p:txBody>
      </p:sp>
    </p:spTree>
    <p:extLst>
      <p:ext uri="{BB962C8B-B14F-4D97-AF65-F5344CB8AC3E}">
        <p14:creationId xmlns:p14="http://schemas.microsoft.com/office/powerpoint/2010/main" val="2675158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57A923-9687-72ED-BD33-4EDEC33579DA}"/>
              </a:ext>
            </a:extLst>
          </p:cNvPr>
          <p:cNvSpPr txBox="1"/>
          <p:nvPr/>
        </p:nvSpPr>
        <p:spPr>
          <a:xfrm>
            <a:off x="4976037" y="212651"/>
            <a:ext cx="1692130" cy="369332"/>
          </a:xfrm>
          <a:prstGeom prst="rect">
            <a:avLst/>
          </a:prstGeom>
          <a:noFill/>
        </p:spPr>
        <p:txBody>
          <a:bodyPr wrap="none" rtlCol="0">
            <a:spAutoFit/>
          </a:bodyPr>
          <a:lstStyle/>
          <a:p>
            <a:r>
              <a:rPr lang="en-US" dirty="0"/>
              <a:t>Open Questions</a:t>
            </a:r>
          </a:p>
        </p:txBody>
      </p:sp>
      <p:sp>
        <p:nvSpPr>
          <p:cNvPr id="3" name="TextBox 2">
            <a:extLst>
              <a:ext uri="{FF2B5EF4-FFF2-40B4-BE49-F238E27FC236}">
                <a16:creationId xmlns:a16="http://schemas.microsoft.com/office/drawing/2014/main" id="{0F247D7B-AA02-4FC1-D935-6A1EEB4F6710}"/>
              </a:ext>
            </a:extLst>
          </p:cNvPr>
          <p:cNvSpPr txBox="1"/>
          <p:nvPr/>
        </p:nvSpPr>
        <p:spPr>
          <a:xfrm>
            <a:off x="531628" y="1499191"/>
            <a:ext cx="3978974" cy="3447098"/>
          </a:xfrm>
          <a:prstGeom prst="rect">
            <a:avLst/>
          </a:prstGeom>
          <a:noFill/>
        </p:spPr>
        <p:txBody>
          <a:bodyPr wrap="none" rtlCol="0">
            <a:spAutoFit/>
          </a:bodyPr>
          <a:lstStyle/>
          <a:p>
            <a:pPr marL="171450" indent="-171450">
              <a:buFont typeface="Arial" panose="020B0604020202020204" pitchFamily="34" charset="0"/>
              <a:buChar char="•"/>
            </a:pPr>
            <a:r>
              <a:rPr lang="en-US" sz="1000" dirty="0"/>
              <a:t>Ontology and how it maps to the CDM</a:t>
            </a:r>
          </a:p>
          <a:p>
            <a:pPr marL="171450" indent="-171450">
              <a:buFont typeface="Arial" panose="020B0604020202020204" pitchFamily="34" charset="0"/>
              <a:buChar char="•"/>
            </a:pPr>
            <a:r>
              <a:rPr lang="en-US" sz="1000" dirty="0"/>
              <a:t>Upstream Domains</a:t>
            </a:r>
          </a:p>
          <a:p>
            <a:pPr marL="628650" lvl="1" indent="-171450">
              <a:buFont typeface="Arial" panose="020B0604020202020204" pitchFamily="34" charset="0"/>
              <a:buChar char="•"/>
            </a:pPr>
            <a:r>
              <a:rPr lang="en-US" sz="1000" dirty="0"/>
              <a:t>Ontology</a:t>
            </a:r>
          </a:p>
          <a:p>
            <a:pPr marL="628650" lvl="1" indent="-171450">
              <a:buFont typeface="Arial" panose="020B0604020202020204" pitchFamily="34" charset="0"/>
              <a:buChar char="•"/>
            </a:pPr>
            <a:r>
              <a:rPr lang="en-US" sz="1000" dirty="0"/>
              <a:t>Governance</a:t>
            </a:r>
          </a:p>
          <a:p>
            <a:pPr marL="171450" indent="-171450">
              <a:buFont typeface="Arial" panose="020B0604020202020204" pitchFamily="34" charset="0"/>
              <a:buChar char="•"/>
            </a:pPr>
            <a:r>
              <a:rPr lang="en-US" sz="1000" dirty="0"/>
              <a:t>Architecture</a:t>
            </a:r>
          </a:p>
          <a:p>
            <a:pPr marL="628650" lvl="1" indent="-171450">
              <a:buFont typeface="Arial" panose="020B0604020202020204" pitchFamily="34" charset="0"/>
              <a:buChar char="•"/>
            </a:pPr>
            <a:r>
              <a:rPr lang="en-US" sz="1000" dirty="0"/>
              <a:t>Centralized or Domain Driven / Data Mesh</a:t>
            </a:r>
          </a:p>
          <a:p>
            <a:pPr marL="171450" indent="-171450">
              <a:buFont typeface="Arial" panose="020B0604020202020204" pitchFamily="34" charset="0"/>
              <a:buChar char="•"/>
            </a:pPr>
            <a:r>
              <a:rPr lang="en-US" sz="1000" dirty="0"/>
              <a:t>Role of a custodian</a:t>
            </a:r>
          </a:p>
          <a:p>
            <a:pPr marL="628650" lvl="1" indent="-171450">
              <a:buFont typeface="Arial" panose="020B0604020202020204" pitchFamily="34" charset="0"/>
              <a:buChar char="•"/>
            </a:pPr>
            <a:r>
              <a:rPr lang="en-US" sz="1000" dirty="0"/>
              <a:t>Domain authored Rules</a:t>
            </a:r>
          </a:p>
          <a:p>
            <a:pPr marL="628650" lvl="1" indent="-171450">
              <a:buFont typeface="Arial" panose="020B0604020202020204" pitchFamily="34" charset="0"/>
              <a:buChar char="•"/>
            </a:pPr>
            <a:r>
              <a:rPr lang="en-US" sz="1000" dirty="0"/>
              <a:t>Transforms</a:t>
            </a:r>
          </a:p>
          <a:p>
            <a:pPr marL="171450" indent="-171450">
              <a:buFont typeface="Arial" panose="020B0604020202020204" pitchFamily="34" charset="0"/>
              <a:buChar char="•"/>
            </a:pPr>
            <a:r>
              <a:rPr lang="en-US" sz="1000" dirty="0" err="1"/>
              <a:t>Datalake</a:t>
            </a:r>
            <a:r>
              <a:rPr lang="en-US" sz="1000" dirty="0"/>
              <a:t> Tenant</a:t>
            </a:r>
          </a:p>
          <a:p>
            <a:pPr marL="628650" lvl="1" indent="-171450">
              <a:buFont typeface="Arial" panose="020B0604020202020204" pitchFamily="34" charset="0"/>
              <a:buChar char="•"/>
            </a:pPr>
            <a:r>
              <a:rPr lang="en-US" sz="1000" dirty="0"/>
              <a:t>Domain</a:t>
            </a:r>
          </a:p>
          <a:p>
            <a:pPr marL="1085850" lvl="2" indent="-171450">
              <a:buFont typeface="Arial" panose="020B0604020202020204" pitchFamily="34" charset="0"/>
              <a:buChar char="•"/>
            </a:pPr>
            <a:r>
              <a:rPr lang="en-US" sz="1000" dirty="0"/>
              <a:t>Domain specific / custodian managed</a:t>
            </a:r>
          </a:p>
          <a:p>
            <a:pPr marL="1085850" lvl="2" indent="-171450">
              <a:buFont typeface="Arial" panose="020B0604020202020204" pitchFamily="34" charset="0"/>
              <a:buChar char="•"/>
            </a:pPr>
            <a:r>
              <a:rPr lang="en-US" sz="1000" dirty="0"/>
              <a:t>All Business Domain  Data or specific</a:t>
            </a:r>
          </a:p>
          <a:p>
            <a:pPr marL="1085850" lvl="2" indent="-171450">
              <a:buFont typeface="Arial" panose="020B0604020202020204" pitchFamily="34" charset="0"/>
              <a:buChar char="•"/>
            </a:pPr>
            <a:r>
              <a:rPr lang="en-US" sz="1000" dirty="0"/>
              <a:t>External data needs</a:t>
            </a:r>
          </a:p>
          <a:p>
            <a:pPr marL="1543050" lvl="3" indent="-171450">
              <a:buFont typeface="Arial" panose="020B0604020202020204" pitchFamily="34" charset="0"/>
              <a:buChar char="•"/>
            </a:pPr>
            <a:r>
              <a:rPr lang="en-US" sz="1000" dirty="0"/>
              <a:t>Schema/App  level storage or Domain level</a:t>
            </a:r>
          </a:p>
          <a:p>
            <a:pPr marL="171450" indent="-171450">
              <a:buFont typeface="Arial" panose="020B0604020202020204" pitchFamily="34" charset="0"/>
              <a:buChar char="•"/>
            </a:pPr>
            <a:r>
              <a:rPr lang="en-US" sz="1000" dirty="0"/>
              <a:t>Role of CDM / EDW</a:t>
            </a:r>
          </a:p>
          <a:p>
            <a:pPr marL="171450" indent="-171450">
              <a:buFont typeface="Arial" panose="020B0604020202020204" pitchFamily="34" charset="0"/>
              <a:buChar char="•"/>
            </a:pPr>
            <a:r>
              <a:rPr lang="en-US" sz="1000" dirty="0"/>
              <a:t>Data Discovery</a:t>
            </a:r>
          </a:p>
          <a:p>
            <a:pPr marL="628650" lvl="1" indent="-171450">
              <a:buFont typeface="Arial" panose="020B0604020202020204" pitchFamily="34" charset="0"/>
              <a:buChar char="•"/>
            </a:pPr>
            <a:r>
              <a:rPr lang="en-US" sz="1000" dirty="0"/>
              <a:t>What is starting point</a:t>
            </a:r>
          </a:p>
          <a:p>
            <a:pPr marL="628650" lvl="1" indent="-171450">
              <a:buFont typeface="Arial" panose="020B0604020202020204" pitchFamily="34" charset="0"/>
              <a:buChar char="•"/>
            </a:pPr>
            <a:r>
              <a:rPr lang="en-US" sz="1000" dirty="0"/>
              <a:t>Where should it be logged</a:t>
            </a:r>
          </a:p>
          <a:p>
            <a:pPr marL="628650" lvl="1" indent="-171450">
              <a:buFont typeface="Arial" panose="020B0604020202020204" pitchFamily="34" charset="0"/>
              <a:buChar char="•"/>
            </a:pPr>
            <a:r>
              <a:rPr lang="en-US" sz="1000" dirty="0"/>
              <a:t>Template</a:t>
            </a:r>
          </a:p>
          <a:p>
            <a:endParaRPr lang="en-US" dirty="0"/>
          </a:p>
        </p:txBody>
      </p:sp>
    </p:spTree>
    <p:extLst>
      <p:ext uri="{BB962C8B-B14F-4D97-AF65-F5344CB8AC3E}">
        <p14:creationId xmlns:p14="http://schemas.microsoft.com/office/powerpoint/2010/main" val="303742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9050">
          <a:solidFill>
            <a:srgbClr val="00B050"/>
          </a:solidFill>
        </a:ln>
      </a:spPr>
      <a:bodyPr rtlCol="0" anchor="ctr"/>
      <a:lstStyle>
        <a:defPPr algn="ctr">
          <a:defRPr sz="10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1226</TotalTime>
  <Words>3682</Words>
  <Application>Microsoft Macintosh PowerPoint</Application>
  <PresentationFormat>Widescreen</PresentationFormat>
  <Paragraphs>502</Paragraphs>
  <Slides>13</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Platform — Technology &amp; Data</dc:title>
  <dc:subject>PptxGenJS Presentation</dc:subject>
  <dc:creator>TD Securities · Risk Data Platform</dc:creator>
  <cp:lastModifiedBy>Reena Cheema</cp:lastModifiedBy>
  <cp:revision>4</cp:revision>
  <dcterms:created xsi:type="dcterms:W3CDTF">2026-07-08T16:33:33Z</dcterms:created>
  <dcterms:modified xsi:type="dcterms:W3CDTF">2026-08-18T14:16:10Z</dcterms:modified>
</cp:coreProperties>
</file>