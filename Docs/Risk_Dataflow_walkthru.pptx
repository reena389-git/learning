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68" r:id="rId2"/>
    <p:sldId id="267" r:id="rId3"/>
    <p:sldId id="260" r:id="rId4"/>
    <p:sldId id="266" r:id="rId5"/>
    <p:sldId id="256" r:id="rId6"/>
    <p:sldId id="257" r:id="rId7"/>
    <p:sldId id="258" r:id="rId8"/>
    <p:sldId id="259" r:id="rId9"/>
    <p:sldId id="265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1FF"/>
    <a:srgbClr val="FFFAA9"/>
    <a:srgbClr val="FCFFDC"/>
    <a:srgbClr val="BFECEB"/>
    <a:srgbClr val="DAE8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543"/>
    <p:restoredTop sz="94610"/>
  </p:normalViewPr>
  <p:slideViewPr>
    <p:cSldViewPr snapToGrid="0" snapToObjects="1">
      <p:cViewPr>
        <p:scale>
          <a:sx n="119" d="100"/>
          <a:sy n="119" d="100"/>
        </p:scale>
        <p:origin x="304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211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4F480-4515-D92C-324E-E47E6699C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09FFCA-B706-86B9-310B-AA9C0805C0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43794F-F44B-7122-C286-E442AAB183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F13AAE-7C90-DBDC-0C58-DB3289773D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1929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svg"/><Relationship Id="rId3" Type="http://schemas.openxmlformats.org/officeDocument/2006/relationships/image" Target="../media/image1.sv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5" Type="http://schemas.openxmlformats.org/officeDocument/2006/relationships/image" Target="../media/image13.sv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svg"/><Relationship Id="rId14" Type="http://schemas.openxmlformats.org/officeDocument/2006/relationships/image" Target="../media/image12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high-level walkthrough of the Risk data landscape — where we are today, and the complexity underneath it.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66928" cy="566928"/>
          </a:xfrm>
          <a:prstGeom prst="rect">
            <a:avLst/>
          </a:prstGeom>
          <a:solidFill>
            <a:srgbClr val="1F7A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98448" y="1691640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Data Landscape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98448" y="1984248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end-to-end shape: sources, applications, the Databricks/TDVIP boundary, and where outputs land.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566928" cy="566928"/>
          </a:xfrm>
          <a:prstGeom prst="rect">
            <a:avLst/>
          </a:prstGeom>
          <a:solidFill>
            <a:srgbClr val="1F7A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98448" y="2743200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Dive: Collateral / Valuations / Analytics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98448" y="3035808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flow walked through in full — sources, apps, platform, consumers — to show the complexity a single slide can't.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566928" cy="566928"/>
          </a:xfrm>
          <a:prstGeom prst="rect">
            <a:avLst/>
          </a:prstGeom>
          <a:solidFill>
            <a:srgbClr val="1F7A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37947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98448" y="3794760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Questions Behind the Flow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98448" y="4087368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real business questions that surfaced this complexity, with 4 worked examples showing what each metadata gap actually costs.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4846320"/>
            <a:ext cx="566928" cy="566928"/>
          </a:xfrm>
          <a:prstGeom prst="rect">
            <a:avLst/>
          </a:prstGeom>
          <a:solidFill>
            <a:srgbClr val="1F7A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48463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298448" y="4846320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98448" y="5138928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Glossary and reference detail for follow-up.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035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1" i="1" dirty="0">
                <a:solidFill>
                  <a:srgbClr val="1F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by the end, the shape and current complexity of the Risk data landscape should be clear — not every detail, but where the seams are.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7"/>
          <p:cNvSpPr/>
          <p:nvPr/>
        </p:nvSpPr>
        <p:spPr>
          <a:xfrm>
            <a:off x="6647688" y="2171700"/>
            <a:ext cx="1023971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F7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6720840" y="3054096"/>
            <a:ext cx="829477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1F7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1508760" y="28739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Data Landscape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777240"/>
            <a:ext cx="1737360" cy="292608"/>
          </a:xfrm>
          <a:prstGeom prst="rect">
            <a:avLst/>
          </a:prstGeom>
          <a:solidFill>
            <a:srgbClr val="1F7A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1F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distinct sources · 12 domains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1143000" cy="365760"/>
          </a:xfrm>
          <a:prstGeom prst="rect">
            <a:avLst/>
          </a:prstGeom>
          <a:solidFill>
            <a:srgbClr val="1F7A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37160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845486" y="1394191"/>
            <a:ext cx="989154" cy="365760"/>
          </a:xfrm>
          <a:prstGeom prst="rect">
            <a:avLst/>
          </a:prstGeom>
          <a:solidFill>
            <a:srgbClr val="1F7A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831848" y="1394191"/>
            <a:ext cx="1021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55351" y="1828800"/>
            <a:ext cx="7924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F7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38900" y="1828800"/>
            <a:ext cx="65836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endParaRPr lang="en-US" sz="800" dirty="0"/>
          </a:p>
        </p:txBody>
      </p: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A5D1418A-1DF6-90A8-F49B-5C08B308B1AA}"/>
              </a:ext>
            </a:extLst>
          </p:cNvPr>
          <p:cNvGrpSpPr/>
          <p:nvPr/>
        </p:nvGrpSpPr>
        <p:grpSpPr>
          <a:xfrm>
            <a:off x="1021276" y="1827821"/>
            <a:ext cx="886968" cy="373597"/>
            <a:chOff x="1021276" y="1827821"/>
            <a:chExt cx="886968" cy="373597"/>
          </a:xfrm>
        </p:grpSpPr>
        <p:sp>
          <p:nvSpPr>
            <p:cNvPr id="13" name="Shape 11"/>
            <p:cNvSpPr/>
            <p:nvPr/>
          </p:nvSpPr>
          <p:spPr>
            <a:xfrm>
              <a:off x="1021276" y="1827821"/>
              <a:ext cx="840460" cy="3657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1F7A4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 12"/>
            <p:cNvSpPr/>
            <p:nvPr/>
          </p:nvSpPr>
          <p:spPr>
            <a:xfrm>
              <a:off x="1067783" y="1835658"/>
              <a:ext cx="840461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50" dirty="0">
                  <a:solidFill>
                    <a:srgbClr val="1C283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Vendor Platforms</a:t>
              </a:r>
              <a:endParaRPr lang="en-US" sz="750" dirty="0"/>
            </a:p>
          </p:txBody>
        </p:sp>
      </p:grpSp>
      <p:sp>
        <p:nvSpPr>
          <p:cNvPr id="15" name="Shape 13"/>
          <p:cNvSpPr/>
          <p:nvPr/>
        </p:nvSpPr>
        <p:spPr>
          <a:xfrm>
            <a:off x="365760" y="2468880"/>
            <a:ext cx="24688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9B9B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2523744"/>
            <a:ext cx="228600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Platforms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02920" y="2706624"/>
            <a:ext cx="219456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1F7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2706624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Veritas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02920" y="2962656"/>
            <a:ext cx="219456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1F7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" y="2962656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Venom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02920" y="3218688"/>
            <a:ext cx="219456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1F7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" y="3218688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02920" y="3474720"/>
            <a:ext cx="219456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1F7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2920" y="347472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02920" y="3730752"/>
            <a:ext cx="219456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1F7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" y="3730752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 err="1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infoP</a:t>
            </a:r>
            <a:r>
              <a:rPr lang="en-US" sz="75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750" dirty="0" err="1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Dremio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65760" y="4160520"/>
            <a:ext cx="2468880" cy="685800"/>
          </a:xfrm>
          <a:prstGeom prst="rect">
            <a:avLst/>
          </a:prstGeom>
          <a:solidFill>
            <a:srgbClr val="EAF3EC"/>
          </a:solidFill>
          <a:ln w="12700">
            <a:solidFill>
              <a:srgbClr val="1F7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7200" y="4187952"/>
            <a:ext cx="228600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– App specific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57200" y="435254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800" i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· Websocket · On-demand · Batch · API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944367" y="3182112"/>
            <a:ext cx="850391" cy="0"/>
          </a:xfrm>
          <a:prstGeom prst="line">
            <a:avLst/>
          </a:prstGeom>
          <a:noFill/>
          <a:ln w="13970">
            <a:solidFill>
              <a:srgbClr val="6B767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880361" y="34290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720"/>
              </a:lnSpc>
              <a:buNone/>
            </a:pPr>
            <a:r>
              <a:rPr lang="en-US" sz="800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</a:t>
            </a:r>
            <a:endParaRPr lang="en-US" sz="800" dirty="0">
              <a:solidFill>
                <a:schemeClr val="accent1"/>
              </a:solidFill>
            </a:endParaRPr>
          </a:p>
          <a:p>
            <a:pPr marL="0" indent="0" algn="l">
              <a:lnSpc>
                <a:spcPts val="720"/>
              </a:lnSpc>
              <a:buNone/>
            </a:pPr>
            <a:r>
              <a:rPr lang="en-US" sz="800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(EOD/intraday)</a:t>
            </a:r>
            <a:endParaRPr lang="en-US" sz="800" dirty="0">
              <a:solidFill>
                <a:schemeClr val="accent1"/>
              </a:solidFill>
            </a:endParaRPr>
          </a:p>
          <a:p>
            <a:pPr marL="0" indent="0" algn="l">
              <a:lnSpc>
                <a:spcPts val="720"/>
              </a:lnSpc>
              <a:buNone/>
            </a:pPr>
            <a:r>
              <a:rPr lang="en-US" sz="800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Demand</a:t>
            </a:r>
            <a:endParaRPr lang="en-US" sz="800" dirty="0">
              <a:solidFill>
                <a:schemeClr val="accent1"/>
              </a:solidFill>
            </a:endParaRPr>
          </a:p>
          <a:p>
            <a:pPr marL="0" indent="0" algn="l">
              <a:lnSpc>
                <a:spcPts val="720"/>
              </a:lnSpc>
              <a:buNone/>
            </a:pPr>
            <a:r>
              <a:rPr lang="en-US" sz="800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</a:t>
            </a:r>
            <a:endParaRPr lang="en-US" sz="800" dirty="0">
              <a:solidFill>
                <a:schemeClr val="accent1"/>
              </a:solidFill>
            </a:endParaRPr>
          </a:p>
        </p:txBody>
      </p:sp>
      <p:sp>
        <p:nvSpPr>
          <p:cNvPr id="32" name="Shape 30"/>
          <p:cNvSpPr/>
          <p:nvPr/>
        </p:nvSpPr>
        <p:spPr>
          <a:xfrm>
            <a:off x="3977639" y="777240"/>
            <a:ext cx="15503" cy="4405236"/>
          </a:xfrm>
          <a:prstGeom prst="line">
            <a:avLst/>
          </a:prstGeom>
          <a:noFill/>
          <a:ln w="15240">
            <a:solidFill>
              <a:srgbClr val="9C3B2E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023359" y="448710"/>
            <a:ext cx="3337561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MIGRATING INTO TDVIP based on application / engine profile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206240" y="777240"/>
            <a:ext cx="5973816" cy="365760"/>
          </a:xfrm>
          <a:prstGeom prst="rect">
            <a:avLst/>
          </a:prstGeom>
          <a:solidFill>
            <a:srgbClr val="0E3D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206240" y="77724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Applications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360920" y="1143000"/>
            <a:ext cx="0" cy="155448"/>
          </a:xfrm>
          <a:prstGeom prst="line">
            <a:avLst/>
          </a:prstGeom>
          <a:noFill/>
          <a:ln w="13970">
            <a:solidFill>
              <a:srgbClr val="2E4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709160" y="1298448"/>
            <a:ext cx="4498848" cy="0"/>
          </a:xfrm>
          <a:prstGeom prst="line">
            <a:avLst/>
          </a:prstGeom>
          <a:noFill/>
          <a:ln w="12700">
            <a:solidFill>
              <a:srgbClr val="2E4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709160" y="1298448"/>
            <a:ext cx="0" cy="118872"/>
          </a:xfrm>
          <a:prstGeom prst="line">
            <a:avLst/>
          </a:prstGeom>
          <a:noFill/>
          <a:ln w="13970">
            <a:solidFill>
              <a:srgbClr val="2E4A6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5833872" y="1298448"/>
            <a:ext cx="0" cy="118872"/>
          </a:xfrm>
          <a:prstGeom prst="line">
            <a:avLst/>
          </a:prstGeom>
          <a:noFill/>
          <a:ln w="13970">
            <a:solidFill>
              <a:srgbClr val="2E4A6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958584" y="1298448"/>
            <a:ext cx="0" cy="118872"/>
          </a:xfrm>
          <a:prstGeom prst="line">
            <a:avLst/>
          </a:prstGeom>
          <a:noFill/>
          <a:ln w="13970">
            <a:solidFill>
              <a:srgbClr val="2E4A6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8083296" y="1298448"/>
            <a:ext cx="0" cy="118872"/>
          </a:xfrm>
          <a:prstGeom prst="line">
            <a:avLst/>
          </a:prstGeom>
          <a:noFill/>
          <a:ln w="13970">
            <a:solidFill>
              <a:srgbClr val="2E4A6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9208008" y="1298448"/>
            <a:ext cx="0" cy="118872"/>
          </a:xfrm>
          <a:prstGeom prst="line">
            <a:avLst/>
          </a:prstGeom>
          <a:noFill/>
          <a:ln w="13970">
            <a:solidFill>
              <a:srgbClr val="2E4A6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4206240" y="1417320"/>
            <a:ext cx="1005840" cy="566928"/>
          </a:xfrm>
          <a:prstGeom prst="rect">
            <a:avLst/>
          </a:prstGeom>
          <a:solidFill>
            <a:srgbClr val="EAF3EC"/>
          </a:solidFill>
          <a:ln w="12700">
            <a:solidFill>
              <a:srgbClr val="1F7A47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251960" y="14630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760"/>
              </a:lnSpc>
              <a:buNone/>
            </a:pPr>
            <a:r>
              <a:rPr lang="en-US" sz="800" i="1" dirty="0">
                <a:solidFill>
                  <a:srgbClr val="1F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&amp; Data Processing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330952" y="1417320"/>
            <a:ext cx="1005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F7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330952" y="155966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780"/>
              </a:lnSpc>
              <a:buNone/>
            </a:pPr>
            <a:r>
              <a:rPr lang="en-US" sz="80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Engines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455664" y="1417320"/>
            <a:ext cx="1005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F7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455664" y="148132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80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Reporting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7580376" y="1417320"/>
            <a:ext cx="1005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F7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7580376" y="148132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740"/>
              </a:lnSpc>
              <a:buNone/>
            </a:pPr>
            <a:r>
              <a:rPr lang="en-US" sz="80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Reporting &amp; Audit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8705088" y="1417320"/>
            <a:ext cx="1005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F7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8705088" y="159105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(UI)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5833872" y="1984248"/>
            <a:ext cx="0" cy="137160"/>
          </a:xfrm>
          <a:prstGeom prst="line">
            <a:avLst/>
          </a:prstGeom>
          <a:noFill/>
          <a:ln w="13970">
            <a:solidFill>
              <a:srgbClr val="1F7A4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5074919" y="2171700"/>
            <a:ext cx="123020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F7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5054005" y="2221992"/>
            <a:ext cx="201168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630" i="1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product group (real apps)</a:t>
            </a:r>
            <a:endParaRPr lang="en-US" sz="630" dirty="0"/>
          </a:p>
        </p:txBody>
      </p:sp>
      <p:sp>
        <p:nvSpPr>
          <p:cNvPr id="57" name="Text 55"/>
          <p:cNvSpPr/>
          <p:nvPr/>
        </p:nvSpPr>
        <p:spPr>
          <a:xfrm>
            <a:off x="5054005" y="2377440"/>
            <a:ext cx="201168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1F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Risk:</a:t>
            </a:r>
            <a:endParaRPr lang="en-US" sz="680" dirty="0"/>
          </a:p>
        </p:txBody>
      </p:sp>
      <p:sp>
        <p:nvSpPr>
          <p:cNvPr id="58" name="Text 56"/>
          <p:cNvSpPr/>
          <p:nvPr/>
        </p:nvSpPr>
        <p:spPr>
          <a:xfrm>
            <a:off x="5054005" y="2523744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760"/>
              </a:lnSpc>
              <a:buNone/>
            </a:pPr>
            <a:r>
              <a:rPr lang="en-US" sz="65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XVALA · CMOS · CRS · </a:t>
            </a:r>
          </a:p>
          <a:p>
            <a:pPr marL="0" indent="0" algn="l">
              <a:lnSpc>
                <a:spcPts val="760"/>
              </a:lnSpc>
              <a:buNone/>
            </a:pPr>
            <a:r>
              <a:rPr lang="en-US" sz="65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REGDS · TCC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5054005" y="2743200"/>
            <a:ext cx="201168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1F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Risk:</a:t>
            </a:r>
            <a:endParaRPr lang="en-US" sz="680" dirty="0"/>
          </a:p>
        </p:txBody>
      </p:sp>
      <p:sp>
        <p:nvSpPr>
          <p:cNvPr id="60" name="Text 58"/>
          <p:cNvSpPr/>
          <p:nvPr/>
        </p:nvSpPr>
        <p:spPr>
          <a:xfrm>
            <a:off x="5054005" y="2889504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760"/>
              </a:lnSpc>
              <a:buNone/>
            </a:pPr>
            <a:r>
              <a:rPr lang="en-US" sz="65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RCAPS · RCS · RAMS · </a:t>
            </a:r>
          </a:p>
          <a:p>
            <a:pPr marL="0" indent="0" algn="l">
              <a:lnSpc>
                <a:spcPts val="760"/>
              </a:lnSpc>
              <a:buNone/>
            </a:pPr>
            <a:r>
              <a:rPr lang="en-US" sz="65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SRLM · INF · TDCIS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5054005" y="3108960"/>
            <a:ext cx="201168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1F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Liquidity:</a:t>
            </a:r>
            <a:endParaRPr lang="en-US" sz="680" dirty="0"/>
          </a:p>
        </p:txBody>
      </p:sp>
      <p:sp>
        <p:nvSpPr>
          <p:cNvPr id="62" name="Text 60"/>
          <p:cNvSpPr/>
          <p:nvPr/>
        </p:nvSpPr>
        <p:spPr>
          <a:xfrm>
            <a:off x="5054005" y="3255264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760"/>
              </a:lnSpc>
              <a:buNone/>
            </a:pPr>
            <a:r>
              <a:rPr lang="en-US" sz="65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ALFA</a:t>
            </a:r>
            <a:endParaRPr lang="en-US" sz="650" dirty="0"/>
          </a:p>
        </p:txBody>
      </p:sp>
      <p:sp>
        <p:nvSpPr>
          <p:cNvPr id="63" name="Text 61"/>
          <p:cNvSpPr/>
          <p:nvPr/>
        </p:nvSpPr>
        <p:spPr>
          <a:xfrm>
            <a:off x="5054005" y="3474720"/>
            <a:ext cx="201168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1F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Finance:</a:t>
            </a:r>
            <a:endParaRPr lang="en-US" sz="680" dirty="0"/>
          </a:p>
        </p:txBody>
      </p:sp>
      <p:sp>
        <p:nvSpPr>
          <p:cNvPr id="64" name="Text 62"/>
          <p:cNvSpPr/>
          <p:nvPr/>
        </p:nvSpPr>
        <p:spPr>
          <a:xfrm>
            <a:off x="5074920" y="3573884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760"/>
              </a:lnSpc>
              <a:buNone/>
            </a:pPr>
            <a:r>
              <a:rPr lang="en-US" sz="65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TRW</a:t>
            </a:r>
            <a:endParaRPr lang="en-US" sz="650" dirty="0"/>
          </a:p>
        </p:txBody>
      </p:sp>
      <p:sp>
        <p:nvSpPr>
          <p:cNvPr id="65" name="Shape 63"/>
          <p:cNvSpPr/>
          <p:nvPr/>
        </p:nvSpPr>
        <p:spPr>
          <a:xfrm>
            <a:off x="6958584" y="1984248"/>
            <a:ext cx="0" cy="137160"/>
          </a:xfrm>
          <a:prstGeom prst="line">
            <a:avLst/>
          </a:prstGeom>
          <a:noFill/>
          <a:ln w="13970">
            <a:solidFill>
              <a:srgbClr val="1F7A4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6409944" y="2139696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6720840" y="2208276"/>
            <a:ext cx="201168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Rendered</a:t>
            </a:r>
            <a:endParaRPr lang="en-US" sz="720" dirty="0"/>
          </a:p>
        </p:txBody>
      </p:sp>
      <p:sp>
        <p:nvSpPr>
          <p:cNvPr id="71" name="Shape 69"/>
          <p:cNvSpPr/>
          <p:nvPr/>
        </p:nvSpPr>
        <p:spPr>
          <a:xfrm>
            <a:off x="6720840" y="2391156"/>
            <a:ext cx="829477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1F7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6720841" y="2400300"/>
            <a:ext cx="95081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760"/>
              </a:lnSpc>
              <a:buNone/>
            </a:pPr>
            <a:r>
              <a:rPr lang="en-US" sz="66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Files</a:t>
            </a:r>
            <a:endParaRPr lang="en-US" sz="660" dirty="0"/>
          </a:p>
        </p:txBody>
      </p:sp>
      <p:sp>
        <p:nvSpPr>
          <p:cNvPr id="73" name="Shape 71"/>
          <p:cNvSpPr/>
          <p:nvPr/>
        </p:nvSpPr>
        <p:spPr>
          <a:xfrm>
            <a:off x="6720840" y="2720340"/>
            <a:ext cx="829477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1F7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6720841" y="2720340"/>
            <a:ext cx="10241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760"/>
              </a:lnSpc>
              <a:buNone/>
            </a:pPr>
            <a:r>
              <a:rPr lang="en-US" sz="66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SQL/noSQL DB</a:t>
            </a:r>
            <a:endParaRPr lang="en-US" sz="660" dirty="0"/>
          </a:p>
        </p:txBody>
      </p:sp>
      <p:sp>
        <p:nvSpPr>
          <p:cNvPr id="77" name="Shape 75"/>
          <p:cNvSpPr/>
          <p:nvPr/>
        </p:nvSpPr>
        <p:spPr>
          <a:xfrm>
            <a:off x="6720840" y="3378708"/>
            <a:ext cx="838621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1F7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6720841" y="3378708"/>
            <a:ext cx="781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760"/>
              </a:lnSpc>
              <a:buNone/>
            </a:pPr>
            <a:r>
              <a:rPr lang="en-US" sz="66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660" dirty="0"/>
          </a:p>
        </p:txBody>
      </p:sp>
      <p:sp>
        <p:nvSpPr>
          <p:cNvPr id="76" name="Text 74"/>
          <p:cNvSpPr/>
          <p:nvPr/>
        </p:nvSpPr>
        <p:spPr>
          <a:xfrm>
            <a:off x="6768846" y="3054096"/>
            <a:ext cx="78147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760"/>
              </a:lnSpc>
              <a:buNone/>
            </a:pPr>
            <a:r>
              <a:rPr lang="en-US" sz="66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660" dirty="0"/>
          </a:p>
        </p:txBody>
      </p:sp>
      <p:sp>
        <p:nvSpPr>
          <p:cNvPr id="79" name="Shape 77"/>
          <p:cNvSpPr/>
          <p:nvPr/>
        </p:nvSpPr>
        <p:spPr>
          <a:xfrm>
            <a:off x="10198608" y="1431036"/>
            <a:ext cx="1627632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F7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10226040" y="1450131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Produced Data</a:t>
            </a:r>
            <a:endParaRPr lang="en-US" sz="780" dirty="0"/>
          </a:p>
        </p:txBody>
      </p:sp>
      <p:sp>
        <p:nvSpPr>
          <p:cNvPr id="81" name="Text 79"/>
          <p:cNvSpPr/>
          <p:nvPr/>
        </p:nvSpPr>
        <p:spPr>
          <a:xfrm>
            <a:off x="10226040" y="1633011"/>
            <a:ext cx="15087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4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Valuations</a:t>
            </a:r>
            <a:endParaRPr lang="en-US" sz="640" dirty="0"/>
          </a:p>
          <a:p>
            <a:pPr marL="0" indent="0" algn="l">
              <a:lnSpc>
                <a:spcPts val="800"/>
              </a:lnSpc>
              <a:buNone/>
            </a:pPr>
            <a:r>
              <a:rPr lang="en-US" sz="64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– EOD / Intraday</a:t>
            </a:r>
            <a:endParaRPr lang="en-US" sz="640" dirty="0"/>
          </a:p>
          <a:p>
            <a:pPr marL="0" indent="0" algn="l">
              <a:lnSpc>
                <a:spcPts val="800"/>
              </a:lnSpc>
              <a:buNone/>
            </a:pPr>
            <a:r>
              <a:rPr lang="en-US" sz="64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Sensitivities</a:t>
            </a:r>
            <a:endParaRPr lang="en-US" sz="640" dirty="0"/>
          </a:p>
          <a:p>
            <a:pPr marL="0" indent="0" algn="l">
              <a:lnSpc>
                <a:spcPts val="800"/>
              </a:lnSpc>
              <a:buNone/>
            </a:pPr>
            <a:r>
              <a:rPr lang="en-US" sz="64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Collateral (OTC) Reports</a:t>
            </a:r>
            <a:endParaRPr lang="en-US" sz="640" dirty="0"/>
          </a:p>
          <a:p>
            <a:pPr marL="0" indent="0" algn="l">
              <a:lnSpc>
                <a:spcPts val="800"/>
              </a:lnSpc>
              <a:buNone/>
            </a:pPr>
            <a:r>
              <a:rPr lang="en-US" sz="64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Exposure Reports</a:t>
            </a:r>
            <a:endParaRPr lang="en-US" sz="640" dirty="0"/>
          </a:p>
          <a:p>
            <a:pPr marL="0" indent="0" algn="l">
              <a:lnSpc>
                <a:spcPts val="800"/>
              </a:lnSpc>
              <a:buNone/>
            </a:pPr>
            <a:r>
              <a:rPr lang="en-US" sz="64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Agreement Reports</a:t>
            </a:r>
            <a:endParaRPr lang="en-US" sz="640" dirty="0"/>
          </a:p>
          <a:p>
            <a:pPr marL="0" indent="0" algn="l">
              <a:lnSpc>
                <a:spcPts val="800"/>
              </a:lnSpc>
              <a:buNone/>
            </a:pPr>
            <a:r>
              <a:rPr lang="en-US" sz="64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Liquidity Risk Reports</a:t>
            </a:r>
            <a:endParaRPr lang="en-US" sz="640" dirty="0"/>
          </a:p>
        </p:txBody>
      </p:sp>
      <p:sp>
        <p:nvSpPr>
          <p:cNvPr id="85" name="Shape 83"/>
          <p:cNvSpPr/>
          <p:nvPr/>
        </p:nvSpPr>
        <p:spPr>
          <a:xfrm>
            <a:off x="5029200" y="4363974"/>
            <a:ext cx="1307592" cy="292608"/>
          </a:xfrm>
          <a:prstGeom prst="rect">
            <a:avLst/>
          </a:prstGeom>
          <a:solidFill>
            <a:srgbClr val="EAF3EC"/>
          </a:solidFill>
          <a:ln w="12700">
            <a:solidFill>
              <a:srgbClr val="1F7A47"/>
            </a:solidFill>
            <a:prstDash val="solid"/>
          </a:ln>
        </p:spPr>
        <p:txBody>
          <a:bodyPr/>
          <a:lstStyle/>
          <a:p>
            <a:pPr algn="ctr"/>
            <a:r>
              <a:rPr lang="en-US" sz="800" dirty="0"/>
              <a:t>Persistence</a:t>
            </a:r>
          </a:p>
          <a:p>
            <a:pPr algn="ctr"/>
            <a:r>
              <a:rPr lang="en-US" sz="800" dirty="0"/>
              <a:t>(</a:t>
            </a:r>
            <a:r>
              <a:rPr lang="en-US" sz="800" dirty="0" err="1"/>
              <a:t>noSQL</a:t>
            </a:r>
            <a:r>
              <a:rPr lang="en-US" sz="800" dirty="0"/>
              <a:t> / SQL )</a:t>
            </a:r>
          </a:p>
        </p:txBody>
      </p:sp>
      <p:sp>
        <p:nvSpPr>
          <p:cNvPr id="89" name="Shape 87"/>
          <p:cNvSpPr/>
          <p:nvPr/>
        </p:nvSpPr>
        <p:spPr>
          <a:xfrm>
            <a:off x="457200" y="5352505"/>
            <a:ext cx="9691852" cy="61609"/>
          </a:xfrm>
          <a:prstGeom prst="line">
            <a:avLst/>
          </a:prstGeom>
          <a:noFill/>
          <a:ln w="19050">
            <a:solidFill>
              <a:schemeClr val="bg1">
                <a:lumMod val="65000"/>
              </a:schemeClr>
            </a:solidFill>
            <a:prstDash val="solid"/>
            <a:headEnd type="triangl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5934459" y="5193792"/>
            <a:ext cx="1527045" cy="18288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Reconciliation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365760" y="571500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Deep dive into Valuations / Collateral / Analytics flow</a:t>
            </a:r>
            <a:endParaRPr lang="en-US" sz="850" dirty="0"/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E35E7BC4-0E6E-EFC4-17B8-5A69B51F24C8}"/>
              </a:ext>
            </a:extLst>
          </p:cNvPr>
          <p:cNvCxnSpPr>
            <a:cxnSpLocks/>
            <a:stCxn id="55" idx="2"/>
            <a:endCxn id="85" idx="0"/>
          </p:cNvCxnSpPr>
          <p:nvPr/>
        </p:nvCxnSpPr>
        <p:spPr>
          <a:xfrm flipH="1">
            <a:off x="5682996" y="3863340"/>
            <a:ext cx="7027" cy="500634"/>
          </a:xfrm>
          <a:prstGeom prst="straightConnector1">
            <a:avLst/>
          </a:prstGeom>
          <a:ln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1" name="Graphic 100" descr="User with solid fill">
            <a:extLst>
              <a:ext uri="{FF2B5EF4-FFF2-40B4-BE49-F238E27FC236}">
                <a16:creationId xmlns:a16="http://schemas.microsoft.com/office/drawing/2014/main" id="{1DDDF119-5FFF-CBB6-0402-67B416637A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46092" y="4622292"/>
            <a:ext cx="416408" cy="457200"/>
          </a:xfrm>
          <a:prstGeom prst="rect">
            <a:avLst/>
          </a:prstGeom>
        </p:spPr>
      </p:pic>
      <p:cxnSp>
        <p:nvCxnSpPr>
          <p:cNvPr id="103" name="Elbow Connector 102">
            <a:extLst>
              <a:ext uri="{FF2B5EF4-FFF2-40B4-BE49-F238E27FC236}">
                <a16:creationId xmlns:a16="http://schemas.microsoft.com/office/drawing/2014/main" id="{B8705E8E-5299-53B0-EAC8-609EC2A49CDF}"/>
              </a:ext>
            </a:extLst>
          </p:cNvPr>
          <p:cNvCxnSpPr>
            <a:cxnSpLocks/>
            <a:endCxn id="85" idx="2"/>
          </p:cNvCxnSpPr>
          <p:nvPr/>
        </p:nvCxnSpPr>
        <p:spPr>
          <a:xfrm flipV="1">
            <a:off x="4894729" y="4656582"/>
            <a:ext cx="788267" cy="189738"/>
          </a:xfrm>
          <a:prstGeom prst="bentConnector2">
            <a:avLst/>
          </a:prstGeom>
          <a:ln>
            <a:solidFill>
              <a:schemeClr val="accent6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C50CB902-F571-DD1C-309E-41108DC841B2}"/>
              </a:ext>
            </a:extLst>
          </p:cNvPr>
          <p:cNvSpPr txBox="1"/>
          <p:nvPr/>
        </p:nvSpPr>
        <p:spPr>
          <a:xfrm>
            <a:off x="5198777" y="4738598"/>
            <a:ext cx="441146" cy="21544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800" i="1" dirty="0"/>
              <a:t>Query</a:t>
            </a:r>
          </a:p>
        </p:txBody>
      </p:sp>
      <p:pic>
        <p:nvPicPr>
          <p:cNvPr id="105" name="Graphic 104" descr="User with solid fill">
            <a:extLst>
              <a:ext uri="{FF2B5EF4-FFF2-40B4-BE49-F238E27FC236}">
                <a16:creationId xmlns:a16="http://schemas.microsoft.com/office/drawing/2014/main" id="{1B601990-3BEB-27DD-C623-B2F8751FE5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22536" y="1801368"/>
            <a:ext cx="416408" cy="457200"/>
          </a:xfrm>
          <a:prstGeom prst="rect">
            <a:avLst/>
          </a:prstGeom>
        </p:spPr>
      </p:pic>
      <p:cxnSp>
        <p:nvCxnSpPr>
          <p:cNvPr id="107" name="Elbow Connector 106">
            <a:extLst>
              <a:ext uri="{FF2B5EF4-FFF2-40B4-BE49-F238E27FC236}">
                <a16:creationId xmlns:a16="http://schemas.microsoft.com/office/drawing/2014/main" id="{3CF8E9FC-3C43-7D5E-8123-2BB53968FBDD}"/>
              </a:ext>
            </a:extLst>
          </p:cNvPr>
          <p:cNvCxnSpPr>
            <a:cxnSpLocks/>
            <a:endCxn id="55" idx="1"/>
          </p:cNvCxnSpPr>
          <p:nvPr/>
        </p:nvCxnSpPr>
        <p:spPr>
          <a:xfrm rot="5400000" flipH="1" flipV="1">
            <a:off x="4110227" y="3616452"/>
            <a:ext cx="1563624" cy="365760"/>
          </a:xfrm>
          <a:prstGeom prst="bentConnector2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60756488-B85F-1A43-63EF-6CB60A83F24D}"/>
              </a:ext>
            </a:extLst>
          </p:cNvPr>
          <p:cNvSpPr txBox="1"/>
          <p:nvPr/>
        </p:nvSpPr>
        <p:spPr>
          <a:xfrm>
            <a:off x="8796526" y="4581144"/>
            <a:ext cx="14630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US" sz="800" dirty="0"/>
              <a:t>Custom Scenarios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800" dirty="0"/>
              <a:t>On demand requests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D4D3F6DC-A01E-EA02-FF4D-6F8D65345BE6}"/>
              </a:ext>
            </a:extLst>
          </p:cNvPr>
          <p:cNvSpPr txBox="1"/>
          <p:nvPr/>
        </p:nvSpPr>
        <p:spPr>
          <a:xfrm>
            <a:off x="4489860" y="379334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6B2DC484-D1F5-68D3-40C9-7603D63FDB4A}"/>
              </a:ext>
            </a:extLst>
          </p:cNvPr>
          <p:cNvSpPr txBox="1"/>
          <p:nvPr/>
        </p:nvSpPr>
        <p:spPr>
          <a:xfrm>
            <a:off x="8594284" y="451498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</a:t>
            </a:r>
          </a:p>
        </p:txBody>
      </p:sp>
      <p:pic>
        <p:nvPicPr>
          <p:cNvPr id="111" name="Graphic 110" descr="User with solid fill">
            <a:extLst>
              <a:ext uri="{FF2B5EF4-FFF2-40B4-BE49-F238E27FC236}">
                <a16:creationId xmlns:a16="http://schemas.microsoft.com/office/drawing/2014/main" id="{8B621E2B-5E54-A28D-B27A-BA2B1EF84E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61504" y="3525012"/>
            <a:ext cx="416408" cy="457200"/>
          </a:xfrm>
          <a:prstGeom prst="rect">
            <a:avLst/>
          </a:prstGeom>
        </p:spPr>
      </p:pic>
      <p:pic>
        <p:nvPicPr>
          <p:cNvPr id="112" name="Graphic 111" descr="User with solid fill">
            <a:extLst>
              <a:ext uri="{FF2B5EF4-FFF2-40B4-BE49-F238E27FC236}">
                <a16:creationId xmlns:a16="http://schemas.microsoft.com/office/drawing/2014/main" id="{4B1233CF-491C-6D8F-C9FC-A1485FD7F7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20384" y="5102352"/>
            <a:ext cx="416408" cy="457200"/>
          </a:xfrm>
          <a:prstGeom prst="rect">
            <a:avLst/>
          </a:prstGeom>
        </p:spPr>
      </p:pic>
      <p:sp>
        <p:nvSpPr>
          <p:cNvPr id="117" name="Shape 28">
            <a:extLst>
              <a:ext uri="{FF2B5EF4-FFF2-40B4-BE49-F238E27FC236}">
                <a16:creationId xmlns:a16="http://schemas.microsoft.com/office/drawing/2014/main" id="{A8D65200-B26C-8907-18DE-8E4AB6A1370F}"/>
              </a:ext>
            </a:extLst>
          </p:cNvPr>
          <p:cNvSpPr/>
          <p:nvPr/>
        </p:nvSpPr>
        <p:spPr>
          <a:xfrm>
            <a:off x="2944367" y="4507095"/>
            <a:ext cx="850391" cy="0"/>
          </a:xfrm>
          <a:prstGeom prst="line">
            <a:avLst/>
          </a:prstGeom>
          <a:noFill/>
          <a:ln w="13970">
            <a:solidFill>
              <a:srgbClr val="6B767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8EAD5E-6D1C-43B0-AE2D-46929027E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6" name="Straight Arrow Connector 645">
            <a:extLst>
              <a:ext uri="{FF2B5EF4-FFF2-40B4-BE49-F238E27FC236}">
                <a16:creationId xmlns:a16="http://schemas.microsoft.com/office/drawing/2014/main" id="{84E552E8-3D41-2F14-F54D-6DBCE4246DAF}"/>
              </a:ext>
            </a:extLst>
          </p:cNvPr>
          <p:cNvCxnSpPr>
            <a:cxnSpLocks/>
          </p:cNvCxnSpPr>
          <p:nvPr/>
        </p:nvCxnSpPr>
        <p:spPr>
          <a:xfrm>
            <a:off x="4044473" y="753007"/>
            <a:ext cx="6024134" cy="434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21" name="Shape 84">
            <a:extLst>
              <a:ext uri="{FF2B5EF4-FFF2-40B4-BE49-F238E27FC236}">
                <a16:creationId xmlns:a16="http://schemas.microsoft.com/office/drawing/2014/main" id="{81E6BC9F-0925-AAE8-4E1A-C3C06C2FB941}"/>
              </a:ext>
            </a:extLst>
          </p:cNvPr>
          <p:cNvSpPr/>
          <p:nvPr/>
        </p:nvSpPr>
        <p:spPr>
          <a:xfrm>
            <a:off x="9606259" y="5681863"/>
            <a:ext cx="2334523" cy="513486"/>
          </a:xfrm>
          <a:prstGeom prst="rect">
            <a:avLst/>
          </a:prstGeom>
          <a:solidFill>
            <a:srgbClr val="FFFFFF"/>
          </a:solidFill>
          <a:ln w="12700">
            <a:solidFill>
              <a:srgbClr val="1C28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cxnSp>
        <p:nvCxnSpPr>
          <p:cNvPr id="305" name="Elbow Connector 304">
            <a:extLst>
              <a:ext uri="{FF2B5EF4-FFF2-40B4-BE49-F238E27FC236}">
                <a16:creationId xmlns:a16="http://schemas.microsoft.com/office/drawing/2014/main" id="{938EDC19-3496-8596-D91D-E21529FB7FA1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1204400" y="3286040"/>
            <a:ext cx="1780299" cy="1718980"/>
          </a:xfrm>
          <a:prstGeom prst="bentConnector3">
            <a:avLst>
              <a:gd name="adj1" fmla="val 73353"/>
            </a:avLst>
          </a:prstGeom>
          <a:ln w="127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4" name="Elbow Connector 543">
            <a:extLst>
              <a:ext uri="{FF2B5EF4-FFF2-40B4-BE49-F238E27FC236}">
                <a16:creationId xmlns:a16="http://schemas.microsoft.com/office/drawing/2014/main" id="{7FEAB585-FEC4-6FA6-BF23-CBD5F46E668D}"/>
              </a:ext>
            </a:extLst>
          </p:cNvPr>
          <p:cNvCxnSpPr>
            <a:cxnSpLocks/>
          </p:cNvCxnSpPr>
          <p:nvPr/>
        </p:nvCxnSpPr>
        <p:spPr>
          <a:xfrm flipV="1">
            <a:off x="2367973" y="2954315"/>
            <a:ext cx="364667" cy="1580784"/>
          </a:xfrm>
          <a:prstGeom prst="bentConnector3">
            <a:avLst>
              <a:gd name="adj1" fmla="val 70176"/>
            </a:avLst>
          </a:prstGeom>
          <a:ln w="127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2" name="Oval 541">
            <a:extLst>
              <a:ext uri="{FF2B5EF4-FFF2-40B4-BE49-F238E27FC236}">
                <a16:creationId xmlns:a16="http://schemas.microsoft.com/office/drawing/2014/main" id="{6A448B87-72DA-DA58-193D-2F408B9B9A5C}"/>
              </a:ext>
            </a:extLst>
          </p:cNvPr>
          <p:cNvSpPr/>
          <p:nvPr/>
        </p:nvSpPr>
        <p:spPr>
          <a:xfrm>
            <a:off x="2440097" y="4442248"/>
            <a:ext cx="120439" cy="15428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7" name="Rectangle 506">
            <a:extLst>
              <a:ext uri="{FF2B5EF4-FFF2-40B4-BE49-F238E27FC236}">
                <a16:creationId xmlns:a16="http://schemas.microsoft.com/office/drawing/2014/main" id="{577B83A8-D9BB-E0AA-9722-1EEE9CA9EC10}"/>
              </a:ext>
            </a:extLst>
          </p:cNvPr>
          <p:cNvSpPr/>
          <p:nvPr/>
        </p:nvSpPr>
        <p:spPr>
          <a:xfrm>
            <a:off x="2718980" y="1287645"/>
            <a:ext cx="711197" cy="3421131"/>
          </a:xfrm>
          <a:prstGeom prst="rect">
            <a:avLst/>
          </a:prstGeom>
          <a:solidFill>
            <a:srgbClr val="FDF1FF"/>
          </a:solidFill>
          <a:ln w="127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4" name="Shape 5">
            <a:extLst>
              <a:ext uri="{FF2B5EF4-FFF2-40B4-BE49-F238E27FC236}">
                <a16:creationId xmlns:a16="http://schemas.microsoft.com/office/drawing/2014/main" id="{6E34E0B1-D5E9-C063-C714-B9D2FE796405}"/>
              </a:ext>
            </a:extLst>
          </p:cNvPr>
          <p:cNvSpPr/>
          <p:nvPr/>
        </p:nvSpPr>
        <p:spPr>
          <a:xfrm>
            <a:off x="1166622" y="1303758"/>
            <a:ext cx="1229031" cy="3439680"/>
          </a:xfrm>
          <a:prstGeom prst="rect">
            <a:avLst/>
          </a:prstGeom>
          <a:solidFill>
            <a:schemeClr val="bg2"/>
          </a:solidFill>
          <a:ln w="3175">
            <a:solidFill>
              <a:srgbClr val="1F7A47"/>
            </a:solidFill>
            <a:prstDash val="solid"/>
          </a:ln>
        </p:spPr>
        <p:txBody>
          <a:bodyPr/>
          <a:lstStyle/>
          <a:p>
            <a:endParaRPr lang="en-US" sz="900" dirty="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A63C8BF9-E42C-0D08-5E3B-A995A26970E6}"/>
              </a:ext>
            </a:extLst>
          </p:cNvPr>
          <p:cNvSpPr/>
          <p:nvPr/>
        </p:nvSpPr>
        <p:spPr>
          <a:xfrm>
            <a:off x="6377646" y="1385815"/>
            <a:ext cx="3690961" cy="23103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Shape 22">
            <a:extLst>
              <a:ext uri="{FF2B5EF4-FFF2-40B4-BE49-F238E27FC236}">
                <a16:creationId xmlns:a16="http://schemas.microsoft.com/office/drawing/2014/main" id="{3CB3D329-8C94-51E0-468C-D793656F87AF}"/>
              </a:ext>
            </a:extLst>
          </p:cNvPr>
          <p:cNvSpPr/>
          <p:nvPr/>
        </p:nvSpPr>
        <p:spPr>
          <a:xfrm>
            <a:off x="6576647" y="1663695"/>
            <a:ext cx="2361212" cy="1918969"/>
          </a:xfrm>
          <a:prstGeom prst="rect">
            <a:avLst/>
          </a:prstGeom>
          <a:solidFill>
            <a:schemeClr val="bg1"/>
          </a:solidFill>
          <a:ln w="15875">
            <a:solidFill>
              <a:srgbClr val="00B05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1FD76FE2-12AB-B937-74B6-9A2C63F9C026}"/>
              </a:ext>
            </a:extLst>
          </p:cNvPr>
          <p:cNvSpPr/>
          <p:nvPr/>
        </p:nvSpPr>
        <p:spPr>
          <a:xfrm>
            <a:off x="251005" y="71599"/>
            <a:ext cx="457592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–  Collateral / Valuations / Analytics</a:t>
            </a:r>
            <a:endParaRPr lang="en-US" sz="1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DE87AD0-D08B-B7FB-06B0-C905928D21BE}"/>
              </a:ext>
            </a:extLst>
          </p:cNvPr>
          <p:cNvSpPr/>
          <p:nvPr/>
        </p:nvSpPr>
        <p:spPr>
          <a:xfrm>
            <a:off x="4417991" y="1655530"/>
            <a:ext cx="990390" cy="1821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APP</a:t>
            </a:r>
            <a:endParaRPr lang="en-US" sz="9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6142B23-0198-CD1D-EFD7-6CD0DBF1B165}"/>
              </a:ext>
            </a:extLst>
          </p:cNvPr>
          <p:cNvSpPr/>
          <p:nvPr/>
        </p:nvSpPr>
        <p:spPr>
          <a:xfrm>
            <a:off x="2682897" y="948459"/>
            <a:ext cx="916189" cy="237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760"/>
              </a:lnSpc>
              <a:buNone/>
            </a:pPr>
            <a:r>
              <a:rPr lang="en-US" sz="1000" dirty="0"/>
              <a:t>Non-risk Consumer</a:t>
            </a: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0EEBD0D8-22CB-52E6-397C-DCBD8606366C}"/>
              </a:ext>
            </a:extLst>
          </p:cNvPr>
          <p:cNvSpPr/>
          <p:nvPr/>
        </p:nvSpPr>
        <p:spPr>
          <a:xfrm flipV="1">
            <a:off x="5549832" y="3372051"/>
            <a:ext cx="726913" cy="2"/>
          </a:xfrm>
          <a:prstGeom prst="line">
            <a:avLst/>
          </a:prstGeom>
          <a:noFill/>
          <a:ln w="17780">
            <a:solidFill>
              <a:schemeClr val="accent6">
                <a:lumMod val="75000"/>
              </a:schemeClr>
            </a:solidFill>
            <a:prstDash val="solid"/>
            <a:tailEnd type="triangle"/>
          </a:ln>
        </p:spPr>
        <p:txBody>
          <a:bodyPr/>
          <a:lstStyle/>
          <a:p>
            <a:endParaRPr lang="en-US" sz="80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052304AC-898D-4529-F20D-2818BB0D3415}"/>
              </a:ext>
            </a:extLst>
          </p:cNvPr>
          <p:cNvSpPr/>
          <p:nvPr/>
        </p:nvSpPr>
        <p:spPr>
          <a:xfrm>
            <a:off x="8243521" y="755951"/>
            <a:ext cx="151790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Product (Gold)</a:t>
            </a:r>
            <a:endParaRPr lang="en-US" sz="73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28CCD0B5-6B58-E74E-17A9-8C1FCB60A716}"/>
              </a:ext>
            </a:extLst>
          </p:cNvPr>
          <p:cNvSpPr/>
          <p:nvPr/>
        </p:nvSpPr>
        <p:spPr>
          <a:xfrm>
            <a:off x="8342757" y="1002796"/>
            <a:ext cx="151790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760"/>
              </a:lnSpc>
              <a:buNone/>
            </a:pPr>
            <a:r>
              <a:rPr lang="en-US" sz="600" dirty="0">
                <a:solidFill>
                  <a:srgbClr val="E5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 · Collateral — in Unity Catalog</a:t>
            </a:r>
            <a:endParaRPr lang="en-US" sz="600" dirty="0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C9C53A2E-54A7-DC28-840E-8177A7E143B5}"/>
              </a:ext>
            </a:extLst>
          </p:cNvPr>
          <p:cNvSpPr/>
          <p:nvPr/>
        </p:nvSpPr>
        <p:spPr>
          <a:xfrm>
            <a:off x="7037384" y="3745629"/>
            <a:ext cx="1700784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760"/>
              </a:lnSpc>
              <a:buNone/>
            </a:pPr>
            <a:r>
              <a:rPr lang="en-US" sz="580" dirty="0">
                <a:solidFill>
                  <a:srgbClr val="EFEAF5"/>
                </a:solidFill>
                <a:latin typeface="Calibri" pitchFamily="34" charset="0"/>
                <a:cs typeface="Calibri" pitchFamily="34" charset="-120"/>
              </a:rPr>
              <a:t>D</a:t>
            </a:r>
            <a:endParaRPr lang="en-US" sz="580" dirty="0"/>
          </a:p>
        </p:txBody>
      </p:sp>
      <p:sp>
        <p:nvSpPr>
          <p:cNvPr id="74" name="Shape 8">
            <a:extLst>
              <a:ext uri="{FF2B5EF4-FFF2-40B4-BE49-F238E27FC236}">
                <a16:creationId xmlns:a16="http://schemas.microsoft.com/office/drawing/2014/main" id="{9025AF26-6EBB-DB8A-9598-AC52436AD031}"/>
              </a:ext>
            </a:extLst>
          </p:cNvPr>
          <p:cNvSpPr/>
          <p:nvPr/>
        </p:nvSpPr>
        <p:spPr>
          <a:xfrm>
            <a:off x="4826926" y="2350093"/>
            <a:ext cx="626632" cy="477632"/>
          </a:xfrm>
          <a:prstGeom prst="rect">
            <a:avLst/>
          </a:prstGeom>
          <a:solidFill>
            <a:srgbClr val="00B050"/>
          </a:solidFill>
          <a:ln w="15875">
            <a:solidFill>
              <a:srgbClr val="1F7A47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sz="800" dirty="0">
                <a:solidFill>
                  <a:schemeClr val="bg1"/>
                </a:solidFill>
              </a:rPr>
              <a:t>valuation Engine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63EE0FE-088F-C4AF-B503-0248BD538AF9}"/>
              </a:ext>
            </a:extLst>
          </p:cNvPr>
          <p:cNvSpPr/>
          <p:nvPr/>
        </p:nvSpPr>
        <p:spPr>
          <a:xfrm>
            <a:off x="1086170" y="1745629"/>
            <a:ext cx="106070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603F8A1F-64B0-AF63-9D7A-9073A6FFFB07}"/>
              </a:ext>
            </a:extLst>
          </p:cNvPr>
          <p:cNvSpPr/>
          <p:nvPr/>
        </p:nvSpPr>
        <p:spPr>
          <a:xfrm>
            <a:off x="4055127" y="1614314"/>
            <a:ext cx="1464031" cy="205400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B22A076-4094-026B-5653-D5C93CF2E713}"/>
              </a:ext>
            </a:extLst>
          </p:cNvPr>
          <p:cNvSpPr txBox="1"/>
          <p:nvPr/>
        </p:nvSpPr>
        <p:spPr>
          <a:xfrm>
            <a:off x="7007754" y="2753444"/>
            <a:ext cx="11532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6B7670"/>
                </a:solidFill>
                <a:latin typeface="Calibri" pitchFamily="34" charset="0"/>
                <a:cs typeface="Calibri" pitchFamily="34" charset="-120"/>
              </a:rPr>
              <a:t>Credit Risk</a:t>
            </a:r>
          </a:p>
        </p:txBody>
      </p:sp>
      <p:sp>
        <p:nvSpPr>
          <p:cNvPr id="85" name="Shape 20">
            <a:extLst>
              <a:ext uri="{FF2B5EF4-FFF2-40B4-BE49-F238E27FC236}">
                <a16:creationId xmlns:a16="http://schemas.microsoft.com/office/drawing/2014/main" id="{FED62237-91DB-9918-2D57-2544C2891AB9}"/>
              </a:ext>
            </a:extLst>
          </p:cNvPr>
          <p:cNvSpPr/>
          <p:nvPr/>
        </p:nvSpPr>
        <p:spPr>
          <a:xfrm>
            <a:off x="5538272" y="1975638"/>
            <a:ext cx="651271" cy="10832"/>
          </a:xfrm>
          <a:prstGeom prst="line">
            <a:avLst/>
          </a:prstGeom>
          <a:noFill/>
          <a:ln w="17780">
            <a:solidFill>
              <a:srgbClr val="00B050"/>
            </a:solidFill>
            <a:prstDash val="solid"/>
            <a:tailEnd type="triangle"/>
          </a:ln>
        </p:spPr>
        <p:txBody>
          <a:bodyPr/>
          <a:lstStyle/>
          <a:p>
            <a:endParaRPr lang="en-US" sz="800"/>
          </a:p>
        </p:txBody>
      </p:sp>
      <p:sp>
        <p:nvSpPr>
          <p:cNvPr id="99" name="Shape 20">
            <a:extLst>
              <a:ext uri="{FF2B5EF4-FFF2-40B4-BE49-F238E27FC236}">
                <a16:creationId xmlns:a16="http://schemas.microsoft.com/office/drawing/2014/main" id="{6580D5B8-624A-D5D5-BF95-BC70B6D80BE9}"/>
              </a:ext>
            </a:extLst>
          </p:cNvPr>
          <p:cNvSpPr/>
          <p:nvPr/>
        </p:nvSpPr>
        <p:spPr>
          <a:xfrm flipH="1" flipV="1">
            <a:off x="5506673" y="2500670"/>
            <a:ext cx="732539" cy="2"/>
          </a:xfrm>
          <a:prstGeom prst="line">
            <a:avLst/>
          </a:prstGeom>
          <a:noFill/>
          <a:ln w="17780">
            <a:solidFill>
              <a:srgbClr val="00B050"/>
            </a:solidFill>
            <a:prstDash val="solid"/>
            <a:tailEnd type="triangle"/>
          </a:ln>
        </p:spPr>
        <p:txBody>
          <a:bodyPr/>
          <a:lstStyle/>
          <a:p>
            <a:endParaRPr lang="en-US" sz="800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A028A880-04F6-D675-0B36-B672186454D1}"/>
              </a:ext>
            </a:extLst>
          </p:cNvPr>
          <p:cNvSpPr txBox="1"/>
          <p:nvPr/>
        </p:nvSpPr>
        <p:spPr>
          <a:xfrm>
            <a:off x="6533032" y="1623851"/>
            <a:ext cx="121379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solidFill>
                  <a:srgbClr val="1C2830"/>
                </a:solidFill>
                <a:latin typeface="Calibri" pitchFamily="34" charset="0"/>
                <a:cs typeface="Calibri" pitchFamily="34" charset="-120"/>
              </a:rPr>
              <a:t>RISK APP - Databricks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067F920-C60A-6AC2-359B-6B59E869C78C}"/>
              </a:ext>
            </a:extLst>
          </p:cNvPr>
          <p:cNvSpPr txBox="1"/>
          <p:nvPr/>
        </p:nvSpPr>
        <p:spPr>
          <a:xfrm>
            <a:off x="5513862" y="1940245"/>
            <a:ext cx="79490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i="1" dirty="0"/>
              <a:t>Intraday</a:t>
            </a:r>
          </a:p>
        </p:txBody>
      </p:sp>
      <p:sp>
        <p:nvSpPr>
          <p:cNvPr id="43" name="Shape 17">
            <a:extLst>
              <a:ext uri="{FF2B5EF4-FFF2-40B4-BE49-F238E27FC236}">
                <a16:creationId xmlns:a16="http://schemas.microsoft.com/office/drawing/2014/main" id="{4C5D2876-F7BA-8574-0954-E38370523675}"/>
              </a:ext>
            </a:extLst>
          </p:cNvPr>
          <p:cNvSpPr/>
          <p:nvPr/>
        </p:nvSpPr>
        <p:spPr>
          <a:xfrm>
            <a:off x="6660490" y="1888092"/>
            <a:ext cx="1984914" cy="662143"/>
          </a:xfrm>
          <a:prstGeom prst="rect">
            <a:avLst/>
          </a:prstGeom>
          <a:solidFill>
            <a:srgbClr val="00B050"/>
          </a:solidFill>
          <a:ln w="15875">
            <a:solidFill>
              <a:schemeClr val="accent6">
                <a:lumMod val="75000"/>
              </a:schemeClr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Market risk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B90515F-D968-015A-BCDB-232325EB3979}"/>
              </a:ext>
            </a:extLst>
          </p:cNvPr>
          <p:cNvSpPr txBox="1"/>
          <p:nvPr/>
        </p:nvSpPr>
        <p:spPr>
          <a:xfrm>
            <a:off x="5562288" y="2346781"/>
            <a:ext cx="6507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i="1" dirty="0"/>
              <a:t>Valuation ready data</a:t>
            </a:r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0C8297E7-36B2-DE4E-F04B-1621528F1237}"/>
              </a:ext>
            </a:extLst>
          </p:cNvPr>
          <p:cNvGrpSpPr/>
          <p:nvPr/>
        </p:nvGrpSpPr>
        <p:grpSpPr>
          <a:xfrm>
            <a:off x="9120644" y="1666690"/>
            <a:ext cx="867997" cy="1889548"/>
            <a:chOff x="8605476" y="779251"/>
            <a:chExt cx="1862011" cy="1476778"/>
          </a:xfrm>
        </p:grpSpPr>
        <p:sp>
          <p:nvSpPr>
            <p:cNvPr id="131" name="Shape 22">
              <a:extLst>
                <a:ext uri="{FF2B5EF4-FFF2-40B4-BE49-F238E27FC236}">
                  <a16:creationId xmlns:a16="http://schemas.microsoft.com/office/drawing/2014/main" id="{F3CF4257-05EE-CC0A-8B57-BB4B8543C1A0}"/>
                </a:ext>
              </a:extLst>
            </p:cNvPr>
            <p:cNvSpPr/>
            <p:nvPr/>
          </p:nvSpPr>
          <p:spPr>
            <a:xfrm>
              <a:off x="8605476" y="800129"/>
              <a:ext cx="1862011" cy="14559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rgbClr val="2E4A66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036AFF13-6B3E-0D65-6D2D-84CB1D3C962C}"/>
                </a:ext>
              </a:extLst>
            </p:cNvPr>
            <p:cNvSpPr txBox="1"/>
            <p:nvPr/>
          </p:nvSpPr>
          <p:spPr>
            <a:xfrm>
              <a:off x="8647431" y="779251"/>
              <a:ext cx="88357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Risk Analytics</a:t>
              </a:r>
            </a:p>
          </p:txBody>
        </p:sp>
        <p:sp>
          <p:nvSpPr>
            <p:cNvPr id="73" name="Shape 17">
              <a:extLst>
                <a:ext uri="{FF2B5EF4-FFF2-40B4-BE49-F238E27FC236}">
                  <a16:creationId xmlns:a16="http://schemas.microsoft.com/office/drawing/2014/main" id="{38F87397-9AE8-23AF-DC8F-B9D722AEFE5B}"/>
                </a:ext>
              </a:extLst>
            </p:cNvPr>
            <p:cNvSpPr/>
            <p:nvPr/>
          </p:nvSpPr>
          <p:spPr>
            <a:xfrm>
              <a:off x="8626809" y="1982216"/>
              <a:ext cx="1808393" cy="246221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chemeClr val="accent6">
                  <a:lumMod val="75000"/>
                </a:schemeClr>
              </a:solidFill>
              <a:prstDash val="solid"/>
            </a:ln>
          </p:spPr>
          <p:txBody>
            <a:bodyPr anchor="ctr"/>
            <a:lstStyle/>
            <a:p>
              <a:pPr algn="ctr"/>
              <a:r>
                <a:rPr lang="en-US" sz="1000" dirty="0"/>
                <a:t>Sandbox</a:t>
              </a:r>
            </a:p>
          </p:txBody>
        </p:sp>
      </p:grpSp>
      <p:sp>
        <p:nvSpPr>
          <p:cNvPr id="78" name="Shape 8">
            <a:extLst>
              <a:ext uri="{FF2B5EF4-FFF2-40B4-BE49-F238E27FC236}">
                <a16:creationId xmlns:a16="http://schemas.microsoft.com/office/drawing/2014/main" id="{9284B47D-4038-5ADC-EFB2-0977432C9919}"/>
              </a:ext>
            </a:extLst>
          </p:cNvPr>
          <p:cNvSpPr/>
          <p:nvPr/>
        </p:nvSpPr>
        <p:spPr>
          <a:xfrm>
            <a:off x="4134969" y="1877616"/>
            <a:ext cx="1253405" cy="152068"/>
          </a:xfrm>
          <a:prstGeom prst="rect">
            <a:avLst/>
          </a:prstGeom>
          <a:solidFill>
            <a:schemeClr val="bg1">
              <a:lumMod val="95000"/>
            </a:schemeClr>
          </a:solidFill>
          <a:ln w="15875">
            <a:solidFill>
              <a:schemeClr val="accent6">
                <a:lumMod val="75000"/>
              </a:schemeClr>
            </a:solidFill>
            <a:prstDash val="dash"/>
          </a:ln>
        </p:spPr>
        <p:txBody>
          <a:bodyPr anchor="ctr"/>
          <a:lstStyle/>
          <a:p>
            <a:pPr algn="ctr"/>
            <a:r>
              <a:rPr lang="en-US" sz="800" dirty="0"/>
              <a:t>Ingestion</a:t>
            </a:r>
          </a:p>
        </p:txBody>
      </p:sp>
      <p:sp>
        <p:nvSpPr>
          <p:cNvPr id="87" name="Shape 8">
            <a:extLst>
              <a:ext uri="{FF2B5EF4-FFF2-40B4-BE49-F238E27FC236}">
                <a16:creationId xmlns:a16="http://schemas.microsoft.com/office/drawing/2014/main" id="{F6032807-3CD2-F41F-2A84-30641D17430B}"/>
              </a:ext>
            </a:extLst>
          </p:cNvPr>
          <p:cNvSpPr/>
          <p:nvPr/>
        </p:nvSpPr>
        <p:spPr>
          <a:xfrm>
            <a:off x="4114561" y="2093750"/>
            <a:ext cx="1273814" cy="208819"/>
          </a:xfrm>
          <a:prstGeom prst="rect">
            <a:avLst/>
          </a:prstGeom>
          <a:solidFill>
            <a:schemeClr val="bg1">
              <a:lumMod val="95000"/>
            </a:schemeClr>
          </a:solidFill>
          <a:ln w="15875">
            <a:solidFill>
              <a:schemeClr val="accent6">
                <a:lumMod val="75000"/>
              </a:schemeClr>
            </a:solidFill>
            <a:prstDash val="dash"/>
          </a:ln>
        </p:spPr>
        <p:txBody>
          <a:bodyPr anchor="ctr"/>
          <a:lstStyle/>
          <a:p>
            <a:pPr algn="ctr"/>
            <a:r>
              <a:rPr lang="en-US" sz="800" dirty="0"/>
              <a:t>Data Processing</a:t>
            </a:r>
          </a:p>
        </p:txBody>
      </p:sp>
      <p:sp>
        <p:nvSpPr>
          <p:cNvPr id="89" name="Shape 8">
            <a:extLst>
              <a:ext uri="{FF2B5EF4-FFF2-40B4-BE49-F238E27FC236}">
                <a16:creationId xmlns:a16="http://schemas.microsoft.com/office/drawing/2014/main" id="{9B70B7E8-615D-B4D5-CAD9-29C7147837B3}"/>
              </a:ext>
            </a:extLst>
          </p:cNvPr>
          <p:cNvSpPr/>
          <p:nvPr/>
        </p:nvSpPr>
        <p:spPr>
          <a:xfrm>
            <a:off x="4082785" y="2362461"/>
            <a:ext cx="675146" cy="477632"/>
          </a:xfrm>
          <a:prstGeom prst="rect">
            <a:avLst/>
          </a:prstGeom>
          <a:noFill/>
          <a:ln w="15875">
            <a:solidFill>
              <a:srgbClr val="1F7A47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sz="800" dirty="0"/>
              <a:t>Other Risk Engines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1A7210D-9A58-37BE-0CC2-21B2BC988895}"/>
              </a:ext>
            </a:extLst>
          </p:cNvPr>
          <p:cNvSpPr/>
          <p:nvPr/>
        </p:nvSpPr>
        <p:spPr>
          <a:xfrm>
            <a:off x="6663906" y="2611907"/>
            <a:ext cx="1381929" cy="8653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C9EFB10-CD66-0FA4-BF71-2064D981874D}"/>
              </a:ext>
            </a:extLst>
          </p:cNvPr>
          <p:cNvSpPr/>
          <p:nvPr/>
        </p:nvSpPr>
        <p:spPr>
          <a:xfrm>
            <a:off x="6691378" y="2806214"/>
            <a:ext cx="1029227" cy="296203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</a:rPr>
              <a:t>Collateral (OTC)</a:t>
            </a:r>
          </a:p>
          <a:p>
            <a:pPr algn="ctr"/>
            <a:r>
              <a:rPr lang="en-US" sz="800" i="1" dirty="0">
                <a:solidFill>
                  <a:schemeClr val="bg1"/>
                </a:solidFill>
              </a:rPr>
              <a:t>(CMOS)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8E22A48-4E95-90E8-9BD6-FF99CA50D26D}"/>
              </a:ext>
            </a:extLst>
          </p:cNvPr>
          <p:cNvSpPr/>
          <p:nvPr/>
        </p:nvSpPr>
        <p:spPr>
          <a:xfrm>
            <a:off x="6685364" y="3219896"/>
            <a:ext cx="917364" cy="304315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</a:rPr>
              <a:t>Agreements</a:t>
            </a:r>
          </a:p>
          <a:p>
            <a:pPr algn="ctr"/>
            <a:r>
              <a:rPr lang="en-US" sz="700" i="1" dirty="0">
                <a:solidFill>
                  <a:schemeClr val="bg1"/>
                </a:solidFill>
              </a:rPr>
              <a:t>(TAMS/REGDS)</a:t>
            </a:r>
          </a:p>
        </p:txBody>
      </p:sp>
      <p:grpSp>
        <p:nvGrpSpPr>
          <p:cNvPr id="274" name="Group 273">
            <a:extLst>
              <a:ext uri="{FF2B5EF4-FFF2-40B4-BE49-F238E27FC236}">
                <a16:creationId xmlns:a16="http://schemas.microsoft.com/office/drawing/2014/main" id="{F40C16B9-EBC8-0B1F-B869-BA1F0192DD71}"/>
              </a:ext>
            </a:extLst>
          </p:cNvPr>
          <p:cNvGrpSpPr/>
          <p:nvPr/>
        </p:nvGrpSpPr>
        <p:grpSpPr>
          <a:xfrm>
            <a:off x="8036610" y="2603193"/>
            <a:ext cx="608795" cy="872995"/>
            <a:chOff x="7762131" y="1978727"/>
            <a:chExt cx="608795" cy="872995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B7528582-E591-AAC9-177A-E3CF226C5ACB}"/>
                </a:ext>
              </a:extLst>
            </p:cNvPr>
            <p:cNvSpPr/>
            <p:nvPr/>
          </p:nvSpPr>
          <p:spPr>
            <a:xfrm>
              <a:off x="7826310" y="1994966"/>
              <a:ext cx="544615" cy="85675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3AC785E-8059-3AB5-0B71-47874318F7CB}"/>
                </a:ext>
              </a:extLst>
            </p:cNvPr>
            <p:cNvSpPr/>
            <p:nvPr/>
          </p:nvSpPr>
          <p:spPr>
            <a:xfrm>
              <a:off x="7868530" y="2510606"/>
              <a:ext cx="502396" cy="304315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i="1" dirty="0">
                  <a:solidFill>
                    <a:schemeClr val="bg1"/>
                  </a:solidFill>
                </a:rPr>
                <a:t>ALFA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4FCF2140-BB19-1D7D-0E20-9F6CBD879C46}"/>
                </a:ext>
              </a:extLst>
            </p:cNvPr>
            <p:cNvSpPr txBox="1"/>
            <p:nvPr/>
          </p:nvSpPr>
          <p:spPr>
            <a:xfrm>
              <a:off x="7762131" y="1978727"/>
              <a:ext cx="60144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b="1" dirty="0"/>
                <a:t>Liquidity</a:t>
              </a:r>
            </a:p>
          </p:txBody>
        </p:sp>
      </p:grpSp>
      <p:sp>
        <p:nvSpPr>
          <p:cNvPr id="18" name="Text 16">
            <a:extLst>
              <a:ext uri="{FF2B5EF4-FFF2-40B4-BE49-F238E27FC236}">
                <a16:creationId xmlns:a16="http://schemas.microsoft.com/office/drawing/2014/main" id="{EEA9CA9F-7C9F-6F9B-67A2-044C92967AF7}"/>
              </a:ext>
            </a:extLst>
          </p:cNvPr>
          <p:cNvSpPr/>
          <p:nvPr/>
        </p:nvSpPr>
        <p:spPr>
          <a:xfrm>
            <a:off x="8719562" y="1362528"/>
            <a:ext cx="1000595" cy="2517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- Tenant</a:t>
            </a:r>
            <a:endParaRPr lang="en-US" sz="900" dirty="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9CDEF227-5CBF-22AE-6B88-C221B393EADD}"/>
              </a:ext>
            </a:extLst>
          </p:cNvPr>
          <p:cNvSpPr txBox="1"/>
          <p:nvPr/>
        </p:nvSpPr>
        <p:spPr>
          <a:xfrm>
            <a:off x="1802356" y="2144898"/>
            <a:ext cx="7473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00B050"/>
                </a:solidFill>
              </a:rPr>
              <a:t>-- Intraday</a:t>
            </a:r>
          </a:p>
          <a:p>
            <a:r>
              <a:rPr lang="en-US" sz="800" dirty="0">
                <a:solidFill>
                  <a:srgbClr val="00B050"/>
                </a:solidFill>
              </a:rPr>
              <a:t>-- </a:t>
            </a:r>
            <a:r>
              <a:rPr lang="en-US" sz="800" dirty="0"/>
              <a:t>EOD</a:t>
            </a:r>
          </a:p>
          <a:p>
            <a:r>
              <a:rPr lang="en-US" sz="800" dirty="0"/>
              <a:t>-- OnDemand</a:t>
            </a:r>
          </a:p>
        </p:txBody>
      </p:sp>
      <p:sp>
        <p:nvSpPr>
          <p:cNvPr id="111" name="Rounded Rectangle 110">
            <a:extLst>
              <a:ext uri="{FF2B5EF4-FFF2-40B4-BE49-F238E27FC236}">
                <a16:creationId xmlns:a16="http://schemas.microsoft.com/office/drawing/2014/main" id="{E03ADEBF-F91E-2ACF-2076-AE3EFE33117D}"/>
              </a:ext>
            </a:extLst>
          </p:cNvPr>
          <p:cNvSpPr/>
          <p:nvPr/>
        </p:nvSpPr>
        <p:spPr>
          <a:xfrm>
            <a:off x="7362293" y="831026"/>
            <a:ext cx="1155646" cy="315006"/>
          </a:xfrm>
          <a:prstGeom prst="round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</a:rPr>
              <a:t>Limits</a:t>
            </a:r>
            <a:r>
              <a:rPr lang="en-US" sz="900" dirty="0">
                <a:solidFill>
                  <a:schemeClr val="tx1"/>
                </a:solidFill>
              </a:rPr>
              <a:t> </a:t>
            </a:r>
            <a:r>
              <a:rPr lang="en-US" sz="900" dirty="0">
                <a:solidFill>
                  <a:schemeClr val="bg1"/>
                </a:solidFill>
              </a:rPr>
              <a:t>management</a:t>
            </a:r>
          </a:p>
        </p:txBody>
      </p:sp>
      <p:cxnSp>
        <p:nvCxnSpPr>
          <p:cNvPr id="152" name="Elbow Connector 151">
            <a:extLst>
              <a:ext uri="{FF2B5EF4-FFF2-40B4-BE49-F238E27FC236}">
                <a16:creationId xmlns:a16="http://schemas.microsoft.com/office/drawing/2014/main" id="{6B6F0D78-7F4C-2EDE-61FE-B6389ACC155D}"/>
              </a:ext>
            </a:extLst>
          </p:cNvPr>
          <p:cNvCxnSpPr>
            <a:cxnSpLocks/>
            <a:stCxn id="476" idx="0"/>
          </p:cNvCxnSpPr>
          <p:nvPr/>
        </p:nvCxnSpPr>
        <p:spPr>
          <a:xfrm rot="5400000" flipH="1" flipV="1">
            <a:off x="4844752" y="2732034"/>
            <a:ext cx="895202" cy="2990999"/>
          </a:xfrm>
          <a:prstGeom prst="bentConnector3">
            <a:avLst>
              <a:gd name="adj1" fmla="val 39433"/>
            </a:avLst>
          </a:prstGeom>
          <a:ln w="127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Rectangle 175">
            <a:extLst>
              <a:ext uri="{FF2B5EF4-FFF2-40B4-BE49-F238E27FC236}">
                <a16:creationId xmlns:a16="http://schemas.microsoft.com/office/drawing/2014/main" id="{C487B780-48C2-6F3F-87D4-9D3464A2B41A}"/>
              </a:ext>
            </a:extLst>
          </p:cNvPr>
          <p:cNvSpPr/>
          <p:nvPr/>
        </p:nvSpPr>
        <p:spPr>
          <a:xfrm>
            <a:off x="1084129" y="607501"/>
            <a:ext cx="10966319" cy="5781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DB691A8C-D405-AF78-785E-589BE1BAD4CF}"/>
              </a:ext>
            </a:extLst>
          </p:cNvPr>
          <p:cNvSpPr txBox="1"/>
          <p:nvPr/>
        </p:nvSpPr>
        <p:spPr>
          <a:xfrm>
            <a:off x="11589819" y="4267829"/>
            <a:ext cx="18473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000" dirty="0"/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9CF707DF-6790-0E8F-98C2-64EEA0059D72}"/>
              </a:ext>
            </a:extLst>
          </p:cNvPr>
          <p:cNvSpPr txBox="1"/>
          <p:nvPr/>
        </p:nvSpPr>
        <p:spPr>
          <a:xfrm>
            <a:off x="4913186" y="4202536"/>
            <a:ext cx="761747" cy="21544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800" dirty="0" err="1"/>
              <a:t>fxrates</a:t>
            </a:r>
            <a:r>
              <a:rPr lang="en-US" sz="800" dirty="0"/>
              <a:t> </a:t>
            </a:r>
            <a:r>
              <a:rPr lang="en-US" sz="800" dirty="0">
                <a:solidFill>
                  <a:srgbClr val="00B050"/>
                </a:solidFill>
              </a:rPr>
              <a:t>S3-</a:t>
            </a:r>
            <a:r>
              <a:rPr lang="en-US" sz="800" dirty="0"/>
              <a:t>/</a:t>
            </a:r>
            <a:r>
              <a:rPr lang="en-US" sz="800" dirty="0">
                <a:solidFill>
                  <a:srgbClr val="00B050"/>
                </a:solidFill>
              </a:rPr>
              <a:t>S5</a:t>
            </a:r>
          </a:p>
        </p:txBody>
      </p: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8C8D02E6-051E-A506-C71A-7051E5E46658}"/>
              </a:ext>
            </a:extLst>
          </p:cNvPr>
          <p:cNvGrpSpPr/>
          <p:nvPr/>
        </p:nvGrpSpPr>
        <p:grpSpPr>
          <a:xfrm>
            <a:off x="3424071" y="4823289"/>
            <a:ext cx="3193796" cy="858969"/>
            <a:chOff x="3364169" y="4391500"/>
            <a:chExt cx="1947839" cy="858969"/>
          </a:xfrm>
        </p:grpSpPr>
        <p:pic>
          <p:nvPicPr>
            <p:cNvPr id="88" name="Graphic 87" descr="User with solid fill">
              <a:extLst>
                <a:ext uri="{FF2B5EF4-FFF2-40B4-BE49-F238E27FC236}">
                  <a16:creationId xmlns:a16="http://schemas.microsoft.com/office/drawing/2014/main" id="{87FEE155-35BB-0FCC-CBD3-3D8A89B0D76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364169" y="4391500"/>
              <a:ext cx="437202" cy="858969"/>
            </a:xfrm>
            <a:prstGeom prst="rect">
              <a:avLst/>
            </a:prstGeom>
          </p:spPr>
        </p:pic>
        <p:sp>
          <p:nvSpPr>
            <p:cNvPr id="228" name="TextBox 227">
              <a:extLst>
                <a:ext uri="{FF2B5EF4-FFF2-40B4-BE49-F238E27FC236}">
                  <a16:creationId xmlns:a16="http://schemas.microsoft.com/office/drawing/2014/main" id="{3FBCCA9C-30CE-9170-E3D0-2C4CCE5A1248}"/>
                </a:ext>
              </a:extLst>
            </p:cNvPr>
            <p:cNvSpPr txBox="1"/>
            <p:nvPr/>
          </p:nvSpPr>
          <p:spPr>
            <a:xfrm>
              <a:off x="4195482" y="4568732"/>
              <a:ext cx="1116526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800" i="1" dirty="0"/>
                <a:t>missing trades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800" i="1" dirty="0"/>
                <a:t>Find/access Data sources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800" i="1" dirty="0"/>
                <a:t>Interoperability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800" i="1" dirty="0"/>
                <a:t>Assisted Queries / Dashboard</a:t>
              </a:r>
            </a:p>
          </p:txBody>
        </p:sp>
      </p:grpSp>
      <p:cxnSp>
        <p:nvCxnSpPr>
          <p:cNvPr id="237" name="Elbow Connector 236">
            <a:extLst>
              <a:ext uri="{FF2B5EF4-FFF2-40B4-BE49-F238E27FC236}">
                <a16:creationId xmlns:a16="http://schemas.microsoft.com/office/drawing/2014/main" id="{D7F5456B-7CC8-175E-5A7C-220ED12EE11E}"/>
              </a:ext>
            </a:extLst>
          </p:cNvPr>
          <p:cNvCxnSpPr>
            <a:cxnSpLocks/>
          </p:cNvCxnSpPr>
          <p:nvPr/>
        </p:nvCxnSpPr>
        <p:spPr>
          <a:xfrm rot="10800000">
            <a:off x="1838898" y="4611010"/>
            <a:ext cx="1138568" cy="563789"/>
          </a:xfrm>
          <a:prstGeom prst="bentConnector2">
            <a:avLst/>
          </a:prstGeom>
          <a:ln w="127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D26E42AB-A5CD-6AFE-108F-A4D421B0CE28}"/>
              </a:ext>
            </a:extLst>
          </p:cNvPr>
          <p:cNvGrpSpPr/>
          <p:nvPr/>
        </p:nvGrpSpPr>
        <p:grpSpPr>
          <a:xfrm>
            <a:off x="5188024" y="4462169"/>
            <a:ext cx="1196131" cy="596513"/>
            <a:chOff x="8649356" y="3667286"/>
            <a:chExt cx="1196131" cy="596513"/>
          </a:xfrm>
        </p:grpSpPr>
        <p:pic>
          <p:nvPicPr>
            <p:cNvPr id="147" name="Graphic 146" descr="Users outline">
              <a:extLst>
                <a:ext uri="{FF2B5EF4-FFF2-40B4-BE49-F238E27FC236}">
                  <a16:creationId xmlns:a16="http://schemas.microsoft.com/office/drawing/2014/main" id="{43311169-D54A-A4AB-79B5-855E6253986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437100" y="3667286"/>
              <a:ext cx="408387" cy="408387"/>
            </a:xfrm>
            <a:prstGeom prst="rect">
              <a:avLst/>
            </a:prstGeom>
          </p:spPr>
        </p:pic>
        <p:sp>
          <p:nvSpPr>
            <p:cNvPr id="247" name="Rectangle 246">
              <a:extLst>
                <a:ext uri="{FF2B5EF4-FFF2-40B4-BE49-F238E27FC236}">
                  <a16:creationId xmlns:a16="http://schemas.microsoft.com/office/drawing/2014/main" id="{B7F153EC-3100-9DA1-1D15-46D91A2EF922}"/>
                </a:ext>
              </a:extLst>
            </p:cNvPr>
            <p:cNvSpPr/>
            <p:nvPr/>
          </p:nvSpPr>
          <p:spPr>
            <a:xfrm>
              <a:off x="8649356" y="3798726"/>
              <a:ext cx="1174814" cy="465073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800">
                  <a:solidFill>
                    <a:schemeClr val="tx1"/>
                  </a:solidFill>
                </a:rPr>
                <a:t>Data Discovery </a:t>
              </a:r>
            </a:p>
            <a:p>
              <a:r>
                <a:rPr lang="en-US" sz="800">
                  <a:solidFill>
                    <a:schemeClr val="tx1"/>
                  </a:solidFill>
                </a:rPr>
                <a:t>questions</a:t>
              </a:r>
            </a:p>
          </p:txBody>
        </p:sp>
      </p:grpSp>
      <p:pic>
        <p:nvPicPr>
          <p:cNvPr id="101" name="Graphic 100" descr="Envelope with solid fill">
            <a:extLst>
              <a:ext uri="{FF2B5EF4-FFF2-40B4-BE49-F238E27FC236}">
                <a16:creationId xmlns:a16="http://schemas.microsoft.com/office/drawing/2014/main" id="{80E0471D-74F7-4090-9A1E-0D6E6BB790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0667104">
            <a:off x="1757430" y="5447478"/>
            <a:ext cx="296286" cy="296286"/>
          </a:xfrm>
          <a:prstGeom prst="rect">
            <a:avLst/>
          </a:prstGeom>
        </p:spPr>
      </p:pic>
      <p:sp>
        <p:nvSpPr>
          <p:cNvPr id="272" name="TextBox 271">
            <a:extLst>
              <a:ext uri="{FF2B5EF4-FFF2-40B4-BE49-F238E27FC236}">
                <a16:creationId xmlns:a16="http://schemas.microsoft.com/office/drawing/2014/main" id="{9F03ED96-A869-D3A9-9591-14C0FFF36E6D}"/>
              </a:ext>
            </a:extLst>
          </p:cNvPr>
          <p:cNvSpPr txBox="1"/>
          <p:nvPr/>
        </p:nvSpPr>
        <p:spPr>
          <a:xfrm>
            <a:off x="6589017" y="2561258"/>
            <a:ext cx="6992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/>
              <a:t>Credit Risk</a:t>
            </a:r>
          </a:p>
        </p:txBody>
      </p:sp>
      <p:sp>
        <p:nvSpPr>
          <p:cNvPr id="315" name="TextBox 314">
            <a:extLst>
              <a:ext uri="{FF2B5EF4-FFF2-40B4-BE49-F238E27FC236}">
                <a16:creationId xmlns:a16="http://schemas.microsoft.com/office/drawing/2014/main" id="{833900F9-319B-A7FC-D701-E41132A76C2F}"/>
              </a:ext>
            </a:extLst>
          </p:cNvPr>
          <p:cNvSpPr txBox="1"/>
          <p:nvPr/>
        </p:nvSpPr>
        <p:spPr>
          <a:xfrm>
            <a:off x="1150698" y="1405832"/>
            <a:ext cx="859531" cy="9694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TMS(FO)</a:t>
            </a:r>
          </a:p>
          <a:p>
            <a:pPr marL="171450" indent="-171450">
              <a:buFont typeface="Wingdings" pitchFamily="2" charset="2"/>
              <a:buChar char="Ø"/>
            </a:pPr>
            <a:r>
              <a:rPr lang="en-US" sz="800" dirty="0"/>
              <a:t>Trades</a:t>
            </a:r>
          </a:p>
          <a:p>
            <a:pPr marL="171450" indent="-171450">
              <a:buFont typeface="Wingdings" pitchFamily="2" charset="2"/>
              <a:buChar char="Ø"/>
            </a:pPr>
            <a:r>
              <a:rPr lang="en-US" sz="800" dirty="0"/>
              <a:t>Positions</a:t>
            </a:r>
          </a:p>
          <a:p>
            <a:pPr marL="171450" indent="-171450">
              <a:buFont typeface="Wingdings" pitchFamily="2" charset="2"/>
              <a:buChar char="Ø"/>
            </a:pPr>
            <a:r>
              <a:rPr lang="en-US" sz="800" dirty="0"/>
              <a:t>Cashflow</a:t>
            </a:r>
          </a:p>
          <a:p>
            <a:pPr marL="171450" indent="-171450">
              <a:buFont typeface="Wingdings" pitchFamily="2" charset="2"/>
              <a:buChar char="Ø"/>
            </a:pPr>
            <a:r>
              <a:rPr lang="en-US" sz="800" dirty="0"/>
              <a:t>Settlements</a:t>
            </a:r>
          </a:p>
          <a:p>
            <a:pPr marL="171450" indent="-171450">
              <a:buFont typeface="Wingdings" pitchFamily="2" charset="2"/>
              <a:buChar char="Ø"/>
            </a:pPr>
            <a:r>
              <a:rPr lang="en-US" sz="800" dirty="0"/>
              <a:t>sensitivity</a:t>
            </a:r>
          </a:p>
          <a:p>
            <a:pPr marL="171450" indent="-171450">
              <a:buFont typeface="Wingdings" pitchFamily="2" charset="2"/>
              <a:buChar char="Ø"/>
            </a:pPr>
            <a:r>
              <a:rPr lang="en-US" sz="800" dirty="0">
                <a:solidFill>
                  <a:srgbClr val="00B050"/>
                </a:solidFill>
              </a:rPr>
              <a:t>Valuations</a:t>
            </a:r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49B44A30-2E61-1AEE-A389-D650EC1CC04C}"/>
              </a:ext>
            </a:extLst>
          </p:cNvPr>
          <p:cNvSpPr txBox="1"/>
          <p:nvPr/>
        </p:nvSpPr>
        <p:spPr>
          <a:xfrm>
            <a:off x="1069343" y="1294911"/>
            <a:ext cx="131799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Cross Asset Trade bookings</a:t>
            </a:r>
          </a:p>
        </p:txBody>
      </p:sp>
      <p:sp>
        <p:nvSpPr>
          <p:cNvPr id="338" name="Rectangle 337">
            <a:extLst>
              <a:ext uri="{FF2B5EF4-FFF2-40B4-BE49-F238E27FC236}">
                <a16:creationId xmlns:a16="http://schemas.microsoft.com/office/drawing/2014/main" id="{79E74082-FC2B-7E0D-B71F-CD3DA54CC43D}"/>
              </a:ext>
            </a:extLst>
          </p:cNvPr>
          <p:cNvSpPr/>
          <p:nvPr/>
        </p:nvSpPr>
        <p:spPr>
          <a:xfrm>
            <a:off x="6276747" y="1232758"/>
            <a:ext cx="3933548" cy="253615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1" name="TextBox 350">
            <a:extLst>
              <a:ext uri="{FF2B5EF4-FFF2-40B4-BE49-F238E27FC236}">
                <a16:creationId xmlns:a16="http://schemas.microsoft.com/office/drawing/2014/main" id="{7E62AF26-8C59-617F-77BC-1DFEBDF9DAE2}"/>
              </a:ext>
            </a:extLst>
          </p:cNvPr>
          <p:cNvSpPr txBox="1"/>
          <p:nvPr/>
        </p:nvSpPr>
        <p:spPr>
          <a:xfrm>
            <a:off x="10767073" y="4524957"/>
            <a:ext cx="1007477" cy="24622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Collateral</a:t>
            </a:r>
          </a:p>
        </p:txBody>
      </p:sp>
      <p:sp>
        <p:nvSpPr>
          <p:cNvPr id="352" name="TextBox 351">
            <a:extLst>
              <a:ext uri="{FF2B5EF4-FFF2-40B4-BE49-F238E27FC236}">
                <a16:creationId xmlns:a16="http://schemas.microsoft.com/office/drawing/2014/main" id="{B16C5BB2-E5D2-7AC1-8B07-4127AAB0A63C}"/>
              </a:ext>
            </a:extLst>
          </p:cNvPr>
          <p:cNvSpPr txBox="1"/>
          <p:nvPr/>
        </p:nvSpPr>
        <p:spPr>
          <a:xfrm>
            <a:off x="10767073" y="4822933"/>
            <a:ext cx="1007476" cy="24622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Valuations</a:t>
            </a:r>
          </a:p>
        </p:txBody>
      </p:sp>
      <p:sp>
        <p:nvSpPr>
          <p:cNvPr id="358" name="Shape 5">
            <a:extLst>
              <a:ext uri="{FF2B5EF4-FFF2-40B4-BE49-F238E27FC236}">
                <a16:creationId xmlns:a16="http://schemas.microsoft.com/office/drawing/2014/main" id="{9D1E72A6-011F-7DDC-7EC1-6F44C60886EC}"/>
              </a:ext>
            </a:extLst>
          </p:cNvPr>
          <p:cNvSpPr/>
          <p:nvPr/>
        </p:nvSpPr>
        <p:spPr>
          <a:xfrm>
            <a:off x="1285430" y="910666"/>
            <a:ext cx="985164" cy="214316"/>
          </a:xfrm>
          <a:prstGeom prst="rect">
            <a:avLst/>
          </a:prstGeom>
          <a:solidFill>
            <a:srgbClr val="FFFFFF"/>
          </a:solidFill>
          <a:ln w="15875">
            <a:solidFill>
              <a:srgbClr val="1F7A47"/>
            </a:solidFill>
            <a:prstDash val="solid"/>
          </a:ln>
        </p:spPr>
        <p:txBody>
          <a:bodyPr/>
          <a:lstStyle/>
          <a:p>
            <a:r>
              <a:rPr lang="en-US" sz="900" dirty="0"/>
              <a:t>100+ Sources</a:t>
            </a:r>
          </a:p>
        </p:txBody>
      </p:sp>
      <p:cxnSp>
        <p:nvCxnSpPr>
          <p:cNvPr id="361" name="Straight Arrow Connector 360">
            <a:extLst>
              <a:ext uri="{FF2B5EF4-FFF2-40B4-BE49-F238E27FC236}">
                <a16:creationId xmlns:a16="http://schemas.microsoft.com/office/drawing/2014/main" id="{C4A6E75E-DA15-DA4C-B3D8-CC39863E2480}"/>
              </a:ext>
            </a:extLst>
          </p:cNvPr>
          <p:cNvCxnSpPr>
            <a:cxnSpLocks/>
          </p:cNvCxnSpPr>
          <p:nvPr/>
        </p:nvCxnSpPr>
        <p:spPr>
          <a:xfrm>
            <a:off x="8036061" y="1131027"/>
            <a:ext cx="0" cy="746589"/>
          </a:xfrm>
          <a:prstGeom prst="straightConnector1">
            <a:avLst/>
          </a:prstGeom>
          <a:ln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6" name="TextBox 365">
            <a:extLst>
              <a:ext uri="{FF2B5EF4-FFF2-40B4-BE49-F238E27FC236}">
                <a16:creationId xmlns:a16="http://schemas.microsoft.com/office/drawing/2014/main" id="{0D4329AD-5604-53C8-4265-81CF0AB0A164}"/>
              </a:ext>
            </a:extLst>
          </p:cNvPr>
          <p:cNvSpPr txBox="1"/>
          <p:nvPr/>
        </p:nvSpPr>
        <p:spPr>
          <a:xfrm>
            <a:off x="1253627" y="1055141"/>
            <a:ext cx="85472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Data sources</a:t>
            </a:r>
          </a:p>
        </p:txBody>
      </p:sp>
      <p:sp>
        <p:nvSpPr>
          <p:cNvPr id="368" name="TextBox 367">
            <a:extLst>
              <a:ext uri="{FF2B5EF4-FFF2-40B4-BE49-F238E27FC236}">
                <a16:creationId xmlns:a16="http://schemas.microsoft.com/office/drawing/2014/main" id="{4AF5FB1E-396C-C9A8-DEB4-A1800C0049D3}"/>
              </a:ext>
            </a:extLst>
          </p:cNvPr>
          <p:cNvSpPr txBox="1"/>
          <p:nvPr/>
        </p:nvSpPr>
        <p:spPr>
          <a:xfrm>
            <a:off x="10608529" y="4326745"/>
            <a:ext cx="133225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Canonical Data Products</a:t>
            </a:r>
          </a:p>
        </p:txBody>
      </p:sp>
      <p:sp>
        <p:nvSpPr>
          <p:cNvPr id="369" name="TextBox 368">
            <a:extLst>
              <a:ext uri="{FF2B5EF4-FFF2-40B4-BE49-F238E27FC236}">
                <a16:creationId xmlns:a16="http://schemas.microsoft.com/office/drawing/2014/main" id="{A678434C-590D-C795-0D53-416D5285DE08}"/>
              </a:ext>
            </a:extLst>
          </p:cNvPr>
          <p:cNvSpPr txBox="1"/>
          <p:nvPr/>
        </p:nvSpPr>
        <p:spPr>
          <a:xfrm>
            <a:off x="141552" y="923096"/>
            <a:ext cx="61427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external</a:t>
            </a:r>
          </a:p>
        </p:txBody>
      </p:sp>
      <p:sp>
        <p:nvSpPr>
          <p:cNvPr id="370" name="TextBox 369">
            <a:extLst>
              <a:ext uri="{FF2B5EF4-FFF2-40B4-BE49-F238E27FC236}">
                <a16:creationId xmlns:a16="http://schemas.microsoft.com/office/drawing/2014/main" id="{027AB5D9-AC0D-0072-EA53-398A53709F89}"/>
              </a:ext>
            </a:extLst>
          </p:cNvPr>
          <p:cNvSpPr txBox="1"/>
          <p:nvPr/>
        </p:nvSpPr>
        <p:spPr>
          <a:xfrm>
            <a:off x="1620840" y="459362"/>
            <a:ext cx="425116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/>
              <a:t>TDS</a:t>
            </a:r>
          </a:p>
        </p:txBody>
      </p:sp>
      <p:sp>
        <p:nvSpPr>
          <p:cNvPr id="379" name="Shape 8">
            <a:extLst>
              <a:ext uri="{FF2B5EF4-FFF2-40B4-BE49-F238E27FC236}">
                <a16:creationId xmlns:a16="http://schemas.microsoft.com/office/drawing/2014/main" id="{8D045DBC-392F-35C3-054B-87C06FA7B682}"/>
              </a:ext>
            </a:extLst>
          </p:cNvPr>
          <p:cNvSpPr/>
          <p:nvPr/>
        </p:nvSpPr>
        <p:spPr>
          <a:xfrm>
            <a:off x="1854928" y="6469405"/>
            <a:ext cx="287935" cy="133736"/>
          </a:xfrm>
          <a:prstGeom prst="rect">
            <a:avLst/>
          </a:prstGeom>
          <a:solidFill>
            <a:srgbClr val="00B050"/>
          </a:solidFill>
          <a:ln w="15875">
            <a:solidFill>
              <a:srgbClr val="1F7A47"/>
            </a:solidFill>
            <a:prstDash val="solid"/>
          </a:ln>
        </p:spPr>
        <p:txBody>
          <a:bodyPr anchor="ctr"/>
          <a:lstStyle/>
          <a:p>
            <a:pPr algn="ctr"/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381" name="TextBox 380">
            <a:extLst>
              <a:ext uri="{FF2B5EF4-FFF2-40B4-BE49-F238E27FC236}">
                <a16:creationId xmlns:a16="http://schemas.microsoft.com/office/drawing/2014/main" id="{86750351-B647-7061-B374-053255915EB7}"/>
              </a:ext>
            </a:extLst>
          </p:cNvPr>
          <p:cNvSpPr txBox="1"/>
          <p:nvPr/>
        </p:nvSpPr>
        <p:spPr>
          <a:xfrm>
            <a:off x="2137186" y="6450029"/>
            <a:ext cx="136127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dirty="0"/>
              <a:t>Valuations/Market risk Flow</a:t>
            </a:r>
          </a:p>
        </p:txBody>
      </p:sp>
      <p:sp>
        <p:nvSpPr>
          <p:cNvPr id="382" name="Rectangle 381">
            <a:extLst>
              <a:ext uri="{FF2B5EF4-FFF2-40B4-BE49-F238E27FC236}">
                <a16:creationId xmlns:a16="http://schemas.microsoft.com/office/drawing/2014/main" id="{9C19A862-6161-C997-D7D3-B8F8B7A63BC7}"/>
              </a:ext>
            </a:extLst>
          </p:cNvPr>
          <p:cNvSpPr/>
          <p:nvPr/>
        </p:nvSpPr>
        <p:spPr>
          <a:xfrm>
            <a:off x="1849623" y="6631838"/>
            <a:ext cx="293241" cy="127344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i="1" dirty="0">
              <a:solidFill>
                <a:schemeClr val="bg1"/>
              </a:solidFill>
            </a:endParaRPr>
          </a:p>
        </p:txBody>
      </p:sp>
      <p:sp>
        <p:nvSpPr>
          <p:cNvPr id="383" name="TextBox 382">
            <a:extLst>
              <a:ext uri="{FF2B5EF4-FFF2-40B4-BE49-F238E27FC236}">
                <a16:creationId xmlns:a16="http://schemas.microsoft.com/office/drawing/2014/main" id="{8FF3EC93-BFD5-4547-E059-8B7ED1849FCC}"/>
              </a:ext>
            </a:extLst>
          </p:cNvPr>
          <p:cNvSpPr txBox="1"/>
          <p:nvPr/>
        </p:nvSpPr>
        <p:spPr>
          <a:xfrm>
            <a:off x="2139546" y="6598820"/>
            <a:ext cx="98616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dirty="0"/>
              <a:t>Credit risk/liquidity</a:t>
            </a:r>
          </a:p>
        </p:txBody>
      </p:sp>
      <p:sp>
        <p:nvSpPr>
          <p:cNvPr id="389" name="TextBox 388">
            <a:extLst>
              <a:ext uri="{FF2B5EF4-FFF2-40B4-BE49-F238E27FC236}">
                <a16:creationId xmlns:a16="http://schemas.microsoft.com/office/drawing/2014/main" id="{D6D061B2-B1B0-C7A8-B057-71D90BA1BECC}"/>
              </a:ext>
            </a:extLst>
          </p:cNvPr>
          <p:cNvSpPr txBox="1"/>
          <p:nvPr/>
        </p:nvSpPr>
        <p:spPr>
          <a:xfrm flipH="1">
            <a:off x="2845814" y="6619044"/>
            <a:ext cx="7025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rgbClr val="C00000"/>
                </a:solidFill>
              </a:rPr>
              <a:t>??</a:t>
            </a:r>
          </a:p>
        </p:txBody>
      </p:sp>
      <p:sp>
        <p:nvSpPr>
          <p:cNvPr id="401" name="TextBox 400">
            <a:extLst>
              <a:ext uri="{FF2B5EF4-FFF2-40B4-BE49-F238E27FC236}">
                <a16:creationId xmlns:a16="http://schemas.microsoft.com/office/drawing/2014/main" id="{8DC6C350-BD56-1E4F-7973-52184DF2A5F6}"/>
              </a:ext>
            </a:extLst>
          </p:cNvPr>
          <p:cNvSpPr txBox="1"/>
          <p:nvPr/>
        </p:nvSpPr>
        <p:spPr>
          <a:xfrm>
            <a:off x="5892345" y="916497"/>
            <a:ext cx="1037549" cy="21544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800" b="1" dirty="0"/>
              <a:t>Databricks-TDVIP</a:t>
            </a:r>
          </a:p>
        </p:txBody>
      </p:sp>
      <p:pic>
        <p:nvPicPr>
          <p:cNvPr id="102" name="Picture 101">
            <a:extLst>
              <a:ext uri="{FF2B5EF4-FFF2-40B4-BE49-F238E27FC236}">
                <a16:creationId xmlns:a16="http://schemas.microsoft.com/office/drawing/2014/main" id="{0B838B1F-6C61-5D9F-9870-54DA9A75F3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8282" y="1046207"/>
            <a:ext cx="279788" cy="290151"/>
          </a:xfrm>
          <a:prstGeom prst="rect">
            <a:avLst/>
          </a:prstGeom>
          <a:ln>
            <a:noFill/>
          </a:ln>
        </p:spPr>
      </p:pic>
      <p:sp>
        <p:nvSpPr>
          <p:cNvPr id="403" name="Rectangle 402">
            <a:extLst>
              <a:ext uri="{FF2B5EF4-FFF2-40B4-BE49-F238E27FC236}">
                <a16:creationId xmlns:a16="http://schemas.microsoft.com/office/drawing/2014/main" id="{EC7110B7-BCEB-A176-D62E-78EE7783D3B5}"/>
              </a:ext>
            </a:extLst>
          </p:cNvPr>
          <p:cNvSpPr/>
          <p:nvPr/>
        </p:nvSpPr>
        <p:spPr>
          <a:xfrm>
            <a:off x="48462" y="607501"/>
            <a:ext cx="961369" cy="57810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" name="TextBox 409">
            <a:extLst>
              <a:ext uri="{FF2B5EF4-FFF2-40B4-BE49-F238E27FC236}">
                <a16:creationId xmlns:a16="http://schemas.microsoft.com/office/drawing/2014/main" id="{B7F22F1E-659E-2DFD-6DE6-EABCCE5AF4BC}"/>
              </a:ext>
            </a:extLst>
          </p:cNvPr>
          <p:cNvSpPr txBox="1"/>
          <p:nvPr/>
        </p:nvSpPr>
        <p:spPr>
          <a:xfrm>
            <a:off x="2058350" y="1418921"/>
            <a:ext cx="28886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solidFill>
                  <a:schemeClr val="accent6"/>
                </a:solidFill>
              </a:rPr>
              <a:t>s1</a:t>
            </a:r>
          </a:p>
        </p:txBody>
      </p:sp>
      <p:grpSp>
        <p:nvGrpSpPr>
          <p:cNvPr id="421" name="Group 420">
            <a:extLst>
              <a:ext uri="{FF2B5EF4-FFF2-40B4-BE49-F238E27FC236}">
                <a16:creationId xmlns:a16="http://schemas.microsoft.com/office/drawing/2014/main" id="{D0B05351-FB65-EB91-2FB8-D6B747334F71}"/>
              </a:ext>
            </a:extLst>
          </p:cNvPr>
          <p:cNvGrpSpPr/>
          <p:nvPr/>
        </p:nvGrpSpPr>
        <p:grpSpPr>
          <a:xfrm>
            <a:off x="1239773" y="2641665"/>
            <a:ext cx="1133407" cy="283377"/>
            <a:chOff x="1513390" y="2619971"/>
            <a:chExt cx="1024159" cy="283377"/>
          </a:xfrm>
        </p:grpSpPr>
        <p:sp>
          <p:nvSpPr>
            <p:cNvPr id="103" name="Shape 5">
              <a:extLst>
                <a:ext uri="{FF2B5EF4-FFF2-40B4-BE49-F238E27FC236}">
                  <a16:creationId xmlns:a16="http://schemas.microsoft.com/office/drawing/2014/main" id="{0A500886-FBD2-B62E-5703-E8AA31C67FD3}"/>
                </a:ext>
              </a:extLst>
            </p:cNvPr>
            <p:cNvSpPr/>
            <p:nvPr/>
          </p:nvSpPr>
          <p:spPr>
            <a:xfrm>
              <a:off x="1513390" y="2657127"/>
              <a:ext cx="985164" cy="246221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F7A47"/>
              </a:solidFill>
              <a:prstDash val="solid"/>
            </a:ln>
          </p:spPr>
          <p:txBody>
            <a:bodyPr/>
            <a:lstStyle/>
            <a:p>
              <a:r>
                <a:rPr lang="en-US" sz="900" dirty="0"/>
                <a:t>Reference Data</a:t>
              </a:r>
            </a:p>
          </p:txBody>
        </p:sp>
        <p:sp>
          <p:nvSpPr>
            <p:cNvPr id="412" name="TextBox 411">
              <a:extLst>
                <a:ext uri="{FF2B5EF4-FFF2-40B4-BE49-F238E27FC236}">
                  <a16:creationId xmlns:a16="http://schemas.microsoft.com/office/drawing/2014/main" id="{204D24F8-5E81-9292-530E-D1DD3EEE69C2}"/>
                </a:ext>
              </a:extLst>
            </p:cNvPr>
            <p:cNvSpPr txBox="1"/>
            <p:nvPr/>
          </p:nvSpPr>
          <p:spPr>
            <a:xfrm>
              <a:off x="2235972" y="2619971"/>
              <a:ext cx="30157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accent6"/>
                  </a:solidFill>
                </a:rPr>
                <a:t>  </a:t>
              </a:r>
              <a:r>
                <a:rPr lang="en-US" sz="900" b="1" dirty="0">
                  <a:solidFill>
                    <a:schemeClr val="accent6"/>
                  </a:solidFill>
                </a:rPr>
                <a:t>s2</a:t>
              </a:r>
            </a:p>
          </p:txBody>
        </p:sp>
      </p:grpSp>
      <p:grpSp>
        <p:nvGrpSpPr>
          <p:cNvPr id="420" name="Group 419">
            <a:extLst>
              <a:ext uri="{FF2B5EF4-FFF2-40B4-BE49-F238E27FC236}">
                <a16:creationId xmlns:a16="http://schemas.microsoft.com/office/drawing/2014/main" id="{1ED1C0B2-52AA-24E3-EBAA-B7FE1DE90F0D}"/>
              </a:ext>
            </a:extLst>
          </p:cNvPr>
          <p:cNvGrpSpPr/>
          <p:nvPr/>
        </p:nvGrpSpPr>
        <p:grpSpPr>
          <a:xfrm>
            <a:off x="1216754" y="4076670"/>
            <a:ext cx="1162559" cy="272670"/>
            <a:chOff x="1461268" y="2939471"/>
            <a:chExt cx="1043871" cy="272670"/>
          </a:xfrm>
        </p:grpSpPr>
        <p:sp>
          <p:nvSpPr>
            <p:cNvPr id="7" name="Shape 5">
              <a:extLst>
                <a:ext uri="{FF2B5EF4-FFF2-40B4-BE49-F238E27FC236}">
                  <a16:creationId xmlns:a16="http://schemas.microsoft.com/office/drawing/2014/main" id="{E5F04FFB-4406-F348-040F-13773A3FFA6A}"/>
                </a:ext>
              </a:extLst>
            </p:cNvPr>
            <p:cNvSpPr/>
            <p:nvPr/>
          </p:nvSpPr>
          <p:spPr>
            <a:xfrm>
              <a:off x="1461268" y="2939471"/>
              <a:ext cx="985164" cy="214316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F7A47"/>
              </a:solidFill>
              <a:prstDash val="solid"/>
            </a:ln>
          </p:spPr>
          <p:txBody>
            <a:bodyPr/>
            <a:lstStyle/>
            <a:p>
              <a:r>
                <a:rPr lang="en-US" sz="900" dirty="0"/>
                <a:t>Market Data</a:t>
              </a:r>
            </a:p>
          </p:txBody>
        </p:sp>
        <p:sp>
          <p:nvSpPr>
            <p:cNvPr id="413" name="TextBox 412">
              <a:extLst>
                <a:ext uri="{FF2B5EF4-FFF2-40B4-BE49-F238E27FC236}">
                  <a16:creationId xmlns:a16="http://schemas.microsoft.com/office/drawing/2014/main" id="{79BE78D2-2932-013E-897A-9FF0561724BB}"/>
                </a:ext>
              </a:extLst>
            </p:cNvPr>
            <p:cNvSpPr txBox="1"/>
            <p:nvPr/>
          </p:nvSpPr>
          <p:spPr>
            <a:xfrm>
              <a:off x="2245767" y="2981309"/>
              <a:ext cx="25937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b="1" dirty="0">
                  <a:solidFill>
                    <a:schemeClr val="accent6"/>
                  </a:solidFill>
                </a:rPr>
                <a:t>s4</a:t>
              </a:r>
            </a:p>
          </p:txBody>
        </p:sp>
      </p:grpSp>
      <p:grpSp>
        <p:nvGrpSpPr>
          <p:cNvPr id="419" name="Group 418">
            <a:extLst>
              <a:ext uri="{FF2B5EF4-FFF2-40B4-BE49-F238E27FC236}">
                <a16:creationId xmlns:a16="http://schemas.microsoft.com/office/drawing/2014/main" id="{EC5733F7-B337-C022-DEA4-8507AA549CA0}"/>
              </a:ext>
            </a:extLst>
          </p:cNvPr>
          <p:cNvGrpSpPr/>
          <p:nvPr/>
        </p:nvGrpSpPr>
        <p:grpSpPr>
          <a:xfrm>
            <a:off x="1204391" y="2893625"/>
            <a:ext cx="1271153" cy="1105269"/>
            <a:chOff x="305027" y="2574941"/>
            <a:chExt cx="1271153" cy="1105269"/>
          </a:xfrm>
        </p:grpSpPr>
        <p:sp>
          <p:nvSpPr>
            <p:cNvPr id="362" name="Shape 5">
              <a:extLst>
                <a:ext uri="{FF2B5EF4-FFF2-40B4-BE49-F238E27FC236}">
                  <a16:creationId xmlns:a16="http://schemas.microsoft.com/office/drawing/2014/main" id="{EA0D253C-F747-4F36-9AD7-0437DDCBEB05}"/>
                </a:ext>
              </a:extLst>
            </p:cNvPr>
            <p:cNvSpPr/>
            <p:nvPr/>
          </p:nvSpPr>
          <p:spPr>
            <a:xfrm>
              <a:off x="307925" y="2625590"/>
              <a:ext cx="1136586" cy="105462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F7A47"/>
              </a:solidFill>
              <a:prstDash val="solid"/>
            </a:ln>
          </p:spPr>
          <p:txBody>
            <a:bodyPr/>
            <a:lstStyle/>
            <a:p>
              <a:endParaRPr lang="en-US" sz="1000" dirty="0"/>
            </a:p>
          </p:txBody>
        </p:sp>
        <p:sp>
          <p:nvSpPr>
            <p:cNvPr id="301" name="TextBox 300">
              <a:extLst>
                <a:ext uri="{FF2B5EF4-FFF2-40B4-BE49-F238E27FC236}">
                  <a16:creationId xmlns:a16="http://schemas.microsoft.com/office/drawing/2014/main" id="{0E333CBF-29A1-8B8A-C583-105BCCD0727B}"/>
                </a:ext>
              </a:extLst>
            </p:cNvPr>
            <p:cNvSpPr txBox="1"/>
            <p:nvPr/>
          </p:nvSpPr>
          <p:spPr>
            <a:xfrm>
              <a:off x="305027" y="2574941"/>
              <a:ext cx="1156086" cy="7848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900" dirty="0"/>
                <a:t>Collateral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rgbClr val="00B050"/>
                  </a:solidFill>
                </a:rPr>
                <a:t>OTC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00" dirty="0"/>
                <a:t>Repo desk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00" dirty="0"/>
                <a:t>Prime desk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00" dirty="0"/>
                <a:t>Exchange Traded</a:t>
              </a:r>
            </a:p>
          </p:txBody>
        </p:sp>
        <p:sp>
          <p:nvSpPr>
            <p:cNvPr id="415" name="TextBox 414">
              <a:extLst>
                <a:ext uri="{FF2B5EF4-FFF2-40B4-BE49-F238E27FC236}">
                  <a16:creationId xmlns:a16="http://schemas.microsoft.com/office/drawing/2014/main" id="{5497C75A-7229-95BC-4965-F9F6372871AD}"/>
                </a:ext>
              </a:extLst>
            </p:cNvPr>
            <p:cNvSpPr txBox="1"/>
            <p:nvPr/>
          </p:nvSpPr>
          <p:spPr>
            <a:xfrm>
              <a:off x="319997" y="3328048"/>
              <a:ext cx="1256183" cy="3276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l">
                <a:lnSpc>
                  <a:spcPts val="640"/>
                </a:lnSpc>
                <a:buNone/>
              </a:pPr>
              <a:r>
                <a:rPr lang="en-US" sz="700" i="1" dirty="0">
                  <a:solidFill>
                    <a:srgbClr val="C039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 owner/contact known for Repo, Prime or Exchange-Traded collateral today</a:t>
              </a:r>
              <a:endParaRPr lang="en-US" sz="700" dirty="0"/>
            </a:p>
          </p:txBody>
        </p:sp>
      </p:grpSp>
      <p:sp>
        <p:nvSpPr>
          <p:cNvPr id="422" name="Shape 8">
            <a:extLst>
              <a:ext uri="{FF2B5EF4-FFF2-40B4-BE49-F238E27FC236}">
                <a16:creationId xmlns:a16="http://schemas.microsoft.com/office/drawing/2014/main" id="{B2FF3DD1-BF30-B3DB-E749-A21E55659879}"/>
              </a:ext>
            </a:extLst>
          </p:cNvPr>
          <p:cNvSpPr/>
          <p:nvPr/>
        </p:nvSpPr>
        <p:spPr>
          <a:xfrm>
            <a:off x="4087227" y="2904860"/>
            <a:ext cx="1321153" cy="238001"/>
          </a:xfrm>
          <a:prstGeom prst="rect">
            <a:avLst/>
          </a:prstGeom>
          <a:noFill/>
          <a:ln w="15875">
            <a:solidFill>
              <a:srgbClr val="1F7A47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sz="800" dirty="0"/>
              <a:t>Reporting Engines</a:t>
            </a:r>
          </a:p>
        </p:txBody>
      </p:sp>
      <p:grpSp>
        <p:nvGrpSpPr>
          <p:cNvPr id="424" name="Group 423">
            <a:extLst>
              <a:ext uri="{FF2B5EF4-FFF2-40B4-BE49-F238E27FC236}">
                <a16:creationId xmlns:a16="http://schemas.microsoft.com/office/drawing/2014/main" id="{FBC45A7D-5010-FF8F-E5C8-5F9A733BD7C8}"/>
              </a:ext>
            </a:extLst>
          </p:cNvPr>
          <p:cNvGrpSpPr/>
          <p:nvPr/>
        </p:nvGrpSpPr>
        <p:grpSpPr>
          <a:xfrm>
            <a:off x="4094291" y="3215900"/>
            <a:ext cx="1328157" cy="350730"/>
            <a:chOff x="3373685" y="3185825"/>
            <a:chExt cx="1328157" cy="350730"/>
          </a:xfrm>
        </p:grpSpPr>
        <p:sp>
          <p:nvSpPr>
            <p:cNvPr id="69" name="Shape 8">
              <a:extLst>
                <a:ext uri="{FF2B5EF4-FFF2-40B4-BE49-F238E27FC236}">
                  <a16:creationId xmlns:a16="http://schemas.microsoft.com/office/drawing/2014/main" id="{43255E13-1E49-CC6F-9D92-458242AE703F}"/>
                </a:ext>
              </a:extLst>
            </p:cNvPr>
            <p:cNvSpPr/>
            <p:nvPr/>
          </p:nvSpPr>
          <p:spPr>
            <a:xfrm>
              <a:off x="3380061" y="3213366"/>
              <a:ext cx="1321781" cy="27818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15875">
              <a:solidFill>
                <a:srgbClr val="1F7A47"/>
              </a:solidFill>
              <a:prstDash val="solid"/>
            </a:ln>
          </p:spPr>
          <p:txBody>
            <a:bodyPr anchor="ctr"/>
            <a:lstStyle/>
            <a:p>
              <a:pPr algn="ctr"/>
              <a:r>
                <a:rPr lang="en-US" sz="860" dirty="0">
                  <a:solidFill>
                    <a:schemeClr val="bg1"/>
                  </a:solidFill>
                </a:rPr>
                <a:t>Persistence</a:t>
              </a:r>
            </a:p>
            <a:p>
              <a:pPr algn="ctr"/>
              <a:r>
                <a:rPr lang="en-US" sz="800" i="1" dirty="0">
                  <a:solidFill>
                    <a:schemeClr val="bg1"/>
                  </a:solidFill>
                </a:rPr>
                <a:t>(Risk Generated Data)</a:t>
              </a:r>
            </a:p>
          </p:txBody>
        </p:sp>
        <p:sp>
          <p:nvSpPr>
            <p:cNvPr id="423" name="Shape 8">
              <a:extLst>
                <a:ext uri="{FF2B5EF4-FFF2-40B4-BE49-F238E27FC236}">
                  <a16:creationId xmlns:a16="http://schemas.microsoft.com/office/drawing/2014/main" id="{8C8432A5-5C5D-49E5-CBA4-C66AD9B34C73}"/>
                </a:ext>
              </a:extLst>
            </p:cNvPr>
            <p:cNvSpPr/>
            <p:nvPr/>
          </p:nvSpPr>
          <p:spPr>
            <a:xfrm>
              <a:off x="3373685" y="3185825"/>
              <a:ext cx="1321153" cy="350730"/>
            </a:xfrm>
            <a:prstGeom prst="rect">
              <a:avLst/>
            </a:prstGeom>
            <a:noFill/>
            <a:ln w="15875">
              <a:solidFill>
                <a:schemeClr val="accent6">
                  <a:lumMod val="75000"/>
                </a:schemeClr>
              </a:solidFill>
              <a:prstDash val="dash"/>
            </a:ln>
          </p:spPr>
          <p:txBody>
            <a:bodyPr anchor="ctr"/>
            <a:lstStyle/>
            <a:p>
              <a:pPr algn="ctr"/>
              <a:endParaRPr lang="en-US" sz="800" dirty="0"/>
            </a:p>
          </p:txBody>
        </p:sp>
      </p:grpSp>
      <p:sp>
        <p:nvSpPr>
          <p:cNvPr id="425" name="Shape 8">
            <a:extLst>
              <a:ext uri="{FF2B5EF4-FFF2-40B4-BE49-F238E27FC236}">
                <a16:creationId xmlns:a16="http://schemas.microsoft.com/office/drawing/2014/main" id="{64F72022-0C49-F6F9-F514-1E3172FB765C}"/>
              </a:ext>
            </a:extLst>
          </p:cNvPr>
          <p:cNvSpPr/>
          <p:nvPr/>
        </p:nvSpPr>
        <p:spPr>
          <a:xfrm>
            <a:off x="6512511" y="1924176"/>
            <a:ext cx="788721" cy="144141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6">
                <a:lumMod val="75000"/>
              </a:schemeClr>
            </a:solidFill>
            <a:prstDash val="dash"/>
          </a:ln>
        </p:spPr>
        <p:txBody>
          <a:bodyPr anchor="ctr"/>
          <a:lstStyle/>
          <a:p>
            <a:pPr algn="ctr"/>
            <a:r>
              <a:rPr lang="en-US" sz="700" i="1" dirty="0"/>
              <a:t>Ingestion</a:t>
            </a:r>
          </a:p>
        </p:txBody>
      </p:sp>
      <p:sp>
        <p:nvSpPr>
          <p:cNvPr id="426" name="Shape 8">
            <a:extLst>
              <a:ext uri="{FF2B5EF4-FFF2-40B4-BE49-F238E27FC236}">
                <a16:creationId xmlns:a16="http://schemas.microsoft.com/office/drawing/2014/main" id="{19C90019-BDAE-6606-ACED-064609AC5AC2}"/>
              </a:ext>
            </a:extLst>
          </p:cNvPr>
          <p:cNvSpPr/>
          <p:nvPr/>
        </p:nvSpPr>
        <p:spPr>
          <a:xfrm>
            <a:off x="6499732" y="2078819"/>
            <a:ext cx="822416" cy="142212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6">
                <a:lumMod val="75000"/>
              </a:schemeClr>
            </a:solidFill>
            <a:prstDash val="dash"/>
          </a:ln>
        </p:spPr>
        <p:txBody>
          <a:bodyPr anchor="ctr"/>
          <a:lstStyle/>
          <a:p>
            <a:pPr algn="ctr"/>
            <a:r>
              <a:rPr lang="en-US" sz="700" i="1" dirty="0"/>
              <a:t>Processing</a:t>
            </a:r>
          </a:p>
        </p:txBody>
      </p:sp>
      <p:sp>
        <p:nvSpPr>
          <p:cNvPr id="427" name="Shape 79">
            <a:extLst>
              <a:ext uri="{FF2B5EF4-FFF2-40B4-BE49-F238E27FC236}">
                <a16:creationId xmlns:a16="http://schemas.microsoft.com/office/drawing/2014/main" id="{6EBD48CE-45A9-D6BF-D3C4-124B86898646}"/>
              </a:ext>
            </a:extLst>
          </p:cNvPr>
          <p:cNvSpPr/>
          <p:nvPr/>
        </p:nvSpPr>
        <p:spPr>
          <a:xfrm>
            <a:off x="5246886" y="2318037"/>
            <a:ext cx="0" cy="0"/>
          </a:xfrm>
          <a:prstGeom prst="line">
            <a:avLst/>
          </a:prstGeom>
          <a:noFill/>
          <a:ln w="16510">
            <a:solidFill>
              <a:srgbClr val="1C283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28" name="TextBox 427">
            <a:extLst>
              <a:ext uri="{FF2B5EF4-FFF2-40B4-BE49-F238E27FC236}">
                <a16:creationId xmlns:a16="http://schemas.microsoft.com/office/drawing/2014/main" id="{AA5E6D74-B452-C2A7-3658-94A2DAFAEB8E}"/>
              </a:ext>
            </a:extLst>
          </p:cNvPr>
          <p:cNvSpPr txBox="1"/>
          <p:nvPr/>
        </p:nvSpPr>
        <p:spPr>
          <a:xfrm>
            <a:off x="5537304" y="1766586"/>
            <a:ext cx="60305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dirty="0">
                <a:solidFill>
                  <a:schemeClr val="accent6"/>
                </a:solidFill>
              </a:rPr>
              <a:t>  </a:t>
            </a:r>
            <a:r>
              <a:rPr lang="en-US" sz="900" b="1" dirty="0">
                <a:solidFill>
                  <a:schemeClr val="accent6"/>
                </a:solidFill>
              </a:rPr>
              <a:t>s1,s2,s4</a:t>
            </a:r>
          </a:p>
        </p:txBody>
      </p:sp>
      <p:sp>
        <p:nvSpPr>
          <p:cNvPr id="430" name="TextBox 429">
            <a:extLst>
              <a:ext uri="{FF2B5EF4-FFF2-40B4-BE49-F238E27FC236}">
                <a16:creationId xmlns:a16="http://schemas.microsoft.com/office/drawing/2014/main" id="{5D5A415D-0EA8-51B0-4D97-EF8A157E75E6}"/>
              </a:ext>
            </a:extLst>
          </p:cNvPr>
          <p:cNvSpPr txBox="1"/>
          <p:nvPr/>
        </p:nvSpPr>
        <p:spPr>
          <a:xfrm>
            <a:off x="5696841" y="1663695"/>
            <a:ext cx="29687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dirty="0">
                <a:solidFill>
                  <a:srgbClr val="FF0000"/>
                </a:solidFill>
              </a:rPr>
              <a:t>V1</a:t>
            </a:r>
          </a:p>
        </p:txBody>
      </p:sp>
      <p:sp>
        <p:nvSpPr>
          <p:cNvPr id="432" name="TextBox 431">
            <a:extLst>
              <a:ext uri="{FF2B5EF4-FFF2-40B4-BE49-F238E27FC236}">
                <a16:creationId xmlns:a16="http://schemas.microsoft.com/office/drawing/2014/main" id="{298EC57F-71B3-A0E2-357E-E3DC870BB766}"/>
              </a:ext>
            </a:extLst>
          </p:cNvPr>
          <p:cNvSpPr txBox="1"/>
          <p:nvPr/>
        </p:nvSpPr>
        <p:spPr>
          <a:xfrm>
            <a:off x="7913756" y="1262732"/>
            <a:ext cx="29687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dirty="0">
                <a:solidFill>
                  <a:srgbClr val="FF0000"/>
                </a:solidFill>
              </a:rPr>
              <a:t>V3</a:t>
            </a:r>
          </a:p>
        </p:txBody>
      </p:sp>
      <p:sp>
        <p:nvSpPr>
          <p:cNvPr id="433" name="TextBox 432">
            <a:extLst>
              <a:ext uri="{FF2B5EF4-FFF2-40B4-BE49-F238E27FC236}">
                <a16:creationId xmlns:a16="http://schemas.microsoft.com/office/drawing/2014/main" id="{452617EA-6918-90CB-500E-BB1E3C002D81}"/>
              </a:ext>
            </a:extLst>
          </p:cNvPr>
          <p:cNvSpPr txBox="1"/>
          <p:nvPr/>
        </p:nvSpPr>
        <p:spPr>
          <a:xfrm>
            <a:off x="5981270" y="2323007"/>
            <a:ext cx="29687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dirty="0">
                <a:solidFill>
                  <a:srgbClr val="FF0000"/>
                </a:solidFill>
              </a:rPr>
              <a:t>V3</a:t>
            </a:r>
          </a:p>
        </p:txBody>
      </p:sp>
      <p:sp>
        <p:nvSpPr>
          <p:cNvPr id="434" name="TextBox 433">
            <a:extLst>
              <a:ext uri="{FF2B5EF4-FFF2-40B4-BE49-F238E27FC236}">
                <a16:creationId xmlns:a16="http://schemas.microsoft.com/office/drawing/2014/main" id="{D6C42FEA-EC91-E9FF-4B06-35BEB43F164F}"/>
              </a:ext>
            </a:extLst>
          </p:cNvPr>
          <p:cNvSpPr txBox="1"/>
          <p:nvPr/>
        </p:nvSpPr>
        <p:spPr>
          <a:xfrm>
            <a:off x="3436371" y="1940245"/>
            <a:ext cx="29687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dirty="0">
                <a:solidFill>
                  <a:srgbClr val="FF0000"/>
                </a:solidFill>
              </a:rPr>
              <a:t>V4</a:t>
            </a:r>
          </a:p>
        </p:txBody>
      </p:sp>
      <p:grpSp>
        <p:nvGrpSpPr>
          <p:cNvPr id="494" name="Group 493">
            <a:extLst>
              <a:ext uri="{FF2B5EF4-FFF2-40B4-BE49-F238E27FC236}">
                <a16:creationId xmlns:a16="http://schemas.microsoft.com/office/drawing/2014/main" id="{4371270A-118C-E505-5A09-02641932D17C}"/>
              </a:ext>
            </a:extLst>
          </p:cNvPr>
          <p:cNvGrpSpPr/>
          <p:nvPr/>
        </p:nvGrpSpPr>
        <p:grpSpPr>
          <a:xfrm>
            <a:off x="6680618" y="5030528"/>
            <a:ext cx="1419760" cy="514952"/>
            <a:chOff x="5168929" y="5078572"/>
            <a:chExt cx="1419760" cy="514952"/>
          </a:xfrm>
        </p:grpSpPr>
        <p:sp>
          <p:nvSpPr>
            <p:cNvPr id="448" name="Rectangle 447">
              <a:extLst>
                <a:ext uri="{FF2B5EF4-FFF2-40B4-BE49-F238E27FC236}">
                  <a16:creationId xmlns:a16="http://schemas.microsoft.com/office/drawing/2014/main" id="{9972E284-823A-9F98-356F-6137B956ACE6}"/>
                </a:ext>
              </a:extLst>
            </p:cNvPr>
            <p:cNvSpPr/>
            <p:nvPr/>
          </p:nvSpPr>
          <p:spPr>
            <a:xfrm>
              <a:off x="5329305" y="5194131"/>
              <a:ext cx="1259384" cy="399393"/>
            </a:xfrm>
            <a:prstGeom prst="rect">
              <a:avLst/>
            </a:pr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i="1">
                  <a:solidFill>
                    <a:srgbClr val="1C283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GCC/Agreement docs team's rules engine covers eligibility rules</a:t>
              </a:r>
              <a:endParaRPr lang="en-US" sz="800"/>
            </a:p>
          </p:txBody>
        </p:sp>
        <p:pic>
          <p:nvPicPr>
            <p:cNvPr id="449" name="Picture 448">
              <a:extLst>
                <a:ext uri="{FF2B5EF4-FFF2-40B4-BE49-F238E27FC236}">
                  <a16:creationId xmlns:a16="http://schemas.microsoft.com/office/drawing/2014/main" id="{AB05E167-1C85-7426-0D50-F03DF170F1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168929" y="5078572"/>
              <a:ext cx="322069" cy="298430"/>
            </a:xfrm>
            <a:prstGeom prst="rect">
              <a:avLst/>
            </a:prstGeom>
          </p:spPr>
        </p:pic>
      </p:grpSp>
      <p:cxnSp>
        <p:nvCxnSpPr>
          <p:cNvPr id="458" name="Straight Arrow Connector 457">
            <a:extLst>
              <a:ext uri="{FF2B5EF4-FFF2-40B4-BE49-F238E27FC236}">
                <a16:creationId xmlns:a16="http://schemas.microsoft.com/office/drawing/2014/main" id="{253FB3AB-DFA2-1556-D212-2518D10DDD1B}"/>
              </a:ext>
            </a:extLst>
          </p:cNvPr>
          <p:cNvCxnSpPr>
            <a:cxnSpLocks/>
          </p:cNvCxnSpPr>
          <p:nvPr/>
        </p:nvCxnSpPr>
        <p:spPr>
          <a:xfrm flipV="1">
            <a:off x="7305018" y="3779385"/>
            <a:ext cx="15502" cy="1320104"/>
          </a:xfrm>
          <a:prstGeom prst="straightConnector1">
            <a:avLst/>
          </a:prstGeom>
          <a:ln w="9525">
            <a:solidFill>
              <a:srgbClr val="00B0F0"/>
            </a:solidFill>
            <a:headEnd type="triangle" w="med" len="med"/>
            <a:tailEnd type="triangl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462" name="TextBox 461">
            <a:extLst>
              <a:ext uri="{FF2B5EF4-FFF2-40B4-BE49-F238E27FC236}">
                <a16:creationId xmlns:a16="http://schemas.microsoft.com/office/drawing/2014/main" id="{6E6A93F2-16A5-D01D-CA9E-982693C789FA}"/>
              </a:ext>
            </a:extLst>
          </p:cNvPr>
          <p:cNvSpPr txBox="1"/>
          <p:nvPr/>
        </p:nvSpPr>
        <p:spPr>
          <a:xfrm>
            <a:off x="7155805" y="4189113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X</a:t>
            </a:r>
          </a:p>
        </p:txBody>
      </p:sp>
      <p:grpSp>
        <p:nvGrpSpPr>
          <p:cNvPr id="501" name="Group 500">
            <a:extLst>
              <a:ext uri="{FF2B5EF4-FFF2-40B4-BE49-F238E27FC236}">
                <a16:creationId xmlns:a16="http://schemas.microsoft.com/office/drawing/2014/main" id="{7B785815-E06C-8327-0627-639897740011}"/>
              </a:ext>
            </a:extLst>
          </p:cNvPr>
          <p:cNvGrpSpPr/>
          <p:nvPr/>
        </p:nvGrpSpPr>
        <p:grpSpPr>
          <a:xfrm>
            <a:off x="26404" y="4767232"/>
            <a:ext cx="1058596" cy="461665"/>
            <a:chOff x="14201" y="4905579"/>
            <a:chExt cx="1058596" cy="461665"/>
          </a:xfrm>
        </p:grpSpPr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2AB06C80-9712-6B54-0DFC-87AF508ED10F}"/>
                </a:ext>
              </a:extLst>
            </p:cNvPr>
            <p:cNvSpPr txBox="1"/>
            <p:nvPr/>
          </p:nvSpPr>
          <p:spPr>
            <a:xfrm>
              <a:off x="14201" y="4905579"/>
              <a:ext cx="10585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i="1" dirty="0">
                  <a:solidFill>
                    <a:srgbClr val="1C283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BNY (BONY) — trusted source for CSA eligibility</a:t>
              </a:r>
              <a:endParaRPr lang="en-US" sz="800" dirty="0"/>
            </a:p>
          </p:txBody>
        </p:sp>
        <p:sp>
          <p:nvSpPr>
            <p:cNvPr id="468" name="TextBox 467">
              <a:extLst>
                <a:ext uri="{FF2B5EF4-FFF2-40B4-BE49-F238E27FC236}">
                  <a16:creationId xmlns:a16="http://schemas.microsoft.com/office/drawing/2014/main" id="{DA8EDB0F-1EDF-1233-5300-9A20D0396886}"/>
                </a:ext>
              </a:extLst>
            </p:cNvPr>
            <p:cNvSpPr txBox="1"/>
            <p:nvPr/>
          </p:nvSpPr>
          <p:spPr>
            <a:xfrm>
              <a:off x="640686" y="4921326"/>
              <a:ext cx="28886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b="1" dirty="0">
                  <a:solidFill>
                    <a:srgbClr val="00B050"/>
                  </a:solidFill>
                </a:rPr>
                <a:t>s6</a:t>
              </a:r>
            </a:p>
          </p:txBody>
        </p:sp>
      </p:grpSp>
      <p:sp>
        <p:nvSpPr>
          <p:cNvPr id="469" name="TextBox 468">
            <a:extLst>
              <a:ext uri="{FF2B5EF4-FFF2-40B4-BE49-F238E27FC236}">
                <a16:creationId xmlns:a16="http://schemas.microsoft.com/office/drawing/2014/main" id="{7AB67A76-9B1D-6F0B-E113-D63C329F000A}"/>
              </a:ext>
            </a:extLst>
          </p:cNvPr>
          <p:cNvSpPr txBox="1"/>
          <p:nvPr/>
        </p:nvSpPr>
        <p:spPr>
          <a:xfrm>
            <a:off x="2051618" y="2945433"/>
            <a:ext cx="28886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solidFill>
                  <a:srgbClr val="00B050"/>
                </a:solidFill>
              </a:rPr>
              <a:t>s3</a:t>
            </a:r>
          </a:p>
        </p:txBody>
      </p:sp>
      <p:grpSp>
        <p:nvGrpSpPr>
          <p:cNvPr id="502" name="Group 501">
            <a:extLst>
              <a:ext uri="{FF2B5EF4-FFF2-40B4-BE49-F238E27FC236}">
                <a16:creationId xmlns:a16="http://schemas.microsoft.com/office/drawing/2014/main" id="{AD495EC5-24F7-5D1A-5F2C-7CFE95C8DEA7}"/>
              </a:ext>
            </a:extLst>
          </p:cNvPr>
          <p:cNvGrpSpPr/>
          <p:nvPr/>
        </p:nvGrpSpPr>
        <p:grpSpPr>
          <a:xfrm>
            <a:off x="3976" y="5337640"/>
            <a:ext cx="970910" cy="347343"/>
            <a:chOff x="26250" y="5598150"/>
            <a:chExt cx="970910" cy="347343"/>
          </a:xfrm>
        </p:grpSpPr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DEDF4610-1C41-AA7D-B54A-E489FBCA1E5C}"/>
                </a:ext>
              </a:extLst>
            </p:cNvPr>
            <p:cNvSpPr txBox="1"/>
            <p:nvPr/>
          </p:nvSpPr>
          <p:spPr>
            <a:xfrm>
              <a:off x="26250" y="5598150"/>
              <a:ext cx="927825" cy="3473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XTP File</a:t>
              </a:r>
            </a:p>
            <a:p>
              <a:r>
                <a:rPr lang="en-US" sz="800" dirty="0"/>
                <a:t>(JPMC/UBS)  </a:t>
              </a:r>
            </a:p>
          </p:txBody>
        </p:sp>
        <p:sp>
          <p:nvSpPr>
            <p:cNvPr id="470" name="TextBox 469">
              <a:extLst>
                <a:ext uri="{FF2B5EF4-FFF2-40B4-BE49-F238E27FC236}">
                  <a16:creationId xmlns:a16="http://schemas.microsoft.com/office/drawing/2014/main" id="{CC0F49A3-B959-86C6-E957-71A8862AF93D}"/>
                </a:ext>
              </a:extLst>
            </p:cNvPr>
            <p:cNvSpPr txBox="1"/>
            <p:nvPr/>
          </p:nvSpPr>
          <p:spPr>
            <a:xfrm>
              <a:off x="708298" y="5671345"/>
              <a:ext cx="28886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b="1" dirty="0">
                  <a:solidFill>
                    <a:srgbClr val="00B050"/>
                  </a:solidFill>
                </a:rPr>
                <a:t>s7</a:t>
              </a:r>
            </a:p>
          </p:txBody>
        </p:sp>
      </p:grpSp>
      <p:sp>
        <p:nvSpPr>
          <p:cNvPr id="476" name="Frame 475">
            <a:extLst>
              <a:ext uri="{FF2B5EF4-FFF2-40B4-BE49-F238E27FC236}">
                <a16:creationId xmlns:a16="http://schemas.microsoft.com/office/drawing/2014/main" id="{24F7C7D1-A7D0-5EA5-26AD-75698CA86EAD}"/>
              </a:ext>
            </a:extLst>
          </p:cNvPr>
          <p:cNvSpPr/>
          <p:nvPr/>
        </p:nvSpPr>
        <p:spPr>
          <a:xfrm>
            <a:off x="2999918" y="4675134"/>
            <a:ext cx="1593872" cy="1176408"/>
          </a:xfrm>
          <a:prstGeom prst="frame">
            <a:avLst>
              <a:gd name="adj1" fmla="val 6485"/>
            </a:avLst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490" name="Straight Arrow Connector 489">
            <a:extLst>
              <a:ext uri="{FF2B5EF4-FFF2-40B4-BE49-F238E27FC236}">
                <a16:creationId xmlns:a16="http://schemas.microsoft.com/office/drawing/2014/main" id="{F53131CB-0ABC-6CC7-29DB-BEC392EAD887}"/>
              </a:ext>
            </a:extLst>
          </p:cNvPr>
          <p:cNvCxnSpPr>
            <a:cxnSpLocks/>
          </p:cNvCxnSpPr>
          <p:nvPr/>
        </p:nvCxnSpPr>
        <p:spPr>
          <a:xfrm>
            <a:off x="4633598" y="4856925"/>
            <a:ext cx="524955" cy="0"/>
          </a:xfrm>
          <a:prstGeom prst="straightConnector1">
            <a:avLst/>
          </a:prstGeom>
          <a:ln>
            <a:solidFill>
              <a:srgbClr val="00B0F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8" name="TextBox 497">
            <a:extLst>
              <a:ext uri="{FF2B5EF4-FFF2-40B4-BE49-F238E27FC236}">
                <a16:creationId xmlns:a16="http://schemas.microsoft.com/office/drawing/2014/main" id="{E8203021-759D-5EF9-4254-86F7B3EC3148}"/>
              </a:ext>
            </a:extLst>
          </p:cNvPr>
          <p:cNvSpPr txBox="1"/>
          <p:nvPr/>
        </p:nvSpPr>
        <p:spPr>
          <a:xfrm>
            <a:off x="7327945" y="5625242"/>
            <a:ext cx="29687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solidFill>
                  <a:srgbClr val="00B050"/>
                </a:solidFill>
              </a:rPr>
              <a:t>S6</a:t>
            </a:r>
          </a:p>
        </p:txBody>
      </p:sp>
      <p:cxnSp>
        <p:nvCxnSpPr>
          <p:cNvPr id="503" name="Elbow Connector 502">
            <a:extLst>
              <a:ext uri="{FF2B5EF4-FFF2-40B4-BE49-F238E27FC236}">
                <a16:creationId xmlns:a16="http://schemas.microsoft.com/office/drawing/2014/main" id="{0DA93719-5802-0652-8512-67278509AF69}"/>
              </a:ext>
            </a:extLst>
          </p:cNvPr>
          <p:cNvCxnSpPr>
            <a:cxnSpLocks/>
          </p:cNvCxnSpPr>
          <p:nvPr/>
        </p:nvCxnSpPr>
        <p:spPr>
          <a:xfrm>
            <a:off x="980233" y="5050426"/>
            <a:ext cx="1989868" cy="366111"/>
          </a:xfrm>
          <a:prstGeom prst="bentConnector3">
            <a:avLst>
              <a:gd name="adj1" fmla="val 17252"/>
            </a:avLst>
          </a:prstGeom>
          <a:ln w="127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8" name="TextBox 507">
            <a:extLst>
              <a:ext uri="{FF2B5EF4-FFF2-40B4-BE49-F238E27FC236}">
                <a16:creationId xmlns:a16="http://schemas.microsoft.com/office/drawing/2014/main" id="{63CDCB49-6396-D46E-3313-2229F20E8EFF}"/>
              </a:ext>
            </a:extLst>
          </p:cNvPr>
          <p:cNvSpPr txBox="1"/>
          <p:nvPr/>
        </p:nvSpPr>
        <p:spPr>
          <a:xfrm>
            <a:off x="2648707" y="2563094"/>
            <a:ext cx="4860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7030A0"/>
                </a:solidFill>
              </a:rPr>
              <a:t>TBSM</a:t>
            </a:r>
          </a:p>
        </p:txBody>
      </p:sp>
      <p:sp>
        <p:nvSpPr>
          <p:cNvPr id="509" name="TextBox 508">
            <a:extLst>
              <a:ext uri="{FF2B5EF4-FFF2-40B4-BE49-F238E27FC236}">
                <a16:creationId xmlns:a16="http://schemas.microsoft.com/office/drawing/2014/main" id="{01EF31AE-ADA3-3294-54A0-64454DEA693F}"/>
              </a:ext>
            </a:extLst>
          </p:cNvPr>
          <p:cNvSpPr txBox="1"/>
          <p:nvPr/>
        </p:nvSpPr>
        <p:spPr>
          <a:xfrm>
            <a:off x="2723959" y="2806214"/>
            <a:ext cx="60625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itchFamily="2" charset="2"/>
              <a:buChar char="Ø"/>
            </a:pPr>
            <a:r>
              <a:rPr lang="en-US" sz="900" dirty="0">
                <a:solidFill>
                  <a:srgbClr val="7030A0"/>
                </a:solidFill>
              </a:rPr>
              <a:t>Oasis</a:t>
            </a:r>
          </a:p>
        </p:txBody>
      </p:sp>
      <p:sp>
        <p:nvSpPr>
          <p:cNvPr id="510" name="TextBox 509">
            <a:extLst>
              <a:ext uri="{FF2B5EF4-FFF2-40B4-BE49-F238E27FC236}">
                <a16:creationId xmlns:a16="http://schemas.microsoft.com/office/drawing/2014/main" id="{369071ED-6E92-7B30-32EE-D076FBFF39E7}"/>
              </a:ext>
            </a:extLst>
          </p:cNvPr>
          <p:cNvSpPr txBox="1"/>
          <p:nvPr/>
        </p:nvSpPr>
        <p:spPr>
          <a:xfrm>
            <a:off x="2723959" y="2984276"/>
            <a:ext cx="63190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itchFamily="2" charset="2"/>
              <a:buChar char="Ø"/>
            </a:pPr>
            <a:r>
              <a:rPr lang="en-US" sz="900" dirty="0">
                <a:solidFill>
                  <a:srgbClr val="7030A0"/>
                </a:solidFill>
              </a:rPr>
              <a:t>LAMP</a:t>
            </a:r>
          </a:p>
        </p:txBody>
      </p:sp>
      <p:sp>
        <p:nvSpPr>
          <p:cNvPr id="519" name="Rectangle 518">
            <a:extLst>
              <a:ext uri="{FF2B5EF4-FFF2-40B4-BE49-F238E27FC236}">
                <a16:creationId xmlns:a16="http://schemas.microsoft.com/office/drawing/2014/main" id="{8B8241B9-8577-F03B-DC36-26F18C537448}"/>
              </a:ext>
            </a:extLst>
          </p:cNvPr>
          <p:cNvSpPr/>
          <p:nvPr/>
        </p:nvSpPr>
        <p:spPr>
          <a:xfrm>
            <a:off x="2464502" y="1504321"/>
            <a:ext cx="962294" cy="798248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8" name="Elbow Connector 317">
            <a:extLst>
              <a:ext uri="{FF2B5EF4-FFF2-40B4-BE49-F238E27FC236}">
                <a16:creationId xmlns:a16="http://schemas.microsoft.com/office/drawing/2014/main" id="{74B1469F-0280-09F7-D41D-13083DF6CA5D}"/>
              </a:ext>
            </a:extLst>
          </p:cNvPr>
          <p:cNvCxnSpPr>
            <a:cxnSpLocks/>
          </p:cNvCxnSpPr>
          <p:nvPr/>
        </p:nvCxnSpPr>
        <p:spPr>
          <a:xfrm flipV="1">
            <a:off x="2395653" y="1997484"/>
            <a:ext cx="1631365" cy="244505"/>
          </a:xfrm>
          <a:prstGeom prst="bentConnector3">
            <a:avLst>
              <a:gd name="adj1" fmla="val 50000"/>
            </a:avLst>
          </a:prstGeom>
          <a:ln w="9525">
            <a:solidFill>
              <a:srgbClr val="00B05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8" name="Elbow Connector 407">
            <a:extLst>
              <a:ext uri="{FF2B5EF4-FFF2-40B4-BE49-F238E27FC236}">
                <a16:creationId xmlns:a16="http://schemas.microsoft.com/office/drawing/2014/main" id="{DDE56161-5555-6FFB-487B-6E66F9FD86C3}"/>
              </a:ext>
            </a:extLst>
          </p:cNvPr>
          <p:cNvCxnSpPr>
            <a:cxnSpLocks/>
          </p:cNvCxnSpPr>
          <p:nvPr/>
        </p:nvCxnSpPr>
        <p:spPr>
          <a:xfrm>
            <a:off x="2421657" y="1547495"/>
            <a:ext cx="1632411" cy="324014"/>
          </a:xfrm>
          <a:prstGeom prst="bentConnector3">
            <a:avLst/>
          </a:prstGeom>
          <a:ln w="952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0" name="TextBox 529">
            <a:extLst>
              <a:ext uri="{FF2B5EF4-FFF2-40B4-BE49-F238E27FC236}">
                <a16:creationId xmlns:a16="http://schemas.microsoft.com/office/drawing/2014/main" id="{8D139930-11C0-96CC-D2B2-FBEC5065D51A}"/>
              </a:ext>
            </a:extLst>
          </p:cNvPr>
          <p:cNvSpPr txBox="1"/>
          <p:nvPr/>
        </p:nvSpPr>
        <p:spPr>
          <a:xfrm>
            <a:off x="2413609" y="4758897"/>
            <a:ext cx="28886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solidFill>
                  <a:srgbClr val="00B050"/>
                </a:solidFill>
              </a:rPr>
              <a:t>s3</a:t>
            </a:r>
          </a:p>
        </p:txBody>
      </p:sp>
      <p:grpSp>
        <p:nvGrpSpPr>
          <p:cNvPr id="543" name="Group 542">
            <a:extLst>
              <a:ext uri="{FF2B5EF4-FFF2-40B4-BE49-F238E27FC236}">
                <a16:creationId xmlns:a16="http://schemas.microsoft.com/office/drawing/2014/main" id="{9845E00B-0E7A-B0E9-5644-59ABE0BA4EA9}"/>
              </a:ext>
            </a:extLst>
          </p:cNvPr>
          <p:cNvGrpSpPr/>
          <p:nvPr/>
        </p:nvGrpSpPr>
        <p:grpSpPr>
          <a:xfrm>
            <a:off x="1219078" y="4373974"/>
            <a:ext cx="1135947" cy="230832"/>
            <a:chOff x="1217131" y="4312596"/>
            <a:chExt cx="1135947" cy="230832"/>
          </a:xfrm>
        </p:grpSpPr>
        <p:sp>
          <p:nvSpPr>
            <p:cNvPr id="266" name="Shape 5">
              <a:extLst>
                <a:ext uri="{FF2B5EF4-FFF2-40B4-BE49-F238E27FC236}">
                  <a16:creationId xmlns:a16="http://schemas.microsoft.com/office/drawing/2014/main" id="{C798D061-4303-1E52-0B10-E4B6E4635702}"/>
                </a:ext>
              </a:extLst>
            </p:cNvPr>
            <p:cNvSpPr/>
            <p:nvPr/>
          </p:nvSpPr>
          <p:spPr>
            <a:xfrm>
              <a:off x="1217131" y="4354078"/>
              <a:ext cx="1135947" cy="173916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1F7A47"/>
              </a:solidFill>
              <a:prstDash val="solid"/>
            </a:ln>
          </p:spPr>
          <p:txBody>
            <a:bodyPr anchor="ctr"/>
            <a:lstStyle/>
            <a:p>
              <a:r>
                <a:rPr lang="en-US" sz="900" dirty="0"/>
                <a:t>ANVIL/NAPE</a:t>
              </a:r>
            </a:p>
          </p:txBody>
        </p:sp>
        <p:sp>
          <p:nvSpPr>
            <p:cNvPr id="540" name="TextBox 539">
              <a:extLst>
                <a:ext uri="{FF2B5EF4-FFF2-40B4-BE49-F238E27FC236}">
                  <a16:creationId xmlns:a16="http://schemas.microsoft.com/office/drawing/2014/main" id="{0C086C1F-F1A9-985D-DBE8-96C3259FB34C}"/>
                </a:ext>
              </a:extLst>
            </p:cNvPr>
            <p:cNvSpPr txBox="1"/>
            <p:nvPr/>
          </p:nvSpPr>
          <p:spPr>
            <a:xfrm>
              <a:off x="2058275" y="4312596"/>
              <a:ext cx="28886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b="1" dirty="0">
                  <a:solidFill>
                    <a:srgbClr val="00B050"/>
                  </a:solidFill>
                </a:rPr>
                <a:t>s5</a:t>
              </a:r>
            </a:p>
          </p:txBody>
        </p:sp>
      </p:grpSp>
      <p:sp>
        <p:nvSpPr>
          <p:cNvPr id="553" name="Shape 20">
            <a:extLst>
              <a:ext uri="{FF2B5EF4-FFF2-40B4-BE49-F238E27FC236}">
                <a16:creationId xmlns:a16="http://schemas.microsoft.com/office/drawing/2014/main" id="{483E0C24-7BFE-5599-0820-3D5D3BD25626}"/>
              </a:ext>
            </a:extLst>
          </p:cNvPr>
          <p:cNvSpPr/>
          <p:nvPr/>
        </p:nvSpPr>
        <p:spPr>
          <a:xfrm>
            <a:off x="977643" y="5599625"/>
            <a:ext cx="1999823" cy="3752"/>
          </a:xfrm>
          <a:prstGeom prst="line">
            <a:avLst/>
          </a:prstGeom>
          <a:noFill/>
          <a:ln w="12700">
            <a:solidFill>
              <a:srgbClr val="00B0F0"/>
            </a:solidFill>
            <a:prstDash val="solid"/>
            <a:tailEnd type="triangle"/>
          </a:ln>
        </p:spPr>
        <p:txBody>
          <a:bodyPr/>
          <a:lstStyle/>
          <a:p>
            <a:endParaRPr lang="en-US" sz="800"/>
          </a:p>
        </p:txBody>
      </p:sp>
      <p:sp>
        <p:nvSpPr>
          <p:cNvPr id="554" name="TextBox 553">
            <a:extLst>
              <a:ext uri="{FF2B5EF4-FFF2-40B4-BE49-F238E27FC236}">
                <a16:creationId xmlns:a16="http://schemas.microsoft.com/office/drawing/2014/main" id="{71527D1A-8019-CCEB-0191-E65BDF31FA37}"/>
              </a:ext>
            </a:extLst>
          </p:cNvPr>
          <p:cNvSpPr txBox="1"/>
          <p:nvPr/>
        </p:nvSpPr>
        <p:spPr>
          <a:xfrm>
            <a:off x="2420526" y="2996748"/>
            <a:ext cx="28886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solidFill>
                  <a:srgbClr val="00B050"/>
                </a:solidFill>
              </a:rPr>
              <a:t>s5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18D98AF-AAC6-F947-36DF-6C8A9D7E24AD}"/>
              </a:ext>
            </a:extLst>
          </p:cNvPr>
          <p:cNvGrpSpPr/>
          <p:nvPr/>
        </p:nvGrpSpPr>
        <p:grpSpPr>
          <a:xfrm>
            <a:off x="7518360" y="3183247"/>
            <a:ext cx="639919" cy="437272"/>
            <a:chOff x="6502248" y="1769557"/>
            <a:chExt cx="639919" cy="437272"/>
          </a:xfrm>
        </p:grpSpPr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B22B5BE9-552E-9EAE-B875-9AD2F4137851}"/>
                </a:ext>
              </a:extLst>
            </p:cNvPr>
            <p:cNvSpPr txBox="1"/>
            <p:nvPr/>
          </p:nvSpPr>
          <p:spPr>
            <a:xfrm>
              <a:off x="6502248" y="1991385"/>
              <a:ext cx="639919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i="1">
                  <a:solidFill>
                    <a:srgbClr val="0070C0"/>
                  </a:solidFill>
                </a:rPr>
                <a:t>Dashboard</a:t>
              </a:r>
            </a:p>
          </p:txBody>
        </p:sp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48CBC46C-98D0-43B3-B3EA-53EE7C03662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duotone>
                <a:prstClr val="black"/>
                <a:schemeClr val="accent5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6669727" y="1769557"/>
              <a:ext cx="304961" cy="271541"/>
            </a:xfrm>
            <a:prstGeom prst="rect">
              <a:avLst/>
            </a:prstGeom>
          </p:spPr>
        </p:pic>
      </p:grpSp>
      <p:cxnSp>
        <p:nvCxnSpPr>
          <p:cNvPr id="570" name="Elbow Connector 569">
            <a:extLst>
              <a:ext uri="{FF2B5EF4-FFF2-40B4-BE49-F238E27FC236}">
                <a16:creationId xmlns:a16="http://schemas.microsoft.com/office/drawing/2014/main" id="{E03FE0C4-87AF-6597-91CB-BFF2819E4905}"/>
              </a:ext>
            </a:extLst>
          </p:cNvPr>
          <p:cNvCxnSpPr>
            <a:cxnSpLocks/>
            <a:stCxn id="423" idx="2"/>
            <a:endCxn id="63" idx="2"/>
          </p:cNvCxnSpPr>
          <p:nvPr/>
        </p:nvCxnSpPr>
        <p:spPr>
          <a:xfrm rot="5400000" flipH="1" flipV="1">
            <a:off x="6518761" y="1712294"/>
            <a:ext cx="90442" cy="3618229"/>
          </a:xfrm>
          <a:prstGeom prst="bentConnector3">
            <a:avLst>
              <a:gd name="adj1" fmla="val -508428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6" name="TextBox 575">
            <a:extLst>
              <a:ext uri="{FF2B5EF4-FFF2-40B4-BE49-F238E27FC236}">
                <a16:creationId xmlns:a16="http://schemas.microsoft.com/office/drawing/2014/main" id="{9EAD5209-7F77-0496-D533-973DD2B640C0}"/>
              </a:ext>
            </a:extLst>
          </p:cNvPr>
          <p:cNvSpPr txBox="1"/>
          <p:nvPr/>
        </p:nvSpPr>
        <p:spPr>
          <a:xfrm>
            <a:off x="5271349" y="3844966"/>
            <a:ext cx="29687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solidFill>
                  <a:srgbClr val="00B050"/>
                </a:solidFill>
              </a:rPr>
              <a:t>S8</a:t>
            </a:r>
          </a:p>
        </p:txBody>
      </p:sp>
      <p:sp>
        <p:nvSpPr>
          <p:cNvPr id="577" name="TextBox 576">
            <a:extLst>
              <a:ext uri="{FF2B5EF4-FFF2-40B4-BE49-F238E27FC236}">
                <a16:creationId xmlns:a16="http://schemas.microsoft.com/office/drawing/2014/main" id="{C28E4552-23AE-80CE-8A9A-E0A7FE50048F}"/>
              </a:ext>
            </a:extLst>
          </p:cNvPr>
          <p:cNvSpPr txBox="1"/>
          <p:nvPr/>
        </p:nvSpPr>
        <p:spPr>
          <a:xfrm>
            <a:off x="3163975" y="3270947"/>
            <a:ext cx="29687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solidFill>
                  <a:srgbClr val="00B050"/>
                </a:solidFill>
              </a:rPr>
              <a:t>S8</a:t>
            </a:r>
          </a:p>
        </p:txBody>
      </p:sp>
      <p:sp>
        <p:nvSpPr>
          <p:cNvPr id="578" name="Oval 577">
            <a:extLst>
              <a:ext uri="{FF2B5EF4-FFF2-40B4-BE49-F238E27FC236}">
                <a16:creationId xmlns:a16="http://schemas.microsoft.com/office/drawing/2014/main" id="{94A92303-5596-FCA6-5777-ED20087ABAC4}"/>
              </a:ext>
            </a:extLst>
          </p:cNvPr>
          <p:cNvSpPr/>
          <p:nvPr/>
        </p:nvSpPr>
        <p:spPr>
          <a:xfrm>
            <a:off x="6740708" y="3951665"/>
            <a:ext cx="94289" cy="13716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9" name="Oval 578">
            <a:extLst>
              <a:ext uri="{FF2B5EF4-FFF2-40B4-BE49-F238E27FC236}">
                <a16:creationId xmlns:a16="http://schemas.microsoft.com/office/drawing/2014/main" id="{18D8CEBE-1E0D-3207-E4DD-3633933AE264}"/>
              </a:ext>
            </a:extLst>
          </p:cNvPr>
          <p:cNvSpPr/>
          <p:nvPr/>
        </p:nvSpPr>
        <p:spPr>
          <a:xfrm>
            <a:off x="7267116" y="3954299"/>
            <a:ext cx="94289" cy="13716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3" name="Shape 20">
            <a:extLst>
              <a:ext uri="{FF2B5EF4-FFF2-40B4-BE49-F238E27FC236}">
                <a16:creationId xmlns:a16="http://schemas.microsoft.com/office/drawing/2014/main" id="{6793795E-A159-484B-1E05-6C98A0E39766}"/>
              </a:ext>
            </a:extLst>
          </p:cNvPr>
          <p:cNvSpPr/>
          <p:nvPr/>
        </p:nvSpPr>
        <p:spPr>
          <a:xfrm>
            <a:off x="3439669" y="3357579"/>
            <a:ext cx="597656" cy="0"/>
          </a:xfrm>
          <a:prstGeom prst="line">
            <a:avLst/>
          </a:prstGeom>
          <a:noFill/>
          <a:ln w="17780">
            <a:solidFill>
              <a:schemeClr val="accent6">
                <a:lumMod val="75000"/>
              </a:schemeClr>
            </a:solidFill>
            <a:prstDash val="solid"/>
            <a:tailEnd type="triangle"/>
          </a:ln>
        </p:spPr>
        <p:txBody>
          <a:bodyPr/>
          <a:lstStyle/>
          <a:p>
            <a:endParaRPr lang="en-US" sz="800"/>
          </a:p>
        </p:txBody>
      </p:sp>
      <p:sp>
        <p:nvSpPr>
          <p:cNvPr id="584" name="TextBox 583">
            <a:extLst>
              <a:ext uri="{FF2B5EF4-FFF2-40B4-BE49-F238E27FC236}">
                <a16:creationId xmlns:a16="http://schemas.microsoft.com/office/drawing/2014/main" id="{9CE1D57D-8B0A-0246-E2FA-48F2F6BE6956}"/>
              </a:ext>
            </a:extLst>
          </p:cNvPr>
          <p:cNvSpPr txBox="1"/>
          <p:nvPr/>
        </p:nvSpPr>
        <p:spPr>
          <a:xfrm>
            <a:off x="5674932" y="3239994"/>
            <a:ext cx="421068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900" i="1" dirty="0">
                <a:solidFill>
                  <a:schemeClr val="bg1">
                    <a:lumMod val="50000"/>
                  </a:schemeClr>
                </a:solidFill>
              </a:rPr>
              <a:t>copy</a:t>
            </a:r>
          </a:p>
        </p:txBody>
      </p:sp>
      <p:grpSp>
        <p:nvGrpSpPr>
          <p:cNvPr id="585" name="Group 584">
            <a:extLst>
              <a:ext uri="{FF2B5EF4-FFF2-40B4-BE49-F238E27FC236}">
                <a16:creationId xmlns:a16="http://schemas.microsoft.com/office/drawing/2014/main" id="{4AC23764-1730-606E-B7F0-2446152766B3}"/>
              </a:ext>
            </a:extLst>
          </p:cNvPr>
          <p:cNvGrpSpPr/>
          <p:nvPr/>
        </p:nvGrpSpPr>
        <p:grpSpPr>
          <a:xfrm>
            <a:off x="10532746" y="1214493"/>
            <a:ext cx="1743915" cy="2851497"/>
            <a:chOff x="10195560" y="577503"/>
            <a:chExt cx="1743915" cy="2851497"/>
          </a:xfrm>
        </p:grpSpPr>
        <p:sp>
          <p:nvSpPr>
            <p:cNvPr id="586" name="Shape 84">
              <a:extLst>
                <a:ext uri="{FF2B5EF4-FFF2-40B4-BE49-F238E27FC236}">
                  <a16:creationId xmlns:a16="http://schemas.microsoft.com/office/drawing/2014/main" id="{2EF2A663-85D3-5D34-8D5B-6865727A6183}"/>
                </a:ext>
              </a:extLst>
            </p:cNvPr>
            <p:cNvSpPr/>
            <p:nvPr/>
          </p:nvSpPr>
          <p:spPr>
            <a:xfrm>
              <a:off x="10241279" y="585216"/>
              <a:ext cx="1367521" cy="255772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1C283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7" name="Text 85">
              <a:extLst>
                <a:ext uri="{FF2B5EF4-FFF2-40B4-BE49-F238E27FC236}">
                  <a16:creationId xmlns:a16="http://schemas.microsoft.com/office/drawing/2014/main" id="{E9016657-503C-716C-B2F7-E5937AA6A7A1}"/>
                </a:ext>
              </a:extLst>
            </p:cNvPr>
            <p:cNvSpPr/>
            <p:nvPr/>
          </p:nvSpPr>
          <p:spPr>
            <a:xfrm>
              <a:off x="10202115" y="577503"/>
              <a:ext cx="1737360" cy="146304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buNone/>
              </a:pPr>
              <a:r>
                <a:rPr lang="en-US" sz="750" b="1" dirty="0">
                  <a:solidFill>
                    <a:srgbClr val="1C283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Risk Produced Data</a:t>
              </a:r>
              <a:endParaRPr lang="en-US" sz="750" dirty="0"/>
            </a:p>
          </p:txBody>
        </p:sp>
        <p:sp>
          <p:nvSpPr>
            <p:cNvPr id="588" name="Text 86">
              <a:extLst>
                <a:ext uri="{FF2B5EF4-FFF2-40B4-BE49-F238E27FC236}">
                  <a16:creationId xmlns:a16="http://schemas.microsoft.com/office/drawing/2014/main" id="{B3AE0AB5-A906-50B3-35F1-16D43D46CA7C}"/>
                </a:ext>
              </a:extLst>
            </p:cNvPr>
            <p:cNvSpPr/>
            <p:nvPr/>
          </p:nvSpPr>
          <p:spPr>
            <a:xfrm>
              <a:off x="10195560" y="795528"/>
              <a:ext cx="1536816" cy="16916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171450" indent="-171450">
                <a:lnSpc>
                  <a:spcPts val="720"/>
                </a:lnSpc>
                <a:spcAft>
                  <a:spcPts val="120"/>
                </a:spcAft>
                <a:buSzPct val="100000"/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rgbClr val="0E3D2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Valuations</a:t>
              </a:r>
            </a:p>
            <a:p>
              <a:pPr marL="628650" lvl="1" indent="-171450">
                <a:lnSpc>
                  <a:spcPts val="720"/>
                </a:lnSpc>
                <a:spcAft>
                  <a:spcPts val="120"/>
                </a:spcAft>
                <a:buSzPct val="100000"/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rgbClr val="0E3D2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EOD  OTC</a:t>
              </a:r>
              <a:endParaRPr lang="en-US" sz="800" dirty="0"/>
            </a:p>
            <a:p>
              <a:pPr marL="628650" lvl="1" indent="-171450">
                <a:lnSpc>
                  <a:spcPts val="720"/>
                </a:lnSpc>
                <a:spcAft>
                  <a:spcPts val="120"/>
                </a:spcAft>
                <a:buSzPct val="100000"/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rgbClr val="0E3D2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Intra-day</a:t>
              </a:r>
            </a:p>
            <a:p>
              <a:pPr marL="628650" lvl="1" indent="-171450">
                <a:lnSpc>
                  <a:spcPts val="720"/>
                </a:lnSpc>
                <a:spcAft>
                  <a:spcPts val="120"/>
                </a:spcAft>
                <a:buSzPct val="100000"/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rgbClr val="0E3D29"/>
                  </a:solidFill>
                  <a:latin typeface="Calibri" pitchFamily="34" charset="0"/>
                  <a:cs typeface="Calibri" pitchFamily="34" charset="-120"/>
                </a:rPr>
                <a:t>Aggregated</a:t>
              </a:r>
              <a:endParaRPr lang="en-US" sz="800" dirty="0"/>
            </a:p>
            <a:p>
              <a:pPr marL="171450" indent="-171450">
                <a:lnSpc>
                  <a:spcPts val="720"/>
                </a:lnSpc>
                <a:spcAft>
                  <a:spcPts val="120"/>
                </a:spcAft>
                <a:buSzPct val="100000"/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rgbClr val="0E3D2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Sensitivities</a:t>
              </a:r>
              <a:endParaRPr lang="en-US" sz="800" dirty="0"/>
            </a:p>
            <a:p>
              <a:pPr marL="171450" indent="-171450">
                <a:lnSpc>
                  <a:spcPts val="720"/>
                </a:lnSpc>
                <a:spcAft>
                  <a:spcPts val="120"/>
                </a:spcAft>
                <a:buSzPct val="100000"/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rgbClr val="0E3D2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Collateral (OTC) – Reports</a:t>
              </a:r>
              <a:endParaRPr lang="en-US" sz="800" dirty="0"/>
            </a:p>
            <a:p>
              <a:pPr marL="171450" indent="-171450">
                <a:lnSpc>
                  <a:spcPts val="720"/>
                </a:lnSpc>
                <a:spcAft>
                  <a:spcPts val="120"/>
                </a:spcAft>
                <a:buSzPct val="100000"/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rgbClr val="0E3D2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Exposure Reports</a:t>
              </a:r>
              <a:endParaRPr lang="en-US" sz="800" dirty="0"/>
            </a:p>
            <a:p>
              <a:pPr marL="171450" indent="-171450">
                <a:lnSpc>
                  <a:spcPts val="720"/>
                </a:lnSpc>
                <a:spcAft>
                  <a:spcPts val="120"/>
                </a:spcAft>
                <a:buSzPct val="100000"/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rgbClr val="0E3D2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Agreement – Reports</a:t>
              </a:r>
            </a:p>
            <a:p>
              <a:pPr marL="628650" lvl="1" indent="-171450">
                <a:lnSpc>
                  <a:spcPts val="720"/>
                </a:lnSpc>
                <a:spcAft>
                  <a:spcPts val="120"/>
                </a:spcAft>
                <a:buSzPct val="100000"/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rgbClr val="0E3D29"/>
                  </a:solidFill>
                  <a:latin typeface="Calibri" pitchFamily="34" charset="0"/>
                  <a:cs typeface="Calibri" pitchFamily="34" charset="-120"/>
                </a:rPr>
                <a:t>Eligibility Rules</a:t>
              </a:r>
              <a:endParaRPr lang="en-US" sz="800" dirty="0"/>
            </a:p>
            <a:p>
              <a:pPr marL="171450" indent="-171450">
                <a:lnSpc>
                  <a:spcPts val="720"/>
                </a:lnSpc>
                <a:spcAft>
                  <a:spcPts val="120"/>
                </a:spcAft>
                <a:buSzPct val="100000"/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rgbClr val="0E3D2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Liquidity Risk Reports</a:t>
              </a:r>
              <a:endParaRPr lang="en-US" sz="800" dirty="0"/>
            </a:p>
          </p:txBody>
        </p:sp>
        <p:sp>
          <p:nvSpPr>
            <p:cNvPr id="589" name="Text 87">
              <a:extLst>
                <a:ext uri="{FF2B5EF4-FFF2-40B4-BE49-F238E27FC236}">
                  <a16:creationId xmlns:a16="http://schemas.microsoft.com/office/drawing/2014/main" id="{ADF2F0FB-8B8C-F45D-101F-3AD3205C989C}"/>
                </a:ext>
              </a:extLst>
            </p:cNvPr>
            <p:cNvSpPr/>
            <p:nvPr/>
          </p:nvSpPr>
          <p:spPr>
            <a:xfrm>
              <a:off x="10195560" y="3063240"/>
              <a:ext cx="1737360" cy="3657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lnSpc>
                  <a:spcPts val="760"/>
                </a:lnSpc>
                <a:buNone/>
              </a:pPr>
              <a:endParaRPr lang="en-US" sz="630" dirty="0"/>
            </a:p>
          </p:txBody>
        </p:sp>
      </p:grpSp>
      <p:sp>
        <p:nvSpPr>
          <p:cNvPr id="590" name="Right Arrow 589">
            <a:extLst>
              <a:ext uri="{FF2B5EF4-FFF2-40B4-BE49-F238E27FC236}">
                <a16:creationId xmlns:a16="http://schemas.microsoft.com/office/drawing/2014/main" id="{AAA16DDA-6943-3D3B-9751-D74AC289BE86}"/>
              </a:ext>
            </a:extLst>
          </p:cNvPr>
          <p:cNvSpPr/>
          <p:nvPr/>
        </p:nvSpPr>
        <p:spPr>
          <a:xfrm>
            <a:off x="10294138" y="2278046"/>
            <a:ext cx="244858" cy="198101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2" name="Straight Arrow Connector 591">
            <a:extLst>
              <a:ext uri="{FF2B5EF4-FFF2-40B4-BE49-F238E27FC236}">
                <a16:creationId xmlns:a16="http://schemas.microsoft.com/office/drawing/2014/main" id="{BADE1E0B-2924-39A2-8474-74EC1324CA14}"/>
              </a:ext>
            </a:extLst>
          </p:cNvPr>
          <p:cNvCxnSpPr/>
          <p:nvPr/>
        </p:nvCxnSpPr>
        <p:spPr>
          <a:xfrm>
            <a:off x="11188121" y="3882789"/>
            <a:ext cx="0" cy="2627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4" name="TextBox 593">
            <a:extLst>
              <a:ext uri="{FF2B5EF4-FFF2-40B4-BE49-F238E27FC236}">
                <a16:creationId xmlns:a16="http://schemas.microsoft.com/office/drawing/2014/main" id="{400FF9ED-3C4B-B8DC-7779-7383483E216B}"/>
              </a:ext>
            </a:extLst>
          </p:cNvPr>
          <p:cNvSpPr txBox="1"/>
          <p:nvPr/>
        </p:nvSpPr>
        <p:spPr>
          <a:xfrm>
            <a:off x="9618642" y="4376088"/>
            <a:ext cx="3129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rgbClr val="00B050"/>
                </a:solidFill>
              </a:rPr>
              <a:t>s3</a:t>
            </a:r>
          </a:p>
        </p:txBody>
      </p:sp>
      <p:cxnSp>
        <p:nvCxnSpPr>
          <p:cNvPr id="596" name="Straight Arrow Connector 595">
            <a:extLst>
              <a:ext uri="{FF2B5EF4-FFF2-40B4-BE49-F238E27FC236}">
                <a16:creationId xmlns:a16="http://schemas.microsoft.com/office/drawing/2014/main" id="{2CA981E8-89DB-D5D6-F570-80C9CC3F956D}"/>
              </a:ext>
            </a:extLst>
          </p:cNvPr>
          <p:cNvCxnSpPr/>
          <p:nvPr/>
        </p:nvCxnSpPr>
        <p:spPr>
          <a:xfrm>
            <a:off x="9998895" y="4514050"/>
            <a:ext cx="513049" cy="109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7" name="Straight Arrow Connector 596">
            <a:extLst>
              <a:ext uri="{FF2B5EF4-FFF2-40B4-BE49-F238E27FC236}">
                <a16:creationId xmlns:a16="http://schemas.microsoft.com/office/drawing/2014/main" id="{D321B794-C9CD-6E29-B2EB-D31E1FEE803E}"/>
              </a:ext>
            </a:extLst>
          </p:cNvPr>
          <p:cNvCxnSpPr/>
          <p:nvPr/>
        </p:nvCxnSpPr>
        <p:spPr>
          <a:xfrm>
            <a:off x="9990107" y="4892904"/>
            <a:ext cx="513049" cy="109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0" name="Elbow Connector 599">
            <a:extLst>
              <a:ext uri="{FF2B5EF4-FFF2-40B4-BE49-F238E27FC236}">
                <a16:creationId xmlns:a16="http://schemas.microsoft.com/office/drawing/2014/main" id="{072BE203-9DA8-9B49-97E0-5F4437C96593}"/>
              </a:ext>
            </a:extLst>
          </p:cNvPr>
          <p:cNvCxnSpPr>
            <a:cxnSpLocks/>
          </p:cNvCxnSpPr>
          <p:nvPr/>
        </p:nvCxnSpPr>
        <p:spPr>
          <a:xfrm rot="16200000" flipV="1">
            <a:off x="2905525" y="3897971"/>
            <a:ext cx="1297612" cy="235514"/>
          </a:xfrm>
          <a:prstGeom prst="bentConnector3">
            <a:avLst>
              <a:gd name="adj1" fmla="val 87259"/>
            </a:avLst>
          </a:prstGeom>
          <a:ln w="127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0" name="Group 609">
            <a:extLst>
              <a:ext uri="{FF2B5EF4-FFF2-40B4-BE49-F238E27FC236}">
                <a16:creationId xmlns:a16="http://schemas.microsoft.com/office/drawing/2014/main" id="{59B88671-4572-A798-4EB8-3B2FCECB2DEF}"/>
              </a:ext>
            </a:extLst>
          </p:cNvPr>
          <p:cNvGrpSpPr/>
          <p:nvPr/>
        </p:nvGrpSpPr>
        <p:grpSpPr>
          <a:xfrm>
            <a:off x="7184281" y="5805999"/>
            <a:ext cx="393666" cy="363745"/>
            <a:chOff x="8544193" y="5595621"/>
            <a:chExt cx="393666" cy="363745"/>
          </a:xfrm>
        </p:grpSpPr>
        <p:sp>
          <p:nvSpPr>
            <p:cNvPr id="608" name="Oval 607">
              <a:extLst>
                <a:ext uri="{FF2B5EF4-FFF2-40B4-BE49-F238E27FC236}">
                  <a16:creationId xmlns:a16="http://schemas.microsoft.com/office/drawing/2014/main" id="{824338C3-769B-E7A5-0F88-995AC63F8284}"/>
                </a:ext>
              </a:extLst>
            </p:cNvPr>
            <p:cNvSpPr/>
            <p:nvPr/>
          </p:nvSpPr>
          <p:spPr>
            <a:xfrm>
              <a:off x="8544193" y="5595621"/>
              <a:ext cx="393666" cy="36374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9" name="TextBox 608">
              <a:extLst>
                <a:ext uri="{FF2B5EF4-FFF2-40B4-BE49-F238E27FC236}">
                  <a16:creationId xmlns:a16="http://schemas.microsoft.com/office/drawing/2014/main" id="{0234E10F-61ED-0E2C-5214-F8E66B49B164}"/>
                </a:ext>
              </a:extLst>
            </p:cNvPr>
            <p:cNvSpPr txBox="1"/>
            <p:nvPr/>
          </p:nvSpPr>
          <p:spPr>
            <a:xfrm>
              <a:off x="8578677" y="5663332"/>
              <a:ext cx="35618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chemeClr val="bg1"/>
                  </a:solidFill>
                </a:rPr>
                <a:t>BNY</a:t>
              </a:r>
            </a:p>
          </p:txBody>
        </p:sp>
      </p:grpSp>
      <p:cxnSp>
        <p:nvCxnSpPr>
          <p:cNvPr id="611" name="Straight Arrow Connector 610">
            <a:extLst>
              <a:ext uri="{FF2B5EF4-FFF2-40B4-BE49-F238E27FC236}">
                <a16:creationId xmlns:a16="http://schemas.microsoft.com/office/drawing/2014/main" id="{27806681-A06B-E196-C7F7-671980C4C8C7}"/>
              </a:ext>
            </a:extLst>
          </p:cNvPr>
          <p:cNvCxnSpPr>
            <a:cxnSpLocks/>
          </p:cNvCxnSpPr>
          <p:nvPr/>
        </p:nvCxnSpPr>
        <p:spPr>
          <a:xfrm flipV="1">
            <a:off x="7388547" y="5595621"/>
            <a:ext cx="0" cy="3326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4" name="Oval 613">
            <a:extLst>
              <a:ext uri="{FF2B5EF4-FFF2-40B4-BE49-F238E27FC236}">
                <a16:creationId xmlns:a16="http://schemas.microsoft.com/office/drawing/2014/main" id="{76AF5BFB-1DD5-01F2-BD27-CC134B60BD80}"/>
              </a:ext>
            </a:extLst>
          </p:cNvPr>
          <p:cNvSpPr/>
          <p:nvPr/>
        </p:nvSpPr>
        <p:spPr>
          <a:xfrm>
            <a:off x="9566606" y="4323491"/>
            <a:ext cx="393666" cy="36374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16" name="Group 615">
            <a:extLst>
              <a:ext uri="{FF2B5EF4-FFF2-40B4-BE49-F238E27FC236}">
                <a16:creationId xmlns:a16="http://schemas.microsoft.com/office/drawing/2014/main" id="{7476EE16-EB65-63C9-8EC9-ACDD0D4925C5}"/>
              </a:ext>
            </a:extLst>
          </p:cNvPr>
          <p:cNvGrpSpPr/>
          <p:nvPr/>
        </p:nvGrpSpPr>
        <p:grpSpPr>
          <a:xfrm>
            <a:off x="9564421" y="4743438"/>
            <a:ext cx="393666" cy="363745"/>
            <a:chOff x="9523324" y="4795388"/>
            <a:chExt cx="393666" cy="363745"/>
          </a:xfrm>
        </p:grpSpPr>
        <p:sp>
          <p:nvSpPr>
            <p:cNvPr id="593" name="TextBox 592">
              <a:extLst>
                <a:ext uri="{FF2B5EF4-FFF2-40B4-BE49-F238E27FC236}">
                  <a16:creationId xmlns:a16="http://schemas.microsoft.com/office/drawing/2014/main" id="{31E4E29C-9E3A-8394-0C91-4BF21D39CB50}"/>
                </a:ext>
              </a:extLst>
            </p:cNvPr>
            <p:cNvSpPr txBox="1"/>
            <p:nvPr/>
          </p:nvSpPr>
          <p:spPr>
            <a:xfrm>
              <a:off x="9563704" y="4855816"/>
              <a:ext cx="31290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chemeClr val="accent6"/>
                  </a:solidFill>
                </a:rPr>
                <a:t>s1</a:t>
              </a:r>
            </a:p>
          </p:txBody>
        </p:sp>
        <p:sp>
          <p:nvSpPr>
            <p:cNvPr id="615" name="Oval 614">
              <a:extLst>
                <a:ext uri="{FF2B5EF4-FFF2-40B4-BE49-F238E27FC236}">
                  <a16:creationId xmlns:a16="http://schemas.microsoft.com/office/drawing/2014/main" id="{A372F993-46F4-3C87-7A4E-30D250D9296A}"/>
                </a:ext>
              </a:extLst>
            </p:cNvPr>
            <p:cNvSpPr/>
            <p:nvPr/>
          </p:nvSpPr>
          <p:spPr>
            <a:xfrm>
              <a:off x="9523324" y="4795388"/>
              <a:ext cx="393666" cy="36374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17" name="Frame 616">
            <a:extLst>
              <a:ext uri="{FF2B5EF4-FFF2-40B4-BE49-F238E27FC236}">
                <a16:creationId xmlns:a16="http://schemas.microsoft.com/office/drawing/2014/main" id="{8A48429F-9B12-45F0-F1F3-59AF03F4A35B}"/>
              </a:ext>
            </a:extLst>
          </p:cNvPr>
          <p:cNvSpPr/>
          <p:nvPr/>
        </p:nvSpPr>
        <p:spPr>
          <a:xfrm>
            <a:off x="10632500" y="4267829"/>
            <a:ext cx="1284170" cy="1039895"/>
          </a:xfrm>
          <a:prstGeom prst="frame">
            <a:avLst>
              <a:gd name="adj1" fmla="val 4361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02" name="TextBox 401">
            <a:extLst>
              <a:ext uri="{FF2B5EF4-FFF2-40B4-BE49-F238E27FC236}">
                <a16:creationId xmlns:a16="http://schemas.microsoft.com/office/drawing/2014/main" id="{ABCCEB39-E555-D1FB-F212-CCE872E90163}"/>
              </a:ext>
            </a:extLst>
          </p:cNvPr>
          <p:cNvSpPr txBox="1"/>
          <p:nvPr/>
        </p:nvSpPr>
        <p:spPr>
          <a:xfrm>
            <a:off x="10943488" y="5193719"/>
            <a:ext cx="646331" cy="21544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800" dirty="0"/>
              <a:t>Cross asset</a:t>
            </a:r>
          </a:p>
        </p:txBody>
      </p:sp>
      <p:cxnSp>
        <p:nvCxnSpPr>
          <p:cNvPr id="618" name="Straight Arrow Connector 617">
            <a:extLst>
              <a:ext uri="{FF2B5EF4-FFF2-40B4-BE49-F238E27FC236}">
                <a16:creationId xmlns:a16="http://schemas.microsoft.com/office/drawing/2014/main" id="{CA83FA87-F4D7-A615-E51E-C229C58ED810}"/>
              </a:ext>
            </a:extLst>
          </p:cNvPr>
          <p:cNvCxnSpPr/>
          <p:nvPr/>
        </p:nvCxnSpPr>
        <p:spPr>
          <a:xfrm>
            <a:off x="11270811" y="5395393"/>
            <a:ext cx="0" cy="2627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9" name="Rectangle 618">
            <a:extLst>
              <a:ext uri="{FF2B5EF4-FFF2-40B4-BE49-F238E27FC236}">
                <a16:creationId xmlns:a16="http://schemas.microsoft.com/office/drawing/2014/main" id="{E754719B-3F8E-E6F4-1819-7B9283823668}"/>
              </a:ext>
            </a:extLst>
          </p:cNvPr>
          <p:cNvSpPr/>
          <p:nvPr/>
        </p:nvSpPr>
        <p:spPr>
          <a:xfrm>
            <a:off x="9691756" y="5795849"/>
            <a:ext cx="1037077" cy="276508"/>
          </a:xfrm>
          <a:prstGeom prst="rect">
            <a:avLst/>
          </a:prstGeom>
          <a:solidFill>
            <a:schemeClr val="bg1"/>
          </a:solidFill>
          <a:ln w="127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rgbClr val="7030A0"/>
                </a:solidFill>
              </a:rPr>
              <a:t>Finance</a:t>
            </a:r>
          </a:p>
        </p:txBody>
      </p:sp>
      <p:sp>
        <p:nvSpPr>
          <p:cNvPr id="620" name="Rectangle 619">
            <a:extLst>
              <a:ext uri="{FF2B5EF4-FFF2-40B4-BE49-F238E27FC236}">
                <a16:creationId xmlns:a16="http://schemas.microsoft.com/office/drawing/2014/main" id="{E72B1203-D2C7-0A53-8FCB-68A467CE483F}"/>
              </a:ext>
            </a:extLst>
          </p:cNvPr>
          <p:cNvSpPr/>
          <p:nvPr/>
        </p:nvSpPr>
        <p:spPr>
          <a:xfrm>
            <a:off x="10767073" y="5795849"/>
            <a:ext cx="1037077" cy="276508"/>
          </a:xfrm>
          <a:prstGeom prst="rect">
            <a:avLst/>
          </a:prstGeom>
          <a:solidFill>
            <a:srgbClr val="FDF1FF"/>
          </a:solidFill>
          <a:ln w="127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rgbClr val="7030A0"/>
                </a:solidFill>
              </a:rPr>
              <a:t>TBSM</a:t>
            </a:r>
          </a:p>
        </p:txBody>
      </p:sp>
      <p:sp>
        <p:nvSpPr>
          <p:cNvPr id="625" name="TextBox 624">
            <a:extLst>
              <a:ext uri="{FF2B5EF4-FFF2-40B4-BE49-F238E27FC236}">
                <a16:creationId xmlns:a16="http://schemas.microsoft.com/office/drawing/2014/main" id="{705ECC32-83DD-BF21-6ADD-0ACC035BDA7F}"/>
              </a:ext>
            </a:extLst>
          </p:cNvPr>
          <p:cNvSpPr txBox="1"/>
          <p:nvPr/>
        </p:nvSpPr>
        <p:spPr>
          <a:xfrm>
            <a:off x="1748281" y="4801673"/>
            <a:ext cx="28886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solidFill>
                  <a:srgbClr val="00B050"/>
                </a:solidFill>
              </a:rPr>
              <a:t>s5</a:t>
            </a:r>
          </a:p>
        </p:txBody>
      </p:sp>
      <p:grpSp>
        <p:nvGrpSpPr>
          <p:cNvPr id="662" name="Group 661">
            <a:extLst>
              <a:ext uri="{FF2B5EF4-FFF2-40B4-BE49-F238E27FC236}">
                <a16:creationId xmlns:a16="http://schemas.microsoft.com/office/drawing/2014/main" id="{5B9C57C2-B9DD-E5D0-3842-706E28997C2A}"/>
              </a:ext>
            </a:extLst>
          </p:cNvPr>
          <p:cNvGrpSpPr/>
          <p:nvPr/>
        </p:nvGrpSpPr>
        <p:grpSpPr>
          <a:xfrm>
            <a:off x="3645736" y="6485729"/>
            <a:ext cx="1544510" cy="215444"/>
            <a:chOff x="3906874" y="6475672"/>
            <a:chExt cx="1544510" cy="215444"/>
          </a:xfrm>
        </p:grpSpPr>
        <p:cxnSp>
          <p:nvCxnSpPr>
            <p:cNvPr id="384" name="Straight Arrow Connector 383">
              <a:extLst>
                <a:ext uri="{FF2B5EF4-FFF2-40B4-BE49-F238E27FC236}">
                  <a16:creationId xmlns:a16="http://schemas.microsoft.com/office/drawing/2014/main" id="{26351641-0007-C45E-8F71-07DED125C8B0}"/>
                </a:ext>
              </a:extLst>
            </p:cNvPr>
            <p:cNvCxnSpPr>
              <a:cxnSpLocks/>
            </p:cNvCxnSpPr>
            <p:nvPr/>
          </p:nvCxnSpPr>
          <p:spPr>
            <a:xfrm>
              <a:off x="4055127" y="6583394"/>
              <a:ext cx="436819" cy="0"/>
            </a:xfrm>
            <a:prstGeom prst="straightConnector1">
              <a:avLst/>
            </a:prstGeom>
            <a:ln w="9525">
              <a:solidFill>
                <a:srgbClr val="00B0F0"/>
              </a:solidFill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386" name="TextBox 385">
              <a:extLst>
                <a:ext uri="{FF2B5EF4-FFF2-40B4-BE49-F238E27FC236}">
                  <a16:creationId xmlns:a16="http://schemas.microsoft.com/office/drawing/2014/main" id="{34325026-01F2-2294-63D5-D250106A6A77}"/>
                </a:ext>
              </a:extLst>
            </p:cNvPr>
            <p:cNvSpPr txBox="1"/>
            <p:nvPr/>
          </p:nvSpPr>
          <p:spPr>
            <a:xfrm>
              <a:off x="4463613" y="6475672"/>
              <a:ext cx="987771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i="1" dirty="0"/>
                <a:t>User analytics Flow</a:t>
              </a:r>
            </a:p>
          </p:txBody>
        </p:sp>
        <p:sp>
          <p:nvSpPr>
            <p:cNvPr id="627" name="Frame 626">
              <a:extLst>
                <a:ext uri="{FF2B5EF4-FFF2-40B4-BE49-F238E27FC236}">
                  <a16:creationId xmlns:a16="http://schemas.microsoft.com/office/drawing/2014/main" id="{E20B7D72-9803-92FC-310C-7F8EA19B5B2D}"/>
                </a:ext>
              </a:extLst>
            </p:cNvPr>
            <p:cNvSpPr/>
            <p:nvPr/>
          </p:nvSpPr>
          <p:spPr>
            <a:xfrm>
              <a:off x="3906874" y="6488370"/>
              <a:ext cx="178577" cy="158546"/>
            </a:xfrm>
            <a:prstGeom prst="frame">
              <a:avLst>
                <a:gd name="adj1" fmla="val 6485"/>
              </a:avLst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pic>
        <p:nvPicPr>
          <p:cNvPr id="630" name="Graphic 629" descr="Badge 1 outline">
            <a:extLst>
              <a:ext uri="{FF2B5EF4-FFF2-40B4-BE49-F238E27FC236}">
                <a16:creationId xmlns:a16="http://schemas.microsoft.com/office/drawing/2014/main" id="{7697793A-8057-99FD-EB4F-AAE73FD44F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76601" y="661514"/>
            <a:ext cx="254983" cy="254983"/>
          </a:xfrm>
          <a:prstGeom prst="rect">
            <a:avLst/>
          </a:prstGeom>
        </p:spPr>
      </p:pic>
      <p:pic>
        <p:nvPicPr>
          <p:cNvPr id="632" name="Graphic 631" descr="Badge outline">
            <a:extLst>
              <a:ext uri="{FF2B5EF4-FFF2-40B4-BE49-F238E27FC236}">
                <a16:creationId xmlns:a16="http://schemas.microsoft.com/office/drawing/2014/main" id="{65FF770B-555A-F9FF-7585-EB1B0273FC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43178" y="651233"/>
            <a:ext cx="253306" cy="253306"/>
          </a:xfrm>
          <a:prstGeom prst="rect">
            <a:avLst/>
          </a:prstGeom>
        </p:spPr>
      </p:pic>
      <p:pic>
        <p:nvPicPr>
          <p:cNvPr id="636" name="Graphic 635" descr="Badge 3 outline">
            <a:extLst>
              <a:ext uri="{FF2B5EF4-FFF2-40B4-BE49-F238E27FC236}">
                <a16:creationId xmlns:a16="http://schemas.microsoft.com/office/drawing/2014/main" id="{0043B101-D441-5BF9-6D09-53701AE1BB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895697" y="677092"/>
            <a:ext cx="245152" cy="245152"/>
          </a:xfrm>
          <a:prstGeom prst="rect">
            <a:avLst/>
          </a:prstGeom>
        </p:spPr>
      </p:pic>
      <p:pic>
        <p:nvPicPr>
          <p:cNvPr id="640" name="Graphic 639" descr="Badge 7 outline">
            <a:extLst>
              <a:ext uri="{FF2B5EF4-FFF2-40B4-BE49-F238E27FC236}">
                <a16:creationId xmlns:a16="http://schemas.microsoft.com/office/drawing/2014/main" id="{B11CE647-6E94-0036-2AAF-49F1496985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318023" y="4143555"/>
            <a:ext cx="248547" cy="248547"/>
          </a:xfrm>
          <a:prstGeom prst="rect">
            <a:avLst/>
          </a:prstGeom>
        </p:spPr>
      </p:pic>
      <p:pic>
        <p:nvPicPr>
          <p:cNvPr id="642" name="Graphic 641" descr="Badge 5 outline">
            <a:extLst>
              <a:ext uri="{FF2B5EF4-FFF2-40B4-BE49-F238E27FC236}">
                <a16:creationId xmlns:a16="http://schemas.microsoft.com/office/drawing/2014/main" id="{979A9588-D9E0-51C8-804F-A2B64977DE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908210" y="708895"/>
            <a:ext cx="244261" cy="244261"/>
          </a:xfrm>
          <a:prstGeom prst="rect">
            <a:avLst/>
          </a:prstGeom>
        </p:spPr>
      </p:pic>
      <p:pic>
        <p:nvPicPr>
          <p:cNvPr id="644" name="Graphic 643" descr="Badge 6 outline">
            <a:extLst>
              <a:ext uri="{FF2B5EF4-FFF2-40B4-BE49-F238E27FC236}">
                <a16:creationId xmlns:a16="http://schemas.microsoft.com/office/drawing/2014/main" id="{DEBFF0FC-EB39-F78D-D962-DBBA08BCF8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034457" y="4373365"/>
            <a:ext cx="303184" cy="303184"/>
          </a:xfrm>
          <a:prstGeom prst="rect">
            <a:avLst/>
          </a:prstGeom>
        </p:spPr>
      </p:pic>
      <p:pic>
        <p:nvPicPr>
          <p:cNvPr id="638" name="Graphic 637" descr="Badge 4 outline">
            <a:extLst>
              <a:ext uri="{FF2B5EF4-FFF2-40B4-BE49-F238E27FC236}">
                <a16:creationId xmlns:a16="http://schemas.microsoft.com/office/drawing/2014/main" id="{89DAA4A9-CD89-E43F-729B-218937A0E9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203740" y="656551"/>
            <a:ext cx="256206" cy="256206"/>
          </a:xfrm>
          <a:prstGeom prst="rect">
            <a:avLst/>
          </a:prstGeom>
        </p:spPr>
      </p:pic>
      <p:sp>
        <p:nvSpPr>
          <p:cNvPr id="649" name="TextBox 648">
            <a:extLst>
              <a:ext uri="{FF2B5EF4-FFF2-40B4-BE49-F238E27FC236}">
                <a16:creationId xmlns:a16="http://schemas.microsoft.com/office/drawing/2014/main" id="{9BA9D7E4-7A97-D414-90AC-49EE72758A08}"/>
              </a:ext>
            </a:extLst>
          </p:cNvPr>
          <p:cNvSpPr txBox="1"/>
          <p:nvPr/>
        </p:nvSpPr>
        <p:spPr>
          <a:xfrm>
            <a:off x="9606259" y="5517520"/>
            <a:ext cx="63991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dirty="0"/>
              <a:t>consumers</a:t>
            </a:r>
          </a:p>
        </p:txBody>
      </p:sp>
      <p:sp>
        <p:nvSpPr>
          <p:cNvPr id="650" name="TextBox 649">
            <a:extLst>
              <a:ext uri="{FF2B5EF4-FFF2-40B4-BE49-F238E27FC236}">
                <a16:creationId xmlns:a16="http://schemas.microsoft.com/office/drawing/2014/main" id="{C209591C-BF0B-1A02-797C-087DA8A93CA5}"/>
              </a:ext>
            </a:extLst>
          </p:cNvPr>
          <p:cNvSpPr txBox="1"/>
          <p:nvPr/>
        </p:nvSpPr>
        <p:spPr>
          <a:xfrm>
            <a:off x="9903337" y="5646418"/>
            <a:ext cx="33054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dirty="0"/>
              <a:t>risk</a:t>
            </a:r>
          </a:p>
        </p:txBody>
      </p:sp>
      <p:sp>
        <p:nvSpPr>
          <p:cNvPr id="651" name="TextBox 650">
            <a:extLst>
              <a:ext uri="{FF2B5EF4-FFF2-40B4-BE49-F238E27FC236}">
                <a16:creationId xmlns:a16="http://schemas.microsoft.com/office/drawing/2014/main" id="{46654A63-293A-6EB0-DA3E-0BF564F467E4}"/>
              </a:ext>
            </a:extLst>
          </p:cNvPr>
          <p:cNvSpPr txBox="1"/>
          <p:nvPr/>
        </p:nvSpPr>
        <p:spPr>
          <a:xfrm>
            <a:off x="11003750" y="5630368"/>
            <a:ext cx="53412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dirty="0"/>
              <a:t>Non-risk</a:t>
            </a:r>
          </a:p>
        </p:txBody>
      </p:sp>
      <p:grpSp>
        <p:nvGrpSpPr>
          <p:cNvPr id="655" name="Group 654">
            <a:extLst>
              <a:ext uri="{FF2B5EF4-FFF2-40B4-BE49-F238E27FC236}">
                <a16:creationId xmlns:a16="http://schemas.microsoft.com/office/drawing/2014/main" id="{0FE264D3-4205-0FAB-FEAD-7DB8A28EE75E}"/>
              </a:ext>
            </a:extLst>
          </p:cNvPr>
          <p:cNvGrpSpPr/>
          <p:nvPr/>
        </p:nvGrpSpPr>
        <p:grpSpPr>
          <a:xfrm>
            <a:off x="5607320" y="6459150"/>
            <a:ext cx="857589" cy="230832"/>
            <a:chOff x="5607320" y="6459150"/>
            <a:chExt cx="857589" cy="230832"/>
          </a:xfrm>
        </p:grpSpPr>
        <p:sp>
          <p:nvSpPr>
            <p:cNvPr id="652" name="TextBox 651">
              <a:extLst>
                <a:ext uri="{FF2B5EF4-FFF2-40B4-BE49-F238E27FC236}">
                  <a16:creationId xmlns:a16="http://schemas.microsoft.com/office/drawing/2014/main" id="{EC436062-9150-EEFC-CD02-2F04F4F113BF}"/>
                </a:ext>
              </a:extLst>
            </p:cNvPr>
            <p:cNvSpPr txBox="1"/>
            <p:nvPr/>
          </p:nvSpPr>
          <p:spPr>
            <a:xfrm>
              <a:off x="5607320" y="6459150"/>
              <a:ext cx="50687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b="1" dirty="0">
                  <a:solidFill>
                    <a:schemeClr val="accent6"/>
                  </a:solidFill>
                </a:rPr>
                <a:t>S1-Sn :</a:t>
              </a:r>
            </a:p>
          </p:txBody>
        </p:sp>
        <p:sp>
          <p:nvSpPr>
            <p:cNvPr id="653" name="TextBox 652">
              <a:extLst>
                <a:ext uri="{FF2B5EF4-FFF2-40B4-BE49-F238E27FC236}">
                  <a16:creationId xmlns:a16="http://schemas.microsoft.com/office/drawing/2014/main" id="{EB721084-73AE-7754-4389-DF2B168A4E7C}"/>
                </a:ext>
              </a:extLst>
            </p:cNvPr>
            <p:cNvSpPr txBox="1"/>
            <p:nvPr/>
          </p:nvSpPr>
          <p:spPr>
            <a:xfrm>
              <a:off x="5961245" y="6464617"/>
              <a:ext cx="50366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i="1" dirty="0"/>
                <a:t>sources</a:t>
              </a:r>
            </a:p>
          </p:txBody>
        </p:sp>
      </p:grpSp>
      <p:sp>
        <p:nvSpPr>
          <p:cNvPr id="654" name="TextBox 653">
            <a:extLst>
              <a:ext uri="{FF2B5EF4-FFF2-40B4-BE49-F238E27FC236}">
                <a16:creationId xmlns:a16="http://schemas.microsoft.com/office/drawing/2014/main" id="{9BA541F7-08AB-6C34-DF70-4A5F4B6B0EE1}"/>
              </a:ext>
            </a:extLst>
          </p:cNvPr>
          <p:cNvSpPr txBox="1"/>
          <p:nvPr/>
        </p:nvSpPr>
        <p:spPr>
          <a:xfrm>
            <a:off x="5613743" y="6633552"/>
            <a:ext cx="130035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solidFill>
                  <a:srgbClr val="FF0000"/>
                </a:solidFill>
              </a:rPr>
              <a:t>v1-v4:   </a:t>
            </a:r>
            <a:r>
              <a:rPr lang="en-US" sz="900" i="1" dirty="0"/>
              <a:t>Valuations Flow</a:t>
            </a:r>
          </a:p>
        </p:txBody>
      </p:sp>
      <p:pic>
        <p:nvPicPr>
          <p:cNvPr id="656" name="Graphic 655" descr="Badge 7 outline">
            <a:extLst>
              <a:ext uri="{FF2B5EF4-FFF2-40B4-BE49-F238E27FC236}">
                <a16:creationId xmlns:a16="http://schemas.microsoft.com/office/drawing/2014/main" id="{9F016413-5341-B7DF-D496-6946F44688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288247" y="6428442"/>
            <a:ext cx="248547" cy="248547"/>
          </a:xfrm>
          <a:prstGeom prst="rect">
            <a:avLst/>
          </a:prstGeom>
        </p:spPr>
      </p:pic>
      <p:sp>
        <p:nvSpPr>
          <p:cNvPr id="657" name="TextBox 656">
            <a:extLst>
              <a:ext uri="{FF2B5EF4-FFF2-40B4-BE49-F238E27FC236}">
                <a16:creationId xmlns:a16="http://schemas.microsoft.com/office/drawing/2014/main" id="{D8DB0C46-408A-6EC6-056D-F40E417E8D3A}"/>
              </a:ext>
            </a:extLst>
          </p:cNvPr>
          <p:cNvSpPr txBox="1"/>
          <p:nvPr/>
        </p:nvSpPr>
        <p:spPr>
          <a:xfrm>
            <a:off x="7471643" y="6450029"/>
            <a:ext cx="144142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CDM Flow (under discussion ) </a:t>
            </a:r>
          </a:p>
        </p:txBody>
      </p:sp>
      <p:sp>
        <p:nvSpPr>
          <p:cNvPr id="659" name="TextBox 658">
            <a:extLst>
              <a:ext uri="{FF2B5EF4-FFF2-40B4-BE49-F238E27FC236}">
                <a16:creationId xmlns:a16="http://schemas.microsoft.com/office/drawing/2014/main" id="{8210CA51-9DCB-E6CA-C679-1758E695E422}"/>
              </a:ext>
            </a:extLst>
          </p:cNvPr>
          <p:cNvSpPr txBox="1"/>
          <p:nvPr/>
        </p:nvSpPr>
        <p:spPr>
          <a:xfrm>
            <a:off x="3334784" y="1676038"/>
            <a:ext cx="60305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dirty="0">
                <a:solidFill>
                  <a:schemeClr val="accent6"/>
                </a:solidFill>
              </a:rPr>
              <a:t>  </a:t>
            </a:r>
            <a:r>
              <a:rPr lang="en-US" sz="900" b="1" dirty="0">
                <a:solidFill>
                  <a:schemeClr val="accent6"/>
                </a:solidFill>
              </a:rPr>
              <a:t>s1,s2,s4</a:t>
            </a:r>
          </a:p>
        </p:txBody>
      </p:sp>
      <p:sp>
        <p:nvSpPr>
          <p:cNvPr id="660" name="TextBox 659">
            <a:extLst>
              <a:ext uri="{FF2B5EF4-FFF2-40B4-BE49-F238E27FC236}">
                <a16:creationId xmlns:a16="http://schemas.microsoft.com/office/drawing/2014/main" id="{6822B0FE-9A98-30E5-41EF-4E98E03B5E99}"/>
              </a:ext>
            </a:extLst>
          </p:cNvPr>
          <p:cNvSpPr txBox="1"/>
          <p:nvPr/>
        </p:nvSpPr>
        <p:spPr>
          <a:xfrm>
            <a:off x="7320520" y="4291035"/>
            <a:ext cx="9685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dirty="0"/>
              <a:t>TAMS not updated</a:t>
            </a:r>
          </a:p>
        </p:txBody>
      </p:sp>
      <p:sp>
        <p:nvSpPr>
          <p:cNvPr id="661" name="TextBox 660">
            <a:extLst>
              <a:ext uri="{FF2B5EF4-FFF2-40B4-BE49-F238E27FC236}">
                <a16:creationId xmlns:a16="http://schemas.microsoft.com/office/drawing/2014/main" id="{6A2D4B5D-0331-5524-376F-E5A9AC2289DB}"/>
              </a:ext>
            </a:extLst>
          </p:cNvPr>
          <p:cNvSpPr txBox="1"/>
          <p:nvPr/>
        </p:nvSpPr>
        <p:spPr>
          <a:xfrm>
            <a:off x="3504754" y="6672382"/>
            <a:ext cx="2082621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800" i="1" dirty="0">
                <a:solidFill>
                  <a:schemeClr val="accent5"/>
                </a:solidFill>
              </a:rPr>
              <a:t>Dashboard : </a:t>
            </a:r>
            <a:r>
              <a:rPr lang="en-US" sz="800" i="1" dirty="0"/>
              <a:t>Query based not semantic model</a:t>
            </a:r>
          </a:p>
        </p:txBody>
      </p:sp>
      <p:pic>
        <p:nvPicPr>
          <p:cNvPr id="663" name="Graphic 662" descr="Badge 6 outline">
            <a:extLst>
              <a:ext uri="{FF2B5EF4-FFF2-40B4-BE49-F238E27FC236}">
                <a16:creationId xmlns:a16="http://schemas.microsoft.com/office/drawing/2014/main" id="{F29B97E5-4266-74BD-9EDC-2A70A29518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891480" y="6417597"/>
            <a:ext cx="305986" cy="150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665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4F604D-0A62-264D-BC4E-1E9C39BF43D0}"/>
              </a:ext>
            </a:extLst>
          </p:cNvPr>
          <p:cNvSpPr txBox="1"/>
          <p:nvPr/>
        </p:nvSpPr>
        <p:spPr>
          <a:xfrm>
            <a:off x="5249732" y="2549563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APPENDIX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C382E6-AF23-0D5F-8A12-BC43B44D47DE}"/>
              </a:ext>
            </a:extLst>
          </p:cNvPr>
          <p:cNvSpPr txBox="1"/>
          <p:nvPr/>
        </p:nvSpPr>
        <p:spPr>
          <a:xfrm>
            <a:off x="2700170" y="3059668"/>
            <a:ext cx="6627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User Interaction captured and translated into meta-data  Capabilities</a:t>
            </a:r>
          </a:p>
        </p:txBody>
      </p:sp>
    </p:spTree>
    <p:extLst>
      <p:ext uri="{BB962C8B-B14F-4D97-AF65-F5344CB8AC3E}">
        <p14:creationId xmlns:p14="http://schemas.microsoft.com/office/powerpoint/2010/main" val="9158016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Business Questions — Question, Finding, Target Capability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320040" y="512064"/>
            <a:ext cx="114300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detail and diagrams for the four starred rows follow on the next slides.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" y="777240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977640" y="777240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818120" y="777240"/>
            <a:ext cx="379476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Capability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978408"/>
            <a:ext cx="1129284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1000"/>
          </a:p>
        </p:txBody>
      </p:sp>
      <p:sp>
        <p:nvSpPr>
          <p:cNvPr id="9" name="Text 7"/>
          <p:cNvSpPr/>
          <p:nvPr/>
        </p:nvSpPr>
        <p:spPr>
          <a:xfrm>
            <a:off x="320040" y="978408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04672" y="978408"/>
            <a:ext cx="31455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860"/>
              </a:lnSpc>
              <a:buNone/>
            </a:pPr>
            <a:r>
              <a:rPr lang="en-US" sz="100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I access TDVIP, Colline, TAM and XTP?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005072" y="978408"/>
            <a:ext cx="37856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820"/>
              </a:lnSpc>
              <a:buNone/>
            </a:pPr>
            <a:r>
              <a:rPr lang="en-US" sz="1000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groups/steps exist, but role scope and XTP ownership were unclear — login ≠ usable access.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845552" y="978408"/>
            <a:ext cx="3739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820"/>
              </a:lnSpc>
              <a:buNone/>
            </a:pPr>
            <a:r>
              <a:rPr lang="en-US" sz="1000" dirty="0">
                <a:solidFill>
                  <a:srgbClr val="1F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Catalog, Ownership, Access Governance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1362456"/>
            <a:ext cx="11292840" cy="384048"/>
          </a:xfrm>
          <a:prstGeom prst="rect">
            <a:avLst/>
          </a:prstGeom>
          <a:solidFill>
            <a:srgbClr val="F5F3EC"/>
          </a:solidFill>
          <a:ln/>
        </p:spPr>
        <p:txBody>
          <a:bodyPr/>
          <a:lstStyle/>
          <a:p>
            <a:endParaRPr lang="en-US" sz="1000"/>
          </a:p>
        </p:txBody>
      </p:sp>
      <p:sp>
        <p:nvSpPr>
          <p:cNvPr id="14" name="Text 12"/>
          <p:cNvSpPr/>
          <p:nvPr/>
        </p:nvSpPr>
        <p:spPr>
          <a:xfrm>
            <a:off x="320040" y="1362456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4672" y="1362456"/>
            <a:ext cx="31455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860"/>
              </a:lnSpc>
              <a:buNone/>
            </a:pPr>
            <a:r>
              <a:rPr lang="en-US" sz="100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agreement/eligibility data live in TDVIP alongside CSA data?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005072" y="1362456"/>
            <a:ext cx="37856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820"/>
              </a:lnSpc>
              <a:buNone/>
            </a:pPr>
            <a:r>
              <a:rPr lang="en-US" sz="1000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loaded into CMOS space, daily feed, but grain/refresh/history were undefined.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845552" y="1362456"/>
            <a:ext cx="3739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820"/>
              </a:lnSpc>
              <a:buNone/>
            </a:pPr>
            <a:r>
              <a:rPr lang="en-US" sz="1000" dirty="0">
                <a:solidFill>
                  <a:srgbClr val="1F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Catalog, Semantics, Data Contract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1746504"/>
            <a:ext cx="11292840" cy="384048"/>
          </a:xfrm>
          <a:prstGeom prst="rect">
            <a:avLst/>
          </a:prstGeom>
          <a:solidFill>
            <a:srgbClr val="EAF3EC"/>
          </a:solidFill>
          <a:ln/>
        </p:spPr>
        <p:txBody>
          <a:bodyPr/>
          <a:lstStyle/>
          <a:p>
            <a:endParaRPr lang="en-US" sz="1000"/>
          </a:p>
        </p:txBody>
      </p:sp>
      <p:sp>
        <p:nvSpPr>
          <p:cNvPr id="19" name="Text 17"/>
          <p:cNvSpPr/>
          <p:nvPr/>
        </p:nvSpPr>
        <p:spPr>
          <a:xfrm>
            <a:off x="320040" y="1746504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3★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04672" y="1746504"/>
            <a:ext cx="31455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860"/>
              </a:lnSpc>
              <a:buNone/>
            </a:pPr>
            <a:r>
              <a:rPr lang="en-US" sz="1000" b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doesn't the eligibility schedule split IM vs. VM?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005072" y="1746504"/>
            <a:ext cx="37856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820"/>
              </a:lnSpc>
              <a:buNone/>
            </a:pPr>
            <a:r>
              <a:rPr lang="en-US" sz="1000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LCH report = IM only; VM inferred as cash in underlying currency — no formal rule owner.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845552" y="1746504"/>
            <a:ext cx="3739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820"/>
              </a:lnSpc>
              <a:buNone/>
            </a:pPr>
            <a:r>
              <a:rPr lang="en-US" sz="1000" dirty="0">
                <a:solidFill>
                  <a:srgbClr val="1F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Semantics, Ontology, Governance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2130552"/>
            <a:ext cx="11292840" cy="384048"/>
          </a:xfrm>
          <a:prstGeom prst="rect">
            <a:avLst/>
          </a:prstGeom>
          <a:solidFill>
            <a:srgbClr val="F5F3EC"/>
          </a:solidFill>
          <a:ln/>
        </p:spPr>
        <p:txBody>
          <a:bodyPr/>
          <a:lstStyle/>
          <a:p>
            <a:endParaRPr lang="en-US" sz="1000"/>
          </a:p>
        </p:txBody>
      </p:sp>
      <p:sp>
        <p:nvSpPr>
          <p:cNvPr id="24" name="Text 22"/>
          <p:cNvSpPr/>
          <p:nvPr/>
        </p:nvSpPr>
        <p:spPr>
          <a:xfrm>
            <a:off x="320040" y="2130552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04672" y="2130552"/>
            <a:ext cx="31455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860"/>
              </a:lnSpc>
              <a:buNone/>
            </a:pPr>
            <a:r>
              <a:rPr lang="en-US" sz="100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ALFA/CMOS/Colline use different asset classes?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005072" y="2130552"/>
            <a:ext cx="37856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820"/>
              </a:lnSpc>
              <a:buNone/>
            </a:pPr>
            <a:r>
              <a:rPr lang="en-US" sz="1000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derives classification from different attribute rules for different policy purposes.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845552" y="2130552"/>
            <a:ext cx="3739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820"/>
              </a:lnSpc>
              <a:buNone/>
            </a:pPr>
            <a:r>
              <a:rPr lang="en-US" sz="1000" dirty="0">
                <a:solidFill>
                  <a:srgbClr val="1F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Ontology, Semantics, Derivation Lineage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2514600"/>
            <a:ext cx="11292840" cy="384048"/>
          </a:xfrm>
          <a:prstGeom prst="rect">
            <a:avLst/>
          </a:prstGeom>
          <a:solidFill>
            <a:srgbClr val="EAF3EC"/>
          </a:solidFill>
          <a:ln/>
        </p:spPr>
        <p:txBody>
          <a:bodyPr/>
          <a:lstStyle/>
          <a:p>
            <a:endParaRPr lang="en-US" sz="1000"/>
          </a:p>
        </p:txBody>
      </p:sp>
      <p:sp>
        <p:nvSpPr>
          <p:cNvPr id="29" name="Text 27"/>
          <p:cNvSpPr/>
          <p:nvPr/>
        </p:nvSpPr>
        <p:spPr>
          <a:xfrm>
            <a:off x="320040" y="251460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5★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04672" y="2514600"/>
            <a:ext cx="31455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860"/>
              </a:lnSpc>
              <a:buNone/>
            </a:pPr>
            <a:r>
              <a:rPr lang="en-US" sz="1000" b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doesn't ALFA contain all NAPE/Anvil assets?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005072" y="2514600"/>
            <a:ext cx="37856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820"/>
              </a:lnSpc>
              <a:buNone/>
            </a:pPr>
            <a:r>
              <a:rPr lang="en-US" sz="1000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Oasis returned 454 records vs. Trade Service's 475 — no end-to-end stage-by-stage trace.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845552" y="2514600"/>
            <a:ext cx="3739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820"/>
              </a:lnSpc>
              <a:buNone/>
            </a:pPr>
            <a:r>
              <a:rPr lang="en-US" sz="1000" dirty="0">
                <a:solidFill>
                  <a:srgbClr val="1F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Provenance, Lineage, Data Quality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0040" y="2898648"/>
            <a:ext cx="11292840" cy="384048"/>
          </a:xfrm>
          <a:prstGeom prst="rect">
            <a:avLst/>
          </a:prstGeom>
          <a:solidFill>
            <a:srgbClr val="F5F3EC"/>
          </a:solidFill>
          <a:ln/>
        </p:spPr>
        <p:txBody>
          <a:bodyPr/>
          <a:lstStyle/>
          <a:p>
            <a:endParaRPr lang="en-US" sz="1000"/>
          </a:p>
        </p:txBody>
      </p:sp>
      <p:sp>
        <p:nvSpPr>
          <p:cNvPr id="34" name="Text 32"/>
          <p:cNvSpPr/>
          <p:nvPr/>
        </p:nvSpPr>
        <p:spPr>
          <a:xfrm>
            <a:off x="320040" y="2898648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04672" y="2898648"/>
            <a:ext cx="31455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860"/>
              </a:lnSpc>
              <a:buNone/>
            </a:pPr>
            <a:r>
              <a:rPr lang="en-US" sz="100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reverse repos/pledges excluded, or booked differently?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005072" y="2898648"/>
            <a:ext cx="37856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820"/>
              </a:lnSpc>
              <a:buNone/>
            </a:pPr>
            <a:r>
              <a:rPr lang="en-US" sz="1000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found for the stated codes — booking representation remained unresolved.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845552" y="2898648"/>
            <a:ext cx="3739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820"/>
              </a:lnSpc>
              <a:buNone/>
            </a:pPr>
            <a:r>
              <a:rPr lang="en-US" sz="1000" dirty="0">
                <a:solidFill>
                  <a:srgbClr val="1F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Semantics, Ontology, Provenance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0040" y="3282696"/>
            <a:ext cx="11292840" cy="384048"/>
          </a:xfrm>
          <a:prstGeom prst="rect">
            <a:avLst/>
          </a:prstGeom>
          <a:solidFill>
            <a:srgbClr val="EAF3EC"/>
          </a:solidFill>
          <a:ln/>
        </p:spPr>
        <p:txBody>
          <a:bodyPr/>
          <a:lstStyle/>
          <a:p>
            <a:endParaRPr lang="en-US" sz="1000"/>
          </a:p>
        </p:txBody>
      </p:sp>
      <p:sp>
        <p:nvSpPr>
          <p:cNvPr id="39" name="Text 37"/>
          <p:cNvSpPr/>
          <p:nvPr/>
        </p:nvSpPr>
        <p:spPr>
          <a:xfrm>
            <a:off x="320040" y="3282696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7★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04672" y="3282696"/>
            <a:ext cx="31455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860"/>
              </a:lnSpc>
              <a:buNone/>
            </a:pPr>
            <a:r>
              <a:rPr lang="en-US" sz="1000" b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ALFA, Colline and TAM be joined for eligibility + liquidity?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005072" y="3282696"/>
            <a:ext cx="37856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820"/>
              </a:lnSpc>
              <a:buNone/>
            </a:pPr>
            <a:r>
              <a:rPr lang="en-US" sz="1000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Conceptually one relationship; each app stores a different part with its own keys/grain.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845552" y="3282696"/>
            <a:ext cx="3739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820"/>
              </a:lnSpc>
              <a:buNone/>
            </a:pPr>
            <a:r>
              <a:rPr lang="en-US" sz="1000" dirty="0">
                <a:solidFill>
                  <a:srgbClr val="1F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Model, Ontology, Data Contract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20040" y="3666744"/>
            <a:ext cx="11292840" cy="384048"/>
          </a:xfrm>
          <a:prstGeom prst="rect">
            <a:avLst/>
          </a:prstGeom>
          <a:solidFill>
            <a:srgbClr val="F5F3EC"/>
          </a:solidFill>
          <a:ln/>
        </p:spPr>
        <p:txBody>
          <a:bodyPr/>
          <a:lstStyle/>
          <a:p>
            <a:endParaRPr lang="en-US" sz="1000"/>
          </a:p>
        </p:txBody>
      </p:sp>
      <p:sp>
        <p:nvSpPr>
          <p:cNvPr id="44" name="Text 42"/>
          <p:cNvSpPr/>
          <p:nvPr/>
        </p:nvSpPr>
        <p:spPr>
          <a:xfrm>
            <a:off x="320040" y="3666744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04672" y="3666744"/>
            <a:ext cx="31455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860"/>
              </a:lnSpc>
              <a:buNone/>
            </a:pPr>
            <a:r>
              <a:rPr lang="en-US" sz="100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each collateral dashboard field come from?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005072" y="3666744"/>
            <a:ext cx="37856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820"/>
              </a:lnSpc>
              <a:buNone/>
            </a:pPr>
            <a:r>
              <a:rPr lang="en-US" sz="1000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tracked on a shared page — no automated column-level lineage.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845552" y="3666744"/>
            <a:ext cx="3739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820"/>
              </a:lnSpc>
              <a:buNone/>
            </a:pPr>
            <a:r>
              <a:rPr lang="en-US" sz="1000" dirty="0">
                <a:solidFill>
                  <a:srgbClr val="1F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Column-Level Provenance, Catalog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20040" y="4050792"/>
            <a:ext cx="1129284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1000"/>
          </a:p>
        </p:txBody>
      </p:sp>
      <p:sp>
        <p:nvSpPr>
          <p:cNvPr id="49" name="Text 47"/>
          <p:cNvSpPr/>
          <p:nvPr/>
        </p:nvSpPr>
        <p:spPr>
          <a:xfrm>
            <a:off x="320040" y="4050792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04672" y="4050792"/>
            <a:ext cx="31455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860"/>
              </a:lnSpc>
              <a:buNone/>
            </a:pPr>
            <a:r>
              <a:rPr lang="en-US" sz="100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connect an agreement to the actual pledged collateral?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005072" y="4050792"/>
            <a:ext cx="37856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820"/>
              </a:lnSpc>
              <a:buNone/>
            </a:pPr>
            <a:r>
              <a:rPr lang="en-US" sz="1000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confirmed enterprise key or match hierarchy exists across systems today.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845552" y="4050792"/>
            <a:ext cx="3739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820"/>
              </a:lnSpc>
              <a:buNone/>
            </a:pPr>
            <a:r>
              <a:rPr lang="en-US" sz="1000" dirty="0">
                <a:solidFill>
                  <a:srgbClr val="1F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Model, Identity Crosswalk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20040" y="4434840"/>
            <a:ext cx="11292840" cy="384048"/>
          </a:xfrm>
          <a:prstGeom prst="rect">
            <a:avLst/>
          </a:prstGeom>
          <a:solidFill>
            <a:srgbClr val="F5F3EC"/>
          </a:solidFill>
          <a:ln/>
        </p:spPr>
        <p:txBody>
          <a:bodyPr/>
          <a:lstStyle/>
          <a:p>
            <a:endParaRPr lang="en-US" sz="1000"/>
          </a:p>
        </p:txBody>
      </p:sp>
      <p:sp>
        <p:nvSpPr>
          <p:cNvPr id="54" name="Text 52"/>
          <p:cNvSpPr/>
          <p:nvPr/>
        </p:nvSpPr>
        <p:spPr>
          <a:xfrm>
            <a:off x="320040" y="443484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804672" y="4434840"/>
            <a:ext cx="31455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860"/>
              </a:lnSpc>
              <a:buNone/>
            </a:pPr>
            <a:r>
              <a:rPr lang="en-US" sz="100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solution support post-event or intraday posting decisions?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005072" y="4434840"/>
            <a:ext cx="37856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820"/>
              </a:lnSpc>
              <a:buNone/>
            </a:pPr>
            <a:r>
              <a:rPr lang="en-US" sz="1000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Interim scope is post-event only — fitness-for-use was never expressed as metadata.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7845552" y="4434840"/>
            <a:ext cx="3739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820"/>
              </a:lnSpc>
              <a:buNone/>
            </a:pPr>
            <a:r>
              <a:rPr lang="en-US" sz="1000" dirty="0">
                <a:solidFill>
                  <a:srgbClr val="1F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Contract, Freshness, Catalog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20040" y="4818888"/>
            <a:ext cx="11292840" cy="384048"/>
          </a:xfrm>
          <a:prstGeom prst="rect">
            <a:avLst/>
          </a:prstGeom>
          <a:solidFill>
            <a:srgbClr val="EAF3EC"/>
          </a:solidFill>
          <a:ln/>
        </p:spPr>
        <p:txBody>
          <a:bodyPr/>
          <a:lstStyle/>
          <a:p>
            <a:endParaRPr lang="en-US" sz="1000"/>
          </a:p>
        </p:txBody>
      </p:sp>
      <p:sp>
        <p:nvSpPr>
          <p:cNvPr id="59" name="Text 57"/>
          <p:cNvSpPr/>
          <p:nvPr/>
        </p:nvSpPr>
        <p:spPr>
          <a:xfrm>
            <a:off x="320040" y="4818888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11★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804672" y="4818888"/>
            <a:ext cx="31455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860"/>
              </a:lnSpc>
              <a:buNone/>
            </a:pPr>
            <a:r>
              <a:rPr lang="en-US" sz="1000" b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BNY trusted over TAM/Colline for CSA eligibility?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4005072" y="4818888"/>
            <a:ext cx="37856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820"/>
              </a:lnSpc>
              <a:buNone/>
            </a:pPr>
            <a:r>
              <a:rPr lang="en-US" sz="1000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TAMS/REGDS authors terms, Colline just subscribes — no one reliably keeps it current.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7845552" y="4818888"/>
            <a:ext cx="3739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820"/>
              </a:lnSpc>
              <a:buNone/>
            </a:pPr>
            <a:r>
              <a:rPr lang="en-US" sz="1000" dirty="0">
                <a:solidFill>
                  <a:srgbClr val="1F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Ontology, Governance, Source-of-Record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320040" y="5202936"/>
            <a:ext cx="11292840" cy="384048"/>
          </a:xfrm>
          <a:prstGeom prst="rect">
            <a:avLst/>
          </a:prstGeom>
          <a:solidFill>
            <a:srgbClr val="F5F3EC"/>
          </a:solidFill>
          <a:ln/>
        </p:spPr>
        <p:txBody>
          <a:bodyPr/>
          <a:lstStyle/>
          <a:p>
            <a:endParaRPr lang="en-US" sz="1000"/>
          </a:p>
        </p:txBody>
      </p:sp>
      <p:sp>
        <p:nvSpPr>
          <p:cNvPr id="64" name="Text 62"/>
          <p:cNvSpPr/>
          <p:nvPr/>
        </p:nvSpPr>
        <p:spPr>
          <a:xfrm>
            <a:off x="320040" y="5202936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804672" y="5202936"/>
            <a:ext cx="31455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860"/>
              </a:lnSpc>
              <a:buNone/>
            </a:pPr>
            <a:r>
              <a:rPr lang="en-US" sz="100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XTP, and where do its files come from?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4005072" y="5202936"/>
            <a:ext cx="37856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820"/>
              </a:lnSpc>
              <a:buNone/>
            </a:pPr>
            <a:r>
              <a:rPr lang="en-US" sz="1000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brokers, not one — UBS (position/IM) and JPM (balances/allocation), both manual.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7845552" y="5202936"/>
            <a:ext cx="3739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820"/>
              </a:lnSpc>
              <a:buNone/>
            </a:pPr>
            <a:r>
              <a:rPr lang="en-US" sz="1000" dirty="0">
                <a:solidFill>
                  <a:srgbClr val="1F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Catalog, Data Contract, Ingestion Automation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320040" y="5586984"/>
            <a:ext cx="1129284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1000"/>
          </a:p>
        </p:txBody>
      </p:sp>
      <p:sp>
        <p:nvSpPr>
          <p:cNvPr id="69" name="Text 67"/>
          <p:cNvSpPr/>
          <p:nvPr/>
        </p:nvSpPr>
        <p:spPr>
          <a:xfrm>
            <a:off x="320040" y="5586984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804672" y="5586984"/>
            <a:ext cx="31455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860"/>
              </a:lnSpc>
              <a:buNone/>
            </a:pPr>
            <a:r>
              <a:rPr lang="en-US" sz="100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Repo and Prime collateral have no identified owner?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4005072" y="5586984"/>
            <a:ext cx="37856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820"/>
              </a:lnSpc>
              <a:buNone/>
            </a:pPr>
            <a:r>
              <a:rPr lang="en-US" sz="1000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source system, owner, or contact found anywhere in the material reviewed.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7845552" y="5586984"/>
            <a:ext cx="3739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820"/>
              </a:lnSpc>
              <a:buNone/>
            </a:pPr>
            <a:r>
              <a:rPr lang="en-US" sz="1000" dirty="0">
                <a:solidFill>
                  <a:srgbClr val="1F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Governance, Catalog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320040" y="5971032"/>
            <a:ext cx="11292840" cy="384048"/>
          </a:xfrm>
          <a:prstGeom prst="rect">
            <a:avLst/>
          </a:prstGeom>
          <a:solidFill>
            <a:srgbClr val="F5F3EC"/>
          </a:solidFill>
          <a:ln/>
        </p:spPr>
        <p:txBody>
          <a:bodyPr/>
          <a:lstStyle/>
          <a:p>
            <a:endParaRPr lang="en-US" sz="1000"/>
          </a:p>
        </p:txBody>
      </p:sp>
      <p:sp>
        <p:nvSpPr>
          <p:cNvPr id="74" name="Text 72"/>
          <p:cNvSpPr/>
          <p:nvPr/>
        </p:nvSpPr>
        <p:spPr>
          <a:xfrm>
            <a:off x="320040" y="5971032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804672" y="5971032"/>
            <a:ext cx="31455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860"/>
              </a:lnSpc>
              <a:buNone/>
            </a:pPr>
            <a:r>
              <a:rPr lang="en-US" sz="100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the dashboard query-based, not a semantic model?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4005072" y="5971032"/>
            <a:ext cx="37856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820"/>
              </a:lnSpc>
              <a:buNone/>
            </a:pPr>
            <a:r>
              <a:rPr lang="en-US" sz="1000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hoc SQL with no governed logic — two builders could get two valid-looking answers.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7845552" y="5971032"/>
            <a:ext cx="3739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820"/>
              </a:lnSpc>
              <a:buNone/>
            </a:pPr>
            <a:r>
              <a:rPr lang="en-US" sz="1000" dirty="0">
                <a:solidFill>
                  <a:srgbClr val="1F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Contract, Domain Model, Catalog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320040" y="6428232"/>
            <a:ext cx="114300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C6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= teaching example with full detail + diagram on the following slides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274320" y="6656832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Collateral Data Discovery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10881360" y="6656832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750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11521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550" b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doesn't the eligibility schedule split IM vs. VM?</a:t>
            </a:r>
            <a:endParaRPr lang="en-US" sz="1550" dirty="0"/>
          </a:p>
        </p:txBody>
      </p:sp>
      <p:sp>
        <p:nvSpPr>
          <p:cNvPr id="3" name="Text 1"/>
          <p:cNvSpPr/>
          <p:nvPr/>
        </p:nvSpPr>
        <p:spPr>
          <a:xfrm>
            <a:off x="320040" y="512064"/>
            <a:ext cx="1152144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 shows the connected concepts; Semantics declares what IM and VM mean and how the rule should be interpreted</a:t>
            </a:r>
            <a:r>
              <a:rPr lang="en-US" sz="850" i="1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320040" y="786384"/>
            <a:ext cx="5212080" cy="502920"/>
          </a:xfrm>
          <a:prstGeom prst="rect">
            <a:avLst/>
          </a:prstGeom>
          <a:solidFill>
            <a:srgbClr val="E5EEF7"/>
          </a:solidFill>
          <a:ln w="12700">
            <a:solidFill>
              <a:srgbClr val="2E4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38912" y="832104"/>
            <a:ext cx="497433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920"/>
              </a:lnSpc>
              <a:buNone/>
            </a:pPr>
            <a:r>
              <a:rPr lang="en-US" sz="1000" i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noticed the schedules do not seem to have the split by IM and VM. For VM cash eligibility, do we have formal documentation to share?”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" y="1380744"/>
            <a:ext cx="5212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00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LCH eligibility report represents Initial Margin only. Variation Margin is inferred as cash in the underlying currency — the same convention is assumed (not confirmed) for EUREX and ICE. The dataset never states explicitly which margin type a row represents; consumers infer it from institutional memory.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3026664"/>
            <a:ext cx="5212080" cy="274320"/>
          </a:xfrm>
          <a:prstGeom prst="rect">
            <a:avLst/>
          </a:prstGeom>
          <a:solidFill>
            <a:srgbClr val="0E3D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8912" y="3026664"/>
            <a:ext cx="4974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CAPABILITY:  Semantics, Ontology, Governance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0040" y="3410712"/>
            <a:ext cx="5212080" cy="640080"/>
          </a:xfrm>
          <a:prstGeom prst="rect">
            <a:avLst/>
          </a:prstGeom>
          <a:solidFill>
            <a:srgbClr val="F6EFE0"/>
          </a:solidFill>
          <a:ln w="12700">
            <a:solidFill>
              <a:srgbClr val="9C6B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8912" y="3465576"/>
            <a:ext cx="4974336" cy="128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C6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OUTCOME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38912" y="3621024"/>
            <a:ext cx="497433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000" i="1" dirty="0">
                <a:solidFill>
                  <a:srgbClr val="9C6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 and collateral users can interpret the data consistently and defend why a position was treated as IM or VM.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760720" y="786384"/>
            <a:ext cx="61264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897880" y="859536"/>
            <a:ext cx="585216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RESOLVES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7038137" y="1106424"/>
            <a:ext cx="3571646" cy="384048"/>
          </a:xfrm>
          <a:prstGeom prst="rect">
            <a:avLst/>
          </a:prstGeom>
          <a:solidFill>
            <a:srgbClr val="E5EEF7"/>
          </a:solidFill>
          <a:ln w="12700">
            <a:solidFill>
              <a:srgbClr val="2E4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038137" y="1106424"/>
            <a:ext cx="357164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Schedule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823960" y="1490472"/>
            <a:ext cx="0" cy="219456"/>
          </a:xfrm>
          <a:prstGeom prst="line">
            <a:avLst/>
          </a:prstGeom>
          <a:noFill/>
          <a:ln w="16510">
            <a:solidFill>
              <a:srgbClr val="2E4A6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038137" y="1728216"/>
            <a:ext cx="3571646" cy="384048"/>
          </a:xfrm>
          <a:prstGeom prst="rect">
            <a:avLst/>
          </a:prstGeom>
          <a:solidFill>
            <a:srgbClr val="2E4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038137" y="1728216"/>
            <a:ext cx="357164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Obligation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787030" y="2112264"/>
            <a:ext cx="0" cy="219456"/>
          </a:xfrm>
          <a:prstGeom prst="line">
            <a:avLst/>
          </a:prstGeom>
          <a:noFill/>
          <a:ln w="16510">
            <a:solidFill>
              <a:srgbClr val="2E4A6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860890" y="2112264"/>
            <a:ext cx="0" cy="219456"/>
          </a:xfrm>
          <a:prstGeom prst="line">
            <a:avLst/>
          </a:prstGeom>
          <a:noFill/>
          <a:ln w="16510">
            <a:solidFill>
              <a:srgbClr val="2E4A6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231636" y="2350008"/>
            <a:ext cx="2189074" cy="365760"/>
          </a:xfrm>
          <a:prstGeom prst="rect">
            <a:avLst/>
          </a:prstGeom>
          <a:solidFill>
            <a:srgbClr val="EAF3EC"/>
          </a:solidFill>
          <a:ln w="12700">
            <a:solidFill>
              <a:srgbClr val="1F7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31636" y="2350008"/>
            <a:ext cx="218907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80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Margin</a:t>
            </a:r>
            <a:endParaRPr lang="en-US" sz="800" dirty="0"/>
          </a:p>
          <a:p>
            <a:pPr marL="0" indent="0" algn="ctr">
              <a:lnSpc>
                <a:spcPts val="900"/>
              </a:lnSpc>
              <a:buNone/>
            </a:pPr>
            <a:r>
              <a:rPr lang="en-US" sz="80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(LCH report)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9227210" y="2350008"/>
            <a:ext cx="2189074" cy="365760"/>
          </a:xfrm>
          <a:prstGeom prst="rect">
            <a:avLst/>
          </a:prstGeom>
          <a:solidFill>
            <a:srgbClr val="F6EFE0"/>
          </a:solidFill>
          <a:ln w="12700">
            <a:solidFill>
              <a:srgbClr val="9C6B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227210" y="2350008"/>
            <a:ext cx="218907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880"/>
              </a:lnSpc>
              <a:buNone/>
            </a:pPr>
            <a:r>
              <a:rPr lang="en-US" sz="750" b="1" dirty="0">
                <a:solidFill>
                  <a:srgbClr val="9C6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 Margin</a:t>
            </a:r>
            <a:endParaRPr lang="en-US" sz="750" dirty="0"/>
          </a:p>
          <a:p>
            <a:pPr marL="0" indent="0" algn="ctr">
              <a:lnSpc>
                <a:spcPts val="880"/>
              </a:lnSpc>
              <a:buNone/>
            </a:pPr>
            <a:r>
              <a:rPr lang="en-US" sz="750" b="1" dirty="0">
                <a:solidFill>
                  <a:srgbClr val="9C6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(inferred: cash, underlying ccy)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943600" y="2889504"/>
            <a:ext cx="5760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i="1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convention assumed for EUREX and ICE, but never formally documented. Ownership sits with a separate operations team, not CMRM/MAG.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943600" y="3438144"/>
            <a:ext cx="5760720" cy="365760"/>
          </a:xfrm>
          <a:prstGeom prst="rect">
            <a:avLst/>
          </a:prstGeom>
          <a:solidFill>
            <a:srgbClr val="F7EAE6"/>
          </a:solidFill>
          <a:ln w="12700">
            <a:solidFill>
              <a:srgbClr val="9C3B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035040" y="3438144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OPEN: no formal owner/documentation for the VM rule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74320" y="6656832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Collateral Data Discovery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0881360" y="6656832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750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11521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550" b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doesn't ALFA contain all NAPE/Anvil assets?</a:t>
            </a:r>
            <a:endParaRPr lang="en-US" sz="1550" dirty="0"/>
          </a:p>
        </p:txBody>
      </p:sp>
      <p:sp>
        <p:nvSpPr>
          <p:cNvPr id="3" name="Text 1"/>
          <p:cNvSpPr/>
          <p:nvPr/>
        </p:nvSpPr>
        <p:spPr>
          <a:xfrm>
            <a:off x="320040" y="512064"/>
            <a:ext cx="1152144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could see the gap, but not where records disappeared across </a:t>
            </a:r>
            <a:r>
              <a:rPr lang="en-US" sz="900" i="1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r>
              <a:rPr lang="en-US" sz="850" i="1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system boundaries.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320040" y="786384"/>
            <a:ext cx="5212080" cy="502920"/>
          </a:xfrm>
          <a:prstGeom prst="rect">
            <a:avLst/>
          </a:prstGeom>
          <a:solidFill>
            <a:srgbClr val="E5EEF7"/>
          </a:solidFill>
          <a:ln w="12700">
            <a:solidFill>
              <a:srgbClr val="2E4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38912" y="832104"/>
            <a:ext cx="497433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920"/>
              </a:lnSpc>
              <a:buNone/>
            </a:pPr>
            <a:r>
              <a:rPr lang="en-US" sz="900" i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do not see all the assets. We are expecting approximately 13 billion of collateral pledged out. Why are the assets missing?”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1380744"/>
            <a:ext cx="5212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90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LRM receives NAPE data through Oasis. Some CUSIPs in the NAPE extract were absent from Oasis; Oasis returned 454 records while Trade Service returned 475 for the same book and date. No end-to-end view shows which records entered each stage, which were discarded, or which source is authoritative.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3026664"/>
            <a:ext cx="5212080" cy="274320"/>
          </a:xfrm>
          <a:prstGeom prst="rect">
            <a:avLst/>
          </a:prstGeom>
          <a:solidFill>
            <a:srgbClr val="0E3D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8912" y="3026664"/>
            <a:ext cx="4974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CAPABILITY:  Provenance, Lineage, Data Quality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0040" y="3410712"/>
            <a:ext cx="5212080" cy="640080"/>
          </a:xfrm>
          <a:prstGeom prst="rect">
            <a:avLst/>
          </a:prstGeom>
          <a:solidFill>
            <a:srgbClr val="F6EFE0"/>
          </a:solidFill>
          <a:ln w="12700">
            <a:solidFill>
              <a:srgbClr val="9C6B16"/>
            </a:solidFill>
            <a:prstDash val="solid"/>
          </a:ln>
        </p:spPr>
        <p:txBody>
          <a:bodyPr/>
          <a:lstStyle/>
          <a:p>
            <a:endParaRPr lang="en-US" sz="900"/>
          </a:p>
        </p:txBody>
      </p:sp>
      <p:sp>
        <p:nvSpPr>
          <p:cNvPr id="10" name="Text 8"/>
          <p:cNvSpPr/>
          <p:nvPr/>
        </p:nvSpPr>
        <p:spPr>
          <a:xfrm>
            <a:off x="438912" y="3465576"/>
            <a:ext cx="4974336" cy="128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6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OUTCOME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38912" y="3621024"/>
            <a:ext cx="497433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i="1" dirty="0">
                <a:solidFill>
                  <a:srgbClr val="9C6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collateral can be located and explained quickly, increasing confidence in downstream liquidity reporting.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760720" y="786384"/>
            <a:ext cx="61264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897880" y="859536"/>
            <a:ext cx="585216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RESOLVES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943600" y="1106424"/>
            <a:ext cx="5760720" cy="512064"/>
          </a:xfrm>
          <a:prstGeom prst="rect">
            <a:avLst/>
          </a:prstGeom>
          <a:solidFill>
            <a:srgbClr val="E5EEF7"/>
          </a:solidFill>
          <a:ln w="12700">
            <a:solidFill>
              <a:srgbClr val="2E4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080760" y="1152144"/>
            <a:ext cx="548640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E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NAPE / Anvil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080760" y="133502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820"/>
              </a:lnSpc>
              <a:buNone/>
            </a:pPr>
            <a:r>
              <a:rPr lang="en-US" sz="90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inventory · Expected: ~13B pledged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823960" y="1618488"/>
            <a:ext cx="0" cy="146304"/>
          </a:xfrm>
          <a:prstGeom prst="line">
            <a:avLst/>
          </a:prstGeom>
          <a:noFill/>
          <a:ln w="19050">
            <a:solidFill>
              <a:srgbClr val="1F7A4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943600" y="1764792"/>
            <a:ext cx="5760720" cy="512064"/>
          </a:xfrm>
          <a:prstGeom prst="rect">
            <a:avLst/>
          </a:prstGeom>
          <a:solidFill>
            <a:srgbClr val="F6EFE0"/>
          </a:solidFill>
          <a:ln w="12700">
            <a:solidFill>
              <a:srgbClr val="9C6B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080760" y="1810512"/>
            <a:ext cx="548640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6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Oasis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080760" y="1993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820"/>
              </a:lnSpc>
              <a:buNone/>
            </a:pPr>
            <a:r>
              <a:rPr lang="en-US" sz="90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received: 454 · Filters, transformations, discard rules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823960" y="2276856"/>
            <a:ext cx="0" cy="146304"/>
          </a:xfrm>
          <a:prstGeom prst="line">
            <a:avLst/>
          </a:prstGeom>
          <a:noFill/>
          <a:ln w="19050">
            <a:solidFill>
              <a:srgbClr val="1F7A4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943600" y="2423160"/>
            <a:ext cx="5760720" cy="512064"/>
          </a:xfrm>
          <a:prstGeom prst="rect">
            <a:avLst/>
          </a:prstGeom>
          <a:solidFill>
            <a:srgbClr val="EAF3EC"/>
          </a:solidFill>
          <a:ln w="12700">
            <a:solidFill>
              <a:srgbClr val="1F7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080760" y="2468880"/>
            <a:ext cx="548640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ALFA LRM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080760" y="2651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820"/>
              </a:lnSpc>
              <a:buNone/>
            </a:pPr>
            <a:r>
              <a:rPr lang="en-US" sz="90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inventory · Trade Service shows: 475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943600" y="3099816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860"/>
              </a:lnSpc>
              <a:buNone/>
            </a:pPr>
            <a:r>
              <a:rPr lang="en-US" sz="900" i="1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454 ≠ 475 for the same book and date — the discrepancy sits somewhere in this chain, but no view shows exactly where.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943600" y="3465576"/>
            <a:ext cx="5760720" cy="365760"/>
          </a:xfrm>
          <a:prstGeom prst="rect">
            <a:avLst/>
          </a:prstGeom>
          <a:solidFill>
            <a:srgbClr val="F7EAE6"/>
          </a:solidFill>
          <a:ln w="12700">
            <a:solidFill>
              <a:srgbClr val="9C3B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035040" y="3465576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OPEN: authoritative population &amp; discard reasons not yet traced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74320" y="6656832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Collateral Data Discovery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0881360" y="6656832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750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11521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550" b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ALFA, Colline and TAM be joined for eligibility + liquidity?</a:t>
            </a:r>
            <a:endParaRPr lang="en-US" sz="1550" dirty="0"/>
          </a:p>
        </p:txBody>
      </p:sp>
      <p:sp>
        <p:nvSpPr>
          <p:cNvPr id="3" name="Text 1"/>
          <p:cNvSpPr/>
          <p:nvPr/>
        </p:nvSpPr>
        <p:spPr>
          <a:xfrm>
            <a:off x="320040" y="512064"/>
            <a:ext cx="1152144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sees one process. The </a:t>
            </a:r>
            <a:r>
              <a:rPr lang="en-US" sz="900" i="1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r>
              <a:rPr lang="en-US" sz="850" i="1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publish three separate datasets with different keys, structures and timing.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320040" y="786384"/>
            <a:ext cx="5212080" cy="502920"/>
          </a:xfrm>
          <a:prstGeom prst="rect">
            <a:avLst/>
          </a:prstGeom>
          <a:solidFill>
            <a:srgbClr val="E5EEF7"/>
          </a:solidFill>
          <a:ln w="12700">
            <a:solidFill>
              <a:srgbClr val="2E4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38912" y="832104"/>
            <a:ext cx="497433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920"/>
              </a:lnSpc>
              <a:buNone/>
            </a:pPr>
            <a:r>
              <a:rPr lang="en-US" sz="900" i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“It is a complicated join because it requires data from ALFA, Colline and TAM, and it is not something we can do efficiently or accurately today.”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1380744"/>
            <a:ext cx="5212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90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relationship exists conceptually — Agreement through Liquidity Value — but each application stores a different part of it with its own identifiers, structures, grain and timing. A one-off technical join can be built, but it isn't reliable, reusable, or explainable.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3026664"/>
            <a:ext cx="5212080" cy="274320"/>
          </a:xfrm>
          <a:prstGeom prst="rect">
            <a:avLst/>
          </a:prstGeom>
          <a:solidFill>
            <a:srgbClr val="0E3D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8912" y="3026664"/>
            <a:ext cx="4974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CAPABILITY:  Domain Model, Ontology, Data Contract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3410712"/>
            <a:ext cx="5212080" cy="640080"/>
          </a:xfrm>
          <a:prstGeom prst="rect">
            <a:avLst/>
          </a:prstGeom>
          <a:solidFill>
            <a:srgbClr val="F6EFE0"/>
          </a:solidFill>
          <a:ln w="12700">
            <a:solidFill>
              <a:srgbClr val="9C6B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8912" y="3465576"/>
            <a:ext cx="4974336" cy="128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6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OUTCOME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38912" y="3621024"/>
            <a:ext cx="497433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i="1" dirty="0">
                <a:solidFill>
                  <a:srgbClr val="9C6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reusable collateral eligibility data product replaces repeated manual integration across ALFA, Colline and TAM.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760720" y="786384"/>
            <a:ext cx="61264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897880" y="859536"/>
            <a:ext cx="585216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RESOLVES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943600" y="1106424"/>
            <a:ext cx="57607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F7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053328" y="1106424"/>
            <a:ext cx="31683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3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</a:t>
            </a:r>
            <a:endParaRPr lang="en-US" sz="830" dirty="0"/>
          </a:p>
        </p:txBody>
      </p:sp>
      <p:sp>
        <p:nvSpPr>
          <p:cNvPr id="16" name="Text 14"/>
          <p:cNvSpPr/>
          <p:nvPr/>
        </p:nvSpPr>
        <p:spPr>
          <a:xfrm>
            <a:off x="9111996" y="1106424"/>
            <a:ext cx="24771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60" i="1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ID · Party</a:t>
            </a:r>
            <a:endParaRPr lang="en-US" sz="660" dirty="0"/>
          </a:p>
        </p:txBody>
      </p:sp>
      <p:sp>
        <p:nvSpPr>
          <p:cNvPr id="17" name="Shape 15"/>
          <p:cNvSpPr/>
          <p:nvPr/>
        </p:nvSpPr>
        <p:spPr>
          <a:xfrm>
            <a:off x="8823960" y="1472184"/>
            <a:ext cx="0" cy="132588"/>
          </a:xfrm>
          <a:prstGeom prst="line">
            <a:avLst/>
          </a:prstGeom>
          <a:noFill/>
          <a:ln w="16510">
            <a:solidFill>
              <a:srgbClr val="1F7A4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943600" y="1604772"/>
            <a:ext cx="57607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F7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053328" y="1604772"/>
            <a:ext cx="31683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3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Schedule</a:t>
            </a:r>
            <a:endParaRPr lang="en-US" sz="830" dirty="0"/>
          </a:p>
        </p:txBody>
      </p:sp>
      <p:sp>
        <p:nvSpPr>
          <p:cNvPr id="20" name="Text 18"/>
          <p:cNvSpPr/>
          <p:nvPr/>
        </p:nvSpPr>
        <p:spPr>
          <a:xfrm>
            <a:off x="9111996" y="1604772"/>
            <a:ext cx="24771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60" i="1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ID · Margin Type</a:t>
            </a:r>
            <a:endParaRPr lang="en-US" sz="660" dirty="0"/>
          </a:p>
        </p:txBody>
      </p:sp>
      <p:sp>
        <p:nvSpPr>
          <p:cNvPr id="21" name="Shape 19"/>
          <p:cNvSpPr/>
          <p:nvPr/>
        </p:nvSpPr>
        <p:spPr>
          <a:xfrm>
            <a:off x="8823960" y="1970532"/>
            <a:ext cx="0" cy="132588"/>
          </a:xfrm>
          <a:prstGeom prst="line">
            <a:avLst/>
          </a:prstGeom>
          <a:noFill/>
          <a:ln w="16510">
            <a:solidFill>
              <a:srgbClr val="1F7A4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943600" y="2103120"/>
            <a:ext cx="57607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F7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053328" y="2103120"/>
            <a:ext cx="31683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3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Rule</a:t>
            </a:r>
            <a:endParaRPr lang="en-US" sz="830" dirty="0"/>
          </a:p>
        </p:txBody>
      </p:sp>
      <p:sp>
        <p:nvSpPr>
          <p:cNvPr id="24" name="Text 22"/>
          <p:cNvSpPr/>
          <p:nvPr/>
        </p:nvSpPr>
        <p:spPr>
          <a:xfrm>
            <a:off x="9111996" y="2103120"/>
            <a:ext cx="24771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60" i="1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Class · Currency</a:t>
            </a:r>
            <a:endParaRPr lang="en-US" sz="660" dirty="0"/>
          </a:p>
        </p:txBody>
      </p:sp>
      <p:sp>
        <p:nvSpPr>
          <p:cNvPr id="25" name="Shape 23"/>
          <p:cNvSpPr/>
          <p:nvPr/>
        </p:nvSpPr>
        <p:spPr>
          <a:xfrm>
            <a:off x="8823960" y="2468880"/>
            <a:ext cx="0" cy="132588"/>
          </a:xfrm>
          <a:prstGeom prst="line">
            <a:avLst/>
          </a:prstGeom>
          <a:noFill/>
          <a:ln w="16510">
            <a:solidFill>
              <a:srgbClr val="1F7A4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943600" y="2601468"/>
            <a:ext cx="5760720" cy="365760"/>
          </a:xfrm>
          <a:prstGeom prst="rect">
            <a:avLst/>
          </a:prstGeom>
          <a:solidFill>
            <a:srgbClr val="1F7A47"/>
          </a:solidFill>
          <a:ln w="12700">
            <a:solidFill>
              <a:srgbClr val="1F7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053328" y="2601468"/>
            <a:ext cx="31683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Collateral Asset</a:t>
            </a:r>
            <a:endParaRPr lang="en-US" sz="830" dirty="0"/>
          </a:p>
        </p:txBody>
      </p:sp>
      <p:sp>
        <p:nvSpPr>
          <p:cNvPr id="28" name="Text 26"/>
          <p:cNvSpPr/>
          <p:nvPr/>
        </p:nvSpPr>
        <p:spPr>
          <a:xfrm>
            <a:off x="9111996" y="2601468"/>
            <a:ext cx="24771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60" i="1" dirty="0">
                <a:solidFill>
                  <a:srgbClr val="EA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ID · Classification</a:t>
            </a:r>
            <a:endParaRPr lang="en-US" sz="660" dirty="0"/>
          </a:p>
        </p:txBody>
      </p:sp>
      <p:sp>
        <p:nvSpPr>
          <p:cNvPr id="29" name="Shape 27"/>
          <p:cNvSpPr/>
          <p:nvPr/>
        </p:nvSpPr>
        <p:spPr>
          <a:xfrm>
            <a:off x="8823960" y="2967228"/>
            <a:ext cx="0" cy="132588"/>
          </a:xfrm>
          <a:prstGeom prst="line">
            <a:avLst/>
          </a:prstGeom>
          <a:noFill/>
          <a:ln w="16510">
            <a:solidFill>
              <a:srgbClr val="1F7A4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943600" y="3099816"/>
            <a:ext cx="57607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F7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053328" y="3099816"/>
            <a:ext cx="31683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3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Pledge</a:t>
            </a:r>
            <a:endParaRPr lang="en-US" sz="830" dirty="0"/>
          </a:p>
        </p:txBody>
      </p:sp>
      <p:sp>
        <p:nvSpPr>
          <p:cNvPr id="32" name="Text 30"/>
          <p:cNvSpPr/>
          <p:nvPr/>
        </p:nvSpPr>
        <p:spPr>
          <a:xfrm>
            <a:off x="9111996" y="3099816"/>
            <a:ext cx="24771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60" i="1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Pledge ID · Date</a:t>
            </a:r>
            <a:endParaRPr lang="en-US" sz="660" dirty="0"/>
          </a:p>
        </p:txBody>
      </p:sp>
      <p:sp>
        <p:nvSpPr>
          <p:cNvPr id="33" name="Shape 31"/>
          <p:cNvSpPr/>
          <p:nvPr/>
        </p:nvSpPr>
        <p:spPr>
          <a:xfrm>
            <a:off x="8823960" y="3465576"/>
            <a:ext cx="0" cy="132588"/>
          </a:xfrm>
          <a:prstGeom prst="line">
            <a:avLst/>
          </a:prstGeom>
          <a:noFill/>
          <a:ln w="16510">
            <a:solidFill>
              <a:srgbClr val="1F7A4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943600" y="3598164"/>
            <a:ext cx="57607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F7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053328" y="3598164"/>
            <a:ext cx="31683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3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 Value</a:t>
            </a:r>
            <a:endParaRPr lang="en-US" sz="830" dirty="0"/>
          </a:p>
        </p:txBody>
      </p:sp>
      <p:sp>
        <p:nvSpPr>
          <p:cNvPr id="36" name="Text 34"/>
          <p:cNvSpPr/>
          <p:nvPr/>
        </p:nvSpPr>
        <p:spPr>
          <a:xfrm>
            <a:off x="9111996" y="3598164"/>
            <a:ext cx="24771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60" i="1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· Currency · Haircut</a:t>
            </a:r>
            <a:endParaRPr lang="en-US" sz="660" dirty="0"/>
          </a:p>
        </p:txBody>
      </p:sp>
      <p:sp>
        <p:nvSpPr>
          <p:cNvPr id="37" name="Text 35"/>
          <p:cNvSpPr/>
          <p:nvPr/>
        </p:nvSpPr>
        <p:spPr>
          <a:xfrm>
            <a:off x="5943600" y="411480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860"/>
              </a:lnSpc>
              <a:buNone/>
            </a:pPr>
            <a:r>
              <a:rPr lang="en-US" sz="900" i="1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confirmed business key or match hierarchy connects these today — each app stores its own identifiers, grain, and timing.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74320" y="6656832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Collateral Data Discovery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0881360" y="6656832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750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11521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550" b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BNY trusted over TAM/Colline for CSA eligibility?</a:t>
            </a:r>
            <a:endParaRPr lang="en-US" sz="1550" dirty="0"/>
          </a:p>
        </p:txBody>
      </p:sp>
      <p:sp>
        <p:nvSpPr>
          <p:cNvPr id="3" name="Text 1"/>
          <p:cNvSpPr/>
          <p:nvPr/>
        </p:nvSpPr>
        <p:spPr>
          <a:xfrm>
            <a:off x="320040" y="512064"/>
            <a:ext cx="1152144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already caught this going wrong in production — Colline showed corporates eligible when BNY said they weren't.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20040" y="786384"/>
            <a:ext cx="5212080" cy="502920"/>
          </a:xfrm>
          <a:prstGeom prst="rect">
            <a:avLst/>
          </a:prstGeom>
          <a:solidFill>
            <a:srgbClr val="E5EEF7"/>
          </a:solidFill>
          <a:ln w="12700">
            <a:solidFill>
              <a:srgbClr val="2E4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38912" y="832104"/>
            <a:ext cx="497433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920"/>
              </a:lnSpc>
              <a:buNone/>
            </a:pPr>
            <a:r>
              <a:rPr lang="en-US" sz="900" i="1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“Colline has incorrect eligibility terms where BNY is correct. GDSI shows corps as eligible in Colline where BNY does not have them eligible.”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1380744"/>
            <a:ext cx="5212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900" dirty="0">
                <a:solidFill>
                  <a:srgbClr val="1C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terms are authored in TAMS/REGDS; Colline is simply a subscriber. BNY is the business-recognized golden source used for daily operations. No one reliably corrects TAMS/REGDS/Colline once terms are set, so the data drifts stale relative to BNY — and it's unconfirmed whether TAM = Colline = BNY at all.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3026664"/>
            <a:ext cx="5212080" cy="274320"/>
          </a:xfrm>
          <a:prstGeom prst="rect">
            <a:avLst/>
          </a:prstGeom>
          <a:solidFill>
            <a:srgbClr val="0E3D29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38912" y="3026664"/>
            <a:ext cx="4974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CAPABILITY:  Ontology, Governance, Source-of-Record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3410712"/>
            <a:ext cx="5212080" cy="640080"/>
          </a:xfrm>
          <a:prstGeom prst="rect">
            <a:avLst/>
          </a:prstGeom>
          <a:solidFill>
            <a:srgbClr val="F6EFE0"/>
          </a:solidFill>
          <a:ln w="12700">
            <a:solidFill>
              <a:srgbClr val="9C6B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8912" y="3465576"/>
            <a:ext cx="4974336" cy="128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6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OUTCOME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38912" y="3621024"/>
            <a:ext cx="497433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i="1" dirty="0">
                <a:solidFill>
                  <a:srgbClr val="9C6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mismatches become visible and owned, not discovered by accident during an investigation.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760720" y="786384"/>
            <a:ext cx="61264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897880" y="859536"/>
            <a:ext cx="585216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RESOLVES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943600" y="1106424"/>
            <a:ext cx="2534717" cy="457200"/>
          </a:xfrm>
          <a:prstGeom prst="rect">
            <a:avLst/>
          </a:prstGeom>
          <a:solidFill>
            <a:srgbClr val="E5EEF7"/>
          </a:solidFill>
          <a:ln w="12700">
            <a:solidFill>
              <a:srgbClr val="2E4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0" y="1106424"/>
            <a:ext cx="253471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TAMS / REGDS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3600" y="1581912"/>
            <a:ext cx="2534717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 eligibility terms</a:t>
            </a:r>
            <a:endParaRPr lang="en-US" sz="680" dirty="0"/>
          </a:p>
        </p:txBody>
      </p:sp>
      <p:sp>
        <p:nvSpPr>
          <p:cNvPr id="17" name="Shape 15"/>
          <p:cNvSpPr/>
          <p:nvPr/>
        </p:nvSpPr>
        <p:spPr>
          <a:xfrm>
            <a:off x="8478317" y="1335024"/>
            <a:ext cx="691286" cy="0"/>
          </a:xfrm>
          <a:prstGeom prst="line">
            <a:avLst/>
          </a:prstGeom>
          <a:noFill/>
          <a:ln w="16510">
            <a:solidFill>
              <a:srgbClr val="2E4A6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169603" y="1106424"/>
            <a:ext cx="2534717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4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169603" y="1106424"/>
            <a:ext cx="253471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Colline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169603" y="1581912"/>
            <a:ext cx="2534717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subscribes only — reference/check</a:t>
            </a:r>
            <a:endParaRPr lang="en-US" sz="680" dirty="0"/>
          </a:p>
        </p:txBody>
      </p:sp>
      <p:sp>
        <p:nvSpPr>
          <p:cNvPr id="21" name="Shape 19"/>
          <p:cNvSpPr/>
          <p:nvPr/>
        </p:nvSpPr>
        <p:spPr>
          <a:xfrm>
            <a:off x="8823960" y="1901952"/>
            <a:ext cx="0" cy="237744"/>
          </a:xfrm>
          <a:prstGeom prst="line">
            <a:avLst/>
          </a:prstGeom>
          <a:noFill/>
          <a:ln w="19050">
            <a:solidFill>
              <a:srgbClr val="9C3B2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095744" y="2157984"/>
            <a:ext cx="3456432" cy="438912"/>
          </a:xfrm>
          <a:prstGeom prst="rect">
            <a:avLst/>
          </a:prstGeom>
          <a:solidFill>
            <a:srgbClr val="1F7A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095744" y="2157984"/>
            <a:ext cx="34564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BNY (BONY)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43600" y="2624328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source — used for daily operations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5943600" y="2916936"/>
            <a:ext cx="5760720" cy="512064"/>
          </a:xfrm>
          <a:prstGeom prst="rect">
            <a:avLst/>
          </a:prstGeom>
          <a:solidFill>
            <a:srgbClr val="F7EAE6"/>
          </a:solidFill>
          <a:ln w="12700">
            <a:solidFill>
              <a:srgbClr val="9C3B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053328" y="2953512"/>
            <a:ext cx="5541264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820"/>
              </a:lnSpc>
              <a:buNone/>
            </a:pPr>
            <a:r>
              <a:rPr lang="en-US" sz="900" i="1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case: GDSI shows corps eligible in Colline. BNY says not eligible. No one reliably updates TAMS/REGDS/Colline once terms are set.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943600" y="3502152"/>
            <a:ext cx="5760720" cy="292608"/>
          </a:xfrm>
          <a:prstGeom prst="rect">
            <a:avLst/>
          </a:prstGeom>
          <a:solidFill>
            <a:srgbClr val="F6EFE0"/>
          </a:solidFill>
          <a:ln w="12700">
            <a:solidFill>
              <a:srgbClr val="9C6B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035040" y="3502152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780"/>
              </a:lnSpc>
              <a:buNone/>
            </a:pPr>
            <a:r>
              <a:rPr lang="en-US" sz="900" b="1" dirty="0">
                <a:solidFill>
                  <a:srgbClr val="9C6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pursue TAM/REGDS if gaps + controls closed with certainty — else source from BNY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74320" y="6656832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Collateral Data Discovery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0881360" y="6656832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750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8064</TotalTime>
  <Words>2003</Words>
  <Application>Microsoft Macintosh PowerPoint</Application>
  <PresentationFormat>Widescreen</PresentationFormat>
  <Paragraphs>352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Reena Cheema</cp:lastModifiedBy>
  <cp:revision>22</cp:revision>
  <dcterms:created xsi:type="dcterms:W3CDTF">2026-08-24T23:57:36Z</dcterms:created>
  <dcterms:modified xsi:type="dcterms:W3CDTF">2026-08-31T03:29:48Z</dcterms:modified>
</cp:coreProperties>
</file>