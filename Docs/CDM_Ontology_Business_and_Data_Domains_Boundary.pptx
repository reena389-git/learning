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3" r:id="rId5"/>
    <p:sldId id="259" r:id="rId6"/>
    <p:sldId id="260"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130"/>
    <p:restoredTop sz="94610"/>
  </p:normalViewPr>
  <p:slideViewPr>
    <p:cSldViewPr snapToGrid="0" snapToObjects="1">
      <p:cViewPr varScale="1">
        <p:scale>
          <a:sx n="96" d="100"/>
          <a:sy n="96" d="100"/>
        </p:scale>
        <p:origin x="176"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4367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sketch industrialized: left - Risk ontology (definitions) with product mappings beneath, data lives in risk products, 20 apps join per timeline; right - CDM disambiguated: subject-area models (one per data domain, central team, definitions only) -&gt; CDM products (aggregates, consolidation once) -&gt; two ports (services = today's ref/market/trade; batch tables). Center: the boundary = entity alignment, model-to-model, thin, Risk data team owns; aligned/partial/risk_only/divergent; no column crosswalks. Both tracks parallel; align at boundary; data never moves for meaning.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mappings, each with author and owner. 1 product-&gt;ontology: app teams author, risk data team stewards. 2 ontology&lt;-&gt;CDM: risk data team, one artifact. 3 sources-&gt;subject models-&gt;CDM products: central team. 4 AMBER = THE GAP: existing data services (Veritas/ref/market/trade) must be mapped to the subject-area definitions and become their operational port - service teams implement, central team owns definitions; today unassigned - the decision we ask for. 5 classification = one governed tag by product owner.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seed the consumed core from reference masters; profiler-drafted declarations with 45-min verdicts; crystallize v1 (promote shared, keep local local, record upstream sources = free alignment draft); apps map back per stage 0-3, coverage per team, nothing waits. Two-colour rule from collateral: consumed (blue) vs produced (green) entities. Closing principle verbatim.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Risk owns OTC Collateral (CMOS) only - not all collateral. SFT and Prime collateral belong to other business domains; Risk builds the cross-market aggregate as a CONSUMER-ALIGNED product, mapping their data at the Risk boundary. Two taxonomies made explicit: business domains = ownership; data domains (the CDO grid: Pre-Trade, Position, Payments, Derived Data &amp; Metrics, Reference &amp; Master...) = subject areas spanning systems. A product is owned by a business subdomain and classified into data domains: Risk outputs -&gt; Derived Data &amp; Metrics; conformed entities -&gt; Reference &amp; Master. Product types (source-aligned/aggregate/consumer-aligned, foundational/derived) are labels on products, never owners. Firm-wide collateral product =&gt; firm-level owner; our model is the blueprint.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own shared products (as accountable product owner); own canonical definitions (the missing appointment - every port inherits one model); run governance machinery (referee: standards + CI conformance tests + certification); enablement builds for incapable domains with named business owners. Forbidden: gatekeeping - the EDW failure mesh was invented against; ungoverned middlemen drift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offices: platform (self-serve pipes+ports), CDO (governance machinery + AI that depends on declarations), central data team (shared products, canonical definitions, enablement). Domains own their subdomains' meaning/products, map once at their boundary. Worked example: collateral - desks own operations, systems own data, meaning unowned; subdomain data owner = the appointment; model exists, decision not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515600" cy="274320"/>
          </a:xfrm>
          <a:prstGeom prst="rect">
            <a:avLst/>
          </a:prstGeom>
          <a:noFill/>
          <a:ln/>
        </p:spPr>
        <p:txBody>
          <a:bodyPr wrap="square" lIns="0" tIns="0" rIns="0" bIns="0" rtlCol="0" anchor="ctr"/>
          <a:lstStyle/>
          <a:p>
            <a:pPr marL="0" indent="0">
              <a:buNone/>
            </a:pPr>
            <a:r>
              <a:rPr lang="en-US" sz="1050" b="1" kern="0" spc="200" dirty="0">
                <a:solidFill>
                  <a:srgbClr val="1F7A47"/>
                </a:solidFill>
                <a:latin typeface="Calibri" pitchFamily="34" charset="0"/>
                <a:ea typeface="Calibri" pitchFamily="34" charset="-122"/>
                <a:cs typeface="Calibri" pitchFamily="34" charset="-120"/>
              </a:rPr>
              <a:t>THE CONNECTED PICTURE</a:t>
            </a:r>
            <a:endParaRPr lang="en-US" sz="1050" dirty="0"/>
          </a:p>
        </p:txBody>
      </p:sp>
      <p:sp>
        <p:nvSpPr>
          <p:cNvPr id="3" name="Text 1"/>
          <p:cNvSpPr/>
          <p:nvPr/>
        </p:nvSpPr>
        <p:spPr>
          <a:xfrm>
            <a:off x="502920" y="530352"/>
            <a:ext cx="11338560" cy="457200"/>
          </a:xfrm>
          <a:prstGeom prst="rect">
            <a:avLst/>
          </a:prstGeom>
          <a:noFill/>
          <a:ln/>
        </p:spPr>
        <p:txBody>
          <a:bodyPr wrap="square" lIns="0" tIns="0" rIns="0" bIns="0" rtlCol="0" anchor="ctr"/>
          <a:lstStyle/>
          <a:p>
            <a:pPr marL="0" indent="0">
              <a:buNone/>
            </a:pPr>
            <a:r>
              <a:rPr lang="en-US" sz="2100" b="1" dirty="0">
                <a:solidFill>
                  <a:srgbClr val="0E3D29"/>
                </a:solidFill>
                <a:latin typeface="Calibri" pitchFamily="34" charset="0"/>
                <a:ea typeface="Calibri" pitchFamily="34" charset="-122"/>
                <a:cs typeface="Calibri" pitchFamily="34" charset="-120"/>
              </a:rPr>
              <a:t>Two Parallel Tracks, One Alignment — Data Never Moves for Meaning</a:t>
            </a:r>
            <a:endParaRPr lang="en-US" sz="2100" dirty="0"/>
          </a:p>
        </p:txBody>
      </p:sp>
      <p:sp>
        <p:nvSpPr>
          <p:cNvPr id="4" name="Shape 2"/>
          <p:cNvSpPr/>
          <p:nvPr/>
        </p:nvSpPr>
        <p:spPr>
          <a:xfrm>
            <a:off x="502920" y="1143000"/>
            <a:ext cx="4206240" cy="4709160"/>
          </a:xfrm>
          <a:prstGeom prst="roundRect">
            <a:avLst>
              <a:gd name="adj" fmla="val 1087"/>
            </a:avLst>
          </a:prstGeom>
          <a:solidFill>
            <a:srgbClr val="FBFDFB"/>
          </a:solidFill>
          <a:ln w="15240">
            <a:solidFill>
              <a:srgbClr val="1F7A47"/>
            </a:solidFill>
            <a:prstDash val="solid"/>
          </a:ln>
        </p:spPr>
        <p:txBody>
          <a:bodyPr/>
          <a:lstStyle/>
          <a:p>
            <a:endParaRPr lang="en-US"/>
          </a:p>
        </p:txBody>
      </p:sp>
      <p:sp>
        <p:nvSpPr>
          <p:cNvPr id="5" name="Text 3"/>
          <p:cNvSpPr/>
          <p:nvPr/>
        </p:nvSpPr>
        <p:spPr>
          <a:xfrm>
            <a:off x="640080" y="1216152"/>
            <a:ext cx="3931920" cy="274320"/>
          </a:xfrm>
          <a:prstGeom prst="rect">
            <a:avLst/>
          </a:prstGeom>
          <a:noFill/>
          <a:ln/>
        </p:spPr>
        <p:txBody>
          <a:bodyPr wrap="square" lIns="0" tIns="0" rIns="0" bIns="0" rtlCol="0" anchor="t"/>
          <a:lstStyle/>
          <a:p>
            <a:pPr marL="0" indent="0">
              <a:lnSpc>
                <a:spcPct val="106000"/>
              </a:lnSpc>
              <a:buNone/>
            </a:pPr>
            <a:r>
              <a:rPr lang="en-US" sz="1200" b="1" dirty="0">
                <a:solidFill>
                  <a:srgbClr val="0E3D29"/>
                </a:solidFill>
                <a:latin typeface="Calibri" pitchFamily="34" charset="0"/>
                <a:ea typeface="Calibri" pitchFamily="34" charset="-122"/>
                <a:cs typeface="Calibri" pitchFamily="34" charset="-120"/>
              </a:rPr>
              <a:t>BUSINESS DOMAIN — RISK</a:t>
            </a:r>
            <a:endParaRPr lang="en-US" sz="1200" dirty="0"/>
          </a:p>
        </p:txBody>
      </p:sp>
      <p:sp>
        <p:nvSpPr>
          <p:cNvPr id="6" name="Shape 4"/>
          <p:cNvSpPr/>
          <p:nvPr/>
        </p:nvSpPr>
        <p:spPr>
          <a:xfrm>
            <a:off x="731520" y="1600200"/>
            <a:ext cx="3749040" cy="777240"/>
          </a:xfrm>
          <a:prstGeom prst="roundRect">
            <a:avLst>
              <a:gd name="adj" fmla="val 5882"/>
            </a:avLst>
          </a:prstGeom>
          <a:solidFill>
            <a:srgbClr val="EAF3EC"/>
          </a:solidFill>
          <a:ln w="15240">
            <a:solidFill>
              <a:srgbClr val="1F7A47"/>
            </a:solidFill>
            <a:prstDash val="solid"/>
          </a:ln>
        </p:spPr>
        <p:txBody>
          <a:bodyPr/>
          <a:lstStyle/>
          <a:p>
            <a:endParaRPr lang="en-US"/>
          </a:p>
        </p:txBody>
      </p:sp>
      <p:sp>
        <p:nvSpPr>
          <p:cNvPr id="7" name="Text 5"/>
          <p:cNvSpPr/>
          <p:nvPr/>
        </p:nvSpPr>
        <p:spPr>
          <a:xfrm>
            <a:off x="868680" y="1673352"/>
            <a:ext cx="3520440" cy="640080"/>
          </a:xfrm>
          <a:prstGeom prst="rect">
            <a:avLst/>
          </a:prstGeom>
          <a:noFill/>
          <a:ln/>
        </p:spPr>
        <p:txBody>
          <a:bodyPr wrap="square" lIns="0" tIns="0" rIns="0" bIns="0" rtlCol="0" anchor="t"/>
          <a:lstStyle/>
          <a:p>
            <a:pPr marL="0" indent="0">
              <a:lnSpc>
                <a:spcPct val="106000"/>
              </a:lnSpc>
              <a:buNone/>
            </a:pPr>
            <a:r>
              <a:rPr lang="en-US" sz="1000" b="1" dirty="0">
                <a:solidFill>
                  <a:srgbClr val="0E3D29"/>
                </a:solidFill>
                <a:latin typeface="Calibri" pitchFamily="34" charset="0"/>
                <a:ea typeface="Calibri" pitchFamily="34" charset="-122"/>
                <a:cs typeface="Calibri" pitchFamily="34" charset="-120"/>
              </a:rPr>
              <a:t>RISK ONTOLOGY (the model)
</a:t>
            </a:r>
            <a:r>
              <a:rPr lang="en-US" sz="850" dirty="0">
                <a:solidFill>
                  <a:srgbClr val="262B27"/>
                </a:solidFill>
                <a:latin typeface="Calibri" pitchFamily="34" charset="0"/>
                <a:ea typeface="Calibri" pitchFamily="34" charset="-122"/>
                <a:cs typeface="Calibri" pitchFamily="34" charset="-120"/>
              </a:rPr>
              <a:t>definitions · entities · relationships — Risk’s own dictionary, authoritative inside Risk</a:t>
            </a:r>
            <a:endParaRPr lang="en-US" sz="1000" dirty="0"/>
          </a:p>
        </p:txBody>
      </p:sp>
      <p:sp>
        <p:nvSpPr>
          <p:cNvPr id="8" name="Shape 6"/>
          <p:cNvSpPr/>
          <p:nvPr/>
        </p:nvSpPr>
        <p:spPr>
          <a:xfrm flipV="1">
            <a:off x="2606040" y="2377440"/>
            <a:ext cx="0" cy="365760"/>
          </a:xfrm>
          <a:prstGeom prst="line">
            <a:avLst/>
          </a:prstGeom>
          <a:noFill/>
          <a:ln w="19050">
            <a:solidFill>
              <a:srgbClr val="8B8272"/>
            </a:solidFill>
            <a:prstDash val="solid"/>
            <a:tailEnd type="triangle"/>
          </a:ln>
        </p:spPr>
        <p:txBody>
          <a:bodyPr/>
          <a:lstStyle/>
          <a:p>
            <a:endParaRPr lang="en-US"/>
          </a:p>
        </p:txBody>
      </p:sp>
      <p:sp>
        <p:nvSpPr>
          <p:cNvPr id="9" name="Text 7"/>
          <p:cNvSpPr/>
          <p:nvPr/>
        </p:nvSpPr>
        <p:spPr>
          <a:xfrm>
            <a:off x="2743200" y="2432304"/>
            <a:ext cx="1737360" cy="256032"/>
          </a:xfrm>
          <a:prstGeom prst="rect">
            <a:avLst/>
          </a:prstGeom>
          <a:noFill/>
          <a:ln/>
        </p:spPr>
        <p:txBody>
          <a:bodyPr wrap="square" lIns="0" tIns="0" rIns="0" bIns="0" rtlCol="0" anchor="t"/>
          <a:lstStyle/>
          <a:p>
            <a:pPr marL="0" indent="0">
              <a:lnSpc>
                <a:spcPct val="106000"/>
              </a:lnSpc>
              <a:buNone/>
            </a:pPr>
            <a:r>
              <a:rPr lang="en-US" sz="800" b="1" dirty="0">
                <a:solidFill>
                  <a:srgbClr val="6B7670"/>
                </a:solidFill>
                <a:latin typeface="Calibri" pitchFamily="34" charset="0"/>
                <a:ea typeface="Calibri" pitchFamily="34" charset="-122"/>
                <a:cs typeface="Calibri" pitchFamily="34" charset="-120"/>
              </a:rPr>
              <a:t>MAPPINGS (column → entity)</a:t>
            </a:r>
            <a:endParaRPr lang="en-US" sz="800" dirty="0"/>
          </a:p>
        </p:txBody>
      </p:sp>
      <p:sp>
        <p:nvSpPr>
          <p:cNvPr id="10" name="Shape 8"/>
          <p:cNvSpPr/>
          <p:nvPr/>
        </p:nvSpPr>
        <p:spPr>
          <a:xfrm>
            <a:off x="731520" y="2743200"/>
            <a:ext cx="3749040" cy="914400"/>
          </a:xfrm>
          <a:prstGeom prst="roundRect">
            <a:avLst>
              <a:gd name="adj" fmla="val 5000"/>
            </a:avLst>
          </a:prstGeom>
          <a:solidFill>
            <a:srgbClr val="F4EDDD"/>
          </a:solidFill>
          <a:ln w="15240">
            <a:solidFill>
              <a:srgbClr val="8A6A2F"/>
            </a:solidFill>
            <a:prstDash val="solid"/>
          </a:ln>
        </p:spPr>
        <p:txBody>
          <a:bodyPr/>
          <a:lstStyle/>
          <a:p>
            <a:endParaRPr lang="en-US"/>
          </a:p>
        </p:txBody>
      </p:sp>
      <p:sp>
        <p:nvSpPr>
          <p:cNvPr id="11" name="Text 9"/>
          <p:cNvSpPr/>
          <p:nvPr/>
        </p:nvSpPr>
        <p:spPr>
          <a:xfrm>
            <a:off x="868680" y="2816352"/>
            <a:ext cx="3520440" cy="777240"/>
          </a:xfrm>
          <a:prstGeom prst="rect">
            <a:avLst/>
          </a:prstGeom>
          <a:noFill/>
          <a:ln/>
        </p:spPr>
        <p:txBody>
          <a:bodyPr wrap="square" lIns="0" tIns="0" rIns="0" bIns="0" rtlCol="0" anchor="t"/>
          <a:lstStyle/>
          <a:p>
            <a:pPr marL="0" indent="0">
              <a:lnSpc>
                <a:spcPct val="106000"/>
              </a:lnSpc>
              <a:buNone/>
            </a:pPr>
            <a:r>
              <a:rPr lang="en-US" sz="1000" b="1" dirty="0">
                <a:solidFill>
                  <a:srgbClr val="8A6A2F"/>
                </a:solidFill>
                <a:latin typeface="Calibri" pitchFamily="34" charset="0"/>
                <a:ea typeface="Calibri" pitchFamily="34" charset="-122"/>
                <a:cs typeface="Calibri" pitchFamily="34" charset="-120"/>
              </a:rPr>
              <a:t>RISK DATA PRODUCTS  (data LIVES here)
</a:t>
            </a:r>
            <a:r>
              <a:rPr lang="en-US" sz="850" dirty="0">
                <a:solidFill>
                  <a:srgbClr val="262B27"/>
                </a:solidFill>
                <a:latin typeface="Calibri" pitchFamily="34" charset="0"/>
                <a:ea typeface="Calibri" pitchFamily="34" charset="-122"/>
                <a:cs typeface="Calibri" pitchFamily="34" charset="-120"/>
              </a:rPr>
              <a:t>app outputs → bronze/silver → gold, born conformed. Consumed in batch. Classified into data domains by TAG.</a:t>
            </a:r>
            <a:endParaRPr lang="en-US" sz="1000" dirty="0"/>
          </a:p>
        </p:txBody>
      </p:sp>
      <p:sp>
        <p:nvSpPr>
          <p:cNvPr id="12" name="Shape 10"/>
          <p:cNvSpPr/>
          <p:nvPr/>
        </p:nvSpPr>
        <p:spPr>
          <a:xfrm>
            <a:off x="731520" y="3840480"/>
            <a:ext cx="3749040" cy="914400"/>
          </a:xfrm>
          <a:prstGeom prst="roundRect">
            <a:avLst>
              <a:gd name="adj" fmla="val 5000"/>
            </a:avLst>
          </a:prstGeom>
          <a:solidFill>
            <a:srgbClr val="F5F7F5"/>
          </a:solidFill>
          <a:ln w="15240">
            <a:solidFill>
              <a:srgbClr val="D8E0DA"/>
            </a:solidFill>
            <a:prstDash val="solid"/>
          </a:ln>
        </p:spPr>
        <p:txBody>
          <a:bodyPr/>
          <a:lstStyle/>
          <a:p>
            <a:endParaRPr lang="en-US"/>
          </a:p>
        </p:txBody>
      </p:sp>
      <p:sp>
        <p:nvSpPr>
          <p:cNvPr id="13" name="Text 11"/>
          <p:cNvSpPr/>
          <p:nvPr/>
        </p:nvSpPr>
        <p:spPr>
          <a:xfrm>
            <a:off x="868680" y="3913632"/>
            <a:ext cx="3520440" cy="777240"/>
          </a:xfrm>
          <a:prstGeom prst="rect">
            <a:avLst/>
          </a:prstGeom>
          <a:noFill/>
          <a:ln/>
        </p:spPr>
        <p:txBody>
          <a:bodyPr wrap="square" lIns="0" tIns="0" rIns="0" bIns="0" rtlCol="0" anchor="t"/>
          <a:lstStyle/>
          <a:p>
            <a:pPr marL="0" indent="0">
              <a:lnSpc>
                <a:spcPct val="106000"/>
              </a:lnSpc>
              <a:buNone/>
            </a:pPr>
            <a:r>
              <a:rPr lang="en-US" sz="1000" b="1" dirty="0">
                <a:solidFill>
                  <a:srgbClr val="262B27"/>
                </a:solidFill>
                <a:latin typeface="Calibri" pitchFamily="34" charset="0"/>
                <a:ea typeface="Calibri" pitchFamily="34" charset="-122"/>
                <a:cs typeface="Calibri" pitchFamily="34" charset="-120"/>
              </a:rPr>
              <a:t>~20 APPLICATIONS
</a:t>
            </a:r>
            <a:r>
              <a:rPr lang="en-US" sz="850" dirty="0">
                <a:solidFill>
                  <a:srgbClr val="262B27"/>
                </a:solidFill>
                <a:latin typeface="Calibri" pitchFamily="34" charset="0"/>
                <a:ea typeface="Calibri" pitchFamily="34" charset="-122"/>
                <a:cs typeface="Calibri" pitchFamily="34" charset="-120"/>
              </a:rPr>
              <a:t>declare entities · map once to the ontology · join at their own timeline (stages 0→3)</a:t>
            </a:r>
            <a:endParaRPr lang="en-US" sz="1000" dirty="0"/>
          </a:p>
        </p:txBody>
      </p:sp>
      <p:sp>
        <p:nvSpPr>
          <p:cNvPr id="14" name="Text 12"/>
          <p:cNvSpPr/>
          <p:nvPr/>
        </p:nvSpPr>
        <p:spPr>
          <a:xfrm>
            <a:off x="731520" y="4892040"/>
            <a:ext cx="3840480" cy="822960"/>
          </a:xfrm>
          <a:prstGeom prst="rect">
            <a:avLst/>
          </a:prstGeom>
          <a:noFill/>
          <a:ln/>
        </p:spPr>
        <p:txBody>
          <a:bodyPr wrap="square" lIns="0" tIns="0" rIns="0" bIns="0" rtlCol="0" anchor="t"/>
          <a:lstStyle/>
          <a:p>
            <a:pPr marL="0" indent="0">
              <a:lnSpc>
                <a:spcPct val="106000"/>
              </a:lnSpc>
              <a:buNone/>
            </a:pPr>
            <a:r>
              <a:rPr lang="en-US" sz="850" b="1" dirty="0">
                <a:solidFill>
                  <a:srgbClr val="0E3D29"/>
                </a:solidFill>
                <a:latin typeface="Calibri" pitchFamily="34" charset="0"/>
                <a:ea typeface="Calibri" pitchFamily="34" charset="-122"/>
                <a:cs typeface="Calibri" pitchFamily="34" charset="-120"/>
              </a:rPr>
              <a:t>Authors: </a:t>
            </a:r>
            <a:r>
              <a:rPr lang="en-US" sz="850" dirty="0">
                <a:solidFill>
                  <a:srgbClr val="262B27"/>
                </a:solidFill>
                <a:latin typeface="Calibri" pitchFamily="34" charset="0"/>
                <a:ea typeface="Calibri" pitchFamily="34" charset="-122"/>
                <a:cs typeface="Calibri" pitchFamily="34" charset="-120"/>
              </a:rPr>
              <a:t>app teams write their product mappings; the RISK DATA TEAM owns the ontology and the boundary alignment.</a:t>
            </a:r>
            <a:endParaRPr lang="en-US" sz="850" dirty="0"/>
          </a:p>
        </p:txBody>
      </p:sp>
      <p:sp>
        <p:nvSpPr>
          <p:cNvPr id="15" name="Shape 13"/>
          <p:cNvSpPr/>
          <p:nvPr/>
        </p:nvSpPr>
        <p:spPr>
          <a:xfrm>
            <a:off x="7452360" y="1143000"/>
            <a:ext cx="4206240" cy="4709160"/>
          </a:xfrm>
          <a:prstGeom prst="roundRect">
            <a:avLst>
              <a:gd name="adj" fmla="val 1087"/>
            </a:avLst>
          </a:prstGeom>
          <a:solidFill>
            <a:srgbClr val="FDFCF7"/>
          </a:solidFill>
          <a:ln w="15240">
            <a:solidFill>
              <a:srgbClr val="8A6A2F"/>
            </a:solidFill>
            <a:prstDash val="solid"/>
          </a:ln>
        </p:spPr>
        <p:txBody>
          <a:bodyPr/>
          <a:lstStyle/>
          <a:p>
            <a:endParaRPr lang="en-US"/>
          </a:p>
        </p:txBody>
      </p:sp>
      <p:sp>
        <p:nvSpPr>
          <p:cNvPr id="16" name="Text 14"/>
          <p:cNvSpPr/>
          <p:nvPr/>
        </p:nvSpPr>
        <p:spPr>
          <a:xfrm>
            <a:off x="7589520" y="1216152"/>
            <a:ext cx="3931920" cy="274320"/>
          </a:xfrm>
          <a:prstGeom prst="rect">
            <a:avLst/>
          </a:prstGeom>
          <a:noFill/>
          <a:ln/>
        </p:spPr>
        <p:txBody>
          <a:bodyPr wrap="square" lIns="0" tIns="0" rIns="0" bIns="0" rtlCol="0" anchor="t"/>
          <a:lstStyle/>
          <a:p>
            <a:pPr marL="0" indent="0">
              <a:lnSpc>
                <a:spcPct val="106000"/>
              </a:lnSpc>
              <a:buNone/>
            </a:pPr>
            <a:r>
              <a:rPr lang="en-US" sz="1200" b="1" dirty="0">
                <a:solidFill>
                  <a:srgbClr val="8A6A2F"/>
                </a:solidFill>
                <a:latin typeface="Calibri" pitchFamily="34" charset="0"/>
                <a:ea typeface="Calibri" pitchFamily="34" charset="-122"/>
                <a:cs typeface="Calibri" pitchFamily="34" charset="-120"/>
              </a:rPr>
              <a:t>ENTERPRISE — “CDM”, disambiguated</a:t>
            </a:r>
            <a:endParaRPr lang="en-US" sz="1200" dirty="0"/>
          </a:p>
        </p:txBody>
      </p:sp>
      <p:sp>
        <p:nvSpPr>
          <p:cNvPr id="17" name="Shape 15"/>
          <p:cNvSpPr/>
          <p:nvPr/>
        </p:nvSpPr>
        <p:spPr>
          <a:xfrm>
            <a:off x="7680960" y="1600200"/>
            <a:ext cx="3749040" cy="777240"/>
          </a:xfrm>
          <a:prstGeom prst="roundRect">
            <a:avLst>
              <a:gd name="adj" fmla="val 5882"/>
            </a:avLst>
          </a:prstGeom>
          <a:solidFill>
            <a:srgbClr val="F4EDDD"/>
          </a:solidFill>
          <a:ln w="15240">
            <a:solidFill>
              <a:srgbClr val="8A6A2F"/>
            </a:solidFill>
            <a:prstDash val="solid"/>
          </a:ln>
        </p:spPr>
        <p:txBody>
          <a:bodyPr/>
          <a:lstStyle/>
          <a:p>
            <a:endParaRPr lang="en-US"/>
          </a:p>
        </p:txBody>
      </p:sp>
      <p:sp>
        <p:nvSpPr>
          <p:cNvPr id="18" name="Text 16"/>
          <p:cNvSpPr/>
          <p:nvPr/>
        </p:nvSpPr>
        <p:spPr>
          <a:xfrm>
            <a:off x="7818120" y="1673352"/>
            <a:ext cx="3520440" cy="640080"/>
          </a:xfrm>
          <a:prstGeom prst="rect">
            <a:avLst/>
          </a:prstGeom>
          <a:noFill/>
          <a:ln/>
        </p:spPr>
        <p:txBody>
          <a:bodyPr wrap="square" lIns="0" tIns="0" rIns="0" bIns="0" rtlCol="0" anchor="t"/>
          <a:lstStyle/>
          <a:p>
            <a:pPr marL="0" indent="0">
              <a:lnSpc>
                <a:spcPct val="106000"/>
              </a:lnSpc>
              <a:buNone/>
            </a:pPr>
            <a:r>
              <a:rPr lang="en-US" sz="1000" b="1" dirty="0">
                <a:solidFill>
                  <a:srgbClr val="8A6A2F"/>
                </a:solidFill>
                <a:latin typeface="Calibri" pitchFamily="34" charset="0"/>
                <a:ea typeface="Calibri" pitchFamily="34" charset="-122"/>
                <a:cs typeface="Calibri" pitchFamily="34" charset="-120"/>
              </a:rPr>
              <a:t>SUBJECT-AREA MODELS (one per data domain)
</a:t>
            </a:r>
            <a:r>
              <a:rPr lang="en-US" sz="850" dirty="0">
                <a:solidFill>
                  <a:srgbClr val="262B27"/>
                </a:solidFill>
                <a:latin typeface="Calibri" pitchFamily="34" charset="0"/>
                <a:ea typeface="Calibri" pitchFamily="34" charset="-122"/>
                <a:cs typeface="Calibri" pitchFamily="34" charset="-120"/>
              </a:rPr>
              <a:t>trade · position · reference … definitions only. Owner: CENTRAL DATA TEAM.</a:t>
            </a:r>
            <a:endParaRPr lang="en-US" sz="1000" dirty="0"/>
          </a:p>
        </p:txBody>
      </p:sp>
      <p:sp>
        <p:nvSpPr>
          <p:cNvPr id="19" name="Shape 17"/>
          <p:cNvSpPr/>
          <p:nvPr/>
        </p:nvSpPr>
        <p:spPr>
          <a:xfrm flipV="1">
            <a:off x="9555480" y="2377440"/>
            <a:ext cx="0" cy="365760"/>
          </a:xfrm>
          <a:prstGeom prst="line">
            <a:avLst/>
          </a:prstGeom>
          <a:noFill/>
          <a:ln w="19050">
            <a:solidFill>
              <a:srgbClr val="8B8272"/>
            </a:solidFill>
            <a:prstDash val="solid"/>
            <a:tailEnd type="triangle"/>
          </a:ln>
        </p:spPr>
        <p:txBody>
          <a:bodyPr/>
          <a:lstStyle/>
          <a:p>
            <a:endParaRPr lang="en-US"/>
          </a:p>
        </p:txBody>
      </p:sp>
      <p:sp>
        <p:nvSpPr>
          <p:cNvPr id="20" name="Shape 18"/>
          <p:cNvSpPr/>
          <p:nvPr/>
        </p:nvSpPr>
        <p:spPr>
          <a:xfrm>
            <a:off x="7680960" y="2743200"/>
            <a:ext cx="3749040" cy="914400"/>
          </a:xfrm>
          <a:prstGeom prst="roundRect">
            <a:avLst>
              <a:gd name="adj" fmla="val 5000"/>
            </a:avLst>
          </a:prstGeom>
          <a:solidFill>
            <a:srgbClr val="F4EDDD"/>
          </a:solidFill>
          <a:ln w="15240">
            <a:solidFill>
              <a:srgbClr val="8A6A2F"/>
            </a:solidFill>
            <a:prstDash val="solid"/>
          </a:ln>
        </p:spPr>
        <p:txBody>
          <a:bodyPr/>
          <a:lstStyle/>
          <a:p>
            <a:endParaRPr lang="en-US"/>
          </a:p>
        </p:txBody>
      </p:sp>
      <p:sp>
        <p:nvSpPr>
          <p:cNvPr id="21" name="Text 19"/>
          <p:cNvSpPr/>
          <p:nvPr/>
        </p:nvSpPr>
        <p:spPr>
          <a:xfrm>
            <a:off x="7818120" y="2816352"/>
            <a:ext cx="3520440" cy="777240"/>
          </a:xfrm>
          <a:prstGeom prst="rect">
            <a:avLst/>
          </a:prstGeom>
          <a:noFill/>
          <a:ln/>
        </p:spPr>
        <p:txBody>
          <a:bodyPr wrap="square" lIns="0" tIns="0" rIns="0" bIns="0" rtlCol="0" anchor="t"/>
          <a:lstStyle/>
          <a:p>
            <a:pPr marL="0" indent="0">
              <a:lnSpc>
                <a:spcPct val="106000"/>
              </a:lnSpc>
              <a:buNone/>
            </a:pPr>
            <a:r>
              <a:rPr lang="en-US" sz="1000" b="1" dirty="0">
                <a:solidFill>
                  <a:srgbClr val="8A6A2F"/>
                </a:solidFill>
                <a:latin typeface="Calibri" pitchFamily="34" charset="0"/>
                <a:ea typeface="Calibri" pitchFamily="34" charset="-122"/>
                <a:cs typeface="Calibri" pitchFamily="34" charset="-120"/>
              </a:rPr>
              <a:t>CDM PRODUCTS  (data lives here)
</a:t>
            </a:r>
            <a:r>
              <a:rPr lang="en-US" sz="850" dirty="0">
                <a:solidFill>
                  <a:srgbClr val="262B27"/>
                </a:solidFill>
                <a:latin typeface="Calibri" pitchFamily="34" charset="0"/>
                <a:ea typeface="Calibri" pitchFamily="34" charset="-122"/>
                <a:cs typeface="Calibri" pitchFamily="34" charset="-120"/>
              </a:rPr>
              <a:t>aggregates built TO the models: consolidated trades + shared reference, from 15 TMS sources — consolidation done once.</a:t>
            </a:r>
            <a:endParaRPr lang="en-US" sz="1000" dirty="0"/>
          </a:p>
        </p:txBody>
      </p:sp>
      <p:sp>
        <p:nvSpPr>
          <p:cNvPr id="22" name="Shape 20"/>
          <p:cNvSpPr/>
          <p:nvPr/>
        </p:nvSpPr>
        <p:spPr>
          <a:xfrm flipV="1">
            <a:off x="9555480" y="3657600"/>
            <a:ext cx="0" cy="228600"/>
          </a:xfrm>
          <a:prstGeom prst="line">
            <a:avLst/>
          </a:prstGeom>
          <a:noFill/>
          <a:ln w="19050">
            <a:solidFill>
              <a:srgbClr val="8B8272"/>
            </a:solidFill>
            <a:prstDash val="solid"/>
            <a:tailEnd type="triangle"/>
          </a:ln>
        </p:spPr>
        <p:txBody>
          <a:bodyPr/>
          <a:lstStyle/>
          <a:p>
            <a:endParaRPr lang="en-US"/>
          </a:p>
        </p:txBody>
      </p:sp>
      <p:sp>
        <p:nvSpPr>
          <p:cNvPr id="23" name="Shape 21"/>
          <p:cNvSpPr/>
          <p:nvPr/>
        </p:nvSpPr>
        <p:spPr>
          <a:xfrm>
            <a:off x="7680960" y="3931920"/>
            <a:ext cx="1783080" cy="868680"/>
          </a:xfrm>
          <a:prstGeom prst="roundRect">
            <a:avLst>
              <a:gd name="adj" fmla="val 5263"/>
            </a:avLst>
          </a:prstGeom>
          <a:solidFill>
            <a:srgbClr val="E9EEF4"/>
          </a:solidFill>
          <a:ln w="15240">
            <a:solidFill>
              <a:srgbClr val="2E4A66"/>
            </a:solidFill>
            <a:prstDash val="solid"/>
          </a:ln>
        </p:spPr>
        <p:txBody>
          <a:bodyPr/>
          <a:lstStyle/>
          <a:p>
            <a:endParaRPr lang="en-US"/>
          </a:p>
        </p:txBody>
      </p:sp>
      <p:sp>
        <p:nvSpPr>
          <p:cNvPr id="24" name="Text 22"/>
          <p:cNvSpPr/>
          <p:nvPr/>
        </p:nvSpPr>
        <p:spPr>
          <a:xfrm>
            <a:off x="7772400" y="3986784"/>
            <a:ext cx="1645920" cy="777240"/>
          </a:xfrm>
          <a:prstGeom prst="rect">
            <a:avLst/>
          </a:prstGeom>
          <a:noFill/>
          <a:ln/>
        </p:spPr>
        <p:txBody>
          <a:bodyPr wrap="square" lIns="0" tIns="0" rIns="0" bIns="0" rtlCol="0" anchor="t"/>
          <a:lstStyle/>
          <a:p>
            <a:pPr marL="0" indent="0">
              <a:lnSpc>
                <a:spcPct val="106000"/>
              </a:lnSpc>
              <a:buNone/>
            </a:pPr>
            <a:r>
              <a:rPr lang="en-US" sz="900" b="1" dirty="0">
                <a:solidFill>
                  <a:srgbClr val="2E4A66"/>
                </a:solidFill>
                <a:latin typeface="Calibri" pitchFamily="34" charset="0"/>
                <a:ea typeface="Calibri" pitchFamily="34" charset="-122"/>
                <a:cs typeface="Calibri" pitchFamily="34" charset="-120"/>
              </a:rPr>
              <a:t>SERVICES PORT
</a:t>
            </a:r>
            <a:r>
              <a:rPr lang="en-US" sz="780" dirty="0">
                <a:solidFill>
                  <a:srgbClr val="262B27"/>
                </a:solidFill>
                <a:latin typeface="Calibri" pitchFamily="34" charset="0"/>
                <a:ea typeface="Calibri" pitchFamily="34" charset="-122"/>
                <a:cs typeface="Calibri" pitchFamily="34" charset="-120"/>
              </a:rPr>
              <a:t>today’s reference / market / trade services (operational, intraday)</a:t>
            </a:r>
            <a:endParaRPr lang="en-US" sz="900" dirty="0"/>
          </a:p>
        </p:txBody>
      </p:sp>
      <p:sp>
        <p:nvSpPr>
          <p:cNvPr id="25" name="Shape 23"/>
          <p:cNvSpPr/>
          <p:nvPr/>
        </p:nvSpPr>
        <p:spPr>
          <a:xfrm>
            <a:off x="9646920" y="3931920"/>
            <a:ext cx="1783080" cy="868680"/>
          </a:xfrm>
          <a:prstGeom prst="roundRect">
            <a:avLst>
              <a:gd name="adj" fmla="val 5263"/>
            </a:avLst>
          </a:prstGeom>
          <a:solidFill>
            <a:srgbClr val="E9EEF4"/>
          </a:solidFill>
          <a:ln w="15240">
            <a:solidFill>
              <a:srgbClr val="2E4A66"/>
            </a:solidFill>
            <a:prstDash val="solid"/>
          </a:ln>
        </p:spPr>
        <p:txBody>
          <a:bodyPr/>
          <a:lstStyle/>
          <a:p>
            <a:endParaRPr lang="en-US"/>
          </a:p>
        </p:txBody>
      </p:sp>
      <p:sp>
        <p:nvSpPr>
          <p:cNvPr id="26" name="Text 24"/>
          <p:cNvSpPr/>
          <p:nvPr/>
        </p:nvSpPr>
        <p:spPr>
          <a:xfrm>
            <a:off x="9738360" y="3986784"/>
            <a:ext cx="1645920" cy="777240"/>
          </a:xfrm>
          <a:prstGeom prst="rect">
            <a:avLst/>
          </a:prstGeom>
          <a:noFill/>
          <a:ln/>
        </p:spPr>
        <p:txBody>
          <a:bodyPr wrap="square" lIns="0" tIns="0" rIns="0" bIns="0" rtlCol="0" anchor="t"/>
          <a:lstStyle/>
          <a:p>
            <a:pPr marL="0" indent="0">
              <a:lnSpc>
                <a:spcPct val="106000"/>
              </a:lnSpc>
              <a:buNone/>
            </a:pPr>
            <a:r>
              <a:rPr lang="en-US" sz="900" b="1" dirty="0">
                <a:solidFill>
                  <a:srgbClr val="2E4A66"/>
                </a:solidFill>
                <a:latin typeface="Calibri" pitchFamily="34" charset="0"/>
                <a:ea typeface="Calibri" pitchFamily="34" charset="-122"/>
                <a:cs typeface="Calibri" pitchFamily="34" charset="-120"/>
              </a:rPr>
              <a:t>TABLE / BATCH PORT
</a:t>
            </a:r>
            <a:r>
              <a:rPr lang="en-US" sz="780" dirty="0">
                <a:solidFill>
                  <a:srgbClr val="262B27"/>
                </a:solidFill>
                <a:latin typeface="Calibri" pitchFamily="34" charset="0"/>
                <a:ea typeface="Calibri" pitchFamily="34" charset="-122"/>
                <a:cs typeface="Calibri" pitchFamily="34" charset="-120"/>
              </a:rPr>
              <a:t>bulk, read-in-place — EOD &amp; analytics (replaces timing-out bulk service calls)</a:t>
            </a:r>
            <a:endParaRPr lang="en-US" sz="900" dirty="0"/>
          </a:p>
        </p:txBody>
      </p:sp>
      <p:sp>
        <p:nvSpPr>
          <p:cNvPr id="27" name="Text 25"/>
          <p:cNvSpPr/>
          <p:nvPr/>
        </p:nvSpPr>
        <p:spPr>
          <a:xfrm>
            <a:off x="7680960" y="4892040"/>
            <a:ext cx="3886200" cy="868680"/>
          </a:xfrm>
          <a:prstGeom prst="rect">
            <a:avLst/>
          </a:prstGeom>
          <a:noFill/>
          <a:ln/>
        </p:spPr>
        <p:txBody>
          <a:bodyPr wrap="square" lIns="0" tIns="0" rIns="0" bIns="0" rtlCol="0" anchor="t"/>
          <a:lstStyle/>
          <a:p>
            <a:pPr marL="0" indent="0">
              <a:lnSpc>
                <a:spcPct val="106000"/>
              </a:lnSpc>
              <a:buNone/>
            </a:pPr>
            <a:r>
              <a:rPr lang="en-US" sz="850" b="1" dirty="0">
                <a:solidFill>
                  <a:srgbClr val="8A6A2F"/>
                </a:solidFill>
                <a:latin typeface="Calibri" pitchFamily="34" charset="0"/>
                <a:ea typeface="Calibri" pitchFamily="34" charset="-122"/>
                <a:cs typeface="Calibri" pitchFamily="34" charset="-120"/>
              </a:rPr>
              <a:t>One meaning, two ports: </a:t>
            </a:r>
            <a:r>
              <a:rPr lang="en-US" sz="850" dirty="0">
                <a:solidFill>
                  <a:srgbClr val="262B27"/>
                </a:solidFill>
                <a:latin typeface="Calibri" pitchFamily="34" charset="0"/>
                <a:ea typeface="Calibri" pitchFamily="34" charset="-122"/>
                <a:cs typeface="Calibri" pitchFamily="34" charset="-120"/>
              </a:rPr>
              <a:t>both ports must IMPLEMENT the same subject-area definitions. Service teams implement; the central team owns the definitions.</a:t>
            </a:r>
            <a:endParaRPr lang="en-US" sz="850" dirty="0"/>
          </a:p>
        </p:txBody>
      </p:sp>
      <p:sp>
        <p:nvSpPr>
          <p:cNvPr id="28" name="Shape 26"/>
          <p:cNvSpPr/>
          <p:nvPr/>
        </p:nvSpPr>
        <p:spPr>
          <a:xfrm>
            <a:off x="4892040" y="2103120"/>
            <a:ext cx="2377440" cy="2194560"/>
          </a:xfrm>
          <a:prstGeom prst="roundRect">
            <a:avLst>
              <a:gd name="adj" fmla="val 2083"/>
            </a:avLst>
          </a:prstGeom>
          <a:solidFill>
            <a:srgbClr val="EAF3EC"/>
          </a:solidFill>
          <a:ln w="15240">
            <a:solidFill>
              <a:srgbClr val="1F7A47"/>
            </a:solidFill>
            <a:prstDash val="solid"/>
          </a:ln>
        </p:spPr>
        <p:txBody>
          <a:bodyPr/>
          <a:lstStyle/>
          <a:p>
            <a:endParaRPr lang="en-US"/>
          </a:p>
        </p:txBody>
      </p:sp>
      <p:sp>
        <p:nvSpPr>
          <p:cNvPr id="29" name="Text 27"/>
          <p:cNvSpPr/>
          <p:nvPr/>
        </p:nvSpPr>
        <p:spPr>
          <a:xfrm>
            <a:off x="5029200" y="2212848"/>
            <a:ext cx="2103120" cy="2011680"/>
          </a:xfrm>
          <a:prstGeom prst="rect">
            <a:avLst/>
          </a:prstGeom>
          <a:noFill/>
          <a:ln/>
        </p:spPr>
        <p:txBody>
          <a:bodyPr wrap="square" lIns="0" tIns="0" rIns="0" bIns="0" rtlCol="0" anchor="t"/>
          <a:lstStyle/>
          <a:p>
            <a:pPr marL="0" indent="0">
              <a:lnSpc>
                <a:spcPct val="106000"/>
              </a:lnSpc>
              <a:buNone/>
            </a:pPr>
            <a:r>
              <a:rPr lang="en-US" sz="1100" b="1" dirty="0">
                <a:solidFill>
                  <a:srgbClr val="0E3D29"/>
                </a:solidFill>
                <a:latin typeface="Calibri" pitchFamily="34" charset="0"/>
                <a:ea typeface="Calibri" pitchFamily="34" charset="-122"/>
                <a:cs typeface="Calibri" pitchFamily="34" charset="-120"/>
              </a:rPr>
              <a:t>THE RISK BOUNDARY
</a:t>
            </a:r>
            <a:r>
              <a:rPr lang="en-US" sz="850" b="1" dirty="0">
                <a:solidFill>
                  <a:srgbClr val="262B27"/>
                </a:solidFill>
                <a:latin typeface="Calibri" pitchFamily="34" charset="0"/>
                <a:ea typeface="Calibri" pitchFamily="34" charset="-122"/>
                <a:cs typeface="Calibri" pitchFamily="34" charset="-120"/>
              </a:rPr>
              <a:t>ENTITY ALIGNMENT — model ↔ model, one thin artifact:
</a:t>
            </a:r>
            <a:r>
              <a:rPr lang="en-US" sz="800" dirty="0">
                <a:solidFill>
                  <a:srgbClr val="262B27"/>
                </a:solidFill>
                <a:latin typeface="Calibri" pitchFamily="34" charset="0"/>
                <a:ea typeface="Calibri" pitchFamily="34" charset="-122"/>
                <a:cs typeface="Calibri" pitchFamily="34" charset="-120"/>
              </a:rPr>
              <a:t>Risk.Counterparty ≡ CDM.Party (aligned)
Risk.MarginEvent → risk_only
Risk.Trade ⊂ CDM.Trade (partial)
divergent → the receipts
</a:t>
            </a:r>
            <a:r>
              <a:rPr lang="en-US" sz="780" i="1" dirty="0">
                <a:solidFill>
                  <a:srgbClr val="6B7670"/>
                </a:solidFill>
                <a:latin typeface="Calibri" pitchFamily="34" charset="0"/>
                <a:ea typeface="Calibri" pitchFamily="34" charset="-122"/>
                <a:cs typeface="Calibri" pitchFamily="34" charset="-120"/>
              </a:rPr>
              <a:t>Owner: Risk data team. No column crosswalks — names are absorbed by each side’s own mappings.</a:t>
            </a:r>
            <a:endParaRPr lang="en-US" sz="1100" dirty="0"/>
          </a:p>
        </p:txBody>
      </p:sp>
      <p:sp>
        <p:nvSpPr>
          <p:cNvPr id="30" name="Shape 28"/>
          <p:cNvSpPr/>
          <p:nvPr/>
        </p:nvSpPr>
        <p:spPr>
          <a:xfrm>
            <a:off x="4343400" y="3200400"/>
            <a:ext cx="548640" cy="0"/>
          </a:xfrm>
          <a:prstGeom prst="line">
            <a:avLst/>
          </a:prstGeom>
          <a:noFill/>
          <a:ln w="19050">
            <a:solidFill>
              <a:srgbClr val="8B8272"/>
            </a:solidFill>
            <a:prstDash val="dash"/>
            <a:tailEnd type="triangle"/>
          </a:ln>
        </p:spPr>
        <p:txBody>
          <a:bodyPr/>
          <a:lstStyle/>
          <a:p>
            <a:endParaRPr lang="en-US"/>
          </a:p>
        </p:txBody>
      </p:sp>
      <p:sp>
        <p:nvSpPr>
          <p:cNvPr id="31" name="Shape 29"/>
          <p:cNvSpPr/>
          <p:nvPr/>
        </p:nvSpPr>
        <p:spPr>
          <a:xfrm flipH="1">
            <a:off x="7269480" y="3200400"/>
            <a:ext cx="548640" cy="0"/>
          </a:xfrm>
          <a:prstGeom prst="line">
            <a:avLst/>
          </a:prstGeom>
          <a:noFill/>
          <a:ln w="19050">
            <a:solidFill>
              <a:srgbClr val="8B8272"/>
            </a:solidFill>
            <a:prstDash val="dash"/>
            <a:tailEnd type="triangle"/>
          </a:ln>
        </p:spPr>
        <p:txBody>
          <a:bodyPr/>
          <a:lstStyle/>
          <a:p>
            <a:endParaRPr lang="en-US"/>
          </a:p>
        </p:txBody>
      </p:sp>
      <p:sp>
        <p:nvSpPr>
          <p:cNvPr id="32" name="Text 30"/>
          <p:cNvSpPr/>
          <p:nvPr/>
        </p:nvSpPr>
        <p:spPr>
          <a:xfrm>
            <a:off x="4892040" y="4343400"/>
            <a:ext cx="2377440" cy="548640"/>
          </a:xfrm>
          <a:prstGeom prst="rect">
            <a:avLst/>
          </a:prstGeom>
          <a:noFill/>
          <a:ln/>
        </p:spPr>
        <p:txBody>
          <a:bodyPr wrap="square" lIns="0" tIns="0" rIns="0" bIns="0" rtlCol="0" anchor="t"/>
          <a:lstStyle/>
          <a:p>
            <a:pPr marL="0" indent="0">
              <a:lnSpc>
                <a:spcPct val="106000"/>
              </a:lnSpc>
              <a:buNone/>
            </a:pPr>
            <a:r>
              <a:rPr lang="en-US" sz="820" b="1" i="1" dirty="0">
                <a:solidFill>
                  <a:srgbClr val="0E3D29"/>
                </a:solidFill>
                <a:latin typeface="Calibri" pitchFamily="34" charset="0"/>
                <a:ea typeface="Calibri" pitchFamily="34" charset="-122"/>
                <a:cs typeface="Calibri" pitchFamily="34" charset="-120"/>
              </a:rPr>
              <a:t>They run IN PARALLEL and ALIGN here. Data never crosses for meaning; products are consumed in batch, in place.</a:t>
            </a:r>
            <a:endParaRPr lang="en-US" sz="820" dirty="0"/>
          </a:p>
        </p:txBody>
      </p:sp>
      <p:sp>
        <p:nvSpPr>
          <p:cNvPr id="33" name="Shape 31"/>
          <p:cNvSpPr/>
          <p:nvPr/>
        </p:nvSpPr>
        <p:spPr>
          <a:xfrm>
            <a:off x="502920" y="5989320"/>
            <a:ext cx="11185855" cy="411480"/>
          </a:xfrm>
          <a:prstGeom prst="roundRect">
            <a:avLst>
              <a:gd name="adj" fmla="val 11111"/>
            </a:avLst>
          </a:prstGeom>
          <a:solidFill>
            <a:srgbClr val="0E3D29"/>
          </a:solidFill>
          <a:ln w="15240">
            <a:solidFill>
              <a:srgbClr val="0E3D29"/>
            </a:solidFill>
            <a:prstDash val="solid"/>
          </a:ln>
        </p:spPr>
        <p:txBody>
          <a:bodyPr/>
          <a:lstStyle/>
          <a:p>
            <a:endParaRPr lang="en-US"/>
          </a:p>
        </p:txBody>
      </p:sp>
      <p:sp>
        <p:nvSpPr>
          <p:cNvPr id="34" name="Text 32"/>
          <p:cNvSpPr/>
          <p:nvPr/>
        </p:nvSpPr>
        <p:spPr>
          <a:xfrm>
            <a:off x="685800" y="5989320"/>
            <a:ext cx="11155680" cy="411480"/>
          </a:xfrm>
          <a:prstGeom prst="rect">
            <a:avLst/>
          </a:prstGeom>
          <a:noFill/>
          <a:ln/>
        </p:spPr>
        <p:txBody>
          <a:bodyPr wrap="square" lIns="0" tIns="0" rIns="0" bIns="0" rtlCol="0" anchor="ctr"/>
          <a:lstStyle/>
          <a:p>
            <a:pPr marL="0" indent="0">
              <a:lnSpc>
                <a:spcPct val="106000"/>
              </a:lnSpc>
              <a:buNone/>
            </a:pPr>
            <a:r>
              <a:rPr lang="en-US" sz="1050" b="1" dirty="0">
                <a:solidFill>
                  <a:srgbClr val="FFFFFF"/>
                </a:solidFill>
                <a:latin typeface="Calibri" pitchFamily="34" charset="0"/>
                <a:ea typeface="Calibri" pitchFamily="34" charset="-122"/>
                <a:cs typeface="Calibri" pitchFamily="34" charset="-120"/>
              </a:rPr>
              <a:t>Models DEFINE · mappings ATTRIBUTE · the alignment TRANSLATES · tags CLASSIFY · products HOLD · ports SERVE — nothing moves for meaning.</a:t>
            </a:r>
            <a:endParaRPr lang="en-US" sz="1050" dirty="0"/>
          </a:p>
        </p:txBody>
      </p:sp>
      <p:sp>
        <p:nvSpPr>
          <p:cNvPr id="35" name="Text 33"/>
          <p:cNvSpPr/>
          <p:nvPr/>
        </p:nvSpPr>
        <p:spPr>
          <a:xfrm>
            <a:off x="502920" y="6510528"/>
            <a:ext cx="5486400" cy="237744"/>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36" name="Text 34"/>
          <p:cNvSpPr/>
          <p:nvPr/>
        </p:nvSpPr>
        <p:spPr>
          <a:xfrm>
            <a:off x="10180015" y="6510528"/>
            <a:ext cx="1554480" cy="237744"/>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515600" cy="274320"/>
          </a:xfrm>
          <a:prstGeom prst="rect">
            <a:avLst/>
          </a:prstGeom>
          <a:noFill/>
          <a:ln/>
        </p:spPr>
        <p:txBody>
          <a:bodyPr wrap="square" lIns="0" tIns="0" rIns="0" bIns="0" rtlCol="0" anchor="ctr"/>
          <a:lstStyle/>
          <a:p>
            <a:pPr marL="0" indent="0">
              <a:buNone/>
            </a:pPr>
            <a:r>
              <a:rPr lang="en-US" sz="1050" b="1" kern="0" spc="200" dirty="0">
                <a:solidFill>
                  <a:srgbClr val="1F7A47"/>
                </a:solidFill>
                <a:latin typeface="Calibri" pitchFamily="34" charset="0"/>
                <a:ea typeface="Calibri" pitchFamily="34" charset="-122"/>
                <a:cs typeface="Calibri" pitchFamily="34" charset="-120"/>
              </a:rPr>
              <a:t>THE MISSING CLARITY</a:t>
            </a:r>
            <a:endParaRPr lang="en-US" sz="1050" dirty="0"/>
          </a:p>
        </p:txBody>
      </p:sp>
      <p:sp>
        <p:nvSpPr>
          <p:cNvPr id="3" name="Text 1"/>
          <p:cNvSpPr/>
          <p:nvPr/>
        </p:nvSpPr>
        <p:spPr>
          <a:xfrm>
            <a:off x="502920" y="530352"/>
            <a:ext cx="11338560" cy="457200"/>
          </a:xfrm>
          <a:prstGeom prst="rect">
            <a:avLst/>
          </a:prstGeom>
          <a:noFill/>
          <a:ln/>
        </p:spPr>
        <p:txBody>
          <a:bodyPr wrap="square" lIns="0" tIns="0" rIns="0" bIns="0" rtlCol="0" anchor="ctr"/>
          <a:lstStyle/>
          <a:p>
            <a:pPr marL="0" indent="0">
              <a:buNone/>
            </a:pPr>
            <a:r>
              <a:rPr lang="en-US" sz="2100" b="1" dirty="0">
                <a:solidFill>
                  <a:srgbClr val="0E3D29"/>
                </a:solidFill>
                <a:latin typeface="Calibri" pitchFamily="34" charset="0"/>
                <a:ea typeface="Calibri" pitchFamily="34" charset="-122"/>
                <a:cs typeface="Calibri" pitchFamily="34" charset="-120"/>
              </a:rPr>
              <a:t>Every Mapping Named — Who Authors It, Who Owns It</a:t>
            </a:r>
            <a:endParaRPr lang="en-US" sz="2100" dirty="0"/>
          </a:p>
        </p:txBody>
      </p:sp>
      <p:sp>
        <p:nvSpPr>
          <p:cNvPr id="4" name="Text 2"/>
          <p:cNvSpPr/>
          <p:nvPr/>
        </p:nvSpPr>
        <p:spPr>
          <a:xfrm>
            <a:off x="502920" y="1234440"/>
            <a:ext cx="4754880" cy="274320"/>
          </a:xfrm>
          <a:prstGeom prst="rect">
            <a:avLst/>
          </a:prstGeom>
          <a:noFill/>
          <a:ln/>
        </p:spPr>
        <p:txBody>
          <a:bodyPr wrap="square" lIns="0" tIns="0" rIns="0" bIns="0" rtlCol="0" anchor="t"/>
          <a:lstStyle/>
          <a:p>
            <a:pPr marL="0" indent="0">
              <a:lnSpc>
                <a:spcPct val="106000"/>
              </a:lnSpc>
              <a:buNone/>
            </a:pPr>
            <a:r>
              <a:rPr lang="en-US" sz="900" b="1" dirty="0">
                <a:solidFill>
                  <a:srgbClr val="6B7670"/>
                </a:solidFill>
                <a:latin typeface="Calibri" pitchFamily="34" charset="0"/>
                <a:ea typeface="Calibri" pitchFamily="34" charset="-122"/>
                <a:cs typeface="Calibri" pitchFamily="34" charset="-120"/>
              </a:rPr>
              <a:t>MAPPING / ARTIFACT</a:t>
            </a:r>
            <a:endParaRPr lang="en-US" sz="900" dirty="0"/>
          </a:p>
        </p:txBody>
      </p:sp>
      <p:sp>
        <p:nvSpPr>
          <p:cNvPr id="5" name="Text 3"/>
          <p:cNvSpPr/>
          <p:nvPr/>
        </p:nvSpPr>
        <p:spPr>
          <a:xfrm>
            <a:off x="5303520" y="1234440"/>
            <a:ext cx="3108960" cy="274320"/>
          </a:xfrm>
          <a:prstGeom prst="rect">
            <a:avLst/>
          </a:prstGeom>
          <a:noFill/>
          <a:ln/>
        </p:spPr>
        <p:txBody>
          <a:bodyPr wrap="square" lIns="0" tIns="0" rIns="0" bIns="0" rtlCol="0" anchor="t"/>
          <a:lstStyle/>
          <a:p>
            <a:pPr marL="0" indent="0">
              <a:lnSpc>
                <a:spcPct val="106000"/>
              </a:lnSpc>
              <a:buNone/>
            </a:pPr>
            <a:r>
              <a:rPr lang="en-US" sz="900" b="1" dirty="0">
                <a:solidFill>
                  <a:srgbClr val="6B7670"/>
                </a:solidFill>
                <a:latin typeface="Calibri" pitchFamily="34" charset="0"/>
                <a:ea typeface="Calibri" pitchFamily="34" charset="-122"/>
                <a:cs typeface="Calibri" pitchFamily="34" charset="-120"/>
              </a:rPr>
              <a:t>EXAMPLE</a:t>
            </a:r>
            <a:endParaRPr lang="en-US" sz="900" dirty="0"/>
          </a:p>
        </p:txBody>
      </p:sp>
      <p:sp>
        <p:nvSpPr>
          <p:cNvPr id="6" name="Text 4"/>
          <p:cNvSpPr/>
          <p:nvPr/>
        </p:nvSpPr>
        <p:spPr>
          <a:xfrm>
            <a:off x="8503920" y="1234440"/>
            <a:ext cx="3154680" cy="274320"/>
          </a:xfrm>
          <a:prstGeom prst="rect">
            <a:avLst/>
          </a:prstGeom>
          <a:noFill/>
          <a:ln/>
        </p:spPr>
        <p:txBody>
          <a:bodyPr wrap="square" lIns="0" tIns="0" rIns="0" bIns="0" rtlCol="0" anchor="t"/>
          <a:lstStyle/>
          <a:p>
            <a:pPr marL="0" indent="0">
              <a:lnSpc>
                <a:spcPct val="106000"/>
              </a:lnSpc>
              <a:buNone/>
            </a:pPr>
            <a:r>
              <a:rPr lang="en-US" sz="900" b="1" dirty="0">
                <a:solidFill>
                  <a:srgbClr val="6B7670"/>
                </a:solidFill>
                <a:latin typeface="Calibri" pitchFamily="34" charset="0"/>
                <a:ea typeface="Calibri" pitchFamily="34" charset="-122"/>
                <a:cs typeface="Calibri" pitchFamily="34" charset="-120"/>
              </a:rPr>
              <a:t>AUTHOR → OWNER</a:t>
            </a:r>
            <a:endParaRPr lang="en-US" sz="900" dirty="0"/>
          </a:p>
        </p:txBody>
      </p:sp>
      <p:sp>
        <p:nvSpPr>
          <p:cNvPr id="7" name="Shape 5"/>
          <p:cNvSpPr/>
          <p:nvPr/>
        </p:nvSpPr>
        <p:spPr>
          <a:xfrm>
            <a:off x="502920" y="1536192"/>
            <a:ext cx="11185855" cy="713232"/>
          </a:xfrm>
          <a:prstGeom prst="roundRect">
            <a:avLst>
              <a:gd name="adj" fmla="val 6410"/>
            </a:avLst>
          </a:prstGeom>
          <a:solidFill>
            <a:srgbClr val="F5F7F5"/>
          </a:solidFill>
          <a:ln w="15240">
            <a:solidFill>
              <a:srgbClr val="D8E0DA"/>
            </a:solidFill>
            <a:prstDash val="solid"/>
          </a:ln>
        </p:spPr>
        <p:txBody>
          <a:bodyPr/>
          <a:lstStyle/>
          <a:p>
            <a:endParaRPr lang="en-US"/>
          </a:p>
        </p:txBody>
      </p:sp>
      <p:sp>
        <p:nvSpPr>
          <p:cNvPr id="8" name="Text 6"/>
          <p:cNvSpPr/>
          <p:nvPr/>
        </p:nvSpPr>
        <p:spPr>
          <a:xfrm>
            <a:off x="640080" y="1609344"/>
            <a:ext cx="4572000" cy="576072"/>
          </a:xfrm>
          <a:prstGeom prst="rect">
            <a:avLst/>
          </a:prstGeom>
          <a:noFill/>
          <a:ln/>
        </p:spPr>
        <p:txBody>
          <a:bodyPr wrap="square" lIns="0" tIns="0" rIns="0" bIns="0" rtlCol="0" anchor="t"/>
          <a:lstStyle/>
          <a:p>
            <a:pPr marL="0" indent="0">
              <a:lnSpc>
                <a:spcPct val="106000"/>
              </a:lnSpc>
              <a:buNone/>
            </a:pPr>
            <a:r>
              <a:rPr lang="en-US" sz="1000" b="1" dirty="0">
                <a:solidFill>
                  <a:srgbClr val="262B27"/>
                </a:solidFill>
                <a:latin typeface="Calibri" pitchFamily="34" charset="0"/>
                <a:ea typeface="Calibri" pitchFamily="34" charset="-122"/>
                <a:cs typeface="Calibri" pitchFamily="34" charset="-120"/>
              </a:rPr>
              <a:t>Product → ontology (inside Risk)</a:t>
            </a:r>
            <a:endParaRPr lang="en-US" sz="1000" dirty="0"/>
          </a:p>
        </p:txBody>
      </p:sp>
      <p:sp>
        <p:nvSpPr>
          <p:cNvPr id="9" name="Text 7"/>
          <p:cNvSpPr/>
          <p:nvPr/>
        </p:nvSpPr>
        <p:spPr>
          <a:xfrm>
            <a:off x="5303520" y="1609344"/>
            <a:ext cx="3063240" cy="576072"/>
          </a:xfrm>
          <a:prstGeom prst="rect">
            <a:avLst/>
          </a:prstGeom>
          <a:noFill/>
          <a:ln/>
        </p:spPr>
        <p:txBody>
          <a:bodyPr wrap="square" lIns="0" tIns="0" rIns="0" bIns="0" rtlCol="0" anchor="t"/>
          <a:lstStyle/>
          <a:p>
            <a:pPr marL="0" indent="0">
              <a:lnSpc>
                <a:spcPct val="106000"/>
              </a:lnSpc>
              <a:buNone/>
            </a:pPr>
            <a:r>
              <a:rPr lang="en-US" sz="850" dirty="0">
                <a:solidFill>
                  <a:srgbClr val="262B27"/>
                </a:solidFill>
                <a:latin typeface="Calibri" pitchFamily="34" charset="0"/>
                <a:ea typeface="Calibri" pitchFamily="34" charset="-122"/>
                <a:cs typeface="Calibri" pitchFamily="34" charset="-120"/>
              </a:rPr>
              <a:t>positions_gold.cpty_cd → Risk.Counterparty (xref, grain, copies)</a:t>
            </a:r>
            <a:endParaRPr lang="en-US" sz="850" dirty="0"/>
          </a:p>
        </p:txBody>
      </p:sp>
      <p:sp>
        <p:nvSpPr>
          <p:cNvPr id="10" name="Text 8"/>
          <p:cNvSpPr/>
          <p:nvPr/>
        </p:nvSpPr>
        <p:spPr>
          <a:xfrm>
            <a:off x="8503920" y="1609344"/>
            <a:ext cx="3063240" cy="576072"/>
          </a:xfrm>
          <a:prstGeom prst="rect">
            <a:avLst/>
          </a:prstGeom>
          <a:noFill/>
          <a:ln/>
        </p:spPr>
        <p:txBody>
          <a:bodyPr wrap="square" lIns="0" tIns="0" rIns="0" bIns="0" rtlCol="0" anchor="t"/>
          <a:lstStyle/>
          <a:p>
            <a:pPr marL="0" indent="0">
              <a:lnSpc>
                <a:spcPct val="106000"/>
              </a:lnSpc>
              <a:buNone/>
            </a:pPr>
            <a:r>
              <a:rPr lang="en-US" sz="880" b="1" dirty="0">
                <a:solidFill>
                  <a:srgbClr val="0E3D29"/>
                </a:solidFill>
                <a:latin typeface="Calibri" pitchFamily="34" charset="0"/>
                <a:ea typeface="Calibri" pitchFamily="34" charset="-122"/>
                <a:cs typeface="Calibri" pitchFamily="34" charset="-120"/>
              </a:rPr>
              <a:t>APP TEAM authors
</a:t>
            </a:r>
            <a:r>
              <a:rPr lang="en-US" sz="820" dirty="0">
                <a:solidFill>
                  <a:srgbClr val="262B27"/>
                </a:solidFill>
                <a:latin typeface="Calibri" pitchFamily="34" charset="0"/>
                <a:ea typeface="Calibri" pitchFamily="34" charset="-122"/>
                <a:cs typeface="Calibri" pitchFamily="34" charset="-120"/>
              </a:rPr>
              <a:t>Risk data team stewards</a:t>
            </a:r>
            <a:endParaRPr lang="en-US" sz="880" dirty="0"/>
          </a:p>
        </p:txBody>
      </p:sp>
      <p:sp>
        <p:nvSpPr>
          <p:cNvPr id="11" name="Shape 9"/>
          <p:cNvSpPr/>
          <p:nvPr/>
        </p:nvSpPr>
        <p:spPr>
          <a:xfrm>
            <a:off x="502920" y="2340864"/>
            <a:ext cx="11185855" cy="713232"/>
          </a:xfrm>
          <a:prstGeom prst="roundRect">
            <a:avLst>
              <a:gd name="adj" fmla="val 6410"/>
            </a:avLst>
          </a:prstGeom>
          <a:solidFill>
            <a:srgbClr val="EAF3EC"/>
          </a:solidFill>
          <a:ln w="15240">
            <a:solidFill>
              <a:srgbClr val="1F7A47"/>
            </a:solidFill>
            <a:prstDash val="solid"/>
          </a:ln>
        </p:spPr>
        <p:txBody>
          <a:bodyPr/>
          <a:lstStyle/>
          <a:p>
            <a:endParaRPr lang="en-US"/>
          </a:p>
        </p:txBody>
      </p:sp>
      <p:sp>
        <p:nvSpPr>
          <p:cNvPr id="12" name="Text 10"/>
          <p:cNvSpPr/>
          <p:nvPr/>
        </p:nvSpPr>
        <p:spPr>
          <a:xfrm>
            <a:off x="640080" y="2414016"/>
            <a:ext cx="4572000" cy="576072"/>
          </a:xfrm>
          <a:prstGeom prst="rect">
            <a:avLst/>
          </a:prstGeom>
          <a:noFill/>
          <a:ln/>
        </p:spPr>
        <p:txBody>
          <a:bodyPr wrap="square" lIns="0" tIns="0" rIns="0" bIns="0" rtlCol="0" anchor="t"/>
          <a:lstStyle/>
          <a:p>
            <a:pPr marL="0" indent="0">
              <a:lnSpc>
                <a:spcPct val="106000"/>
              </a:lnSpc>
              <a:buNone/>
            </a:pPr>
            <a:r>
              <a:rPr lang="en-US" sz="1000" b="1" dirty="0">
                <a:solidFill>
                  <a:srgbClr val="262B27"/>
                </a:solidFill>
                <a:latin typeface="Calibri" pitchFamily="34" charset="0"/>
                <a:ea typeface="Calibri" pitchFamily="34" charset="-122"/>
                <a:cs typeface="Calibri" pitchFamily="34" charset="-120"/>
              </a:rPr>
              <a:t>Risk ontology ↔ CDM subject models</a:t>
            </a:r>
            <a:endParaRPr lang="en-US" sz="1000" dirty="0"/>
          </a:p>
        </p:txBody>
      </p:sp>
      <p:sp>
        <p:nvSpPr>
          <p:cNvPr id="13" name="Text 11"/>
          <p:cNvSpPr/>
          <p:nvPr/>
        </p:nvSpPr>
        <p:spPr>
          <a:xfrm>
            <a:off x="5303520" y="2414016"/>
            <a:ext cx="3063240" cy="576072"/>
          </a:xfrm>
          <a:prstGeom prst="rect">
            <a:avLst/>
          </a:prstGeom>
          <a:noFill/>
          <a:ln/>
        </p:spPr>
        <p:txBody>
          <a:bodyPr wrap="square" lIns="0" tIns="0" rIns="0" bIns="0" rtlCol="0" anchor="t"/>
          <a:lstStyle/>
          <a:p>
            <a:pPr marL="0" indent="0">
              <a:lnSpc>
                <a:spcPct val="106000"/>
              </a:lnSpc>
              <a:buNone/>
            </a:pPr>
            <a:r>
              <a:rPr lang="en-US" sz="850" dirty="0">
                <a:solidFill>
                  <a:srgbClr val="262B27"/>
                </a:solidFill>
                <a:latin typeface="Calibri" pitchFamily="34" charset="0"/>
                <a:ea typeface="Calibri" pitchFamily="34" charset="-122"/>
                <a:cs typeface="Calibri" pitchFamily="34" charset="-120"/>
              </a:rPr>
              <a:t>Risk.Counterparty ≡ CDM.Party · risk_only · divergent</a:t>
            </a:r>
            <a:endParaRPr lang="en-US" sz="850" dirty="0"/>
          </a:p>
        </p:txBody>
      </p:sp>
      <p:sp>
        <p:nvSpPr>
          <p:cNvPr id="14" name="Text 12"/>
          <p:cNvSpPr/>
          <p:nvPr/>
        </p:nvSpPr>
        <p:spPr>
          <a:xfrm>
            <a:off x="8503920" y="2414016"/>
            <a:ext cx="3063240" cy="576072"/>
          </a:xfrm>
          <a:prstGeom prst="rect">
            <a:avLst/>
          </a:prstGeom>
          <a:noFill/>
          <a:ln/>
        </p:spPr>
        <p:txBody>
          <a:bodyPr wrap="square" lIns="0" tIns="0" rIns="0" bIns="0" rtlCol="0" anchor="t"/>
          <a:lstStyle/>
          <a:p>
            <a:pPr marL="0" indent="0">
              <a:lnSpc>
                <a:spcPct val="106000"/>
              </a:lnSpc>
              <a:buNone/>
            </a:pPr>
            <a:r>
              <a:rPr lang="en-US" sz="880" b="1" dirty="0">
                <a:solidFill>
                  <a:srgbClr val="0E3D29"/>
                </a:solidFill>
                <a:latin typeface="Calibri" pitchFamily="34" charset="0"/>
                <a:ea typeface="Calibri" pitchFamily="34" charset="-122"/>
                <a:cs typeface="Calibri" pitchFamily="34" charset="-120"/>
              </a:rPr>
              <a:t>RISK DATA TEAM
</a:t>
            </a:r>
            <a:r>
              <a:rPr lang="en-US" sz="820" dirty="0">
                <a:solidFill>
                  <a:srgbClr val="262B27"/>
                </a:solidFill>
                <a:latin typeface="Calibri" pitchFamily="34" charset="0"/>
                <a:ea typeface="Calibri" pitchFamily="34" charset="-122"/>
                <a:cs typeface="Calibri" pitchFamily="34" charset="-120"/>
              </a:rPr>
              <a:t>Risk data team</a:t>
            </a:r>
            <a:endParaRPr lang="en-US" sz="880" dirty="0"/>
          </a:p>
        </p:txBody>
      </p:sp>
      <p:sp>
        <p:nvSpPr>
          <p:cNvPr id="15" name="Shape 13"/>
          <p:cNvSpPr/>
          <p:nvPr/>
        </p:nvSpPr>
        <p:spPr>
          <a:xfrm>
            <a:off x="502920" y="3145536"/>
            <a:ext cx="11185855" cy="713232"/>
          </a:xfrm>
          <a:prstGeom prst="roundRect">
            <a:avLst>
              <a:gd name="adj" fmla="val 6410"/>
            </a:avLst>
          </a:prstGeom>
          <a:solidFill>
            <a:srgbClr val="F4EDDD"/>
          </a:solidFill>
          <a:ln w="15240">
            <a:solidFill>
              <a:srgbClr val="8A6A2F"/>
            </a:solidFill>
            <a:prstDash val="solid"/>
          </a:ln>
        </p:spPr>
        <p:txBody>
          <a:bodyPr/>
          <a:lstStyle/>
          <a:p>
            <a:endParaRPr lang="en-US"/>
          </a:p>
        </p:txBody>
      </p:sp>
      <p:sp>
        <p:nvSpPr>
          <p:cNvPr id="16" name="Text 14"/>
          <p:cNvSpPr/>
          <p:nvPr/>
        </p:nvSpPr>
        <p:spPr>
          <a:xfrm>
            <a:off x="640080" y="3218688"/>
            <a:ext cx="4572000" cy="576072"/>
          </a:xfrm>
          <a:prstGeom prst="rect">
            <a:avLst/>
          </a:prstGeom>
          <a:noFill/>
          <a:ln/>
        </p:spPr>
        <p:txBody>
          <a:bodyPr wrap="square" lIns="0" tIns="0" rIns="0" bIns="0" rtlCol="0" anchor="t"/>
          <a:lstStyle/>
          <a:p>
            <a:pPr marL="0" indent="0">
              <a:lnSpc>
                <a:spcPct val="106000"/>
              </a:lnSpc>
              <a:buNone/>
            </a:pPr>
            <a:r>
              <a:rPr lang="en-US" sz="1000" b="1" dirty="0">
                <a:solidFill>
                  <a:srgbClr val="262B27"/>
                </a:solidFill>
                <a:latin typeface="Calibri" pitchFamily="34" charset="0"/>
                <a:ea typeface="Calibri" pitchFamily="34" charset="-122"/>
                <a:cs typeface="Calibri" pitchFamily="34" charset="-120"/>
              </a:rPr>
              <a:t>TMS sources → subject models → CDM products</a:t>
            </a:r>
            <a:endParaRPr lang="en-US" sz="1000" dirty="0"/>
          </a:p>
        </p:txBody>
      </p:sp>
      <p:sp>
        <p:nvSpPr>
          <p:cNvPr id="17" name="Text 15"/>
          <p:cNvSpPr/>
          <p:nvPr/>
        </p:nvSpPr>
        <p:spPr>
          <a:xfrm>
            <a:off x="5303520" y="3218688"/>
            <a:ext cx="3063240" cy="576072"/>
          </a:xfrm>
          <a:prstGeom prst="rect">
            <a:avLst/>
          </a:prstGeom>
          <a:noFill/>
          <a:ln/>
        </p:spPr>
        <p:txBody>
          <a:bodyPr wrap="square" lIns="0" tIns="0" rIns="0" bIns="0" rtlCol="0" anchor="t"/>
          <a:lstStyle/>
          <a:p>
            <a:pPr marL="0" indent="0">
              <a:lnSpc>
                <a:spcPct val="106000"/>
              </a:lnSpc>
              <a:buNone/>
            </a:pPr>
            <a:r>
              <a:rPr lang="en-US" sz="850" dirty="0">
                <a:solidFill>
                  <a:srgbClr val="262B27"/>
                </a:solidFill>
                <a:latin typeface="Calibri" pitchFamily="34" charset="0"/>
                <a:ea typeface="Calibri" pitchFamily="34" charset="-122"/>
                <a:cs typeface="Calibri" pitchFamily="34" charset="-120"/>
              </a:rPr>
              <a:t>the aggregate’s build mappings (consolidation + conformance)</a:t>
            </a:r>
            <a:endParaRPr lang="en-US" sz="850" dirty="0"/>
          </a:p>
        </p:txBody>
      </p:sp>
      <p:sp>
        <p:nvSpPr>
          <p:cNvPr id="18" name="Text 16"/>
          <p:cNvSpPr/>
          <p:nvPr/>
        </p:nvSpPr>
        <p:spPr>
          <a:xfrm>
            <a:off x="8503920" y="3218688"/>
            <a:ext cx="3063240" cy="576072"/>
          </a:xfrm>
          <a:prstGeom prst="rect">
            <a:avLst/>
          </a:prstGeom>
          <a:noFill/>
          <a:ln/>
        </p:spPr>
        <p:txBody>
          <a:bodyPr wrap="square" lIns="0" tIns="0" rIns="0" bIns="0" rtlCol="0" anchor="t"/>
          <a:lstStyle/>
          <a:p>
            <a:pPr marL="0" indent="0">
              <a:lnSpc>
                <a:spcPct val="106000"/>
              </a:lnSpc>
              <a:buNone/>
            </a:pPr>
            <a:r>
              <a:rPr lang="en-US" sz="880" b="1" dirty="0">
                <a:solidFill>
                  <a:srgbClr val="0E3D29"/>
                </a:solidFill>
                <a:latin typeface="Calibri" pitchFamily="34" charset="0"/>
                <a:ea typeface="Calibri" pitchFamily="34" charset="-122"/>
                <a:cs typeface="Calibri" pitchFamily="34" charset="-120"/>
              </a:rPr>
              <a:t>CENTRAL DATA TEAM
</a:t>
            </a:r>
            <a:r>
              <a:rPr lang="en-US" sz="820" dirty="0">
                <a:solidFill>
                  <a:srgbClr val="262B27"/>
                </a:solidFill>
                <a:latin typeface="Calibri" pitchFamily="34" charset="0"/>
                <a:ea typeface="Calibri" pitchFamily="34" charset="-122"/>
                <a:cs typeface="Calibri" pitchFamily="34" charset="-120"/>
              </a:rPr>
              <a:t>Central data team</a:t>
            </a:r>
            <a:endParaRPr lang="en-US" sz="880" dirty="0"/>
          </a:p>
        </p:txBody>
      </p:sp>
      <p:sp>
        <p:nvSpPr>
          <p:cNvPr id="19" name="Shape 17"/>
          <p:cNvSpPr/>
          <p:nvPr/>
        </p:nvSpPr>
        <p:spPr>
          <a:xfrm>
            <a:off x="502920" y="3950208"/>
            <a:ext cx="11185855" cy="1005840"/>
          </a:xfrm>
          <a:prstGeom prst="roundRect">
            <a:avLst>
              <a:gd name="adj" fmla="val 4545"/>
            </a:avLst>
          </a:prstGeom>
          <a:solidFill>
            <a:srgbClr val="F6EFE0"/>
          </a:solidFill>
          <a:ln w="15240">
            <a:solidFill>
              <a:srgbClr val="9C6B16"/>
            </a:solidFill>
            <a:prstDash val="solid"/>
          </a:ln>
        </p:spPr>
        <p:txBody>
          <a:bodyPr/>
          <a:lstStyle/>
          <a:p>
            <a:endParaRPr lang="en-US"/>
          </a:p>
        </p:txBody>
      </p:sp>
      <p:sp>
        <p:nvSpPr>
          <p:cNvPr id="20" name="Text 18"/>
          <p:cNvSpPr/>
          <p:nvPr/>
        </p:nvSpPr>
        <p:spPr>
          <a:xfrm>
            <a:off x="640080" y="4023360"/>
            <a:ext cx="4572000" cy="868680"/>
          </a:xfrm>
          <a:prstGeom prst="rect">
            <a:avLst/>
          </a:prstGeom>
          <a:noFill/>
          <a:ln/>
        </p:spPr>
        <p:txBody>
          <a:bodyPr wrap="square" lIns="0" tIns="0" rIns="0" bIns="0" rtlCol="0" anchor="t"/>
          <a:lstStyle/>
          <a:p>
            <a:pPr marL="0" indent="0">
              <a:lnSpc>
                <a:spcPct val="106000"/>
              </a:lnSpc>
              <a:buNone/>
            </a:pPr>
            <a:r>
              <a:rPr lang="en-US" sz="1000" b="1" dirty="0">
                <a:solidFill>
                  <a:srgbClr val="262B27"/>
                </a:solidFill>
                <a:latin typeface="Calibri" pitchFamily="34" charset="0"/>
                <a:ea typeface="Calibri" pitchFamily="34" charset="-122"/>
                <a:cs typeface="Calibri" pitchFamily="34" charset="-120"/>
              </a:rPr>
              <a:t>EXISTING DATA SERVICES → subject-area definitions</a:t>
            </a:r>
            <a:endParaRPr lang="en-US" sz="1000" dirty="0"/>
          </a:p>
        </p:txBody>
      </p:sp>
      <p:sp>
        <p:nvSpPr>
          <p:cNvPr id="21" name="Text 19"/>
          <p:cNvSpPr/>
          <p:nvPr/>
        </p:nvSpPr>
        <p:spPr>
          <a:xfrm>
            <a:off x="5303520" y="4023360"/>
            <a:ext cx="3063240" cy="868680"/>
          </a:xfrm>
          <a:prstGeom prst="rect">
            <a:avLst/>
          </a:prstGeom>
          <a:noFill/>
          <a:ln/>
        </p:spPr>
        <p:txBody>
          <a:bodyPr wrap="square" lIns="0" tIns="0" rIns="0" bIns="0" rtlCol="0" anchor="t"/>
          <a:lstStyle/>
          <a:p>
            <a:pPr marL="0" indent="0">
              <a:lnSpc>
                <a:spcPct val="106000"/>
              </a:lnSpc>
              <a:buNone/>
            </a:pPr>
            <a:r>
              <a:rPr lang="en-US" sz="850" dirty="0">
                <a:solidFill>
                  <a:srgbClr val="262B27"/>
                </a:solidFill>
                <a:latin typeface="Calibri" pitchFamily="34" charset="0"/>
                <a:ea typeface="Calibri" pitchFamily="34" charset="-122"/>
                <a:cs typeface="Calibri" pitchFamily="34" charset="-120"/>
              </a:rPr>
              <a:t>Veritas / reference / market / trade services aligned to the models they should implement — becoming the OPERATIONAL PORT of one meaning</a:t>
            </a:r>
            <a:endParaRPr lang="en-US" sz="850" dirty="0"/>
          </a:p>
        </p:txBody>
      </p:sp>
      <p:sp>
        <p:nvSpPr>
          <p:cNvPr id="22" name="Text 20"/>
          <p:cNvSpPr/>
          <p:nvPr/>
        </p:nvSpPr>
        <p:spPr>
          <a:xfrm>
            <a:off x="8503920" y="4023360"/>
            <a:ext cx="3063240" cy="868680"/>
          </a:xfrm>
          <a:prstGeom prst="rect">
            <a:avLst/>
          </a:prstGeom>
          <a:noFill/>
          <a:ln/>
        </p:spPr>
        <p:txBody>
          <a:bodyPr wrap="square" lIns="0" tIns="0" rIns="0" bIns="0" rtlCol="0" anchor="t"/>
          <a:lstStyle/>
          <a:p>
            <a:pPr marL="0" indent="0">
              <a:lnSpc>
                <a:spcPct val="106000"/>
              </a:lnSpc>
              <a:buNone/>
            </a:pPr>
            <a:r>
              <a:rPr lang="en-US" sz="880" b="1" dirty="0">
                <a:solidFill>
                  <a:srgbClr val="9C6B16"/>
                </a:solidFill>
                <a:latin typeface="Calibri" pitchFamily="34" charset="0"/>
                <a:ea typeface="Calibri" pitchFamily="34" charset="-122"/>
                <a:cs typeface="Calibri" pitchFamily="34" charset="-120"/>
              </a:rPr>
              <a:t>UNASSIGNED TODAY — the gap. Target: service teams IMPLEMENT; central team OWNS the definitions they implement
</a:t>
            </a:r>
            <a:r>
              <a:rPr lang="en-US" sz="820" dirty="0">
                <a:solidFill>
                  <a:srgbClr val="262B27"/>
                </a:solidFill>
                <a:latin typeface="Calibri" pitchFamily="34" charset="0"/>
                <a:ea typeface="Calibri" pitchFamily="34" charset="-122"/>
                <a:cs typeface="Calibri" pitchFamily="34" charset="-120"/>
              </a:rPr>
              <a:t>THE DECISION WE ASK FOR</a:t>
            </a:r>
            <a:endParaRPr lang="en-US" sz="880" dirty="0"/>
          </a:p>
        </p:txBody>
      </p:sp>
      <p:sp>
        <p:nvSpPr>
          <p:cNvPr id="23" name="Shape 21"/>
          <p:cNvSpPr/>
          <p:nvPr/>
        </p:nvSpPr>
        <p:spPr>
          <a:xfrm>
            <a:off x="502920" y="5047488"/>
            <a:ext cx="11185855" cy="713232"/>
          </a:xfrm>
          <a:prstGeom prst="roundRect">
            <a:avLst>
              <a:gd name="adj" fmla="val 6410"/>
            </a:avLst>
          </a:prstGeom>
          <a:solidFill>
            <a:srgbClr val="F5F7F5"/>
          </a:solidFill>
          <a:ln w="15240">
            <a:solidFill>
              <a:srgbClr val="D8E0DA"/>
            </a:solidFill>
            <a:prstDash val="solid"/>
          </a:ln>
        </p:spPr>
        <p:txBody>
          <a:bodyPr/>
          <a:lstStyle/>
          <a:p>
            <a:endParaRPr lang="en-US"/>
          </a:p>
        </p:txBody>
      </p:sp>
      <p:sp>
        <p:nvSpPr>
          <p:cNvPr id="24" name="Text 22"/>
          <p:cNvSpPr/>
          <p:nvPr/>
        </p:nvSpPr>
        <p:spPr>
          <a:xfrm>
            <a:off x="640080" y="5120640"/>
            <a:ext cx="4572000" cy="576072"/>
          </a:xfrm>
          <a:prstGeom prst="rect">
            <a:avLst/>
          </a:prstGeom>
          <a:noFill/>
          <a:ln/>
        </p:spPr>
        <p:txBody>
          <a:bodyPr wrap="square" lIns="0" tIns="0" rIns="0" bIns="0" rtlCol="0" anchor="t"/>
          <a:lstStyle/>
          <a:p>
            <a:pPr marL="0" indent="0">
              <a:lnSpc>
                <a:spcPct val="106000"/>
              </a:lnSpc>
              <a:buNone/>
            </a:pPr>
            <a:r>
              <a:rPr lang="en-US" sz="1000" b="1" dirty="0">
                <a:solidFill>
                  <a:srgbClr val="262B27"/>
                </a:solidFill>
                <a:latin typeface="Calibri" pitchFamily="34" charset="0"/>
                <a:ea typeface="Calibri" pitchFamily="34" charset="-122"/>
                <a:cs typeface="Calibri" pitchFamily="34" charset="-120"/>
              </a:rPr>
              <a:t>Classification into data domains</a:t>
            </a:r>
            <a:endParaRPr lang="en-US" sz="1000" dirty="0"/>
          </a:p>
        </p:txBody>
      </p:sp>
      <p:sp>
        <p:nvSpPr>
          <p:cNvPr id="25" name="Text 23"/>
          <p:cNvSpPr/>
          <p:nvPr/>
        </p:nvSpPr>
        <p:spPr>
          <a:xfrm>
            <a:off x="5303520" y="5120640"/>
            <a:ext cx="3063240" cy="576072"/>
          </a:xfrm>
          <a:prstGeom prst="rect">
            <a:avLst/>
          </a:prstGeom>
          <a:noFill/>
          <a:ln/>
        </p:spPr>
        <p:txBody>
          <a:bodyPr wrap="square" lIns="0" tIns="0" rIns="0" bIns="0" rtlCol="0" anchor="t"/>
          <a:lstStyle/>
          <a:p>
            <a:pPr marL="0" indent="0">
              <a:lnSpc>
                <a:spcPct val="106000"/>
              </a:lnSpc>
              <a:buNone/>
            </a:pPr>
            <a:r>
              <a:rPr lang="en-US" sz="850" dirty="0">
                <a:solidFill>
                  <a:srgbClr val="262B27"/>
                </a:solidFill>
                <a:latin typeface="Calibri" pitchFamily="34" charset="0"/>
                <a:ea typeface="Calibri" pitchFamily="34" charset="-122"/>
                <a:cs typeface="Calibri" pitchFamily="34" charset="-120"/>
              </a:rPr>
              <a:t>one governed tag per product (data_domain = …)</a:t>
            </a:r>
            <a:endParaRPr lang="en-US" sz="850" dirty="0"/>
          </a:p>
        </p:txBody>
      </p:sp>
      <p:sp>
        <p:nvSpPr>
          <p:cNvPr id="26" name="Text 24"/>
          <p:cNvSpPr/>
          <p:nvPr/>
        </p:nvSpPr>
        <p:spPr>
          <a:xfrm>
            <a:off x="8503920" y="5120640"/>
            <a:ext cx="3063240" cy="576072"/>
          </a:xfrm>
          <a:prstGeom prst="rect">
            <a:avLst/>
          </a:prstGeom>
          <a:noFill/>
          <a:ln/>
        </p:spPr>
        <p:txBody>
          <a:bodyPr wrap="square" lIns="0" tIns="0" rIns="0" bIns="0" rtlCol="0" anchor="t"/>
          <a:lstStyle/>
          <a:p>
            <a:pPr marL="0" indent="0">
              <a:lnSpc>
                <a:spcPct val="106000"/>
              </a:lnSpc>
              <a:buNone/>
            </a:pPr>
            <a:r>
              <a:rPr lang="en-US" sz="880" b="1" dirty="0">
                <a:solidFill>
                  <a:srgbClr val="0E3D29"/>
                </a:solidFill>
                <a:latin typeface="Calibri" pitchFamily="34" charset="0"/>
                <a:ea typeface="Calibri" pitchFamily="34" charset="-122"/>
                <a:cs typeface="Calibri" pitchFamily="34" charset="-120"/>
              </a:rPr>
              <a:t>PRODUCT OWNER applies
</a:t>
            </a:r>
            <a:r>
              <a:rPr lang="en-US" sz="820" dirty="0">
                <a:solidFill>
                  <a:srgbClr val="262B27"/>
                </a:solidFill>
                <a:latin typeface="Calibri" pitchFamily="34" charset="0"/>
                <a:ea typeface="Calibri" pitchFamily="34" charset="-122"/>
                <a:cs typeface="Calibri" pitchFamily="34" charset="-120"/>
              </a:rPr>
              <a:t>CDO taxonomy</a:t>
            </a:r>
            <a:endParaRPr lang="en-US" sz="880" dirty="0"/>
          </a:p>
        </p:txBody>
      </p:sp>
      <p:sp>
        <p:nvSpPr>
          <p:cNvPr id="27" name="Shape 25"/>
          <p:cNvSpPr/>
          <p:nvPr/>
        </p:nvSpPr>
        <p:spPr>
          <a:xfrm>
            <a:off x="502920" y="5870448"/>
            <a:ext cx="11185855" cy="502920"/>
          </a:xfrm>
          <a:prstGeom prst="roundRect">
            <a:avLst>
              <a:gd name="adj" fmla="val 9091"/>
            </a:avLst>
          </a:prstGeom>
          <a:solidFill>
            <a:srgbClr val="0E3D29"/>
          </a:solidFill>
          <a:ln w="15240">
            <a:solidFill>
              <a:srgbClr val="0E3D29"/>
            </a:solidFill>
            <a:prstDash val="solid"/>
          </a:ln>
        </p:spPr>
        <p:txBody>
          <a:bodyPr/>
          <a:lstStyle/>
          <a:p>
            <a:endParaRPr lang="en-US"/>
          </a:p>
        </p:txBody>
      </p:sp>
      <p:sp>
        <p:nvSpPr>
          <p:cNvPr id="28" name="Text 26"/>
          <p:cNvSpPr/>
          <p:nvPr/>
        </p:nvSpPr>
        <p:spPr>
          <a:xfrm>
            <a:off x="685800" y="5870448"/>
            <a:ext cx="11155680" cy="502920"/>
          </a:xfrm>
          <a:prstGeom prst="rect">
            <a:avLst/>
          </a:prstGeom>
          <a:noFill/>
          <a:ln/>
        </p:spPr>
        <p:txBody>
          <a:bodyPr wrap="square" lIns="0" tIns="0" rIns="0" bIns="0" rtlCol="0" anchor="ctr"/>
          <a:lstStyle/>
          <a:p>
            <a:pPr marL="0" indent="0">
              <a:lnSpc>
                <a:spcPct val="106000"/>
              </a:lnSpc>
              <a:buNone/>
            </a:pPr>
            <a:r>
              <a:rPr lang="en-US" sz="1050" b="1" dirty="0">
                <a:solidFill>
                  <a:srgbClr val="FFFFFF"/>
                </a:solidFill>
                <a:latin typeface="Calibri" pitchFamily="34" charset="0"/>
                <a:ea typeface="Calibri" pitchFamily="34" charset="-122"/>
                <a:cs typeface="Calibri" pitchFamily="34" charset="-120"/>
              </a:rPr>
              <a:t>Row 4 is the clarity currently lacking: </a:t>
            </a:r>
            <a:r>
              <a:rPr lang="en-US" sz="1050" dirty="0">
                <a:solidFill>
                  <a:srgbClr val="C9DBD0"/>
                </a:solidFill>
                <a:latin typeface="Calibri" pitchFamily="34" charset="0"/>
                <a:ea typeface="Calibri" pitchFamily="34" charset="-122"/>
                <a:cs typeface="Calibri" pitchFamily="34" charset="-120"/>
              </a:rPr>
              <a:t>until the services are mapped to (and implement) the subject-area definitions, “one meaning, two ports” cannot exist — and intraday vs EOD stays unreconcilable.</a:t>
            </a:r>
            <a:endParaRPr lang="en-US" sz="1050" dirty="0"/>
          </a:p>
        </p:txBody>
      </p:sp>
      <p:sp>
        <p:nvSpPr>
          <p:cNvPr id="29" name="Text 27"/>
          <p:cNvSpPr/>
          <p:nvPr/>
        </p:nvSpPr>
        <p:spPr>
          <a:xfrm>
            <a:off x="502920" y="6510528"/>
            <a:ext cx="5486400" cy="237744"/>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30" name="Text 28"/>
          <p:cNvSpPr/>
          <p:nvPr/>
        </p:nvSpPr>
        <p:spPr>
          <a:xfrm>
            <a:off x="10180015" y="6510528"/>
            <a:ext cx="1554480" cy="237744"/>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515600" cy="274320"/>
          </a:xfrm>
          <a:prstGeom prst="rect">
            <a:avLst/>
          </a:prstGeom>
          <a:noFill/>
          <a:ln/>
        </p:spPr>
        <p:txBody>
          <a:bodyPr wrap="square" lIns="0" tIns="0" rIns="0" bIns="0" rtlCol="0" anchor="ctr"/>
          <a:lstStyle/>
          <a:p>
            <a:pPr marL="0" indent="0">
              <a:buNone/>
            </a:pPr>
            <a:r>
              <a:rPr lang="en-US" sz="1050" b="1" kern="0" spc="200" dirty="0">
                <a:solidFill>
                  <a:srgbClr val="1F7A47"/>
                </a:solidFill>
                <a:latin typeface="Calibri" pitchFamily="34" charset="0"/>
                <a:ea typeface="Calibri" pitchFamily="34" charset="-122"/>
                <a:cs typeface="Calibri" pitchFamily="34" charset="-120"/>
              </a:rPr>
              <a:t>THE RISK-CONFORMED LAYER</a:t>
            </a:r>
            <a:endParaRPr lang="en-US" sz="1050" dirty="0"/>
          </a:p>
        </p:txBody>
      </p:sp>
      <p:sp>
        <p:nvSpPr>
          <p:cNvPr id="3" name="Text 1"/>
          <p:cNvSpPr/>
          <p:nvPr/>
        </p:nvSpPr>
        <p:spPr>
          <a:xfrm>
            <a:off x="502920" y="530352"/>
            <a:ext cx="11338560" cy="457200"/>
          </a:xfrm>
          <a:prstGeom prst="rect">
            <a:avLst/>
          </a:prstGeom>
          <a:noFill/>
          <a:ln/>
        </p:spPr>
        <p:txBody>
          <a:bodyPr wrap="square" lIns="0" tIns="0" rIns="0" bIns="0" rtlCol="0" anchor="ctr"/>
          <a:lstStyle/>
          <a:p>
            <a:pPr marL="0" indent="0">
              <a:buNone/>
            </a:pPr>
            <a:r>
              <a:rPr lang="en-US" sz="2100" b="1" dirty="0">
                <a:solidFill>
                  <a:srgbClr val="0E3D29"/>
                </a:solidFill>
                <a:latin typeface="Calibri" pitchFamily="34" charset="0"/>
                <a:ea typeface="Calibri" pitchFamily="34" charset="-122"/>
                <a:cs typeface="Calibri" pitchFamily="34" charset="-120"/>
              </a:rPr>
              <a:t>Seeded from the Obvious, Discovered from the Declarations, Owned at the Boundary</a:t>
            </a:r>
            <a:endParaRPr lang="en-US" sz="2100" dirty="0"/>
          </a:p>
        </p:txBody>
      </p:sp>
      <p:sp>
        <p:nvSpPr>
          <p:cNvPr id="4" name="Shape 2"/>
          <p:cNvSpPr/>
          <p:nvPr/>
        </p:nvSpPr>
        <p:spPr>
          <a:xfrm>
            <a:off x="502920" y="1280160"/>
            <a:ext cx="5440680" cy="1508760"/>
          </a:xfrm>
          <a:prstGeom prst="roundRect">
            <a:avLst>
              <a:gd name="adj" fmla="val 3030"/>
            </a:avLst>
          </a:prstGeom>
          <a:solidFill>
            <a:srgbClr val="EAF3EC"/>
          </a:solidFill>
          <a:ln w="15240">
            <a:solidFill>
              <a:srgbClr val="1F7A47"/>
            </a:solidFill>
            <a:prstDash val="solid"/>
          </a:ln>
        </p:spPr>
        <p:txBody>
          <a:bodyPr/>
          <a:lstStyle/>
          <a:p>
            <a:endParaRPr lang="en-US"/>
          </a:p>
        </p:txBody>
      </p:sp>
      <p:sp>
        <p:nvSpPr>
          <p:cNvPr id="5" name="Text 3"/>
          <p:cNvSpPr/>
          <p:nvPr/>
        </p:nvSpPr>
        <p:spPr>
          <a:xfrm>
            <a:off x="667512" y="1389888"/>
            <a:ext cx="5120640" cy="274320"/>
          </a:xfrm>
          <a:prstGeom prst="rect">
            <a:avLst/>
          </a:prstGeom>
          <a:noFill/>
          <a:ln/>
        </p:spPr>
        <p:txBody>
          <a:bodyPr wrap="square" lIns="0" tIns="0" rIns="0" bIns="0" rtlCol="0" anchor="t"/>
          <a:lstStyle/>
          <a:p>
            <a:pPr marL="0" indent="0">
              <a:lnSpc>
                <a:spcPct val="106000"/>
              </a:lnSpc>
              <a:buNone/>
            </a:pPr>
            <a:r>
              <a:rPr lang="en-US" sz="1200" b="1" dirty="0">
                <a:solidFill>
                  <a:srgbClr val="0E3D29"/>
                </a:solidFill>
                <a:latin typeface="Calibri" pitchFamily="34" charset="0"/>
                <a:ea typeface="Calibri" pitchFamily="34" charset="-122"/>
                <a:cs typeface="Calibri" pitchFamily="34" charset="-120"/>
              </a:rPr>
              <a:t>1 · SEED</a:t>
            </a:r>
            <a:endParaRPr lang="en-US" sz="1200" dirty="0"/>
          </a:p>
        </p:txBody>
      </p:sp>
      <p:sp>
        <p:nvSpPr>
          <p:cNvPr id="6" name="Text 4"/>
          <p:cNvSpPr/>
          <p:nvPr/>
        </p:nvSpPr>
        <p:spPr>
          <a:xfrm>
            <a:off x="667512" y="1719072"/>
            <a:ext cx="5120640" cy="100584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the near-certain consumed core, knowable today: counterparty · TD entity · asset / instrument · calendar · currency · rating (from reference masters — no discovery needed)</a:t>
            </a:r>
            <a:endParaRPr lang="en-US" sz="950" dirty="0"/>
          </a:p>
        </p:txBody>
      </p:sp>
      <p:sp>
        <p:nvSpPr>
          <p:cNvPr id="7" name="Shape 5"/>
          <p:cNvSpPr/>
          <p:nvPr/>
        </p:nvSpPr>
        <p:spPr>
          <a:xfrm>
            <a:off x="6126480" y="1280160"/>
            <a:ext cx="5440680" cy="1508760"/>
          </a:xfrm>
          <a:prstGeom prst="roundRect">
            <a:avLst>
              <a:gd name="adj" fmla="val 3030"/>
            </a:avLst>
          </a:prstGeom>
          <a:solidFill>
            <a:srgbClr val="F5F7F5"/>
          </a:solidFill>
          <a:ln w="15240">
            <a:solidFill>
              <a:srgbClr val="D8E0DA"/>
            </a:solidFill>
            <a:prstDash val="solid"/>
          </a:ln>
        </p:spPr>
        <p:txBody>
          <a:bodyPr/>
          <a:lstStyle/>
          <a:p>
            <a:endParaRPr lang="en-US"/>
          </a:p>
        </p:txBody>
      </p:sp>
      <p:sp>
        <p:nvSpPr>
          <p:cNvPr id="8" name="Text 6"/>
          <p:cNvSpPr/>
          <p:nvPr/>
        </p:nvSpPr>
        <p:spPr>
          <a:xfrm>
            <a:off x="6291072" y="1389888"/>
            <a:ext cx="5120640" cy="274320"/>
          </a:xfrm>
          <a:prstGeom prst="rect">
            <a:avLst/>
          </a:prstGeom>
          <a:noFill/>
          <a:ln/>
        </p:spPr>
        <p:txBody>
          <a:bodyPr wrap="square" lIns="0" tIns="0" rIns="0" bIns="0" rtlCol="0" anchor="t"/>
          <a:lstStyle/>
          <a:p>
            <a:pPr marL="0" indent="0">
              <a:lnSpc>
                <a:spcPct val="106000"/>
              </a:lnSpc>
              <a:buNone/>
            </a:pPr>
            <a:r>
              <a:rPr lang="en-US" sz="1200" b="1" dirty="0">
                <a:solidFill>
                  <a:srgbClr val="0E3D29"/>
                </a:solidFill>
                <a:latin typeface="Calibri" pitchFamily="34" charset="0"/>
                <a:ea typeface="Calibri" pitchFamily="34" charset="-122"/>
                <a:cs typeface="Calibri" pitchFamily="34" charset="-120"/>
              </a:rPr>
              <a:t>2 · DECLARE</a:t>
            </a:r>
            <a:endParaRPr lang="en-US" sz="1200" dirty="0"/>
          </a:p>
        </p:txBody>
      </p:sp>
      <p:sp>
        <p:nvSpPr>
          <p:cNvPr id="9" name="Text 7"/>
          <p:cNvSpPr/>
          <p:nvPr/>
        </p:nvSpPr>
        <p:spPr>
          <a:xfrm>
            <a:off x="6291072" y="1719072"/>
            <a:ext cx="5120640" cy="100584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profiler drafts each app’s row from landed data (fingerprints); teams give 45-minute verdicts: have it? own or sourced? from where? keyed how?</a:t>
            </a:r>
            <a:endParaRPr lang="en-US" sz="950" dirty="0"/>
          </a:p>
        </p:txBody>
      </p:sp>
      <p:sp>
        <p:nvSpPr>
          <p:cNvPr id="10" name="Shape 8"/>
          <p:cNvSpPr/>
          <p:nvPr/>
        </p:nvSpPr>
        <p:spPr>
          <a:xfrm>
            <a:off x="502920" y="2971800"/>
            <a:ext cx="5440680" cy="1508760"/>
          </a:xfrm>
          <a:prstGeom prst="roundRect">
            <a:avLst>
              <a:gd name="adj" fmla="val 3030"/>
            </a:avLst>
          </a:prstGeom>
          <a:solidFill>
            <a:srgbClr val="EAF3EC"/>
          </a:solidFill>
          <a:ln w="15240">
            <a:solidFill>
              <a:srgbClr val="1F7A47"/>
            </a:solidFill>
            <a:prstDash val="solid"/>
          </a:ln>
        </p:spPr>
        <p:txBody>
          <a:bodyPr/>
          <a:lstStyle/>
          <a:p>
            <a:endParaRPr lang="en-US"/>
          </a:p>
        </p:txBody>
      </p:sp>
      <p:sp>
        <p:nvSpPr>
          <p:cNvPr id="11" name="Text 9"/>
          <p:cNvSpPr/>
          <p:nvPr/>
        </p:nvSpPr>
        <p:spPr>
          <a:xfrm>
            <a:off x="667512" y="3081528"/>
            <a:ext cx="5120640" cy="274320"/>
          </a:xfrm>
          <a:prstGeom prst="rect">
            <a:avLst/>
          </a:prstGeom>
          <a:noFill/>
          <a:ln/>
        </p:spPr>
        <p:txBody>
          <a:bodyPr wrap="square" lIns="0" tIns="0" rIns="0" bIns="0" rtlCol="0" anchor="t"/>
          <a:lstStyle/>
          <a:p>
            <a:pPr marL="0" indent="0">
              <a:lnSpc>
                <a:spcPct val="106000"/>
              </a:lnSpc>
              <a:buNone/>
            </a:pPr>
            <a:r>
              <a:rPr lang="en-US" sz="1200" b="1" dirty="0">
                <a:solidFill>
                  <a:srgbClr val="0E3D29"/>
                </a:solidFill>
                <a:latin typeface="Calibri" pitchFamily="34" charset="0"/>
                <a:ea typeface="Calibri" pitchFamily="34" charset="-122"/>
                <a:cs typeface="Calibri" pitchFamily="34" charset="-120"/>
              </a:rPr>
              <a:t>3 · CRYSTALLIZE v1</a:t>
            </a:r>
            <a:endParaRPr lang="en-US" sz="1200" dirty="0"/>
          </a:p>
        </p:txBody>
      </p:sp>
      <p:sp>
        <p:nvSpPr>
          <p:cNvPr id="12" name="Text 10"/>
          <p:cNvSpPr/>
          <p:nvPr/>
        </p:nvSpPr>
        <p:spPr>
          <a:xfrm>
            <a:off x="667512" y="3410712"/>
            <a:ext cx="5120640" cy="100584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promote what declarations show as genuinely shared; leave app-local things local; record each consumed entity’s upstream source (drafting the CDM / Veritas alignment for free)</a:t>
            </a:r>
            <a:endParaRPr lang="en-US" sz="950" dirty="0"/>
          </a:p>
        </p:txBody>
      </p:sp>
      <p:sp>
        <p:nvSpPr>
          <p:cNvPr id="13" name="Shape 11"/>
          <p:cNvSpPr/>
          <p:nvPr/>
        </p:nvSpPr>
        <p:spPr>
          <a:xfrm>
            <a:off x="6126480" y="2971800"/>
            <a:ext cx="5440680" cy="1508760"/>
          </a:xfrm>
          <a:prstGeom prst="roundRect">
            <a:avLst>
              <a:gd name="adj" fmla="val 3030"/>
            </a:avLst>
          </a:prstGeom>
          <a:solidFill>
            <a:srgbClr val="F4EDDD"/>
          </a:solidFill>
          <a:ln w="15240">
            <a:solidFill>
              <a:srgbClr val="8A6A2F"/>
            </a:solidFill>
            <a:prstDash val="solid"/>
          </a:ln>
        </p:spPr>
        <p:txBody>
          <a:bodyPr/>
          <a:lstStyle/>
          <a:p>
            <a:endParaRPr lang="en-US"/>
          </a:p>
        </p:txBody>
      </p:sp>
      <p:sp>
        <p:nvSpPr>
          <p:cNvPr id="14" name="Text 12"/>
          <p:cNvSpPr/>
          <p:nvPr/>
        </p:nvSpPr>
        <p:spPr>
          <a:xfrm>
            <a:off x="6291072" y="3081528"/>
            <a:ext cx="5120640" cy="274320"/>
          </a:xfrm>
          <a:prstGeom prst="rect">
            <a:avLst/>
          </a:prstGeom>
          <a:noFill/>
          <a:ln/>
        </p:spPr>
        <p:txBody>
          <a:bodyPr wrap="square" lIns="0" tIns="0" rIns="0" bIns="0" rtlCol="0" anchor="t"/>
          <a:lstStyle/>
          <a:p>
            <a:pPr marL="0" indent="0">
              <a:lnSpc>
                <a:spcPct val="106000"/>
              </a:lnSpc>
              <a:buNone/>
            </a:pPr>
            <a:r>
              <a:rPr lang="en-US" sz="1200" b="1" dirty="0">
                <a:solidFill>
                  <a:srgbClr val="0E3D29"/>
                </a:solidFill>
                <a:latin typeface="Calibri" pitchFamily="34" charset="0"/>
                <a:ea typeface="Calibri" pitchFamily="34" charset="-122"/>
                <a:cs typeface="Calibri" pitchFamily="34" charset="-120"/>
              </a:rPr>
              <a:t>4 · MAP BACK</a:t>
            </a:r>
            <a:endParaRPr lang="en-US" sz="1200" dirty="0"/>
          </a:p>
        </p:txBody>
      </p:sp>
      <p:sp>
        <p:nvSpPr>
          <p:cNvPr id="15" name="Text 13"/>
          <p:cNvSpPr/>
          <p:nvPr/>
        </p:nvSpPr>
        <p:spPr>
          <a:xfrm>
            <a:off x="6291072" y="3410712"/>
            <a:ext cx="5120640" cy="100584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apps map to the layer at their own timeline — stages 0 silo → 1 declared → 2 consuming → 3 born-aligned; coverage dashboard reports per team; nothing waits for the slowest</a:t>
            </a:r>
            <a:endParaRPr lang="en-US" sz="950" dirty="0"/>
          </a:p>
        </p:txBody>
      </p:sp>
      <p:sp>
        <p:nvSpPr>
          <p:cNvPr id="16" name="Shape 14"/>
          <p:cNvSpPr/>
          <p:nvPr/>
        </p:nvSpPr>
        <p:spPr>
          <a:xfrm>
            <a:off x="5943600" y="2011680"/>
            <a:ext cx="320040" cy="0"/>
          </a:xfrm>
          <a:prstGeom prst="line">
            <a:avLst/>
          </a:prstGeom>
          <a:noFill/>
          <a:ln w="19050">
            <a:solidFill>
              <a:srgbClr val="8B8272"/>
            </a:solidFill>
            <a:prstDash val="solid"/>
            <a:tailEnd type="triangle"/>
          </a:ln>
        </p:spPr>
        <p:txBody>
          <a:bodyPr/>
          <a:lstStyle/>
          <a:p>
            <a:endParaRPr lang="en-US"/>
          </a:p>
        </p:txBody>
      </p:sp>
      <p:sp>
        <p:nvSpPr>
          <p:cNvPr id="17" name="Shape 15"/>
          <p:cNvSpPr/>
          <p:nvPr/>
        </p:nvSpPr>
        <p:spPr>
          <a:xfrm>
            <a:off x="5943600" y="3703320"/>
            <a:ext cx="320040" cy="0"/>
          </a:xfrm>
          <a:prstGeom prst="line">
            <a:avLst/>
          </a:prstGeom>
          <a:noFill/>
          <a:ln w="19050">
            <a:solidFill>
              <a:srgbClr val="8B8272"/>
            </a:solidFill>
            <a:prstDash val="solid"/>
            <a:tailEnd type="triangle"/>
          </a:ln>
        </p:spPr>
        <p:txBody>
          <a:bodyPr/>
          <a:lstStyle/>
          <a:p>
            <a:endParaRPr lang="en-US"/>
          </a:p>
        </p:txBody>
      </p:sp>
      <p:sp>
        <p:nvSpPr>
          <p:cNvPr id="18" name="Shape 16"/>
          <p:cNvSpPr/>
          <p:nvPr/>
        </p:nvSpPr>
        <p:spPr>
          <a:xfrm>
            <a:off x="8686800" y="2788920"/>
            <a:ext cx="0" cy="320040"/>
          </a:xfrm>
          <a:prstGeom prst="line">
            <a:avLst/>
          </a:prstGeom>
          <a:noFill/>
          <a:ln w="19050">
            <a:solidFill>
              <a:srgbClr val="8B8272"/>
            </a:solidFill>
            <a:prstDash val="solid"/>
            <a:tailEnd type="triangle"/>
          </a:ln>
        </p:spPr>
        <p:txBody>
          <a:bodyPr/>
          <a:lstStyle/>
          <a:p>
            <a:endParaRPr lang="en-US"/>
          </a:p>
        </p:txBody>
      </p:sp>
      <p:sp>
        <p:nvSpPr>
          <p:cNvPr id="19" name="Text 17"/>
          <p:cNvSpPr/>
          <p:nvPr/>
        </p:nvSpPr>
        <p:spPr>
          <a:xfrm>
            <a:off x="502920" y="4800600"/>
            <a:ext cx="11155680" cy="502920"/>
          </a:xfrm>
          <a:prstGeom prst="rect">
            <a:avLst/>
          </a:prstGeom>
          <a:noFill/>
          <a:ln/>
        </p:spPr>
        <p:txBody>
          <a:bodyPr wrap="square" lIns="0" tIns="0" rIns="0" bIns="0" rtlCol="0" anchor="t"/>
          <a:lstStyle/>
          <a:p>
            <a:pPr marL="0" indent="0">
              <a:lnSpc>
                <a:spcPct val="106000"/>
              </a:lnSpc>
              <a:buNone/>
            </a:pPr>
            <a:r>
              <a:rPr lang="en-US" sz="1000" b="1" dirty="0">
                <a:solidFill>
                  <a:srgbClr val="0E3D29"/>
                </a:solidFill>
                <a:latin typeface="Calibri" pitchFamily="34" charset="0"/>
                <a:ea typeface="Calibri" pitchFamily="34" charset="-122"/>
                <a:cs typeface="Calibri" pitchFamily="34" charset="-120"/>
              </a:rPr>
              <a:t>The two-colour rule (from the collateral model): </a:t>
            </a:r>
            <a:r>
              <a:rPr lang="en-US" sz="1000" dirty="0">
                <a:solidFill>
                  <a:srgbClr val="262B27"/>
                </a:solidFill>
                <a:latin typeface="Calibri" pitchFamily="34" charset="0"/>
                <a:ea typeface="Calibri" pitchFamily="34" charset="-122"/>
                <a:cs typeface="Calibri" pitchFamily="34" charset="-120"/>
              </a:rPr>
              <a:t>every subdomain model splits into CONSUMED entities (blue — sourced upstream, the alignment’s subject) and PRODUCED entities (green/gold — Risk-created, risk_only by definition). The layer is a living boundary — versioned, growing as later apps surface what the first wave missed.</a:t>
            </a:r>
            <a:endParaRPr lang="en-US" sz="1000" dirty="0"/>
          </a:p>
        </p:txBody>
      </p:sp>
      <p:sp>
        <p:nvSpPr>
          <p:cNvPr id="20" name="Shape 18"/>
          <p:cNvSpPr/>
          <p:nvPr/>
        </p:nvSpPr>
        <p:spPr>
          <a:xfrm>
            <a:off x="502920" y="5440680"/>
            <a:ext cx="11185855" cy="868680"/>
          </a:xfrm>
          <a:prstGeom prst="roundRect">
            <a:avLst>
              <a:gd name="adj" fmla="val 5263"/>
            </a:avLst>
          </a:prstGeom>
          <a:solidFill>
            <a:srgbClr val="0E3D29"/>
          </a:solidFill>
          <a:ln w="15240">
            <a:solidFill>
              <a:srgbClr val="0E3D29"/>
            </a:solidFill>
            <a:prstDash val="solid"/>
          </a:ln>
        </p:spPr>
        <p:txBody>
          <a:bodyPr/>
          <a:lstStyle/>
          <a:p>
            <a:endParaRPr lang="en-US"/>
          </a:p>
        </p:txBody>
      </p:sp>
      <p:sp>
        <p:nvSpPr>
          <p:cNvPr id="21" name="Text 19"/>
          <p:cNvSpPr/>
          <p:nvPr/>
        </p:nvSpPr>
        <p:spPr>
          <a:xfrm>
            <a:off x="731520" y="5504688"/>
            <a:ext cx="11155680" cy="777240"/>
          </a:xfrm>
          <a:prstGeom prst="rect">
            <a:avLst/>
          </a:prstGeom>
          <a:noFill/>
          <a:ln/>
        </p:spPr>
        <p:txBody>
          <a:bodyPr wrap="square" lIns="0" tIns="0" rIns="0" bIns="0" rtlCol="0" anchor="ctr"/>
          <a:lstStyle/>
          <a:p>
            <a:pPr marL="0" indent="0">
              <a:lnSpc>
                <a:spcPct val="106000"/>
              </a:lnSpc>
              <a:buNone/>
            </a:pPr>
            <a:r>
              <a:rPr lang="en-US" sz="1200" b="1" i="1" dirty="0">
                <a:solidFill>
                  <a:srgbClr val="FFFFFF"/>
                </a:solidFill>
                <a:latin typeface="Calibri" pitchFamily="34" charset="0"/>
                <a:ea typeface="Calibri" pitchFamily="34" charset="-122"/>
                <a:cs typeface="Calibri" pitchFamily="34" charset="-120"/>
              </a:rPr>
              <a:t>“The conformed layer is seeded from the obvious, discovered from the declarations, and owned at the boundary — never invented in a workshop.”
</a:t>
            </a:r>
            <a:r>
              <a:rPr lang="en-US" sz="1050" dirty="0">
                <a:solidFill>
                  <a:srgbClr val="C9DBD0"/>
                </a:solidFill>
                <a:latin typeface="Calibri" pitchFamily="34" charset="0"/>
                <a:ea typeface="Calibri" pitchFamily="34" charset="-122"/>
                <a:cs typeface="Calibri" pitchFamily="34" charset="-120"/>
              </a:rPr>
              <a:t>Build meaning inside the domain first · let applications join at their own pace · meet the enterprise at one boundary, on your own definitions.</a:t>
            </a:r>
            <a:endParaRPr lang="en-US" sz="1200" dirty="0"/>
          </a:p>
        </p:txBody>
      </p:sp>
      <p:sp>
        <p:nvSpPr>
          <p:cNvPr id="22" name="Text 20"/>
          <p:cNvSpPr/>
          <p:nvPr/>
        </p:nvSpPr>
        <p:spPr>
          <a:xfrm>
            <a:off x="502920" y="6510528"/>
            <a:ext cx="5486400" cy="237744"/>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23" name="Text 21"/>
          <p:cNvSpPr/>
          <p:nvPr/>
        </p:nvSpPr>
        <p:spPr>
          <a:xfrm>
            <a:off x="10180015" y="6510528"/>
            <a:ext cx="1554480" cy="237744"/>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EC27B49-7F8C-C41F-4C1E-07ADE364ADF5}"/>
              </a:ext>
            </a:extLst>
          </p:cNvPr>
          <p:cNvGraphicFramePr>
            <a:graphicFrameLocks noGrp="1"/>
          </p:cNvGraphicFramePr>
          <p:nvPr>
            <p:extLst>
              <p:ext uri="{D42A27DB-BD31-4B8C-83A1-F6EECF244321}">
                <p14:modId xmlns:p14="http://schemas.microsoft.com/office/powerpoint/2010/main" val="3608811439"/>
              </p:ext>
            </p:extLst>
          </p:nvPr>
        </p:nvGraphicFramePr>
        <p:xfrm>
          <a:off x="6705600" y="1762819"/>
          <a:ext cx="4951206" cy="4612399"/>
        </p:xfrm>
        <a:graphic>
          <a:graphicData uri="http://schemas.openxmlformats.org/drawingml/2006/table">
            <a:tbl>
              <a:tblPr/>
              <a:tblGrid>
                <a:gridCol w="1650402">
                  <a:extLst>
                    <a:ext uri="{9D8B030D-6E8A-4147-A177-3AD203B41FA5}">
                      <a16:colId xmlns:a16="http://schemas.microsoft.com/office/drawing/2014/main" val="818315087"/>
                    </a:ext>
                  </a:extLst>
                </a:gridCol>
                <a:gridCol w="1650402">
                  <a:extLst>
                    <a:ext uri="{9D8B030D-6E8A-4147-A177-3AD203B41FA5}">
                      <a16:colId xmlns:a16="http://schemas.microsoft.com/office/drawing/2014/main" val="3620823414"/>
                    </a:ext>
                  </a:extLst>
                </a:gridCol>
                <a:gridCol w="1650402">
                  <a:extLst>
                    <a:ext uri="{9D8B030D-6E8A-4147-A177-3AD203B41FA5}">
                      <a16:colId xmlns:a16="http://schemas.microsoft.com/office/drawing/2014/main" val="687753515"/>
                    </a:ext>
                  </a:extLst>
                </a:gridCol>
              </a:tblGrid>
              <a:tr h="267187">
                <a:tc>
                  <a:txBody>
                    <a:bodyPr/>
                    <a:lstStyle/>
                    <a:p>
                      <a:pPr>
                        <a:buNone/>
                      </a:pPr>
                      <a:r>
                        <a:rPr lang="en-US" sz="800"/>
                        <a:t>Pillar</a:t>
                      </a:r>
                    </a:p>
                  </a:txBody>
                  <a:tcPr marL="38170" marR="38170" marT="19085" marB="19085" anchor="ctr">
                    <a:lnL>
                      <a:noFill/>
                    </a:lnL>
                    <a:lnR>
                      <a:noFill/>
                    </a:lnR>
                    <a:lnT>
                      <a:noFill/>
                    </a:lnT>
                    <a:lnB>
                      <a:noFill/>
                    </a:lnB>
                    <a:noFill/>
                  </a:tcPr>
                </a:tc>
                <a:tc>
                  <a:txBody>
                    <a:bodyPr/>
                    <a:lstStyle/>
                    <a:p>
                      <a:pPr>
                        <a:buNone/>
                      </a:pPr>
                      <a:r>
                        <a:rPr lang="en-US" sz="800"/>
                        <a:t>Enterprise zoom</a:t>
                      </a:r>
                    </a:p>
                  </a:txBody>
                  <a:tcPr marL="38170" marR="38170" marT="19085" marB="19085" anchor="ctr">
                    <a:lnL>
                      <a:noFill/>
                    </a:lnL>
                    <a:lnR>
                      <a:noFill/>
                    </a:lnR>
                    <a:lnT>
                      <a:noFill/>
                    </a:lnT>
                    <a:lnB>
                      <a:noFill/>
                    </a:lnB>
                    <a:noFill/>
                  </a:tcPr>
                </a:tc>
                <a:tc>
                  <a:txBody>
                    <a:bodyPr/>
                    <a:lstStyle/>
                    <a:p>
                      <a:pPr>
                        <a:buNone/>
                      </a:pPr>
                      <a:r>
                        <a:rPr lang="en-US" sz="800"/>
                        <a:t>Risk/collateral zoom (the microscope)</a:t>
                      </a:r>
                    </a:p>
                  </a:txBody>
                  <a:tcPr marL="38170" marR="38170" marT="19085" marB="19085" anchor="ctr">
                    <a:lnL>
                      <a:noFill/>
                    </a:lnL>
                    <a:lnR>
                      <a:noFill/>
                    </a:lnR>
                    <a:lnT>
                      <a:noFill/>
                    </a:lnT>
                    <a:lnB>
                      <a:noFill/>
                    </a:lnB>
                    <a:noFill/>
                  </a:tcPr>
                </a:tc>
                <a:extLst>
                  <a:ext uri="{0D108BD9-81ED-4DB2-BD59-A6C34878D82A}">
                    <a16:rowId xmlns:a16="http://schemas.microsoft.com/office/drawing/2014/main" val="3100169533"/>
                  </a:ext>
                </a:extLst>
              </a:tr>
              <a:tr h="839732">
                <a:tc>
                  <a:txBody>
                    <a:bodyPr/>
                    <a:lstStyle/>
                    <a:p>
                      <a:pPr>
                        <a:buNone/>
                      </a:pPr>
                      <a:r>
                        <a:rPr lang="en-US" sz="800" b="1"/>
                        <a:t>Business</a:t>
                      </a:r>
                      <a:endParaRPr lang="en-US" sz="800"/>
                    </a:p>
                  </a:txBody>
                  <a:tcPr marL="38170" marR="38170" marT="19085" marB="19085" anchor="ctr">
                    <a:lnL>
                      <a:noFill/>
                    </a:lnL>
                    <a:lnR>
                      <a:noFill/>
                    </a:lnR>
                    <a:lnT>
                      <a:noFill/>
                    </a:lnT>
                    <a:lnB>
                      <a:noFill/>
                    </a:lnB>
                    <a:noFill/>
                  </a:tcPr>
                </a:tc>
                <a:tc>
                  <a:txBody>
                    <a:bodyPr/>
                    <a:lstStyle/>
                    <a:p>
                      <a:pPr>
                        <a:buNone/>
                      </a:pPr>
                      <a:r>
                        <a:rPr lang="en-US" sz="800"/>
                        <a:t>TDS runs trading businesses that create counterparty credit risk; regulation (uncleared margin rules) and prudence require collateralizing it. Domains: the desks, Risk, Finance.</a:t>
                      </a:r>
                    </a:p>
                  </a:txBody>
                  <a:tcPr marL="38170" marR="38170" marT="19085" marB="19085" anchor="ctr">
                    <a:lnL>
                      <a:noFill/>
                    </a:lnL>
                    <a:lnR>
                      <a:noFill/>
                    </a:lnR>
                    <a:lnT>
                      <a:noFill/>
                    </a:lnT>
                    <a:lnB>
                      <a:noFill/>
                    </a:lnB>
                    <a:noFill/>
                  </a:tcPr>
                </a:tc>
                <a:tc>
                  <a:txBody>
                    <a:bodyPr/>
                    <a:lstStyle/>
                    <a:p>
                      <a:pPr>
                        <a:buNone/>
                      </a:pPr>
                      <a:r>
                        <a:rPr lang="en-US" sz="800"/>
                        <a:t>The collateral </a:t>
                      </a:r>
                      <a:r>
                        <a:rPr lang="en-US" sz="800" i="1"/>
                        <a:t>business</a:t>
                      </a:r>
                      <a:r>
                        <a:rPr lang="en-US" sz="800"/>
                        <a:t>: four desks trade, agreements govern (ISDA/CSA, GMRA, GMSLA, PBA), Credit Ops resolves disputes, Collateral Ops moves assets. The BCCU story — who does what on a Thursday.</a:t>
                      </a:r>
                    </a:p>
                  </a:txBody>
                  <a:tcPr marL="38170" marR="38170" marT="19085" marB="19085" anchor="ctr">
                    <a:lnL>
                      <a:noFill/>
                    </a:lnL>
                    <a:lnR>
                      <a:noFill/>
                    </a:lnR>
                    <a:lnT>
                      <a:noFill/>
                    </a:lnT>
                    <a:lnB>
                      <a:noFill/>
                    </a:lnB>
                    <a:noFill/>
                  </a:tcPr>
                </a:tc>
                <a:extLst>
                  <a:ext uri="{0D108BD9-81ED-4DB2-BD59-A6C34878D82A}">
                    <a16:rowId xmlns:a16="http://schemas.microsoft.com/office/drawing/2014/main" val="3287378960"/>
                  </a:ext>
                </a:extLst>
              </a:tr>
              <a:tr h="839732">
                <a:tc>
                  <a:txBody>
                    <a:bodyPr/>
                    <a:lstStyle/>
                    <a:p>
                      <a:pPr>
                        <a:buNone/>
                      </a:pPr>
                      <a:r>
                        <a:rPr lang="en-US" sz="800" b="1"/>
                        <a:t>Functional</a:t>
                      </a:r>
                      <a:endParaRPr lang="en-US" sz="800"/>
                    </a:p>
                  </a:txBody>
                  <a:tcPr marL="38170" marR="38170" marT="19085" marB="19085" anchor="ctr">
                    <a:lnL>
                      <a:noFill/>
                    </a:lnL>
                    <a:lnR>
                      <a:noFill/>
                    </a:lnR>
                    <a:lnT>
                      <a:noFill/>
                    </a:lnT>
                    <a:lnB>
                      <a:noFill/>
                    </a:lnB>
                    <a:noFill/>
                  </a:tcPr>
                </a:tc>
                <a:tc>
                  <a:txBody>
                    <a:bodyPr/>
                    <a:lstStyle/>
                    <a:p>
                      <a:pPr>
                        <a:buNone/>
                      </a:pPr>
                      <a:r>
                        <a:rPr lang="en-US" sz="800" dirty="0"/>
                        <a:t>Capabilities the firm needs: trade capture, agreement management, exposure measurement, margining, dispute management, settlement, reporting.</a:t>
                      </a:r>
                    </a:p>
                  </a:txBody>
                  <a:tcPr marL="38170" marR="38170" marT="19085" marB="19085" anchor="ctr">
                    <a:lnL>
                      <a:noFill/>
                    </a:lnL>
                    <a:lnR>
                      <a:noFill/>
                    </a:lnR>
                    <a:lnT>
                      <a:noFill/>
                    </a:lnT>
                    <a:lnB>
                      <a:noFill/>
                    </a:lnB>
                    <a:noFill/>
                  </a:tcPr>
                </a:tc>
                <a:tc>
                  <a:txBody>
                    <a:bodyPr/>
                    <a:lstStyle/>
                    <a:p>
                      <a:pPr>
                        <a:buNone/>
                      </a:pPr>
                      <a:r>
                        <a:rPr lang="en-US" sz="800"/>
                        <a:t>The capability decomposition of margining: value the portfolio → apply terms → issue call → handle dispute → settle movement → reconcile holding → report. (Your subdomain = a named cluster of these.)</a:t>
                      </a:r>
                    </a:p>
                  </a:txBody>
                  <a:tcPr marL="38170" marR="38170" marT="19085" marB="19085" anchor="ctr">
                    <a:lnL>
                      <a:noFill/>
                    </a:lnL>
                    <a:lnR>
                      <a:noFill/>
                    </a:lnR>
                    <a:lnT>
                      <a:noFill/>
                    </a:lnT>
                    <a:lnB>
                      <a:noFill/>
                    </a:lnB>
                    <a:noFill/>
                  </a:tcPr>
                </a:tc>
                <a:extLst>
                  <a:ext uri="{0D108BD9-81ED-4DB2-BD59-A6C34878D82A}">
                    <a16:rowId xmlns:a16="http://schemas.microsoft.com/office/drawing/2014/main" val="3889193295"/>
                  </a:ext>
                </a:extLst>
              </a:tr>
              <a:tr h="839732">
                <a:tc>
                  <a:txBody>
                    <a:bodyPr/>
                    <a:lstStyle/>
                    <a:p>
                      <a:pPr>
                        <a:buNone/>
                      </a:pPr>
                      <a:r>
                        <a:rPr lang="en-US" sz="800" b="1"/>
                        <a:t>Data</a:t>
                      </a:r>
                      <a:endParaRPr lang="en-US" sz="800"/>
                    </a:p>
                  </a:txBody>
                  <a:tcPr marL="38170" marR="38170" marT="19085" marB="19085" anchor="ctr">
                    <a:lnL>
                      <a:noFill/>
                    </a:lnL>
                    <a:lnR>
                      <a:noFill/>
                    </a:lnR>
                    <a:lnT>
                      <a:noFill/>
                    </a:lnT>
                    <a:lnB>
                      <a:noFill/>
                    </a:lnB>
                    <a:noFill/>
                  </a:tcPr>
                </a:tc>
                <a:tc>
                  <a:txBody>
                    <a:bodyPr/>
                    <a:lstStyle/>
                    <a:p>
                      <a:pPr>
                        <a:buNone/>
                      </a:pPr>
                      <a:r>
                        <a:rPr lang="en-US" sz="800" dirty="0"/>
                        <a:t>The ontology framework: shared core (party, instrument, trade, position), domain ontologies extending it, mappings, products, the planes, </a:t>
                      </a:r>
                      <a:r>
                        <a:rPr lang="en-US" sz="1200" dirty="0"/>
                        <a:t>flows</a:t>
                      </a:r>
                      <a:r>
                        <a:rPr lang="en-US" sz="800" dirty="0"/>
                        <a:t> between domains. </a:t>
                      </a:r>
                      <a:r>
                        <a:rPr lang="en-US" sz="800" b="1" dirty="0"/>
                        <a:t>This whole pillar is what you've spent months building.</a:t>
                      </a:r>
                      <a:endParaRPr lang="en-US" sz="800" dirty="0"/>
                    </a:p>
                  </a:txBody>
                  <a:tcPr marL="38170" marR="38170" marT="19085" marB="19085" anchor="ctr">
                    <a:lnL>
                      <a:noFill/>
                    </a:lnL>
                    <a:lnR>
                      <a:noFill/>
                    </a:lnR>
                    <a:lnT>
                      <a:noFill/>
                    </a:lnT>
                    <a:lnB>
                      <a:noFill/>
                    </a:lnB>
                    <a:noFill/>
                  </a:tcPr>
                </a:tc>
                <a:tc>
                  <a:txBody>
                    <a:bodyPr/>
                    <a:lstStyle/>
                    <a:p>
                      <a:pPr>
                        <a:buNone/>
                      </a:pPr>
                      <a:r>
                        <a:rPr lang="en-US" sz="800"/>
                        <a:t>The collateral model (20 entities, verbs, axioms), the mappings from CMOS extracts, the conformed boundary, dailyexposure/positions gold products, coverage declarations, the run/provenance registry.</a:t>
                      </a:r>
                    </a:p>
                  </a:txBody>
                  <a:tcPr marL="38170" marR="38170" marT="19085" marB="19085" anchor="ctr">
                    <a:lnL>
                      <a:noFill/>
                    </a:lnL>
                    <a:lnR>
                      <a:noFill/>
                    </a:lnR>
                    <a:lnT>
                      <a:noFill/>
                    </a:lnT>
                    <a:lnB>
                      <a:noFill/>
                    </a:lnB>
                    <a:noFill/>
                  </a:tcPr>
                </a:tc>
                <a:extLst>
                  <a:ext uri="{0D108BD9-81ED-4DB2-BD59-A6C34878D82A}">
                    <a16:rowId xmlns:a16="http://schemas.microsoft.com/office/drawing/2014/main" val="2622272456"/>
                  </a:ext>
                </a:extLst>
              </a:tr>
              <a:tr h="839732">
                <a:tc>
                  <a:txBody>
                    <a:bodyPr/>
                    <a:lstStyle/>
                    <a:p>
                      <a:pPr>
                        <a:buNone/>
                      </a:pPr>
                      <a:r>
                        <a:rPr lang="en-US" sz="800" b="1" dirty="0"/>
                        <a:t>Application</a:t>
                      </a:r>
                      <a:endParaRPr lang="en-US" sz="800" dirty="0"/>
                    </a:p>
                  </a:txBody>
                  <a:tcPr marL="38170" marR="38170" marT="19085" marB="19085" anchor="ctr">
                    <a:lnL>
                      <a:noFill/>
                    </a:lnL>
                    <a:lnR>
                      <a:noFill/>
                    </a:lnR>
                    <a:lnT>
                      <a:noFill/>
                    </a:lnT>
                    <a:lnB>
                      <a:noFill/>
                    </a:lnB>
                    <a:noFill/>
                  </a:tcPr>
                </a:tc>
                <a:tc>
                  <a:txBody>
                    <a:bodyPr/>
                    <a:lstStyle/>
                    <a:p>
                      <a:pPr>
                        <a:buNone/>
                      </a:pPr>
                      <a:r>
                        <a:rPr lang="en-US" sz="800" dirty="0"/>
                        <a:t>Which systems realize which capabilities, and their interactions: TMS systems capture, TAMS holds agreements, Veritas distributes intraday, the CDM product serves batch, risk engines calculate, ports connect the planes.</a:t>
                      </a:r>
                    </a:p>
                  </a:txBody>
                  <a:tcPr marL="38170" marR="38170" marT="19085" marB="19085" anchor="ctr">
                    <a:lnL>
                      <a:noFill/>
                    </a:lnL>
                    <a:lnR>
                      <a:noFill/>
                    </a:lnR>
                    <a:lnT>
                      <a:noFill/>
                    </a:lnT>
                    <a:lnB>
                      <a:noFill/>
                    </a:lnB>
                    <a:noFill/>
                  </a:tcPr>
                </a:tc>
                <a:tc>
                  <a:txBody>
                    <a:bodyPr/>
                    <a:lstStyle/>
                    <a:p>
                      <a:pPr>
                        <a:buNone/>
                      </a:pPr>
                      <a:r>
                        <a:rPr lang="en-US" sz="800"/>
                        <a:t>CMOS orchestrates the margin cycle, Colline executes, TAMS feeds terms, Calypso IFI settles; outputs land bronze→silver→gold; Genie/agents consume through the metric views; the boundary mediates inputs.</a:t>
                      </a:r>
                    </a:p>
                  </a:txBody>
                  <a:tcPr marL="38170" marR="38170" marT="19085" marB="19085" anchor="ctr">
                    <a:lnL>
                      <a:noFill/>
                    </a:lnL>
                    <a:lnR>
                      <a:noFill/>
                    </a:lnR>
                    <a:lnT>
                      <a:noFill/>
                    </a:lnT>
                    <a:lnB>
                      <a:noFill/>
                    </a:lnB>
                    <a:noFill/>
                  </a:tcPr>
                </a:tc>
                <a:extLst>
                  <a:ext uri="{0D108BD9-81ED-4DB2-BD59-A6C34878D82A}">
                    <a16:rowId xmlns:a16="http://schemas.microsoft.com/office/drawing/2014/main" val="3118018514"/>
                  </a:ext>
                </a:extLst>
              </a:tr>
              <a:tr h="725223">
                <a:tc>
                  <a:txBody>
                    <a:bodyPr/>
                    <a:lstStyle/>
                    <a:p>
                      <a:pPr>
                        <a:buNone/>
                      </a:pPr>
                      <a:r>
                        <a:rPr lang="en-US" sz="800" b="1"/>
                        <a:t>Technology</a:t>
                      </a:r>
                      <a:endParaRPr lang="en-US" sz="800"/>
                    </a:p>
                  </a:txBody>
                  <a:tcPr marL="38170" marR="38170" marT="19085" marB="19085" anchor="ctr">
                    <a:lnL>
                      <a:noFill/>
                    </a:lnL>
                    <a:lnR>
                      <a:noFill/>
                    </a:lnR>
                    <a:lnT>
                      <a:noFill/>
                    </a:lnT>
                    <a:lnB>
                      <a:noFill/>
                    </a:lnB>
                    <a:noFill/>
                  </a:tcPr>
                </a:tc>
                <a:tc>
                  <a:txBody>
                    <a:bodyPr/>
                    <a:lstStyle/>
                    <a:p>
                      <a:pPr>
                        <a:buNone/>
                      </a:pPr>
                      <a:r>
                        <a:rPr lang="en-US" sz="800"/>
                        <a:t>Databricks/TDVIP as the analytical platform, Unity Catalog for governance, Delta for storage/versioning, MCP for agent access, the services infrastructure for the operational plane.</a:t>
                      </a:r>
                    </a:p>
                  </a:txBody>
                  <a:tcPr marL="38170" marR="38170" marT="19085" marB="19085" anchor="ctr">
                    <a:lnL>
                      <a:noFill/>
                    </a:lnL>
                    <a:lnR>
                      <a:noFill/>
                    </a:lnR>
                    <a:lnT>
                      <a:noFill/>
                    </a:lnT>
                    <a:lnB>
                      <a:noFill/>
                    </a:lnB>
                    <a:noFill/>
                  </a:tcPr>
                </a:tc>
                <a:tc>
                  <a:txBody>
                    <a:bodyPr/>
                    <a:lstStyle/>
                    <a:p>
                      <a:pPr>
                        <a:buNone/>
                      </a:pPr>
                      <a:r>
                        <a:rPr lang="en-US" sz="800" dirty="0"/>
                        <a:t>The concrete stack under collateral: UC schemas + governed tags + ABAC, Delta tables with NOT-ENFORCED constraints, metric views, the lab kit's actual SQL, managed MCP endpoints.</a:t>
                      </a:r>
                    </a:p>
                  </a:txBody>
                  <a:tcPr marL="38170" marR="38170" marT="19085" marB="19085" anchor="ctr">
                    <a:lnL>
                      <a:noFill/>
                    </a:lnL>
                    <a:lnR>
                      <a:noFill/>
                    </a:lnR>
                    <a:lnT>
                      <a:noFill/>
                    </a:lnT>
                    <a:lnB>
                      <a:noFill/>
                    </a:lnB>
                    <a:noFill/>
                  </a:tcPr>
                </a:tc>
                <a:extLst>
                  <a:ext uri="{0D108BD9-81ED-4DB2-BD59-A6C34878D82A}">
                    <a16:rowId xmlns:a16="http://schemas.microsoft.com/office/drawing/2014/main" val="1105241459"/>
                  </a:ext>
                </a:extLst>
              </a:tr>
            </a:tbl>
          </a:graphicData>
        </a:graphic>
      </p:graphicFrame>
      <p:sp>
        <p:nvSpPr>
          <p:cNvPr id="5" name="TextBox 4">
            <a:extLst>
              <a:ext uri="{FF2B5EF4-FFF2-40B4-BE49-F238E27FC236}">
                <a16:creationId xmlns:a16="http://schemas.microsoft.com/office/drawing/2014/main" id="{E6B1E4C5-9898-18C2-32CB-EA2F9139B398}"/>
              </a:ext>
            </a:extLst>
          </p:cNvPr>
          <p:cNvSpPr txBox="1"/>
          <p:nvPr/>
        </p:nvSpPr>
        <p:spPr>
          <a:xfrm>
            <a:off x="277895" y="1806862"/>
            <a:ext cx="6096000" cy="4524315"/>
          </a:xfrm>
          <a:prstGeom prst="rect">
            <a:avLst/>
          </a:prstGeom>
          <a:noFill/>
        </p:spPr>
        <p:txBody>
          <a:bodyPr wrap="square">
            <a:spAutoFit/>
          </a:bodyPr>
          <a:lstStyle/>
          <a:p>
            <a:pPr>
              <a:buNone/>
            </a:pPr>
            <a:r>
              <a:rPr lang="en-US" sz="1200" dirty="0"/>
              <a:t>Your readings are right with one small correction (application architecture isn't "what capabilities the app builds" — capabilities belong to </a:t>
            </a:r>
            <a:r>
              <a:rPr lang="en-US" sz="1200" i="1" dirty="0"/>
              <a:t>functional</a:t>
            </a:r>
            <a:r>
              <a:rPr lang="en-US" sz="1200" dirty="0"/>
              <a:t>; application architecture is </a:t>
            </a:r>
            <a:r>
              <a:rPr lang="en-US" sz="1200" b="1" dirty="0"/>
              <a:t>which systems realize those capabilities and how they talk to each other</a:t>
            </a:r>
            <a:r>
              <a:rPr lang="en-US" sz="1200" dirty="0"/>
              <a:t>). This is essentially TOGAF's stack, and the best way to make it real is to take one business fact and ride it down all five pillars at both zoom levels. Let's use the one we know cold: </a:t>
            </a:r>
            <a:r>
              <a:rPr lang="en-US" sz="1200" b="1" dirty="0"/>
              <a:t>"TD must margin its OTC derivatives daily."</a:t>
            </a:r>
            <a:endParaRPr lang="en-US" sz="1200" dirty="0"/>
          </a:p>
          <a:p>
            <a:pPr>
              <a:buNone/>
            </a:pPr>
            <a:r>
              <a:rPr lang="en-US" sz="1200" dirty="0"/>
              <a:t>Three observations that make this more than a filing exercise. </a:t>
            </a:r>
            <a:r>
              <a:rPr lang="en-US" sz="1200" b="1" dirty="0"/>
              <a:t>First, the pillars aren't five silos — they're a chain of "why":</a:t>
            </a:r>
            <a:r>
              <a:rPr lang="en-US" sz="1200" dirty="0"/>
              <a:t> each layer justifies the one below it (the </a:t>
            </a:r>
            <a:r>
              <a:rPr lang="en-US" sz="1200" i="1" dirty="0"/>
              <a:t>business</a:t>
            </a:r>
            <a:r>
              <a:rPr lang="en-US" sz="1200" dirty="0"/>
              <a:t> need for daily margining → the </a:t>
            </a:r>
            <a:r>
              <a:rPr lang="en-US" sz="1200" i="1" dirty="0"/>
              <a:t>functional</a:t>
            </a:r>
            <a:r>
              <a:rPr lang="en-US" sz="1200" dirty="0"/>
              <a:t> capability of dispute management → the </a:t>
            </a:r>
            <a:r>
              <a:rPr lang="en-US" sz="1200" i="1" dirty="0"/>
              <a:t>data</a:t>
            </a:r>
            <a:r>
              <a:rPr lang="en-US" sz="1200" dirty="0"/>
              <a:t> entity Dispute with its 0..1 cardinality → the </a:t>
            </a:r>
            <a:r>
              <a:rPr lang="en-US" sz="1200" i="1" dirty="0"/>
              <a:t>application</a:t>
            </a:r>
            <a:r>
              <a:rPr lang="en-US" sz="1200" dirty="0"/>
              <a:t> CMOS that writes it → the </a:t>
            </a:r>
            <a:r>
              <a:rPr lang="en-US" sz="1200" i="1" dirty="0"/>
              <a:t>technology</a:t>
            </a:r>
            <a:r>
              <a:rPr lang="en-US" sz="1200" dirty="0"/>
              <a:t> Delta table that stores it). A technology choice that can't trace up to a business sentence is decoration; that trace is what architecture review actually checks. </a:t>
            </a:r>
          </a:p>
          <a:p>
            <a:pPr>
              <a:buNone/>
            </a:pPr>
            <a:r>
              <a:rPr lang="en-US" sz="1200" b="1" dirty="0"/>
              <a:t>Second — and this is your strategic read — everything you've built </a:t>
            </a:r>
            <a:r>
              <a:rPr lang="en-US" sz="1200" b="1" i="1" dirty="0"/>
              <a:t>is</a:t>
            </a:r>
            <a:r>
              <a:rPr lang="en-US" sz="1200" b="1" dirty="0"/>
              <a:t> the data-architecture pillar for the Risk domain</a:t>
            </a:r>
            <a:r>
              <a:rPr lang="en-US" sz="1200" dirty="0"/>
              <a:t>, already done at the microscope level the CTO says the enterprise view must reach: the ontology, the mappings, the boundary, the products, the provenance discipline. When his framework goes looking for worked examples of "enterprise pillar, zoomed into a domain," you're holding the only complete one in the building — the collateral walkthrough is literally pillars 1→5 for one capability, told as a story. </a:t>
            </a:r>
            <a:r>
              <a:rPr lang="en-US" sz="1200" b="1" dirty="0"/>
              <a:t>Third, the framework hands you a diagnosis tool for the fights you're already in:</a:t>
            </a:r>
            <a:r>
              <a:rPr lang="en-US" sz="1200" dirty="0"/>
              <a:t> the Veritas/CDM two-truths problem is a </a:t>
            </a:r>
            <a:r>
              <a:rPr lang="en-US" sz="1200" i="1" dirty="0"/>
              <a:t>data-architecture</a:t>
            </a:r>
            <a:r>
              <a:rPr lang="en-US" sz="1200" dirty="0"/>
              <a:t> defect (two models, no parent) that everyone keeps trying to solve at the </a:t>
            </a:r>
            <a:r>
              <a:rPr lang="en-US" sz="1200" i="1" dirty="0"/>
              <a:t>application</a:t>
            </a:r>
            <a:r>
              <a:rPr lang="en-US" sz="1200" dirty="0"/>
              <a:t> layer (which pipe to read); the custodian debate is a </a:t>
            </a:r>
            <a:r>
              <a:rPr lang="en-US" sz="1200" i="1" dirty="0"/>
              <a:t>business-architecture</a:t>
            </a:r>
            <a:r>
              <a:rPr lang="en-US" sz="1200" dirty="0"/>
              <a:t> question (who's accountable) masquerading as a </a:t>
            </a:r>
            <a:r>
              <a:rPr lang="en-US" sz="1200" i="1" dirty="0"/>
              <a:t>technology</a:t>
            </a:r>
            <a:r>
              <a:rPr lang="en-US" sz="1200" dirty="0"/>
              <a:t> question (whose workspace). Naming which pillar an argument belongs to is often the fastest way to end it — and that's a move the CTO's own vocabulary now licenses you to make in his language.</a:t>
            </a:r>
          </a:p>
        </p:txBody>
      </p:sp>
      <p:sp>
        <p:nvSpPr>
          <p:cNvPr id="6" name="TextBox 5">
            <a:extLst>
              <a:ext uri="{FF2B5EF4-FFF2-40B4-BE49-F238E27FC236}">
                <a16:creationId xmlns:a16="http://schemas.microsoft.com/office/drawing/2014/main" id="{CBACC38B-63C3-8F79-5113-6BA226C02FDA}"/>
              </a:ext>
            </a:extLst>
          </p:cNvPr>
          <p:cNvSpPr txBox="1"/>
          <p:nvPr/>
        </p:nvSpPr>
        <p:spPr>
          <a:xfrm>
            <a:off x="370660" y="482782"/>
            <a:ext cx="7504555" cy="646331"/>
          </a:xfrm>
          <a:prstGeom prst="rect">
            <a:avLst/>
          </a:prstGeom>
          <a:noFill/>
        </p:spPr>
        <p:txBody>
          <a:bodyPr wrap="none" rtlCol="0">
            <a:spAutoFit/>
          </a:bodyPr>
          <a:lstStyle/>
          <a:p>
            <a:r>
              <a:rPr lang="en-US" dirty="0"/>
              <a:t>TOGAF Stack -  Open group Application Framework .</a:t>
            </a:r>
          </a:p>
          <a:p>
            <a:r>
              <a:rPr lang="en-US" dirty="0"/>
              <a:t>Exploring the  6 blocks ( one flows into the other ) of architecture composition.</a:t>
            </a:r>
          </a:p>
        </p:txBody>
      </p:sp>
    </p:spTree>
    <p:extLst>
      <p:ext uri="{BB962C8B-B14F-4D97-AF65-F5344CB8AC3E}">
        <p14:creationId xmlns:p14="http://schemas.microsoft.com/office/powerpoint/2010/main" val="165536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681774-8857-6D49-A0BA-89F70F69B82F}"/>
              </a:ext>
            </a:extLst>
          </p:cNvPr>
          <p:cNvSpPr txBox="1"/>
          <p:nvPr/>
        </p:nvSpPr>
        <p:spPr>
          <a:xfrm>
            <a:off x="2827283" y="2280745"/>
            <a:ext cx="1072730" cy="369332"/>
          </a:xfrm>
          <a:prstGeom prst="rect">
            <a:avLst/>
          </a:prstGeom>
          <a:noFill/>
        </p:spPr>
        <p:txBody>
          <a:bodyPr wrap="none" rtlCol="0">
            <a:spAutoFit/>
          </a:bodyPr>
          <a:lstStyle/>
          <a:p>
            <a:r>
              <a:rPr lang="en-US" dirty="0"/>
              <a:t>Appendix</a:t>
            </a:r>
          </a:p>
        </p:txBody>
      </p:sp>
    </p:spTree>
    <p:extLst>
      <p:ext uri="{BB962C8B-B14F-4D97-AF65-F5344CB8AC3E}">
        <p14:creationId xmlns:p14="http://schemas.microsoft.com/office/powerpoint/2010/main" val="1284970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0515600" cy="274320"/>
          </a:xfrm>
          <a:prstGeom prst="rect">
            <a:avLst/>
          </a:prstGeom>
          <a:noFill/>
          <a:ln/>
        </p:spPr>
        <p:txBody>
          <a:bodyPr wrap="square" lIns="0" tIns="0" rIns="0" bIns="0" rtlCol="0" anchor="ctr"/>
          <a:lstStyle/>
          <a:p>
            <a:pPr marL="0" indent="0">
              <a:buNone/>
            </a:pPr>
            <a:r>
              <a:rPr lang="en-US" sz="1050" b="1" kern="0" spc="200" dirty="0">
                <a:solidFill>
                  <a:srgbClr val="1F7A47"/>
                </a:solidFill>
                <a:latin typeface="Calibri" pitchFamily="34" charset="0"/>
                <a:ea typeface="Calibri" pitchFamily="34" charset="-122"/>
                <a:cs typeface="Calibri" pitchFamily="34" charset="-120"/>
              </a:rPr>
              <a:t>VOCABULARY · ONE PICTURE</a:t>
            </a:r>
            <a:endParaRPr lang="en-US" sz="1050" dirty="0"/>
          </a:p>
        </p:txBody>
      </p:sp>
      <p:sp>
        <p:nvSpPr>
          <p:cNvPr id="3" name="Text 1"/>
          <p:cNvSpPr/>
          <p:nvPr/>
        </p:nvSpPr>
        <p:spPr>
          <a:xfrm>
            <a:off x="502920" y="530352"/>
            <a:ext cx="11338560" cy="457200"/>
          </a:xfrm>
          <a:prstGeom prst="rect">
            <a:avLst/>
          </a:prstGeom>
          <a:noFill/>
          <a:ln/>
        </p:spPr>
        <p:txBody>
          <a:bodyPr wrap="square" lIns="0" tIns="0" rIns="0" bIns="0" rtlCol="0" anchor="ctr"/>
          <a:lstStyle/>
          <a:p>
            <a:pPr marL="0" indent="0">
              <a:buNone/>
            </a:pPr>
            <a:r>
              <a:rPr lang="en-US" sz="2200" b="1" dirty="0">
                <a:solidFill>
                  <a:srgbClr val="0E3D29"/>
                </a:solidFill>
                <a:latin typeface="Calibri" pitchFamily="34" charset="0"/>
                <a:ea typeface="Calibri" pitchFamily="34" charset="-122"/>
                <a:cs typeface="Calibri" pitchFamily="34" charset="-120"/>
              </a:rPr>
              <a:t>Business Domains, Subdomains (Capabilities), Data Domains, Products</a:t>
            </a:r>
            <a:endParaRPr lang="en-US" sz="2200" dirty="0"/>
          </a:p>
        </p:txBody>
      </p:sp>
      <p:sp>
        <p:nvSpPr>
          <p:cNvPr id="4" name="Shape 2"/>
          <p:cNvSpPr/>
          <p:nvPr/>
        </p:nvSpPr>
        <p:spPr>
          <a:xfrm>
            <a:off x="502920" y="1051560"/>
            <a:ext cx="3200400" cy="868680"/>
          </a:xfrm>
          <a:prstGeom prst="roundRect">
            <a:avLst>
              <a:gd name="adj" fmla="val 5263"/>
            </a:avLst>
          </a:prstGeom>
          <a:solidFill>
            <a:srgbClr val="EAF3EC"/>
          </a:solidFill>
          <a:ln w="13970">
            <a:solidFill>
              <a:srgbClr val="1F7A47"/>
            </a:solidFill>
            <a:prstDash val="solid"/>
          </a:ln>
        </p:spPr>
        <p:txBody>
          <a:bodyPr/>
          <a:lstStyle/>
          <a:p>
            <a:endParaRPr lang="en-US"/>
          </a:p>
        </p:txBody>
      </p:sp>
      <p:sp>
        <p:nvSpPr>
          <p:cNvPr id="5" name="Text 3"/>
          <p:cNvSpPr/>
          <p:nvPr/>
        </p:nvSpPr>
        <p:spPr>
          <a:xfrm>
            <a:off x="640080" y="1133856"/>
            <a:ext cx="2926080" cy="731520"/>
          </a:xfrm>
          <a:prstGeom prst="rect">
            <a:avLst/>
          </a:prstGeom>
          <a:noFill/>
          <a:ln/>
        </p:spPr>
        <p:txBody>
          <a:bodyPr wrap="square" lIns="0" tIns="0" rIns="0" bIns="0" rtlCol="0" anchor="t"/>
          <a:lstStyle/>
          <a:p>
            <a:pPr marL="0" indent="0">
              <a:lnSpc>
                <a:spcPct val="106000"/>
              </a:lnSpc>
              <a:buNone/>
            </a:pPr>
            <a:r>
              <a:rPr lang="en-US" sz="900" b="1" dirty="0">
                <a:solidFill>
                  <a:srgbClr val="0E3D29"/>
                </a:solidFill>
                <a:latin typeface="Calibri" pitchFamily="34" charset="0"/>
                <a:ea typeface="Calibri" pitchFamily="34" charset="-122"/>
                <a:cs typeface="Calibri" pitchFamily="34" charset="-120"/>
              </a:rPr>
              <a:t>THE TWO TESTS for any ownership box:
</a:t>
            </a:r>
            <a:r>
              <a:rPr lang="en-US" sz="900" dirty="0">
                <a:solidFill>
                  <a:srgbClr val="262B27"/>
                </a:solidFill>
                <a:latin typeface="Calibri" pitchFamily="34" charset="0"/>
                <a:ea typeface="Calibri" pitchFamily="34" charset="-122"/>
                <a:cs typeface="Calibri" pitchFamily="34" charset="-120"/>
              </a:rPr>
              <a:t>1 · can you name ONE accountable owner?  2 · does its data speak ONE language?</a:t>
            </a:r>
            <a:endParaRPr lang="en-US" sz="900" dirty="0"/>
          </a:p>
        </p:txBody>
      </p:sp>
      <p:sp>
        <p:nvSpPr>
          <p:cNvPr id="6" name="Shape 4"/>
          <p:cNvSpPr/>
          <p:nvPr/>
        </p:nvSpPr>
        <p:spPr>
          <a:xfrm>
            <a:off x="502920" y="2029968"/>
            <a:ext cx="3200400" cy="777240"/>
          </a:xfrm>
          <a:prstGeom prst="roundRect">
            <a:avLst>
              <a:gd name="adj" fmla="val 5882"/>
            </a:avLst>
          </a:prstGeom>
          <a:solidFill>
            <a:srgbClr val="F6EFE0"/>
          </a:solidFill>
          <a:ln w="13970">
            <a:solidFill>
              <a:srgbClr val="9C6B16"/>
            </a:solidFill>
            <a:prstDash val="solid"/>
          </a:ln>
        </p:spPr>
        <p:txBody>
          <a:bodyPr/>
          <a:lstStyle/>
          <a:p>
            <a:endParaRPr lang="en-US"/>
          </a:p>
        </p:txBody>
      </p:sp>
      <p:sp>
        <p:nvSpPr>
          <p:cNvPr id="7" name="Text 5"/>
          <p:cNvSpPr/>
          <p:nvPr/>
        </p:nvSpPr>
        <p:spPr>
          <a:xfrm>
            <a:off x="640080" y="2103120"/>
            <a:ext cx="2926080" cy="640080"/>
          </a:xfrm>
          <a:prstGeom prst="rect">
            <a:avLst/>
          </a:prstGeom>
          <a:noFill/>
          <a:ln/>
        </p:spPr>
        <p:txBody>
          <a:bodyPr wrap="square" lIns="0" tIns="0" rIns="0" bIns="0" rtlCol="0" anchor="t"/>
          <a:lstStyle/>
          <a:p>
            <a:pPr marL="0" indent="0">
              <a:lnSpc>
                <a:spcPct val="106000"/>
              </a:lnSpc>
              <a:buNone/>
            </a:pPr>
            <a:r>
              <a:rPr lang="en-US" sz="860" b="1" dirty="0">
                <a:solidFill>
                  <a:srgbClr val="9C6B16"/>
                </a:solidFill>
                <a:latin typeface="Calibri" pitchFamily="34" charset="0"/>
                <a:ea typeface="Calibri" pitchFamily="34" charset="-122"/>
                <a:cs typeface="Calibri" pitchFamily="34" charset="-120"/>
              </a:rPr>
              <a:t>ANTI-PATTERN: </a:t>
            </a:r>
            <a:r>
              <a:rPr lang="en-US" sz="860" dirty="0">
                <a:solidFill>
                  <a:srgbClr val="262B27"/>
                </a:solidFill>
                <a:latin typeface="Calibri" pitchFamily="34" charset="0"/>
                <a:ea typeface="Calibri" pitchFamily="34" charset="-122"/>
                <a:cs typeface="Calibri" pitchFamily="34" charset="-120"/>
              </a:rPr>
              <a:t>“derived data” / “raw zone” as ownership domains — production stages fail both tests.</a:t>
            </a:r>
            <a:endParaRPr lang="en-US" sz="860" dirty="0"/>
          </a:p>
        </p:txBody>
      </p:sp>
      <p:sp>
        <p:nvSpPr>
          <p:cNvPr id="8" name="Shape 6"/>
          <p:cNvSpPr/>
          <p:nvPr/>
        </p:nvSpPr>
        <p:spPr>
          <a:xfrm>
            <a:off x="502920" y="2916936"/>
            <a:ext cx="3200400" cy="2377440"/>
          </a:xfrm>
          <a:prstGeom prst="roundRect">
            <a:avLst>
              <a:gd name="adj" fmla="val 1923"/>
            </a:avLst>
          </a:prstGeom>
          <a:solidFill>
            <a:srgbClr val="F5F7F5"/>
          </a:solidFill>
          <a:ln w="13970">
            <a:solidFill>
              <a:srgbClr val="D8E0DA"/>
            </a:solidFill>
            <a:prstDash val="solid"/>
          </a:ln>
        </p:spPr>
        <p:txBody>
          <a:bodyPr/>
          <a:lstStyle/>
          <a:p>
            <a:endParaRPr lang="en-US"/>
          </a:p>
        </p:txBody>
      </p:sp>
      <p:sp>
        <p:nvSpPr>
          <p:cNvPr id="9" name="Text 7"/>
          <p:cNvSpPr/>
          <p:nvPr/>
        </p:nvSpPr>
        <p:spPr>
          <a:xfrm>
            <a:off x="640080" y="2990088"/>
            <a:ext cx="2971800" cy="2240280"/>
          </a:xfrm>
          <a:prstGeom prst="rect">
            <a:avLst/>
          </a:prstGeom>
          <a:noFill/>
          <a:ln/>
        </p:spPr>
        <p:txBody>
          <a:bodyPr wrap="square" lIns="0" tIns="0" rIns="0" bIns="0" rtlCol="0" anchor="t"/>
          <a:lstStyle/>
          <a:p>
            <a:pPr marL="0" indent="0">
              <a:lnSpc>
                <a:spcPct val="106000"/>
              </a:lnSpc>
              <a:buNone/>
            </a:pPr>
            <a:r>
              <a:rPr lang="en-US" sz="1000" b="1" dirty="0">
                <a:solidFill>
                  <a:srgbClr val="0E3D29"/>
                </a:solidFill>
                <a:latin typeface="Calibri" pitchFamily="34" charset="0"/>
                <a:ea typeface="Calibri" pitchFamily="34" charset="-122"/>
                <a:cs typeface="Calibri" pitchFamily="34" charset="-120"/>
              </a:rPr>
              <a:t>BUSINESS DOMAIN vs DATA DOMAIN
</a:t>
            </a:r>
            <a:r>
              <a:rPr lang="en-US" sz="860" dirty="0">
                <a:solidFill>
                  <a:srgbClr val="262B27"/>
                </a:solidFill>
                <a:latin typeface="Calibri" pitchFamily="34" charset="0"/>
                <a:ea typeface="Calibri" pitchFamily="34" charset="-122"/>
                <a:cs typeface="Calibri" pitchFamily="34" charset="-120"/>
              </a:rPr>
              <a:t>Business domain = OWNERSHIP: who is accountable (Risk, the SFT desk, Prime).
Data domain = SUBJECT: what the data is ABOUT — the CDO’s grid: Pre-Trade, Position, Payments, Transactions, Reference &amp; Master, Derived Data &amp; Metrics … deliberately spanning systems and desks.
</a:t>
            </a:r>
            <a:r>
              <a:rPr lang="en-US" sz="860" b="1" dirty="0">
                <a:solidFill>
                  <a:srgbClr val="0E3D29"/>
                </a:solidFill>
                <a:latin typeface="Calibri" pitchFamily="34" charset="0"/>
                <a:ea typeface="Calibri" pitchFamily="34" charset="-122"/>
                <a:cs typeface="Calibri" pitchFamily="34" charset="-120"/>
              </a:rPr>
              <a:t>They cross: </a:t>
            </a:r>
            <a:r>
              <a:rPr lang="en-US" sz="860" dirty="0">
                <a:solidFill>
                  <a:srgbClr val="262B27"/>
                </a:solidFill>
                <a:latin typeface="Calibri" pitchFamily="34" charset="0"/>
                <a:ea typeface="Calibri" pitchFamily="34" charset="-122"/>
                <a:cs typeface="Calibri" pitchFamily="34" charset="-120"/>
              </a:rPr>
              <a:t>a product is OWNED by a business subdomain and CLASSIFIED into data domains. Risk’s outputs → “Derived Data &amp; Metrics”; the entities we conform (counterparty, agreement) → “Reference &amp; Master”.</a:t>
            </a:r>
            <a:endParaRPr lang="en-US" sz="860" dirty="0"/>
          </a:p>
        </p:txBody>
      </p:sp>
      <p:sp>
        <p:nvSpPr>
          <p:cNvPr id="10" name="Text 8"/>
          <p:cNvSpPr/>
          <p:nvPr/>
        </p:nvSpPr>
        <p:spPr>
          <a:xfrm>
            <a:off x="502920" y="5413248"/>
            <a:ext cx="3200400" cy="914400"/>
          </a:xfrm>
          <a:prstGeom prst="rect">
            <a:avLst/>
          </a:prstGeom>
          <a:noFill/>
          <a:ln/>
        </p:spPr>
        <p:txBody>
          <a:bodyPr wrap="square" lIns="0" tIns="0" rIns="0" bIns="0" rtlCol="0" anchor="t"/>
          <a:lstStyle/>
          <a:p>
            <a:pPr marL="0" indent="0">
              <a:lnSpc>
                <a:spcPct val="106000"/>
              </a:lnSpc>
              <a:buNone/>
            </a:pPr>
            <a:r>
              <a:rPr lang="en-US" sz="830" b="1" i="1" dirty="0">
                <a:solidFill>
                  <a:srgbClr val="0E3D29"/>
                </a:solidFill>
                <a:latin typeface="Calibri" pitchFamily="34" charset="0"/>
                <a:ea typeface="Calibri" pitchFamily="34" charset="-122"/>
                <a:cs typeface="Calibri" pitchFamily="34" charset="-120"/>
              </a:rPr>
              <a:t>Product TYPES (labels on products, not owners): </a:t>
            </a:r>
            <a:r>
              <a:rPr lang="en-US" sz="830" i="1" dirty="0">
                <a:solidFill>
                  <a:srgbClr val="6B7670"/>
                </a:solidFill>
                <a:latin typeface="Calibri" pitchFamily="34" charset="0"/>
                <a:ea typeface="Calibri" pitchFamily="34" charset="-122"/>
                <a:cs typeface="Calibri" pitchFamily="34" charset="-120"/>
              </a:rPr>
              <a:t>source-aligned (one system’s data) · aggregate (consolidates several) · consumer-aligned (shaped for a consumer) · foundational / derived.</a:t>
            </a:r>
            <a:endParaRPr lang="en-US" sz="830" dirty="0"/>
          </a:p>
        </p:txBody>
      </p:sp>
      <p:sp>
        <p:nvSpPr>
          <p:cNvPr id="11" name="Shape 9"/>
          <p:cNvSpPr/>
          <p:nvPr/>
        </p:nvSpPr>
        <p:spPr>
          <a:xfrm>
            <a:off x="4114800" y="1051560"/>
            <a:ext cx="2926080" cy="457200"/>
          </a:xfrm>
          <a:prstGeom prst="roundRect">
            <a:avLst>
              <a:gd name="adj" fmla="val 10000"/>
            </a:avLst>
          </a:prstGeom>
          <a:solidFill>
            <a:srgbClr val="0E3D29"/>
          </a:solidFill>
          <a:ln w="13970">
            <a:solidFill>
              <a:srgbClr val="0E3D29"/>
            </a:solidFill>
            <a:prstDash val="solid"/>
          </a:ln>
        </p:spPr>
        <p:txBody>
          <a:bodyPr/>
          <a:lstStyle/>
          <a:p>
            <a:endParaRPr lang="en-US"/>
          </a:p>
        </p:txBody>
      </p:sp>
      <p:sp>
        <p:nvSpPr>
          <p:cNvPr id="12" name="Text 10"/>
          <p:cNvSpPr/>
          <p:nvPr/>
        </p:nvSpPr>
        <p:spPr>
          <a:xfrm>
            <a:off x="4251960" y="1051560"/>
            <a:ext cx="2651760" cy="457200"/>
          </a:xfrm>
          <a:prstGeom prst="rect">
            <a:avLst/>
          </a:prstGeom>
          <a:noFill/>
          <a:ln/>
        </p:spPr>
        <p:txBody>
          <a:bodyPr wrap="square" lIns="0" tIns="0" rIns="0" bIns="0" rtlCol="0" anchor="ctr"/>
          <a:lstStyle/>
          <a:p>
            <a:pPr marL="0" indent="0">
              <a:lnSpc>
                <a:spcPct val="106000"/>
              </a:lnSpc>
              <a:buNone/>
            </a:pPr>
            <a:r>
              <a:rPr lang="en-US" sz="1150" b="1" dirty="0">
                <a:solidFill>
                  <a:srgbClr val="FFFFFF"/>
                </a:solidFill>
                <a:latin typeface="Calibri" pitchFamily="34" charset="0"/>
                <a:ea typeface="Calibri" pitchFamily="34" charset="-122"/>
                <a:cs typeface="Calibri" pitchFamily="34" charset="-120"/>
              </a:rPr>
              <a:t>BUSINESS DOMAIN — Risk</a:t>
            </a:r>
            <a:endParaRPr lang="en-US" sz="1150" dirty="0"/>
          </a:p>
        </p:txBody>
      </p:sp>
      <p:sp>
        <p:nvSpPr>
          <p:cNvPr id="13" name="Text 11"/>
          <p:cNvSpPr/>
          <p:nvPr/>
        </p:nvSpPr>
        <p:spPr>
          <a:xfrm>
            <a:off x="4114800" y="1572768"/>
            <a:ext cx="4572000" cy="219456"/>
          </a:xfrm>
          <a:prstGeom prst="rect">
            <a:avLst/>
          </a:prstGeom>
          <a:noFill/>
          <a:ln/>
        </p:spPr>
        <p:txBody>
          <a:bodyPr wrap="square" lIns="0" tIns="0" rIns="0" bIns="0" rtlCol="0" anchor="t"/>
          <a:lstStyle/>
          <a:p>
            <a:pPr marL="0" indent="0">
              <a:lnSpc>
                <a:spcPct val="106000"/>
              </a:lnSpc>
              <a:buNone/>
            </a:pPr>
            <a:r>
              <a:rPr lang="en-US" sz="850" b="1" dirty="0">
                <a:solidFill>
                  <a:srgbClr val="6B7670"/>
                </a:solidFill>
                <a:latin typeface="Calibri" pitchFamily="34" charset="0"/>
                <a:ea typeface="Calibri" pitchFamily="34" charset="-122"/>
                <a:cs typeface="Calibri" pitchFamily="34" charset="-120"/>
              </a:rPr>
              <a:t>SUBDOMAINS — the capabilities Risk actually owns, each with an owner</a:t>
            </a:r>
            <a:endParaRPr lang="en-US" sz="850" dirty="0"/>
          </a:p>
        </p:txBody>
      </p:sp>
      <p:sp>
        <p:nvSpPr>
          <p:cNvPr id="14" name="Shape 12"/>
          <p:cNvSpPr/>
          <p:nvPr/>
        </p:nvSpPr>
        <p:spPr>
          <a:xfrm>
            <a:off x="4114800" y="1828800"/>
            <a:ext cx="2148840" cy="530352"/>
          </a:xfrm>
          <a:prstGeom prst="roundRect">
            <a:avLst>
              <a:gd name="adj" fmla="val 8621"/>
            </a:avLst>
          </a:prstGeom>
          <a:solidFill>
            <a:srgbClr val="EAF3EC"/>
          </a:solidFill>
          <a:ln w="13970">
            <a:solidFill>
              <a:srgbClr val="1F7A47"/>
            </a:solidFill>
            <a:prstDash val="solid"/>
          </a:ln>
        </p:spPr>
        <p:txBody>
          <a:bodyPr/>
          <a:lstStyle/>
          <a:p>
            <a:endParaRPr lang="en-US"/>
          </a:p>
        </p:txBody>
      </p:sp>
      <p:sp>
        <p:nvSpPr>
          <p:cNvPr id="15" name="Text 13"/>
          <p:cNvSpPr/>
          <p:nvPr/>
        </p:nvSpPr>
        <p:spPr>
          <a:xfrm>
            <a:off x="4206240" y="1874520"/>
            <a:ext cx="1965960" cy="457200"/>
          </a:xfrm>
          <a:prstGeom prst="rect">
            <a:avLst/>
          </a:prstGeom>
          <a:noFill/>
          <a:ln/>
        </p:spPr>
        <p:txBody>
          <a:bodyPr wrap="square" lIns="0" tIns="0" rIns="0" bIns="0" rtlCol="0" anchor="t"/>
          <a:lstStyle/>
          <a:p>
            <a:pPr marL="0" indent="0">
              <a:lnSpc>
                <a:spcPct val="106000"/>
              </a:lnSpc>
              <a:buNone/>
            </a:pPr>
            <a:r>
              <a:rPr lang="en-US" sz="950" b="1" dirty="0">
                <a:solidFill>
                  <a:srgbClr val="0E3D29"/>
                </a:solidFill>
                <a:latin typeface="Calibri" pitchFamily="34" charset="0"/>
                <a:ea typeface="Calibri" pitchFamily="34" charset="-122"/>
                <a:cs typeface="Calibri" pitchFamily="34" charset="-120"/>
              </a:rPr>
              <a:t>Market Risk
</a:t>
            </a:r>
            <a:endParaRPr lang="en-US" sz="950" dirty="0"/>
          </a:p>
        </p:txBody>
      </p:sp>
      <p:sp>
        <p:nvSpPr>
          <p:cNvPr id="16" name="Shape 14"/>
          <p:cNvSpPr/>
          <p:nvPr/>
        </p:nvSpPr>
        <p:spPr>
          <a:xfrm>
            <a:off x="5577840" y="1508760"/>
            <a:ext cx="0" cy="320040"/>
          </a:xfrm>
          <a:prstGeom prst="line">
            <a:avLst/>
          </a:prstGeom>
          <a:noFill/>
          <a:ln w="16510">
            <a:solidFill>
              <a:srgbClr val="8B8272"/>
            </a:solidFill>
            <a:prstDash val="solid"/>
          </a:ln>
        </p:spPr>
        <p:txBody>
          <a:bodyPr/>
          <a:lstStyle/>
          <a:p>
            <a:endParaRPr lang="en-US"/>
          </a:p>
        </p:txBody>
      </p:sp>
      <p:sp>
        <p:nvSpPr>
          <p:cNvPr id="17" name="Shape 15"/>
          <p:cNvSpPr/>
          <p:nvPr/>
        </p:nvSpPr>
        <p:spPr>
          <a:xfrm>
            <a:off x="6446520" y="1828800"/>
            <a:ext cx="2148840" cy="530352"/>
          </a:xfrm>
          <a:prstGeom prst="roundRect">
            <a:avLst>
              <a:gd name="adj" fmla="val 8621"/>
            </a:avLst>
          </a:prstGeom>
          <a:solidFill>
            <a:srgbClr val="EAF3EC"/>
          </a:solidFill>
          <a:ln w="13970">
            <a:solidFill>
              <a:srgbClr val="1F7A47"/>
            </a:solidFill>
            <a:prstDash val="solid"/>
          </a:ln>
        </p:spPr>
        <p:txBody>
          <a:bodyPr/>
          <a:lstStyle/>
          <a:p>
            <a:endParaRPr lang="en-US"/>
          </a:p>
        </p:txBody>
      </p:sp>
      <p:sp>
        <p:nvSpPr>
          <p:cNvPr id="18" name="Text 16"/>
          <p:cNvSpPr/>
          <p:nvPr/>
        </p:nvSpPr>
        <p:spPr>
          <a:xfrm>
            <a:off x="6537960" y="1874520"/>
            <a:ext cx="1965960" cy="457200"/>
          </a:xfrm>
          <a:prstGeom prst="rect">
            <a:avLst/>
          </a:prstGeom>
          <a:noFill/>
          <a:ln/>
        </p:spPr>
        <p:txBody>
          <a:bodyPr wrap="square" lIns="0" tIns="0" rIns="0" bIns="0" rtlCol="0" anchor="t"/>
          <a:lstStyle/>
          <a:p>
            <a:pPr marL="0" indent="0">
              <a:lnSpc>
                <a:spcPct val="106000"/>
              </a:lnSpc>
              <a:buNone/>
            </a:pPr>
            <a:r>
              <a:rPr lang="en-US" sz="950" b="1" dirty="0">
                <a:solidFill>
                  <a:srgbClr val="0E3D29"/>
                </a:solidFill>
                <a:latin typeface="Calibri" pitchFamily="34" charset="0"/>
                <a:ea typeface="Calibri" pitchFamily="34" charset="-122"/>
                <a:cs typeface="Calibri" pitchFamily="34" charset="-120"/>
              </a:rPr>
              <a:t>Credit Risk
</a:t>
            </a:r>
            <a:endParaRPr lang="en-US" sz="950" dirty="0"/>
          </a:p>
        </p:txBody>
      </p:sp>
      <p:sp>
        <p:nvSpPr>
          <p:cNvPr id="19" name="Shape 17"/>
          <p:cNvSpPr/>
          <p:nvPr/>
        </p:nvSpPr>
        <p:spPr>
          <a:xfrm>
            <a:off x="5577840" y="1508760"/>
            <a:ext cx="0" cy="320040"/>
          </a:xfrm>
          <a:prstGeom prst="line">
            <a:avLst/>
          </a:prstGeom>
          <a:noFill/>
          <a:ln w="16510">
            <a:solidFill>
              <a:srgbClr val="8B8272"/>
            </a:solidFill>
            <a:prstDash val="solid"/>
          </a:ln>
        </p:spPr>
        <p:txBody>
          <a:bodyPr/>
          <a:lstStyle/>
          <a:p>
            <a:endParaRPr lang="en-US"/>
          </a:p>
        </p:txBody>
      </p:sp>
      <p:sp>
        <p:nvSpPr>
          <p:cNvPr id="20" name="Shape 18"/>
          <p:cNvSpPr/>
          <p:nvPr/>
        </p:nvSpPr>
        <p:spPr>
          <a:xfrm>
            <a:off x="4114800" y="2468880"/>
            <a:ext cx="2148840" cy="530352"/>
          </a:xfrm>
          <a:prstGeom prst="roundRect">
            <a:avLst>
              <a:gd name="adj" fmla="val 8621"/>
            </a:avLst>
          </a:prstGeom>
          <a:solidFill>
            <a:srgbClr val="EAF3EC"/>
          </a:solidFill>
          <a:ln w="13970">
            <a:solidFill>
              <a:srgbClr val="1F7A47"/>
            </a:solidFill>
            <a:prstDash val="solid"/>
          </a:ln>
        </p:spPr>
        <p:txBody>
          <a:bodyPr/>
          <a:lstStyle/>
          <a:p>
            <a:endParaRPr lang="en-US"/>
          </a:p>
        </p:txBody>
      </p:sp>
      <p:sp>
        <p:nvSpPr>
          <p:cNvPr id="21" name="Text 19"/>
          <p:cNvSpPr/>
          <p:nvPr/>
        </p:nvSpPr>
        <p:spPr>
          <a:xfrm>
            <a:off x="4206240" y="2514600"/>
            <a:ext cx="1965960" cy="457200"/>
          </a:xfrm>
          <a:prstGeom prst="rect">
            <a:avLst/>
          </a:prstGeom>
          <a:noFill/>
          <a:ln/>
        </p:spPr>
        <p:txBody>
          <a:bodyPr wrap="square" lIns="0" tIns="0" rIns="0" bIns="0" rtlCol="0" anchor="t"/>
          <a:lstStyle/>
          <a:p>
            <a:pPr marL="0" indent="0">
              <a:lnSpc>
                <a:spcPct val="106000"/>
              </a:lnSpc>
              <a:buNone/>
            </a:pPr>
            <a:r>
              <a:rPr lang="en-US" sz="950" b="1" dirty="0">
                <a:solidFill>
                  <a:srgbClr val="0E3D29"/>
                </a:solidFill>
                <a:latin typeface="Calibri" pitchFamily="34" charset="0"/>
                <a:ea typeface="Calibri" pitchFamily="34" charset="-122"/>
                <a:cs typeface="Calibri" pitchFamily="34" charset="-120"/>
              </a:rPr>
              <a:t>Liquidity
</a:t>
            </a:r>
            <a:endParaRPr lang="en-US" sz="950" dirty="0"/>
          </a:p>
        </p:txBody>
      </p:sp>
      <p:sp>
        <p:nvSpPr>
          <p:cNvPr id="22" name="Shape 20"/>
          <p:cNvSpPr/>
          <p:nvPr/>
        </p:nvSpPr>
        <p:spPr>
          <a:xfrm>
            <a:off x="5577840" y="1508760"/>
            <a:ext cx="0" cy="320040"/>
          </a:xfrm>
          <a:prstGeom prst="line">
            <a:avLst/>
          </a:prstGeom>
          <a:noFill/>
          <a:ln w="16510">
            <a:solidFill>
              <a:srgbClr val="8B8272"/>
            </a:solidFill>
            <a:prstDash val="solid"/>
          </a:ln>
        </p:spPr>
        <p:txBody>
          <a:bodyPr/>
          <a:lstStyle/>
          <a:p>
            <a:endParaRPr lang="en-US"/>
          </a:p>
        </p:txBody>
      </p:sp>
      <p:sp>
        <p:nvSpPr>
          <p:cNvPr id="23" name="Shape 21"/>
          <p:cNvSpPr/>
          <p:nvPr/>
        </p:nvSpPr>
        <p:spPr>
          <a:xfrm>
            <a:off x="6446520" y="2468880"/>
            <a:ext cx="2148840" cy="530352"/>
          </a:xfrm>
          <a:prstGeom prst="roundRect">
            <a:avLst>
              <a:gd name="adj" fmla="val 8621"/>
            </a:avLst>
          </a:prstGeom>
          <a:solidFill>
            <a:srgbClr val="F4EDDD"/>
          </a:solidFill>
          <a:ln w="13970">
            <a:solidFill>
              <a:srgbClr val="8A6A2F"/>
            </a:solidFill>
            <a:prstDash val="solid"/>
          </a:ln>
        </p:spPr>
        <p:txBody>
          <a:bodyPr/>
          <a:lstStyle/>
          <a:p>
            <a:endParaRPr lang="en-US"/>
          </a:p>
        </p:txBody>
      </p:sp>
      <p:sp>
        <p:nvSpPr>
          <p:cNvPr id="24" name="Text 22"/>
          <p:cNvSpPr/>
          <p:nvPr/>
        </p:nvSpPr>
        <p:spPr>
          <a:xfrm>
            <a:off x="6537960" y="2514600"/>
            <a:ext cx="1965960" cy="457200"/>
          </a:xfrm>
          <a:prstGeom prst="rect">
            <a:avLst/>
          </a:prstGeom>
          <a:noFill/>
          <a:ln/>
        </p:spPr>
        <p:txBody>
          <a:bodyPr wrap="square" lIns="0" tIns="0" rIns="0" bIns="0" rtlCol="0" anchor="t"/>
          <a:lstStyle/>
          <a:p>
            <a:pPr marL="0" indent="0">
              <a:lnSpc>
                <a:spcPct val="106000"/>
              </a:lnSpc>
              <a:buNone/>
            </a:pPr>
            <a:r>
              <a:rPr lang="en-US" sz="950" b="1" dirty="0">
                <a:solidFill>
                  <a:srgbClr val="8A6A2F"/>
                </a:solidFill>
                <a:latin typeface="Calibri" pitchFamily="34" charset="0"/>
                <a:ea typeface="Calibri" pitchFamily="34" charset="-122"/>
                <a:cs typeface="Calibri" pitchFamily="34" charset="-120"/>
              </a:rPr>
              <a:t>OTC Collateral (CMOS)
</a:t>
            </a:r>
            <a:r>
              <a:rPr lang="en-US" sz="720" dirty="0">
                <a:solidFill>
                  <a:srgbClr val="6B7670"/>
                </a:solidFill>
                <a:latin typeface="Calibri" pitchFamily="34" charset="0"/>
                <a:ea typeface="Calibri" pitchFamily="34" charset="-122"/>
                <a:cs typeface="Calibri" pitchFamily="34" charset="-120"/>
              </a:rPr>
              <a:t>OTC / credit-derivatives margining ONLY</a:t>
            </a:r>
            <a:endParaRPr lang="en-US" sz="950" dirty="0"/>
          </a:p>
        </p:txBody>
      </p:sp>
      <p:sp>
        <p:nvSpPr>
          <p:cNvPr id="25" name="Shape 23"/>
          <p:cNvSpPr/>
          <p:nvPr/>
        </p:nvSpPr>
        <p:spPr>
          <a:xfrm>
            <a:off x="5577840" y="1508760"/>
            <a:ext cx="0" cy="320040"/>
          </a:xfrm>
          <a:prstGeom prst="line">
            <a:avLst/>
          </a:prstGeom>
          <a:noFill/>
          <a:ln w="16510">
            <a:solidFill>
              <a:srgbClr val="8B8272"/>
            </a:solidFill>
            <a:prstDash val="solid"/>
          </a:ln>
        </p:spPr>
        <p:txBody>
          <a:bodyPr/>
          <a:lstStyle/>
          <a:p>
            <a:endParaRPr lang="en-US"/>
          </a:p>
        </p:txBody>
      </p:sp>
      <p:sp>
        <p:nvSpPr>
          <p:cNvPr id="26" name="Shape 24"/>
          <p:cNvSpPr/>
          <p:nvPr/>
        </p:nvSpPr>
        <p:spPr>
          <a:xfrm>
            <a:off x="5577840" y="1508760"/>
            <a:ext cx="2331720" cy="320040"/>
          </a:xfrm>
          <a:prstGeom prst="line">
            <a:avLst/>
          </a:prstGeom>
          <a:noFill/>
          <a:ln w="16510">
            <a:solidFill>
              <a:srgbClr val="8B8272"/>
            </a:solidFill>
            <a:prstDash val="solid"/>
          </a:ln>
        </p:spPr>
        <p:txBody>
          <a:bodyPr/>
          <a:lstStyle/>
          <a:p>
            <a:endParaRPr lang="en-US"/>
          </a:p>
        </p:txBody>
      </p:sp>
      <p:sp>
        <p:nvSpPr>
          <p:cNvPr id="27" name="Shape 25"/>
          <p:cNvSpPr/>
          <p:nvPr/>
        </p:nvSpPr>
        <p:spPr>
          <a:xfrm>
            <a:off x="4114800" y="3246120"/>
            <a:ext cx="4663440" cy="2194560"/>
          </a:xfrm>
          <a:prstGeom prst="roundRect">
            <a:avLst>
              <a:gd name="adj" fmla="val 2083"/>
            </a:avLst>
          </a:prstGeom>
          <a:solidFill>
            <a:srgbClr val="FBFAF5"/>
          </a:solidFill>
          <a:ln w="13970">
            <a:solidFill>
              <a:srgbClr val="8A6A2F"/>
            </a:solidFill>
            <a:prstDash val="solid"/>
          </a:ln>
        </p:spPr>
        <p:txBody>
          <a:bodyPr/>
          <a:lstStyle/>
          <a:p>
            <a:endParaRPr lang="en-US"/>
          </a:p>
        </p:txBody>
      </p:sp>
      <p:sp>
        <p:nvSpPr>
          <p:cNvPr id="28" name="Text 26"/>
          <p:cNvSpPr/>
          <p:nvPr/>
        </p:nvSpPr>
        <p:spPr>
          <a:xfrm>
            <a:off x="4224528" y="3291840"/>
            <a:ext cx="4434840" cy="219456"/>
          </a:xfrm>
          <a:prstGeom prst="rect">
            <a:avLst/>
          </a:prstGeom>
          <a:noFill/>
          <a:ln/>
        </p:spPr>
        <p:txBody>
          <a:bodyPr wrap="square" lIns="0" tIns="0" rIns="0" bIns="0" rtlCol="0" anchor="t"/>
          <a:lstStyle/>
          <a:p>
            <a:pPr marL="0" indent="0">
              <a:lnSpc>
                <a:spcPct val="106000"/>
              </a:lnSpc>
              <a:buNone/>
            </a:pPr>
            <a:r>
              <a:rPr lang="en-US" sz="850" b="1" dirty="0">
                <a:solidFill>
                  <a:srgbClr val="8A6A2F"/>
                </a:solidFill>
                <a:latin typeface="Calibri" pitchFamily="34" charset="0"/>
                <a:ea typeface="Calibri" pitchFamily="34" charset="-122"/>
                <a:cs typeface="Calibri" pitchFamily="34" charset="-120"/>
              </a:rPr>
              <a:t>PRODUCTS — OTC COLLATERAL, PLUS THE RISK AGGREGATE</a:t>
            </a:r>
            <a:endParaRPr lang="en-US" sz="850" dirty="0"/>
          </a:p>
        </p:txBody>
      </p:sp>
      <p:sp>
        <p:nvSpPr>
          <p:cNvPr id="29" name="Shape 27"/>
          <p:cNvSpPr/>
          <p:nvPr/>
        </p:nvSpPr>
        <p:spPr>
          <a:xfrm>
            <a:off x="4251960" y="3566160"/>
            <a:ext cx="4389120" cy="512064"/>
          </a:xfrm>
          <a:prstGeom prst="roundRect">
            <a:avLst>
              <a:gd name="adj" fmla="val 8929"/>
            </a:avLst>
          </a:prstGeom>
          <a:solidFill>
            <a:srgbClr val="E9EEF4"/>
          </a:solidFill>
          <a:ln w="13970">
            <a:solidFill>
              <a:srgbClr val="2E4A66"/>
            </a:solidFill>
            <a:prstDash val="solid"/>
          </a:ln>
        </p:spPr>
        <p:txBody>
          <a:bodyPr/>
          <a:lstStyle/>
          <a:p>
            <a:endParaRPr lang="en-US"/>
          </a:p>
        </p:txBody>
      </p:sp>
      <p:sp>
        <p:nvSpPr>
          <p:cNvPr id="30" name="Text 28"/>
          <p:cNvSpPr/>
          <p:nvPr/>
        </p:nvSpPr>
        <p:spPr>
          <a:xfrm>
            <a:off x="4370832" y="3602736"/>
            <a:ext cx="4160520" cy="457200"/>
          </a:xfrm>
          <a:prstGeom prst="rect">
            <a:avLst/>
          </a:prstGeom>
          <a:noFill/>
          <a:ln/>
        </p:spPr>
        <p:txBody>
          <a:bodyPr wrap="square" lIns="0" tIns="0" rIns="0" bIns="0" rtlCol="0" anchor="t"/>
          <a:lstStyle/>
          <a:p>
            <a:pPr marL="0" indent="0">
              <a:lnSpc>
                <a:spcPct val="106000"/>
              </a:lnSpc>
              <a:buNone/>
            </a:pPr>
            <a:r>
              <a:rPr lang="en-US" sz="880" b="1" dirty="0">
                <a:solidFill>
                  <a:srgbClr val="262B27"/>
                </a:solidFill>
                <a:latin typeface="Calibri" pitchFamily="34" charset="0"/>
                <a:ea typeface="Calibri" pitchFamily="34" charset="-122"/>
                <a:cs typeface="Calibri" pitchFamily="34" charset="-120"/>
              </a:rPr>
              <a:t>source-aligned — </a:t>
            </a:r>
            <a:r>
              <a:rPr lang="en-US" sz="820" dirty="0">
                <a:solidFill>
                  <a:srgbClr val="262B27"/>
                </a:solidFill>
                <a:latin typeface="Calibri" pitchFamily="34" charset="0"/>
                <a:ea typeface="Calibri" pitchFamily="34" charset="-122"/>
                <a:cs typeface="Calibri" pitchFamily="34" charset="-120"/>
              </a:rPr>
              <a:t>CMOS / Colline extracts — owner: the CMOS team</a:t>
            </a:r>
            <a:endParaRPr lang="en-US" sz="880" dirty="0"/>
          </a:p>
        </p:txBody>
      </p:sp>
      <p:sp>
        <p:nvSpPr>
          <p:cNvPr id="31" name="Shape 29"/>
          <p:cNvSpPr/>
          <p:nvPr/>
        </p:nvSpPr>
        <p:spPr>
          <a:xfrm>
            <a:off x="4251960" y="4169664"/>
            <a:ext cx="4389120" cy="512064"/>
          </a:xfrm>
          <a:prstGeom prst="roundRect">
            <a:avLst>
              <a:gd name="adj" fmla="val 8929"/>
            </a:avLst>
          </a:prstGeom>
          <a:solidFill>
            <a:srgbClr val="F4EDDD"/>
          </a:solidFill>
          <a:ln w="13970">
            <a:solidFill>
              <a:srgbClr val="8A6A2F"/>
            </a:solidFill>
            <a:prstDash val="solid"/>
          </a:ln>
        </p:spPr>
        <p:txBody>
          <a:bodyPr/>
          <a:lstStyle/>
          <a:p>
            <a:endParaRPr lang="en-US"/>
          </a:p>
        </p:txBody>
      </p:sp>
      <p:sp>
        <p:nvSpPr>
          <p:cNvPr id="32" name="Text 30"/>
          <p:cNvSpPr/>
          <p:nvPr/>
        </p:nvSpPr>
        <p:spPr>
          <a:xfrm>
            <a:off x="4370832" y="4206240"/>
            <a:ext cx="4160520" cy="457200"/>
          </a:xfrm>
          <a:prstGeom prst="rect">
            <a:avLst/>
          </a:prstGeom>
          <a:noFill/>
          <a:ln/>
        </p:spPr>
        <p:txBody>
          <a:bodyPr wrap="square" lIns="0" tIns="0" rIns="0" bIns="0" rtlCol="0" anchor="t"/>
          <a:lstStyle/>
          <a:p>
            <a:pPr marL="0" indent="0">
              <a:lnSpc>
                <a:spcPct val="106000"/>
              </a:lnSpc>
              <a:buNone/>
            </a:pPr>
            <a:r>
              <a:rPr lang="en-US" sz="880" b="1" dirty="0">
                <a:solidFill>
                  <a:srgbClr val="262B27"/>
                </a:solidFill>
                <a:latin typeface="Calibri" pitchFamily="34" charset="0"/>
                <a:ea typeface="Calibri" pitchFamily="34" charset="-122"/>
                <a:cs typeface="Calibri" pitchFamily="34" charset="-120"/>
              </a:rPr>
              <a:t>consumer-aligned AGGREGATE — </a:t>
            </a:r>
            <a:r>
              <a:rPr lang="en-US" sz="820" dirty="0">
                <a:solidFill>
                  <a:srgbClr val="262B27"/>
                </a:solidFill>
                <a:latin typeface="Calibri" pitchFamily="34" charset="0"/>
                <a:ea typeface="Calibri" pitchFamily="34" charset="-122"/>
                <a:cs typeface="Calibri" pitchFamily="34" charset="-120"/>
              </a:rPr>
              <a:t>“all collateral” cross-market, built FOR RISK’s questions — owner: Risk; other desks’ data MAPPED at the Risk boundary</a:t>
            </a:r>
            <a:endParaRPr lang="en-US" sz="880" dirty="0"/>
          </a:p>
        </p:txBody>
      </p:sp>
      <p:sp>
        <p:nvSpPr>
          <p:cNvPr id="33" name="Shape 31"/>
          <p:cNvSpPr/>
          <p:nvPr/>
        </p:nvSpPr>
        <p:spPr>
          <a:xfrm>
            <a:off x="4251960" y="4773168"/>
            <a:ext cx="4389120" cy="512064"/>
          </a:xfrm>
          <a:prstGeom prst="roundRect">
            <a:avLst>
              <a:gd name="adj" fmla="val 8929"/>
            </a:avLst>
          </a:prstGeom>
          <a:solidFill>
            <a:srgbClr val="EAF3EC"/>
          </a:solidFill>
          <a:ln w="13970">
            <a:solidFill>
              <a:srgbClr val="1F7A47"/>
            </a:solidFill>
            <a:prstDash val="solid"/>
          </a:ln>
        </p:spPr>
        <p:txBody>
          <a:bodyPr/>
          <a:lstStyle/>
          <a:p>
            <a:endParaRPr lang="en-US"/>
          </a:p>
        </p:txBody>
      </p:sp>
      <p:sp>
        <p:nvSpPr>
          <p:cNvPr id="34" name="Text 32"/>
          <p:cNvSpPr/>
          <p:nvPr/>
        </p:nvSpPr>
        <p:spPr>
          <a:xfrm>
            <a:off x="4370832" y="4809744"/>
            <a:ext cx="4160520" cy="457200"/>
          </a:xfrm>
          <a:prstGeom prst="rect">
            <a:avLst/>
          </a:prstGeom>
          <a:noFill/>
          <a:ln/>
        </p:spPr>
        <p:txBody>
          <a:bodyPr wrap="square" lIns="0" tIns="0" rIns="0" bIns="0" rtlCol="0" anchor="t"/>
          <a:lstStyle/>
          <a:p>
            <a:pPr marL="0" indent="0">
              <a:lnSpc>
                <a:spcPct val="106000"/>
              </a:lnSpc>
              <a:buNone/>
            </a:pPr>
            <a:r>
              <a:rPr lang="en-US" sz="880" b="1" dirty="0">
                <a:solidFill>
                  <a:srgbClr val="262B27"/>
                </a:solidFill>
                <a:latin typeface="Calibri" pitchFamily="34" charset="0"/>
                <a:ea typeface="Calibri" pitchFamily="34" charset="-122"/>
                <a:cs typeface="Calibri" pitchFamily="34" charset="-120"/>
              </a:rPr>
              <a:t>business reports — </a:t>
            </a:r>
            <a:r>
              <a:rPr lang="en-US" sz="820" dirty="0">
                <a:solidFill>
                  <a:srgbClr val="262B27"/>
                </a:solidFill>
                <a:latin typeface="Calibri" pitchFamily="34" charset="0"/>
                <a:ea typeface="Calibri" pitchFamily="34" charset="-122"/>
                <a:cs typeface="Calibri" pitchFamily="34" charset="-120"/>
              </a:rPr>
              <a:t>consumer-aligned — owner: business owner</a:t>
            </a:r>
            <a:endParaRPr lang="en-US" sz="880" dirty="0"/>
          </a:p>
        </p:txBody>
      </p:sp>
      <p:sp>
        <p:nvSpPr>
          <p:cNvPr id="35" name="Shape 33"/>
          <p:cNvSpPr/>
          <p:nvPr/>
        </p:nvSpPr>
        <p:spPr>
          <a:xfrm>
            <a:off x="7543800" y="2359152"/>
            <a:ext cx="0" cy="886968"/>
          </a:xfrm>
          <a:prstGeom prst="line">
            <a:avLst/>
          </a:prstGeom>
          <a:noFill/>
          <a:ln w="16510">
            <a:solidFill>
              <a:srgbClr val="8B8272"/>
            </a:solidFill>
            <a:prstDash val="solid"/>
          </a:ln>
        </p:spPr>
        <p:txBody>
          <a:bodyPr/>
          <a:lstStyle/>
          <a:p>
            <a:endParaRPr lang="en-US"/>
          </a:p>
        </p:txBody>
      </p:sp>
      <p:sp>
        <p:nvSpPr>
          <p:cNvPr id="36" name="Shape 34"/>
          <p:cNvSpPr/>
          <p:nvPr/>
        </p:nvSpPr>
        <p:spPr>
          <a:xfrm>
            <a:off x="4114800" y="5596128"/>
            <a:ext cx="4663440" cy="777240"/>
          </a:xfrm>
          <a:prstGeom prst="roundRect">
            <a:avLst>
              <a:gd name="adj" fmla="val 5882"/>
            </a:avLst>
          </a:prstGeom>
          <a:solidFill>
            <a:srgbClr val="E9EEF4"/>
          </a:solidFill>
          <a:ln w="13970">
            <a:solidFill>
              <a:srgbClr val="2E4A66"/>
            </a:solidFill>
            <a:prstDash val="solid"/>
          </a:ln>
        </p:spPr>
        <p:txBody>
          <a:bodyPr/>
          <a:lstStyle/>
          <a:p>
            <a:endParaRPr lang="en-US"/>
          </a:p>
        </p:txBody>
      </p:sp>
      <p:sp>
        <p:nvSpPr>
          <p:cNvPr id="37" name="Text 35"/>
          <p:cNvSpPr/>
          <p:nvPr/>
        </p:nvSpPr>
        <p:spPr>
          <a:xfrm>
            <a:off x="4251960" y="5650992"/>
            <a:ext cx="4434840" cy="685800"/>
          </a:xfrm>
          <a:prstGeom prst="rect">
            <a:avLst/>
          </a:prstGeom>
          <a:noFill/>
          <a:ln/>
        </p:spPr>
        <p:txBody>
          <a:bodyPr wrap="square" lIns="0" tIns="0" rIns="0" bIns="0" rtlCol="0" anchor="t"/>
          <a:lstStyle/>
          <a:p>
            <a:pPr marL="0" indent="0">
              <a:lnSpc>
                <a:spcPct val="106000"/>
              </a:lnSpc>
              <a:buNone/>
            </a:pPr>
            <a:r>
              <a:rPr lang="en-US" sz="860" b="1" dirty="0">
                <a:solidFill>
                  <a:srgbClr val="2E4A66"/>
                </a:solidFill>
                <a:latin typeface="Calibri" pitchFamily="34" charset="0"/>
                <a:ea typeface="Calibri" pitchFamily="34" charset="-122"/>
                <a:cs typeface="Calibri" pitchFamily="34" charset="-120"/>
              </a:rPr>
              <a:t>OTHER BUSINESS DOMAINS (not Risk): </a:t>
            </a:r>
            <a:r>
              <a:rPr lang="en-US" sz="820" dirty="0">
                <a:solidFill>
                  <a:srgbClr val="262B27"/>
                </a:solidFill>
                <a:latin typeface="Calibri" pitchFamily="34" charset="0"/>
                <a:ea typeface="Calibri" pitchFamily="34" charset="-122"/>
                <a:cs typeface="Calibri" pitchFamily="34" charset="-120"/>
              </a:rPr>
              <a:t>SFT desk (GMRA · GMSLA) · Prime (PBA / Softek) — their operations, their source-aligned data. Risk maps it at its boundary. A FIRM-WIDE collateral product needs a firm-level owner — our model is the candidate blueprint.</a:t>
            </a:r>
            <a:endParaRPr lang="en-US" sz="860" dirty="0"/>
          </a:p>
        </p:txBody>
      </p:sp>
      <p:sp>
        <p:nvSpPr>
          <p:cNvPr id="38" name="Shape 36"/>
          <p:cNvSpPr/>
          <p:nvPr/>
        </p:nvSpPr>
        <p:spPr>
          <a:xfrm>
            <a:off x="9144000" y="1051560"/>
            <a:ext cx="2542032" cy="4343400"/>
          </a:xfrm>
          <a:prstGeom prst="roundRect">
            <a:avLst>
              <a:gd name="adj" fmla="val 1799"/>
            </a:avLst>
          </a:prstGeom>
          <a:solidFill>
            <a:srgbClr val="F4EDDD"/>
          </a:solidFill>
          <a:ln w="13970">
            <a:solidFill>
              <a:srgbClr val="8A6A2F"/>
            </a:solidFill>
            <a:prstDash val="solid"/>
          </a:ln>
        </p:spPr>
        <p:txBody>
          <a:bodyPr/>
          <a:lstStyle/>
          <a:p>
            <a:endParaRPr lang="en-US"/>
          </a:p>
        </p:txBody>
      </p:sp>
      <p:sp>
        <p:nvSpPr>
          <p:cNvPr id="39" name="Text 37"/>
          <p:cNvSpPr/>
          <p:nvPr/>
        </p:nvSpPr>
        <p:spPr>
          <a:xfrm>
            <a:off x="9253728" y="1143000"/>
            <a:ext cx="2331720" cy="502920"/>
          </a:xfrm>
          <a:prstGeom prst="rect">
            <a:avLst/>
          </a:prstGeom>
          <a:noFill/>
          <a:ln/>
        </p:spPr>
        <p:txBody>
          <a:bodyPr wrap="square" lIns="0" tIns="0" rIns="0" bIns="0" rtlCol="0" anchor="t"/>
          <a:lstStyle/>
          <a:p>
            <a:pPr marL="0" indent="0">
              <a:lnSpc>
                <a:spcPct val="106000"/>
              </a:lnSpc>
              <a:buNone/>
            </a:pPr>
            <a:r>
              <a:rPr lang="en-US" sz="1050" b="1" dirty="0">
                <a:solidFill>
                  <a:srgbClr val="8A6A2F"/>
                </a:solidFill>
                <a:latin typeface="Calibri" pitchFamily="34" charset="0"/>
                <a:ea typeface="Calibri" pitchFamily="34" charset="-122"/>
                <a:cs typeface="Calibri" pitchFamily="34" charset="-120"/>
              </a:rPr>
              <a:t>THE SHARED LAYER
</a:t>
            </a:r>
            <a:r>
              <a:rPr lang="en-US" sz="800" dirty="0">
                <a:solidFill>
                  <a:srgbClr val="262B27"/>
                </a:solidFill>
                <a:latin typeface="Calibri" pitchFamily="34" charset="0"/>
                <a:ea typeface="Calibri" pitchFamily="34" charset="-122"/>
                <a:cs typeface="Calibri" pitchFamily="34" charset="-120"/>
              </a:rPr>
              <a:t>owner: CENTRAL DATA TEAM — accountable like any domain owner</a:t>
            </a:r>
            <a:endParaRPr lang="en-US" sz="1050" dirty="0"/>
          </a:p>
        </p:txBody>
      </p:sp>
      <p:sp>
        <p:nvSpPr>
          <p:cNvPr id="40" name="Shape 38"/>
          <p:cNvSpPr/>
          <p:nvPr/>
        </p:nvSpPr>
        <p:spPr>
          <a:xfrm>
            <a:off x="9281160" y="1828800"/>
            <a:ext cx="2267712" cy="841248"/>
          </a:xfrm>
          <a:prstGeom prst="roundRect">
            <a:avLst>
              <a:gd name="adj" fmla="val 5435"/>
            </a:avLst>
          </a:prstGeom>
          <a:solidFill>
            <a:srgbClr val="FFFFFF"/>
          </a:solidFill>
          <a:ln w="13970">
            <a:solidFill>
              <a:srgbClr val="8A6A2F"/>
            </a:solidFill>
            <a:prstDash val="solid"/>
          </a:ln>
        </p:spPr>
        <p:txBody>
          <a:bodyPr/>
          <a:lstStyle/>
          <a:p>
            <a:endParaRPr lang="en-US"/>
          </a:p>
        </p:txBody>
      </p:sp>
      <p:sp>
        <p:nvSpPr>
          <p:cNvPr id="41" name="Text 39"/>
          <p:cNvSpPr/>
          <p:nvPr/>
        </p:nvSpPr>
        <p:spPr>
          <a:xfrm>
            <a:off x="9390888" y="1892808"/>
            <a:ext cx="2057400" cy="731520"/>
          </a:xfrm>
          <a:prstGeom prst="rect">
            <a:avLst/>
          </a:prstGeom>
          <a:noFill/>
          <a:ln/>
        </p:spPr>
        <p:txBody>
          <a:bodyPr wrap="square" lIns="0" tIns="0" rIns="0" bIns="0" rtlCol="0" anchor="t"/>
          <a:lstStyle/>
          <a:p>
            <a:pPr marL="0" indent="0">
              <a:lnSpc>
                <a:spcPct val="106000"/>
              </a:lnSpc>
              <a:buNone/>
            </a:pPr>
            <a:r>
              <a:rPr lang="en-US" sz="880" b="1" dirty="0">
                <a:solidFill>
                  <a:srgbClr val="262B27"/>
                </a:solidFill>
                <a:latin typeface="Calibri" pitchFamily="34" charset="0"/>
                <a:ea typeface="Calibri" pitchFamily="34" charset="-122"/>
                <a:cs typeface="Calibri" pitchFamily="34" charset="-120"/>
              </a:rPr>
              <a:t>Aggregate “all trades”
</a:t>
            </a:r>
            <a:r>
              <a:rPr lang="en-US" sz="780" dirty="0">
                <a:solidFill>
                  <a:srgbClr val="6B7670"/>
                </a:solidFill>
                <a:latin typeface="Calibri" pitchFamily="34" charset="0"/>
                <a:ea typeface="Calibri" pitchFamily="34" charset="-122"/>
                <a:cs typeface="Calibri" pitchFamily="34" charset="-120"/>
              </a:rPr>
              <a:t>conformed from 15 TMS sources — consolidated once</a:t>
            </a:r>
            <a:endParaRPr lang="en-US" sz="880" dirty="0"/>
          </a:p>
        </p:txBody>
      </p:sp>
      <p:sp>
        <p:nvSpPr>
          <p:cNvPr id="42" name="Shape 40"/>
          <p:cNvSpPr/>
          <p:nvPr/>
        </p:nvSpPr>
        <p:spPr>
          <a:xfrm>
            <a:off x="9281160" y="2788920"/>
            <a:ext cx="2267712" cy="841248"/>
          </a:xfrm>
          <a:prstGeom prst="roundRect">
            <a:avLst>
              <a:gd name="adj" fmla="val 5435"/>
            </a:avLst>
          </a:prstGeom>
          <a:solidFill>
            <a:srgbClr val="FFFFFF"/>
          </a:solidFill>
          <a:ln w="13970">
            <a:solidFill>
              <a:srgbClr val="8A6A2F"/>
            </a:solidFill>
            <a:prstDash val="solid"/>
          </a:ln>
        </p:spPr>
        <p:txBody>
          <a:bodyPr/>
          <a:lstStyle/>
          <a:p>
            <a:endParaRPr lang="en-US"/>
          </a:p>
        </p:txBody>
      </p:sp>
      <p:sp>
        <p:nvSpPr>
          <p:cNvPr id="43" name="Text 41"/>
          <p:cNvSpPr/>
          <p:nvPr/>
        </p:nvSpPr>
        <p:spPr>
          <a:xfrm>
            <a:off x="9390888" y="2852928"/>
            <a:ext cx="2057400" cy="731520"/>
          </a:xfrm>
          <a:prstGeom prst="rect">
            <a:avLst/>
          </a:prstGeom>
          <a:noFill/>
          <a:ln/>
        </p:spPr>
        <p:txBody>
          <a:bodyPr wrap="square" lIns="0" tIns="0" rIns="0" bIns="0" rtlCol="0" anchor="t"/>
          <a:lstStyle/>
          <a:p>
            <a:pPr marL="0" indent="0">
              <a:lnSpc>
                <a:spcPct val="106000"/>
              </a:lnSpc>
              <a:buNone/>
            </a:pPr>
            <a:r>
              <a:rPr lang="en-US" sz="880" b="1" dirty="0">
                <a:solidFill>
                  <a:srgbClr val="262B27"/>
                </a:solidFill>
                <a:latin typeface="Calibri" pitchFamily="34" charset="0"/>
                <a:ea typeface="Calibri" pitchFamily="34" charset="-122"/>
                <a:cs typeface="Calibri" pitchFamily="34" charset="-120"/>
              </a:rPr>
              <a:t>Shared reference
</a:t>
            </a:r>
            <a:r>
              <a:rPr lang="en-US" sz="780" dirty="0">
                <a:solidFill>
                  <a:srgbClr val="6B7670"/>
                </a:solidFill>
                <a:latin typeface="Calibri" pitchFamily="34" charset="0"/>
                <a:ea typeface="Calibri" pitchFamily="34" charset="-122"/>
                <a:cs typeface="Calibri" pitchFamily="34" charset="-120"/>
              </a:rPr>
              <a:t>counterparty · instrument · calendar — no single desk can own these</a:t>
            </a:r>
            <a:endParaRPr lang="en-US" sz="880" dirty="0"/>
          </a:p>
        </p:txBody>
      </p:sp>
      <p:sp>
        <p:nvSpPr>
          <p:cNvPr id="44" name="Shape 42"/>
          <p:cNvSpPr/>
          <p:nvPr/>
        </p:nvSpPr>
        <p:spPr>
          <a:xfrm>
            <a:off x="9281160" y="3749040"/>
            <a:ext cx="2267712" cy="841248"/>
          </a:xfrm>
          <a:prstGeom prst="roundRect">
            <a:avLst>
              <a:gd name="adj" fmla="val 5435"/>
            </a:avLst>
          </a:prstGeom>
          <a:solidFill>
            <a:srgbClr val="FFFFFF"/>
          </a:solidFill>
          <a:ln w="13970">
            <a:solidFill>
              <a:srgbClr val="8A6A2F"/>
            </a:solidFill>
            <a:prstDash val="solid"/>
          </a:ln>
        </p:spPr>
        <p:txBody>
          <a:bodyPr/>
          <a:lstStyle/>
          <a:p>
            <a:endParaRPr lang="en-US"/>
          </a:p>
        </p:txBody>
      </p:sp>
      <p:sp>
        <p:nvSpPr>
          <p:cNvPr id="45" name="Text 43"/>
          <p:cNvSpPr/>
          <p:nvPr/>
        </p:nvSpPr>
        <p:spPr>
          <a:xfrm>
            <a:off x="9390888" y="3813048"/>
            <a:ext cx="2057400" cy="731520"/>
          </a:xfrm>
          <a:prstGeom prst="rect">
            <a:avLst/>
          </a:prstGeom>
          <a:noFill/>
          <a:ln/>
        </p:spPr>
        <p:txBody>
          <a:bodyPr wrap="square" lIns="0" tIns="0" rIns="0" bIns="0" rtlCol="0" anchor="t"/>
          <a:lstStyle/>
          <a:p>
            <a:pPr marL="0" indent="0">
              <a:lnSpc>
                <a:spcPct val="106000"/>
              </a:lnSpc>
              <a:buNone/>
            </a:pPr>
            <a:r>
              <a:rPr lang="en-US" sz="880" b="1" dirty="0">
                <a:solidFill>
                  <a:srgbClr val="262B27"/>
                </a:solidFill>
                <a:latin typeface="Calibri" pitchFamily="34" charset="0"/>
                <a:ea typeface="Calibri" pitchFamily="34" charset="-122"/>
                <a:cs typeface="Calibri" pitchFamily="34" charset="-120"/>
              </a:rPr>
              <a:t>Canonical definitions
</a:t>
            </a:r>
            <a:r>
              <a:rPr lang="en-US" sz="780" dirty="0">
                <a:solidFill>
                  <a:srgbClr val="6B7670"/>
                </a:solidFill>
                <a:latin typeface="Calibri" pitchFamily="34" charset="0"/>
                <a:ea typeface="Calibri" pitchFamily="34" charset="-122"/>
                <a:cs typeface="Calibri" pitchFamily="34" charset="-120"/>
              </a:rPr>
              <a:t>the meaning every port (services &amp; tables) inherits</a:t>
            </a:r>
            <a:endParaRPr lang="en-US" sz="880" dirty="0"/>
          </a:p>
        </p:txBody>
      </p:sp>
      <p:sp>
        <p:nvSpPr>
          <p:cNvPr id="46" name="Text 44"/>
          <p:cNvSpPr/>
          <p:nvPr/>
        </p:nvSpPr>
        <p:spPr>
          <a:xfrm>
            <a:off x="9253728" y="4736592"/>
            <a:ext cx="2331720" cy="594360"/>
          </a:xfrm>
          <a:prstGeom prst="rect">
            <a:avLst/>
          </a:prstGeom>
          <a:noFill/>
          <a:ln/>
        </p:spPr>
        <p:txBody>
          <a:bodyPr wrap="square" lIns="0" tIns="0" rIns="0" bIns="0" rtlCol="0" anchor="t"/>
          <a:lstStyle/>
          <a:p>
            <a:pPr marL="0" indent="0">
              <a:lnSpc>
                <a:spcPct val="106000"/>
              </a:lnSpc>
              <a:buNone/>
            </a:pPr>
            <a:r>
              <a:rPr lang="en-US" sz="820" b="1" i="1" dirty="0">
                <a:solidFill>
                  <a:srgbClr val="8A6A2F"/>
                </a:solidFill>
                <a:latin typeface="Calibri" pitchFamily="34" charset="0"/>
                <a:ea typeface="Calibri" pitchFamily="34" charset="-122"/>
                <a:cs typeface="Calibri" pitchFamily="34" charset="-120"/>
              </a:rPr>
              <a:t>Cross-domain PRODUCTS with single owners — never cross-domain OWNERSHIP.</a:t>
            </a:r>
            <a:endParaRPr lang="en-US" sz="820" dirty="0"/>
          </a:p>
        </p:txBody>
      </p:sp>
      <p:sp>
        <p:nvSpPr>
          <p:cNvPr id="47" name="Text 45"/>
          <p:cNvSpPr/>
          <p:nvPr/>
        </p:nvSpPr>
        <p:spPr>
          <a:xfrm>
            <a:off x="9144000" y="5596128"/>
            <a:ext cx="2542032" cy="777240"/>
          </a:xfrm>
          <a:prstGeom prst="rect">
            <a:avLst/>
          </a:prstGeom>
          <a:noFill/>
          <a:ln/>
        </p:spPr>
        <p:txBody>
          <a:bodyPr wrap="square" lIns="0" tIns="0" rIns="0" bIns="0" rtlCol="0" anchor="t"/>
          <a:lstStyle/>
          <a:p>
            <a:pPr marL="0" indent="0">
              <a:lnSpc>
                <a:spcPct val="106000"/>
              </a:lnSpc>
              <a:buNone/>
            </a:pPr>
            <a:r>
              <a:rPr lang="en-US" sz="830" b="1" dirty="0">
                <a:solidFill>
                  <a:srgbClr val="0E3D29"/>
                </a:solidFill>
                <a:latin typeface="Calibri" pitchFamily="34" charset="0"/>
                <a:ea typeface="Calibri" pitchFamily="34" charset="-122"/>
                <a:cs typeface="Calibri" pitchFamily="34" charset="-120"/>
              </a:rPr>
              <a:t>Hierarchy: </a:t>
            </a:r>
            <a:r>
              <a:rPr lang="en-US" sz="830" dirty="0">
                <a:solidFill>
                  <a:srgbClr val="6B7670"/>
                </a:solidFill>
                <a:latin typeface="Calibri" pitchFamily="34" charset="0"/>
                <a:ea typeface="Calibri" pitchFamily="34" charset="-122"/>
                <a:cs typeface="Calibri" pitchFamily="34" charset="-120"/>
              </a:rPr>
              <a:t>domains CONTAIN subdomains; subdomains CONTAIN products. Data domains classify; business domains own.</a:t>
            </a:r>
            <a:endParaRPr lang="en-US" sz="830" dirty="0"/>
          </a:p>
        </p:txBody>
      </p:sp>
      <p:sp>
        <p:nvSpPr>
          <p:cNvPr id="48" name="Text 46"/>
          <p:cNvSpPr/>
          <p:nvPr/>
        </p:nvSpPr>
        <p:spPr>
          <a:xfrm>
            <a:off x="502920" y="6510528"/>
            <a:ext cx="5486400" cy="237744"/>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49" name="Text 47"/>
          <p:cNvSpPr/>
          <p:nvPr/>
        </p:nvSpPr>
        <p:spPr>
          <a:xfrm>
            <a:off x="10180015" y="6510528"/>
            <a:ext cx="1554480" cy="237744"/>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   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0515600" cy="274320"/>
          </a:xfrm>
          <a:prstGeom prst="rect">
            <a:avLst/>
          </a:prstGeom>
          <a:noFill/>
          <a:ln/>
        </p:spPr>
        <p:txBody>
          <a:bodyPr wrap="square" lIns="0" tIns="0" rIns="0" bIns="0" rtlCol="0" anchor="ctr"/>
          <a:lstStyle/>
          <a:p>
            <a:pPr marL="0" indent="0">
              <a:buNone/>
            </a:pPr>
            <a:r>
              <a:rPr lang="en-US" sz="1050" b="1" kern="0" spc="200" dirty="0">
                <a:solidFill>
                  <a:srgbClr val="1F7A47"/>
                </a:solidFill>
                <a:latin typeface="Calibri" pitchFamily="34" charset="0"/>
                <a:ea typeface="Calibri" pitchFamily="34" charset="-122"/>
                <a:cs typeface="Calibri" pitchFamily="34" charset="-120"/>
              </a:rPr>
              <a:t>THE CENTRAL DATA TEAM</a:t>
            </a:r>
            <a:endParaRPr lang="en-US" sz="1050" dirty="0"/>
          </a:p>
        </p:txBody>
      </p:sp>
      <p:sp>
        <p:nvSpPr>
          <p:cNvPr id="3" name="Text 1"/>
          <p:cNvSpPr/>
          <p:nvPr/>
        </p:nvSpPr>
        <p:spPr>
          <a:xfrm>
            <a:off x="502920" y="530352"/>
            <a:ext cx="11338560" cy="457200"/>
          </a:xfrm>
          <a:prstGeom prst="rect">
            <a:avLst/>
          </a:prstGeom>
          <a:noFill/>
          <a:ln/>
        </p:spPr>
        <p:txBody>
          <a:bodyPr wrap="square" lIns="0" tIns="0" rIns="0" bIns="0" rtlCol="0" anchor="ctr"/>
          <a:lstStyle/>
          <a:p>
            <a:pPr marL="0" indent="0">
              <a:buNone/>
            </a:pPr>
            <a:r>
              <a:rPr lang="en-US" sz="2200" b="1" dirty="0">
                <a:solidFill>
                  <a:srgbClr val="0E3D29"/>
                </a:solidFill>
                <a:latin typeface="Calibri" pitchFamily="34" charset="0"/>
                <a:ea typeface="Calibri" pitchFamily="34" charset="-122"/>
                <a:cs typeface="Calibri" pitchFamily="34" charset="-120"/>
              </a:rPr>
              <a:t>Four Legitimate Jobs — and the One It Must Never Have</a:t>
            </a:r>
            <a:endParaRPr lang="en-US" sz="2200" dirty="0"/>
          </a:p>
        </p:txBody>
      </p:sp>
      <p:sp>
        <p:nvSpPr>
          <p:cNvPr id="4" name="Shape 2"/>
          <p:cNvSpPr/>
          <p:nvPr/>
        </p:nvSpPr>
        <p:spPr>
          <a:xfrm>
            <a:off x="502920" y="1188720"/>
            <a:ext cx="5440680" cy="1783080"/>
          </a:xfrm>
          <a:prstGeom prst="roundRect">
            <a:avLst>
              <a:gd name="adj" fmla="val 2564"/>
            </a:avLst>
          </a:prstGeom>
          <a:solidFill>
            <a:srgbClr val="F5F7F5"/>
          </a:solidFill>
          <a:ln w="13970">
            <a:solidFill>
              <a:srgbClr val="D8E0DA"/>
            </a:solidFill>
            <a:prstDash val="solid"/>
          </a:ln>
        </p:spPr>
        <p:txBody>
          <a:bodyPr/>
          <a:lstStyle/>
          <a:p>
            <a:endParaRPr lang="en-US"/>
          </a:p>
        </p:txBody>
      </p:sp>
      <p:sp>
        <p:nvSpPr>
          <p:cNvPr id="5" name="Text 3"/>
          <p:cNvSpPr/>
          <p:nvPr/>
        </p:nvSpPr>
        <p:spPr>
          <a:xfrm>
            <a:off x="685800" y="1316736"/>
            <a:ext cx="5074920" cy="320040"/>
          </a:xfrm>
          <a:prstGeom prst="rect">
            <a:avLst/>
          </a:prstGeom>
          <a:noFill/>
          <a:ln/>
        </p:spPr>
        <p:txBody>
          <a:bodyPr wrap="square" lIns="0" tIns="0" rIns="0" bIns="0" rtlCol="0" anchor="t"/>
          <a:lstStyle/>
          <a:p>
            <a:pPr marL="0" indent="0">
              <a:lnSpc>
                <a:spcPct val="106000"/>
              </a:lnSpc>
              <a:buNone/>
            </a:pPr>
            <a:r>
              <a:rPr lang="en-US" sz="1300" b="1" dirty="0">
                <a:solidFill>
                  <a:srgbClr val="0E3D29"/>
                </a:solidFill>
                <a:latin typeface="Calibri" pitchFamily="34" charset="0"/>
                <a:ea typeface="Calibri" pitchFamily="34" charset="-122"/>
                <a:cs typeface="Calibri" pitchFamily="34" charset="-120"/>
              </a:rPr>
              <a:t>1 · Own the shared products</a:t>
            </a:r>
            <a:endParaRPr lang="en-US" sz="1300" dirty="0"/>
          </a:p>
        </p:txBody>
      </p:sp>
      <p:sp>
        <p:nvSpPr>
          <p:cNvPr id="6" name="Text 4"/>
          <p:cNvSpPr/>
          <p:nvPr/>
        </p:nvSpPr>
        <p:spPr>
          <a:xfrm>
            <a:off x="685800" y="1691640"/>
            <a:ext cx="5074920" cy="1188720"/>
          </a:xfrm>
          <a:prstGeom prst="rect">
            <a:avLst/>
          </a:prstGeom>
          <a:noFill/>
          <a:ln/>
        </p:spPr>
        <p:txBody>
          <a:bodyPr wrap="square" lIns="0" tIns="0" rIns="0" bIns="0" rtlCol="0" anchor="t"/>
          <a:lstStyle/>
          <a:p>
            <a:pPr marL="0" indent="0">
              <a:lnSpc>
                <a:spcPct val="106000"/>
              </a:lnSpc>
              <a:buNone/>
            </a:pPr>
            <a:r>
              <a:rPr lang="en-US" sz="1000" dirty="0">
                <a:solidFill>
                  <a:srgbClr val="262B27"/>
                </a:solidFill>
                <a:latin typeface="Calibri" pitchFamily="34" charset="0"/>
                <a:ea typeface="Calibri" pitchFamily="34" charset="-122"/>
                <a:cs typeface="Calibri" pitchFamily="34" charset="-120"/>
              </a:rPr>
              <a:t>The aggregate (“all trades”, conformed from 15 TMS sources) and the cross-domain reference (counterparty, instrument, calendar). Owned AS PRODUCTS: contracts, consumers, quality promises — accountable like every other domain owner, not special.</a:t>
            </a:r>
            <a:endParaRPr lang="en-US" sz="1000" dirty="0"/>
          </a:p>
        </p:txBody>
      </p:sp>
      <p:sp>
        <p:nvSpPr>
          <p:cNvPr id="7" name="Shape 5"/>
          <p:cNvSpPr/>
          <p:nvPr/>
        </p:nvSpPr>
        <p:spPr>
          <a:xfrm>
            <a:off x="6126480" y="1188720"/>
            <a:ext cx="5440680" cy="1783080"/>
          </a:xfrm>
          <a:prstGeom prst="roundRect">
            <a:avLst>
              <a:gd name="adj" fmla="val 2564"/>
            </a:avLst>
          </a:prstGeom>
          <a:solidFill>
            <a:srgbClr val="F5F7F5"/>
          </a:solidFill>
          <a:ln w="13970">
            <a:solidFill>
              <a:srgbClr val="D8E0DA"/>
            </a:solidFill>
            <a:prstDash val="solid"/>
          </a:ln>
        </p:spPr>
        <p:txBody>
          <a:bodyPr/>
          <a:lstStyle/>
          <a:p>
            <a:endParaRPr lang="en-US"/>
          </a:p>
        </p:txBody>
      </p:sp>
      <p:sp>
        <p:nvSpPr>
          <p:cNvPr id="8" name="Text 6"/>
          <p:cNvSpPr/>
          <p:nvPr/>
        </p:nvSpPr>
        <p:spPr>
          <a:xfrm>
            <a:off x="6309360" y="1316736"/>
            <a:ext cx="5074920" cy="320040"/>
          </a:xfrm>
          <a:prstGeom prst="rect">
            <a:avLst/>
          </a:prstGeom>
          <a:noFill/>
          <a:ln/>
        </p:spPr>
        <p:txBody>
          <a:bodyPr wrap="square" lIns="0" tIns="0" rIns="0" bIns="0" rtlCol="0" anchor="t"/>
          <a:lstStyle/>
          <a:p>
            <a:pPr marL="0" indent="0">
              <a:lnSpc>
                <a:spcPct val="106000"/>
              </a:lnSpc>
              <a:buNone/>
            </a:pPr>
            <a:r>
              <a:rPr lang="en-US" sz="1300" b="1" dirty="0">
                <a:solidFill>
                  <a:srgbClr val="0E3D29"/>
                </a:solidFill>
                <a:latin typeface="Calibri" pitchFamily="34" charset="0"/>
                <a:ea typeface="Calibri" pitchFamily="34" charset="-122"/>
                <a:cs typeface="Calibri" pitchFamily="34" charset="-120"/>
              </a:rPr>
              <a:t>2 · Own the canonical definitions</a:t>
            </a:r>
            <a:endParaRPr lang="en-US" sz="1300" dirty="0"/>
          </a:p>
        </p:txBody>
      </p:sp>
      <p:sp>
        <p:nvSpPr>
          <p:cNvPr id="9" name="Text 7"/>
          <p:cNvSpPr/>
          <p:nvPr/>
        </p:nvSpPr>
        <p:spPr>
          <a:xfrm>
            <a:off x="6309360" y="1691640"/>
            <a:ext cx="5074920" cy="1188720"/>
          </a:xfrm>
          <a:prstGeom prst="rect">
            <a:avLst/>
          </a:prstGeom>
          <a:noFill/>
          <a:ln/>
        </p:spPr>
        <p:txBody>
          <a:bodyPr wrap="square" lIns="0" tIns="0" rIns="0" bIns="0" rtlCol="0" anchor="t"/>
          <a:lstStyle/>
          <a:p>
            <a:pPr marL="0" indent="0">
              <a:lnSpc>
                <a:spcPct val="106000"/>
              </a:lnSpc>
              <a:buNone/>
            </a:pPr>
            <a:r>
              <a:rPr lang="en-US" sz="1000" dirty="0">
                <a:solidFill>
                  <a:srgbClr val="262B27"/>
                </a:solidFill>
                <a:latin typeface="Calibri" pitchFamily="34" charset="0"/>
                <a:ea typeface="Calibri" pitchFamily="34" charset="-122"/>
                <a:cs typeface="Calibri" pitchFamily="34" charset="-120"/>
              </a:rPr>
              <a:t>The meaning the shared products carry — which every port must inherit: the services port (Veritas) and the table/SQL port implement ONE model. This appointment is the one our landscape is missing.</a:t>
            </a:r>
            <a:endParaRPr lang="en-US" sz="1000" dirty="0"/>
          </a:p>
        </p:txBody>
      </p:sp>
      <p:sp>
        <p:nvSpPr>
          <p:cNvPr id="10" name="Shape 8"/>
          <p:cNvSpPr/>
          <p:nvPr/>
        </p:nvSpPr>
        <p:spPr>
          <a:xfrm>
            <a:off x="502920" y="3154680"/>
            <a:ext cx="5440680" cy="1783080"/>
          </a:xfrm>
          <a:prstGeom prst="roundRect">
            <a:avLst>
              <a:gd name="adj" fmla="val 2564"/>
            </a:avLst>
          </a:prstGeom>
          <a:solidFill>
            <a:srgbClr val="F5F7F5"/>
          </a:solidFill>
          <a:ln w="13970">
            <a:solidFill>
              <a:srgbClr val="D8E0DA"/>
            </a:solidFill>
            <a:prstDash val="solid"/>
          </a:ln>
        </p:spPr>
        <p:txBody>
          <a:bodyPr/>
          <a:lstStyle/>
          <a:p>
            <a:endParaRPr lang="en-US"/>
          </a:p>
        </p:txBody>
      </p:sp>
      <p:sp>
        <p:nvSpPr>
          <p:cNvPr id="11" name="Text 9"/>
          <p:cNvSpPr/>
          <p:nvPr/>
        </p:nvSpPr>
        <p:spPr>
          <a:xfrm>
            <a:off x="685800" y="3282696"/>
            <a:ext cx="5074920" cy="320040"/>
          </a:xfrm>
          <a:prstGeom prst="rect">
            <a:avLst/>
          </a:prstGeom>
          <a:noFill/>
          <a:ln/>
        </p:spPr>
        <p:txBody>
          <a:bodyPr wrap="square" lIns="0" tIns="0" rIns="0" bIns="0" rtlCol="0" anchor="t"/>
          <a:lstStyle/>
          <a:p>
            <a:pPr marL="0" indent="0">
              <a:lnSpc>
                <a:spcPct val="106000"/>
              </a:lnSpc>
              <a:buNone/>
            </a:pPr>
            <a:r>
              <a:rPr lang="en-US" sz="1300" b="1" dirty="0">
                <a:solidFill>
                  <a:srgbClr val="0E3D29"/>
                </a:solidFill>
                <a:latin typeface="Calibri" pitchFamily="34" charset="0"/>
                <a:ea typeface="Calibri" pitchFamily="34" charset="-122"/>
                <a:cs typeface="Calibri" pitchFamily="34" charset="-120"/>
              </a:rPr>
              <a:t>3 · Run the governance machinery</a:t>
            </a:r>
            <a:endParaRPr lang="en-US" sz="1300" dirty="0"/>
          </a:p>
        </p:txBody>
      </p:sp>
      <p:sp>
        <p:nvSpPr>
          <p:cNvPr id="12" name="Text 10"/>
          <p:cNvSpPr/>
          <p:nvPr/>
        </p:nvSpPr>
        <p:spPr>
          <a:xfrm>
            <a:off x="685800" y="3657600"/>
            <a:ext cx="5074920" cy="1188720"/>
          </a:xfrm>
          <a:prstGeom prst="rect">
            <a:avLst/>
          </a:prstGeom>
          <a:noFill/>
          <a:ln/>
        </p:spPr>
        <p:txBody>
          <a:bodyPr wrap="square" lIns="0" tIns="0" rIns="0" bIns="0" rtlCol="0" anchor="t"/>
          <a:lstStyle/>
          <a:p>
            <a:pPr marL="0" indent="0">
              <a:lnSpc>
                <a:spcPct val="106000"/>
              </a:lnSpc>
              <a:buNone/>
            </a:pPr>
            <a:r>
              <a:rPr lang="en-US" sz="1000" dirty="0">
                <a:solidFill>
                  <a:srgbClr val="262B27"/>
                </a:solidFill>
                <a:latin typeface="Calibri" pitchFamily="34" charset="0"/>
                <a:ea typeface="Calibri" pitchFamily="34" charset="-122"/>
                <a:cs typeface="Calibri" pitchFamily="34" charset="-120"/>
              </a:rPr>
              <a:t>Standards, conformance tests in CI, certification that a product meets its contract. The referee: enforce the rules — do not play every position.</a:t>
            </a:r>
            <a:endParaRPr lang="en-US" sz="1000" dirty="0"/>
          </a:p>
        </p:txBody>
      </p:sp>
      <p:sp>
        <p:nvSpPr>
          <p:cNvPr id="13" name="Shape 11"/>
          <p:cNvSpPr/>
          <p:nvPr/>
        </p:nvSpPr>
        <p:spPr>
          <a:xfrm>
            <a:off x="6126480" y="3154680"/>
            <a:ext cx="5440680" cy="1783080"/>
          </a:xfrm>
          <a:prstGeom prst="roundRect">
            <a:avLst>
              <a:gd name="adj" fmla="val 2564"/>
            </a:avLst>
          </a:prstGeom>
          <a:solidFill>
            <a:srgbClr val="F5F7F5"/>
          </a:solidFill>
          <a:ln w="13970">
            <a:solidFill>
              <a:srgbClr val="D8E0DA"/>
            </a:solidFill>
            <a:prstDash val="solid"/>
          </a:ln>
        </p:spPr>
        <p:txBody>
          <a:bodyPr/>
          <a:lstStyle/>
          <a:p>
            <a:endParaRPr lang="en-US"/>
          </a:p>
        </p:txBody>
      </p:sp>
      <p:sp>
        <p:nvSpPr>
          <p:cNvPr id="14" name="Text 12"/>
          <p:cNvSpPr/>
          <p:nvPr/>
        </p:nvSpPr>
        <p:spPr>
          <a:xfrm>
            <a:off x="6309360" y="3282696"/>
            <a:ext cx="5074920" cy="320040"/>
          </a:xfrm>
          <a:prstGeom prst="rect">
            <a:avLst/>
          </a:prstGeom>
          <a:noFill/>
          <a:ln/>
        </p:spPr>
        <p:txBody>
          <a:bodyPr wrap="square" lIns="0" tIns="0" rIns="0" bIns="0" rtlCol="0" anchor="t"/>
          <a:lstStyle/>
          <a:p>
            <a:pPr marL="0" indent="0">
              <a:lnSpc>
                <a:spcPct val="106000"/>
              </a:lnSpc>
              <a:buNone/>
            </a:pPr>
            <a:r>
              <a:rPr lang="en-US" sz="1300" b="1" dirty="0">
                <a:solidFill>
                  <a:srgbClr val="0E3D29"/>
                </a:solidFill>
                <a:latin typeface="Calibri" pitchFamily="34" charset="0"/>
                <a:ea typeface="Calibri" pitchFamily="34" charset="-122"/>
                <a:cs typeface="Calibri" pitchFamily="34" charset="-120"/>
              </a:rPr>
              <a:t>4 · Build for domains that cannot</a:t>
            </a:r>
            <a:endParaRPr lang="en-US" sz="1300" dirty="0"/>
          </a:p>
        </p:txBody>
      </p:sp>
      <p:sp>
        <p:nvSpPr>
          <p:cNvPr id="15" name="Text 13"/>
          <p:cNvSpPr/>
          <p:nvPr/>
        </p:nvSpPr>
        <p:spPr>
          <a:xfrm>
            <a:off x="6309360" y="3657600"/>
            <a:ext cx="5074920" cy="1188720"/>
          </a:xfrm>
          <a:prstGeom prst="rect">
            <a:avLst/>
          </a:prstGeom>
          <a:noFill/>
          <a:ln/>
        </p:spPr>
        <p:txBody>
          <a:bodyPr wrap="square" lIns="0" tIns="0" rIns="0" bIns="0" rtlCol="0" anchor="t"/>
          <a:lstStyle/>
          <a:p>
            <a:pPr marL="0" indent="0">
              <a:lnSpc>
                <a:spcPct val="106000"/>
              </a:lnSpc>
              <a:buNone/>
            </a:pPr>
            <a:r>
              <a:rPr lang="en-US" sz="1000" dirty="0">
                <a:solidFill>
                  <a:srgbClr val="262B27"/>
                </a:solidFill>
                <a:latin typeface="Calibri" pitchFamily="34" charset="0"/>
                <a:ea typeface="Calibri" pitchFamily="34" charset="-122"/>
                <a:cs typeface="Calibri" pitchFamily="34" charset="-120"/>
              </a:rPr>
              <a:t>The enablement role: construct source-aligned products for vendor systems and desks with no data capability — WITH a named business owner on each. Central builds; it never silently owns.</a:t>
            </a:r>
            <a:endParaRPr lang="en-US" sz="1000" dirty="0"/>
          </a:p>
        </p:txBody>
      </p:sp>
      <p:sp>
        <p:nvSpPr>
          <p:cNvPr id="16" name="Shape 14"/>
          <p:cNvSpPr/>
          <p:nvPr/>
        </p:nvSpPr>
        <p:spPr>
          <a:xfrm>
            <a:off x="502920" y="5212080"/>
            <a:ext cx="11185855" cy="777240"/>
          </a:xfrm>
          <a:prstGeom prst="roundRect">
            <a:avLst>
              <a:gd name="adj" fmla="val 5882"/>
            </a:avLst>
          </a:prstGeom>
          <a:solidFill>
            <a:srgbClr val="F6EFE0"/>
          </a:solidFill>
          <a:ln w="13970">
            <a:solidFill>
              <a:srgbClr val="9C6B16"/>
            </a:solidFill>
            <a:prstDash val="solid"/>
          </a:ln>
        </p:spPr>
        <p:txBody>
          <a:bodyPr/>
          <a:lstStyle/>
          <a:p>
            <a:endParaRPr lang="en-US"/>
          </a:p>
        </p:txBody>
      </p:sp>
      <p:sp>
        <p:nvSpPr>
          <p:cNvPr id="17" name="Text 15"/>
          <p:cNvSpPr/>
          <p:nvPr/>
        </p:nvSpPr>
        <p:spPr>
          <a:xfrm>
            <a:off x="731520" y="5303520"/>
            <a:ext cx="10972800" cy="594360"/>
          </a:xfrm>
          <a:prstGeom prst="rect">
            <a:avLst/>
          </a:prstGeom>
          <a:noFill/>
          <a:ln/>
        </p:spPr>
        <p:txBody>
          <a:bodyPr wrap="square" lIns="0" tIns="0" rIns="0" bIns="0" rtlCol="0" anchor="t"/>
          <a:lstStyle/>
          <a:p>
            <a:pPr marL="0" indent="0">
              <a:lnSpc>
                <a:spcPct val="106000"/>
              </a:lnSpc>
              <a:buNone/>
            </a:pPr>
            <a:r>
              <a:rPr lang="en-US" sz="1200" b="1" dirty="0">
                <a:solidFill>
                  <a:srgbClr val="9C6B16"/>
                </a:solidFill>
                <a:latin typeface="Calibri" pitchFamily="34" charset="0"/>
                <a:ea typeface="Calibri" pitchFamily="34" charset="-122"/>
                <a:cs typeface="Calibri" pitchFamily="34" charset="-120"/>
              </a:rPr>
              <a:t>THE FORBIDDEN JOB:  </a:t>
            </a:r>
            <a:r>
              <a:rPr lang="en-US" sz="1050" dirty="0">
                <a:solidFill>
                  <a:srgbClr val="262B27"/>
                </a:solidFill>
                <a:latin typeface="Calibri" pitchFamily="34" charset="0"/>
                <a:ea typeface="Calibri" pitchFamily="34" charset="-122"/>
                <a:cs typeface="Calibri" pitchFamily="34" charset="-120"/>
              </a:rPr>
              <a:t>the gatekeeper through whom all data and all meaning must pass — the classic central-warehouse failure, and (in its unowned form) exactly what an ungoverned services middleman drifts into. Central teams own the shared and enable the weak; they referee meaning; they do not gatekeep data.</a:t>
            </a:r>
            <a:endParaRPr lang="en-US" sz="1050" dirty="0"/>
          </a:p>
        </p:txBody>
      </p:sp>
      <p:sp>
        <p:nvSpPr>
          <p:cNvPr id="18" name="Text 16"/>
          <p:cNvSpPr/>
          <p:nvPr/>
        </p:nvSpPr>
        <p:spPr>
          <a:xfrm>
            <a:off x="502920" y="6510528"/>
            <a:ext cx="5486400" cy="237744"/>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19" name="Text 17"/>
          <p:cNvSpPr/>
          <p:nvPr/>
        </p:nvSpPr>
        <p:spPr>
          <a:xfrm>
            <a:off x="10180015" y="6510528"/>
            <a:ext cx="1554480" cy="237744"/>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   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0515600" cy="274320"/>
          </a:xfrm>
          <a:prstGeom prst="rect">
            <a:avLst/>
          </a:prstGeom>
          <a:noFill/>
          <a:ln/>
        </p:spPr>
        <p:txBody>
          <a:bodyPr wrap="square" lIns="0" tIns="0" rIns="0" bIns="0" rtlCol="0" anchor="ctr"/>
          <a:lstStyle/>
          <a:p>
            <a:pPr marL="0" indent="0">
              <a:buNone/>
            </a:pPr>
            <a:r>
              <a:rPr lang="en-US" sz="1050" b="1" kern="0" spc="200" dirty="0">
                <a:solidFill>
                  <a:srgbClr val="1F7A47"/>
                </a:solidFill>
                <a:latin typeface="Calibri" pitchFamily="34" charset="0"/>
                <a:ea typeface="Calibri" pitchFamily="34" charset="-122"/>
                <a:cs typeface="Calibri" pitchFamily="34" charset="-120"/>
              </a:rPr>
              <a:t>WHO DOES WHAT</a:t>
            </a:r>
            <a:endParaRPr lang="en-US" sz="1050" dirty="0"/>
          </a:p>
        </p:txBody>
      </p:sp>
      <p:sp>
        <p:nvSpPr>
          <p:cNvPr id="3" name="Text 1"/>
          <p:cNvSpPr/>
          <p:nvPr/>
        </p:nvSpPr>
        <p:spPr>
          <a:xfrm>
            <a:off x="502920" y="530352"/>
            <a:ext cx="11338560" cy="457200"/>
          </a:xfrm>
          <a:prstGeom prst="rect">
            <a:avLst/>
          </a:prstGeom>
          <a:noFill/>
          <a:ln/>
        </p:spPr>
        <p:txBody>
          <a:bodyPr wrap="square" lIns="0" tIns="0" rIns="0" bIns="0" rtlCol="0" anchor="ctr"/>
          <a:lstStyle/>
          <a:p>
            <a:pPr marL="0" indent="0">
              <a:buNone/>
            </a:pPr>
            <a:r>
              <a:rPr lang="en-US" sz="2200" b="1" dirty="0">
                <a:solidFill>
                  <a:srgbClr val="0E3D29"/>
                </a:solidFill>
                <a:latin typeface="Calibri" pitchFamily="34" charset="0"/>
                <a:ea typeface="Calibri" pitchFamily="34" charset="-122"/>
                <a:cs typeface="Calibri" pitchFamily="34" charset="-120"/>
              </a:rPr>
              <a:t>The Operating Map — Platform, Governance, Shared Data, Domains</a:t>
            </a:r>
            <a:endParaRPr lang="en-US" sz="2200" dirty="0"/>
          </a:p>
        </p:txBody>
      </p:sp>
      <p:sp>
        <p:nvSpPr>
          <p:cNvPr id="4" name="Shape 2"/>
          <p:cNvSpPr/>
          <p:nvPr/>
        </p:nvSpPr>
        <p:spPr>
          <a:xfrm>
            <a:off x="502920" y="1188720"/>
            <a:ext cx="3611880" cy="2377440"/>
          </a:xfrm>
          <a:prstGeom prst="roundRect">
            <a:avLst>
              <a:gd name="adj" fmla="val 1923"/>
            </a:avLst>
          </a:prstGeom>
          <a:solidFill>
            <a:srgbClr val="E9EEF4"/>
          </a:solidFill>
          <a:ln w="13970">
            <a:solidFill>
              <a:srgbClr val="2E4A66"/>
            </a:solidFill>
            <a:prstDash val="solid"/>
          </a:ln>
        </p:spPr>
        <p:txBody>
          <a:bodyPr/>
          <a:lstStyle/>
          <a:p>
            <a:endParaRPr lang="en-US"/>
          </a:p>
        </p:txBody>
      </p:sp>
      <p:sp>
        <p:nvSpPr>
          <p:cNvPr id="5" name="Text 3"/>
          <p:cNvSpPr/>
          <p:nvPr/>
        </p:nvSpPr>
        <p:spPr>
          <a:xfrm>
            <a:off x="667512" y="1298448"/>
            <a:ext cx="3291840" cy="320040"/>
          </a:xfrm>
          <a:prstGeom prst="rect">
            <a:avLst/>
          </a:prstGeom>
          <a:noFill/>
          <a:ln/>
        </p:spPr>
        <p:txBody>
          <a:bodyPr wrap="square" lIns="0" tIns="0" rIns="0" bIns="0" rtlCol="0" anchor="t"/>
          <a:lstStyle/>
          <a:p>
            <a:pPr marL="0" indent="0">
              <a:lnSpc>
                <a:spcPct val="106000"/>
              </a:lnSpc>
              <a:buNone/>
            </a:pPr>
            <a:r>
              <a:rPr lang="en-US" sz="1250" b="1" dirty="0">
                <a:solidFill>
                  <a:srgbClr val="2E4A66"/>
                </a:solidFill>
                <a:latin typeface="Calibri" pitchFamily="34" charset="0"/>
                <a:ea typeface="Calibri" pitchFamily="34" charset="-122"/>
                <a:cs typeface="Calibri" pitchFamily="34" charset="-120"/>
              </a:rPr>
              <a:t>D&amp;A PLATFORM OWNER</a:t>
            </a:r>
            <a:endParaRPr lang="en-US" sz="1250" dirty="0"/>
          </a:p>
        </p:txBody>
      </p:sp>
      <p:sp>
        <p:nvSpPr>
          <p:cNvPr id="6" name="Text 4"/>
          <p:cNvSpPr/>
          <p:nvPr/>
        </p:nvSpPr>
        <p:spPr>
          <a:xfrm>
            <a:off x="667512" y="1664208"/>
            <a:ext cx="3291840" cy="182880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Runs the SELF-SERVE PLATFORM: Databricks / TDVIP — catalog, compute, pipelines-as-a-service, the ports (batch tables, services).</a:t>
            </a:r>
            <a:endParaRPr lang="en-US" sz="950" dirty="0"/>
          </a:p>
          <a:p>
            <a:pPr marL="0" indent="0">
              <a:lnSpc>
                <a:spcPct val="106000"/>
              </a:lnSpc>
              <a:buNone/>
            </a:pPr>
            <a:endParaRPr lang="en-US" sz="950" dirty="0"/>
          </a:p>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Success = domains and central alike build on it without tickets.</a:t>
            </a:r>
            <a:endParaRPr lang="en-US" sz="950" dirty="0"/>
          </a:p>
        </p:txBody>
      </p:sp>
      <p:sp>
        <p:nvSpPr>
          <p:cNvPr id="7" name="Shape 5"/>
          <p:cNvSpPr/>
          <p:nvPr/>
        </p:nvSpPr>
        <p:spPr>
          <a:xfrm>
            <a:off x="4270248" y="1188720"/>
            <a:ext cx="3611880" cy="2377440"/>
          </a:xfrm>
          <a:prstGeom prst="roundRect">
            <a:avLst>
              <a:gd name="adj" fmla="val 1923"/>
            </a:avLst>
          </a:prstGeom>
          <a:solidFill>
            <a:srgbClr val="EAF3EC"/>
          </a:solidFill>
          <a:ln w="13970">
            <a:solidFill>
              <a:srgbClr val="1F7A47"/>
            </a:solidFill>
            <a:prstDash val="solid"/>
          </a:ln>
        </p:spPr>
        <p:txBody>
          <a:bodyPr/>
          <a:lstStyle/>
          <a:p>
            <a:endParaRPr lang="en-US"/>
          </a:p>
        </p:txBody>
      </p:sp>
      <p:sp>
        <p:nvSpPr>
          <p:cNvPr id="8" name="Text 6"/>
          <p:cNvSpPr/>
          <p:nvPr/>
        </p:nvSpPr>
        <p:spPr>
          <a:xfrm>
            <a:off x="4434840" y="1298448"/>
            <a:ext cx="3291840" cy="320040"/>
          </a:xfrm>
          <a:prstGeom prst="rect">
            <a:avLst/>
          </a:prstGeom>
          <a:noFill/>
          <a:ln/>
        </p:spPr>
        <p:txBody>
          <a:bodyPr wrap="square" lIns="0" tIns="0" rIns="0" bIns="0" rtlCol="0" anchor="t"/>
          <a:lstStyle/>
          <a:p>
            <a:pPr marL="0" indent="0">
              <a:lnSpc>
                <a:spcPct val="106000"/>
              </a:lnSpc>
              <a:buNone/>
            </a:pPr>
            <a:r>
              <a:rPr lang="en-US" sz="1250" b="1" dirty="0">
                <a:solidFill>
                  <a:srgbClr val="1F7A47"/>
                </a:solidFill>
                <a:latin typeface="Calibri" pitchFamily="34" charset="0"/>
                <a:ea typeface="Calibri" pitchFamily="34" charset="-122"/>
                <a:cs typeface="Calibri" pitchFamily="34" charset="-120"/>
              </a:rPr>
              <a:t>CDO / AI LEAD</a:t>
            </a:r>
            <a:endParaRPr lang="en-US" sz="1250" dirty="0"/>
          </a:p>
        </p:txBody>
      </p:sp>
      <p:sp>
        <p:nvSpPr>
          <p:cNvPr id="9" name="Text 7"/>
          <p:cNvSpPr/>
          <p:nvPr/>
        </p:nvSpPr>
        <p:spPr>
          <a:xfrm>
            <a:off x="4434840" y="1664208"/>
            <a:ext cx="3291840" cy="182880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Runs GOVERNANCE + AI: the standards, conformance testing in CI, certification, tags &amp; access policy — and the AI environment that DEPENDS on those declarations.</a:t>
            </a:r>
            <a:endParaRPr lang="en-US" sz="950" dirty="0"/>
          </a:p>
          <a:p>
            <a:pPr marL="0" indent="0">
              <a:lnSpc>
                <a:spcPct val="106000"/>
              </a:lnSpc>
              <a:buNone/>
            </a:pPr>
            <a:endParaRPr lang="en-US" sz="950" dirty="0"/>
          </a:p>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Success = AI answers are true because meaning is declared; drift is detected, not discovered.</a:t>
            </a:r>
            <a:endParaRPr lang="en-US" sz="950" dirty="0"/>
          </a:p>
        </p:txBody>
      </p:sp>
      <p:sp>
        <p:nvSpPr>
          <p:cNvPr id="10" name="Shape 8"/>
          <p:cNvSpPr/>
          <p:nvPr/>
        </p:nvSpPr>
        <p:spPr>
          <a:xfrm>
            <a:off x="8037576" y="1188720"/>
            <a:ext cx="3611880" cy="2377440"/>
          </a:xfrm>
          <a:prstGeom prst="roundRect">
            <a:avLst>
              <a:gd name="adj" fmla="val 1923"/>
            </a:avLst>
          </a:prstGeom>
          <a:solidFill>
            <a:srgbClr val="F4EDDD"/>
          </a:solidFill>
          <a:ln w="13970">
            <a:solidFill>
              <a:srgbClr val="8A6A2F"/>
            </a:solidFill>
            <a:prstDash val="solid"/>
          </a:ln>
        </p:spPr>
        <p:txBody>
          <a:bodyPr/>
          <a:lstStyle/>
          <a:p>
            <a:endParaRPr lang="en-US"/>
          </a:p>
        </p:txBody>
      </p:sp>
      <p:sp>
        <p:nvSpPr>
          <p:cNvPr id="11" name="Text 9"/>
          <p:cNvSpPr/>
          <p:nvPr/>
        </p:nvSpPr>
        <p:spPr>
          <a:xfrm>
            <a:off x="8202168" y="1298448"/>
            <a:ext cx="3291840" cy="320040"/>
          </a:xfrm>
          <a:prstGeom prst="rect">
            <a:avLst/>
          </a:prstGeom>
          <a:noFill/>
          <a:ln/>
        </p:spPr>
        <p:txBody>
          <a:bodyPr wrap="square" lIns="0" tIns="0" rIns="0" bIns="0" rtlCol="0" anchor="t"/>
          <a:lstStyle/>
          <a:p>
            <a:pPr marL="0" indent="0">
              <a:lnSpc>
                <a:spcPct val="106000"/>
              </a:lnSpc>
              <a:buNone/>
            </a:pPr>
            <a:r>
              <a:rPr lang="en-US" sz="1250" b="1" dirty="0">
                <a:solidFill>
                  <a:srgbClr val="8A6A2F"/>
                </a:solidFill>
                <a:latin typeface="Calibri" pitchFamily="34" charset="0"/>
                <a:ea typeface="Calibri" pitchFamily="34" charset="-122"/>
                <a:cs typeface="Calibri" pitchFamily="34" charset="-120"/>
              </a:rPr>
              <a:t>CENTRAL DATA TEAM</a:t>
            </a:r>
            <a:endParaRPr lang="en-US" sz="1250" dirty="0"/>
          </a:p>
        </p:txBody>
      </p:sp>
      <p:sp>
        <p:nvSpPr>
          <p:cNvPr id="12" name="Text 10"/>
          <p:cNvSpPr/>
          <p:nvPr/>
        </p:nvSpPr>
        <p:spPr>
          <a:xfrm>
            <a:off x="8202168" y="1664208"/>
            <a:ext cx="3291840" cy="1828800"/>
          </a:xfrm>
          <a:prstGeom prst="rect">
            <a:avLst/>
          </a:prstGeom>
          <a:noFill/>
          <a:ln/>
        </p:spPr>
        <p:txBody>
          <a:bodyPr wrap="square" lIns="0" tIns="0" rIns="0" bIns="0" rtlCol="0" anchor="t"/>
          <a:lstStyle/>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Owns the SHARED: aggregate products + cross-domain reference + canonical definitions; builds for domains that cannot (named owners attached).</a:t>
            </a:r>
            <a:endParaRPr lang="en-US" sz="950" dirty="0"/>
          </a:p>
          <a:p>
            <a:pPr marL="0" indent="0">
              <a:lnSpc>
                <a:spcPct val="106000"/>
              </a:lnSpc>
              <a:buNone/>
            </a:pPr>
            <a:endParaRPr lang="en-US" sz="950" dirty="0"/>
          </a:p>
          <a:p>
            <a:pPr marL="0" indent="0">
              <a:lnSpc>
                <a:spcPct val="106000"/>
              </a:lnSpc>
              <a:buNone/>
            </a:pPr>
            <a:r>
              <a:rPr lang="en-US" sz="950" dirty="0">
                <a:solidFill>
                  <a:srgbClr val="262B27"/>
                </a:solidFill>
                <a:latin typeface="Calibri" pitchFamily="34" charset="0"/>
                <a:ea typeface="Calibri" pitchFamily="34" charset="-122"/>
                <a:cs typeface="Calibri" pitchFamily="34" charset="-120"/>
              </a:rPr>
              <a:t>Success = consolidation done once; one meaning, many ports.</a:t>
            </a:r>
            <a:endParaRPr lang="en-US" sz="950" dirty="0"/>
          </a:p>
        </p:txBody>
      </p:sp>
      <p:sp>
        <p:nvSpPr>
          <p:cNvPr id="13" name="Shape 11"/>
          <p:cNvSpPr/>
          <p:nvPr/>
        </p:nvSpPr>
        <p:spPr>
          <a:xfrm>
            <a:off x="502920" y="3749040"/>
            <a:ext cx="11185855" cy="1051560"/>
          </a:xfrm>
          <a:prstGeom prst="roundRect">
            <a:avLst>
              <a:gd name="adj" fmla="val 4348"/>
            </a:avLst>
          </a:prstGeom>
          <a:solidFill>
            <a:srgbClr val="F5F7F5"/>
          </a:solidFill>
          <a:ln w="13970">
            <a:solidFill>
              <a:srgbClr val="D8E0DA"/>
            </a:solidFill>
            <a:prstDash val="solid"/>
          </a:ln>
        </p:spPr>
        <p:txBody>
          <a:bodyPr/>
          <a:lstStyle/>
          <a:p>
            <a:endParaRPr lang="en-US"/>
          </a:p>
        </p:txBody>
      </p:sp>
      <p:sp>
        <p:nvSpPr>
          <p:cNvPr id="14" name="Text 12"/>
          <p:cNvSpPr/>
          <p:nvPr/>
        </p:nvSpPr>
        <p:spPr>
          <a:xfrm>
            <a:off x="685800" y="3840480"/>
            <a:ext cx="10972800" cy="868680"/>
          </a:xfrm>
          <a:prstGeom prst="rect">
            <a:avLst/>
          </a:prstGeom>
          <a:noFill/>
          <a:ln/>
        </p:spPr>
        <p:txBody>
          <a:bodyPr wrap="square" lIns="0" tIns="0" rIns="0" bIns="0" rtlCol="0" anchor="t"/>
          <a:lstStyle/>
          <a:p>
            <a:pPr marL="0" indent="0">
              <a:lnSpc>
                <a:spcPct val="106000"/>
              </a:lnSpc>
              <a:buNone/>
            </a:pPr>
            <a:r>
              <a:rPr lang="en-US" sz="1100" b="1" dirty="0">
                <a:solidFill>
                  <a:srgbClr val="0E3D29"/>
                </a:solidFill>
                <a:latin typeface="Calibri" pitchFamily="34" charset="0"/>
                <a:ea typeface="Calibri" pitchFamily="34" charset="-122"/>
                <a:cs typeface="Calibri" pitchFamily="34" charset="-120"/>
              </a:rPr>
              <a:t>THE DOMAINS (Risk, Finance, Treasury …):  </a:t>
            </a:r>
            <a:r>
              <a:rPr lang="en-US" sz="1000" dirty="0">
                <a:solidFill>
                  <a:srgbClr val="262B27"/>
                </a:solidFill>
                <a:latin typeface="Calibri" pitchFamily="34" charset="0"/>
                <a:ea typeface="Calibri" pitchFamily="34" charset="-122"/>
                <a:cs typeface="Calibri" pitchFamily="34" charset="-120"/>
              </a:rPr>
              <a:t>own their subdomains’ meaning and products, map once to the shared definitions at their boundary, and publish to the platform under the CDO’s standards. Risk’s boundary: the Risk-conformed entities — one mapping for ~20 applications.</a:t>
            </a:r>
            <a:endParaRPr lang="en-US" sz="1050" dirty="0"/>
          </a:p>
        </p:txBody>
      </p:sp>
      <p:sp>
        <p:nvSpPr>
          <p:cNvPr id="15" name="Shape 13"/>
          <p:cNvSpPr/>
          <p:nvPr/>
        </p:nvSpPr>
        <p:spPr>
          <a:xfrm>
            <a:off x="502920" y="4983480"/>
            <a:ext cx="11185855" cy="1005840"/>
          </a:xfrm>
          <a:prstGeom prst="roundRect">
            <a:avLst>
              <a:gd name="adj" fmla="val 4545"/>
            </a:avLst>
          </a:prstGeom>
          <a:solidFill>
            <a:srgbClr val="0E3D29"/>
          </a:solidFill>
          <a:ln w="13970">
            <a:solidFill>
              <a:srgbClr val="0E3D29"/>
            </a:solidFill>
            <a:prstDash val="solid"/>
          </a:ln>
        </p:spPr>
        <p:txBody>
          <a:bodyPr/>
          <a:lstStyle/>
          <a:p>
            <a:endParaRPr lang="en-US"/>
          </a:p>
        </p:txBody>
      </p:sp>
      <p:sp>
        <p:nvSpPr>
          <p:cNvPr id="16" name="Text 14"/>
          <p:cNvSpPr/>
          <p:nvPr/>
        </p:nvSpPr>
        <p:spPr>
          <a:xfrm>
            <a:off x="731520" y="5074920"/>
            <a:ext cx="11155680" cy="868680"/>
          </a:xfrm>
          <a:prstGeom prst="rect">
            <a:avLst/>
          </a:prstGeom>
          <a:noFill/>
          <a:ln/>
        </p:spPr>
        <p:txBody>
          <a:bodyPr wrap="square" lIns="0" tIns="0" rIns="0" bIns="0" rtlCol="0" anchor="t"/>
          <a:lstStyle/>
          <a:p>
            <a:pPr marL="0" indent="0">
              <a:lnSpc>
                <a:spcPct val="106000"/>
              </a:lnSpc>
              <a:buNone/>
            </a:pPr>
            <a:r>
              <a:rPr lang="en-US" sz="1150" b="1" dirty="0">
                <a:solidFill>
                  <a:srgbClr val="FFFFFF"/>
                </a:solidFill>
                <a:latin typeface="Calibri" pitchFamily="34" charset="0"/>
                <a:ea typeface="Calibri" pitchFamily="34" charset="-122"/>
                <a:cs typeface="Calibri" pitchFamily="34" charset="-120"/>
              </a:rPr>
              <a:t>WORKED EXAMPLE — who owns collateral?  </a:t>
            </a:r>
            <a:r>
              <a:rPr lang="en-US" sz="1000" dirty="0">
                <a:solidFill>
                  <a:srgbClr val="C9DBD0"/>
                </a:solidFill>
                <a:latin typeface="Calibri" pitchFamily="34" charset="0"/>
                <a:ea typeface="Calibri" pitchFamily="34" charset="-122"/>
                <a:cs typeface="Calibri" pitchFamily="34" charset="-120"/>
              </a:rPr>
              <a:t>Four desks own collateral OPERATIONS. Four systems own collateral DATA (source-aligned products). Nobody was named to own what collateral MEANS across them — the subdomain data owner role. The model exists; the appointment is the gap. </a:t>
            </a:r>
            <a:r>
              <a:rPr lang="en-US" sz="1050" b="1" dirty="0">
                <a:solidFill>
                  <a:srgbClr val="FFFFFF"/>
                </a:solidFill>
                <a:latin typeface="Calibri" pitchFamily="34" charset="0"/>
                <a:ea typeface="Calibri" pitchFamily="34" charset="-122"/>
                <a:cs typeface="Calibri" pitchFamily="34" charset="-120"/>
              </a:rPr>
              <a:t>Naming owners of meaning — firm-wide and per subdomain — is a decision, not a project.</a:t>
            </a:r>
            <a:endParaRPr lang="en-US" sz="1050" dirty="0"/>
          </a:p>
        </p:txBody>
      </p:sp>
      <p:sp>
        <p:nvSpPr>
          <p:cNvPr id="17" name="Text 15"/>
          <p:cNvSpPr/>
          <p:nvPr/>
        </p:nvSpPr>
        <p:spPr>
          <a:xfrm>
            <a:off x="502920" y="6510528"/>
            <a:ext cx="5486400" cy="237744"/>
          </a:xfrm>
          <a:prstGeom prst="rect">
            <a:avLst/>
          </a:prstGeom>
          <a:noFill/>
          <a:ln/>
        </p:spPr>
        <p:txBody>
          <a:bodyPr wrap="square" lIns="0" tIns="0" rIns="0" bIns="0" rtlCol="0" anchor="ctr"/>
          <a:lstStyle/>
          <a:p>
            <a:pPr marL="0" indent="0">
              <a:buNone/>
            </a:pPr>
            <a:r>
              <a:rPr lang="en-US" sz="900" dirty="0">
                <a:solidFill>
                  <a:srgbClr val="6B7670"/>
                </a:solidFill>
                <a:latin typeface="Calibri" pitchFamily="34" charset="0"/>
                <a:ea typeface="Calibri" pitchFamily="34" charset="-122"/>
                <a:cs typeface="Calibri" pitchFamily="34" charset="-120"/>
              </a:rPr>
              <a:t>TD Securities · Risk Data Platform</a:t>
            </a:r>
            <a:endParaRPr lang="en-US" sz="900" dirty="0"/>
          </a:p>
        </p:txBody>
      </p:sp>
      <p:sp>
        <p:nvSpPr>
          <p:cNvPr id="18" name="Text 16"/>
          <p:cNvSpPr/>
          <p:nvPr/>
        </p:nvSpPr>
        <p:spPr>
          <a:xfrm>
            <a:off x="10180015" y="6510528"/>
            <a:ext cx="1554480" cy="237744"/>
          </a:xfrm>
          <a:prstGeom prst="rect">
            <a:avLst/>
          </a:prstGeom>
          <a:noFill/>
          <a:ln/>
        </p:spPr>
        <p:txBody>
          <a:bodyPr wrap="square" lIns="0" tIns="0" rIns="0" bIns="0" rtlCol="0" anchor="ctr"/>
          <a:lstStyle/>
          <a:p>
            <a:pPr marL="0" indent="0" algn="r">
              <a:buNone/>
            </a:pPr>
            <a:r>
              <a:rPr lang="en-US" sz="900" dirty="0">
                <a:solidFill>
                  <a:srgbClr val="6B7670"/>
                </a:solidFill>
                <a:latin typeface="Calibri" pitchFamily="34" charset="0"/>
                <a:ea typeface="Calibri" pitchFamily="34" charset="-122"/>
                <a:cs typeface="Calibri" pitchFamily="34" charset="-120"/>
              </a:rPr>
              <a:t>Internal   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3195</Words>
  <Application>Microsoft Macintosh PowerPoint</Application>
  <PresentationFormat>Widescreen</PresentationFormat>
  <Paragraphs>148</Paragraphs>
  <Slides>8</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Reena Cheema</cp:lastModifiedBy>
  <cp:revision>3</cp:revision>
  <dcterms:created xsi:type="dcterms:W3CDTF">2026-07-29T18:23:40Z</dcterms:created>
  <dcterms:modified xsi:type="dcterms:W3CDTF">2026-08-10T13:33:11Z</dcterms:modified>
</cp:coreProperties>
</file>