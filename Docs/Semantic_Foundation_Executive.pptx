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FOUNDATION FOR BI — TARGET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pPr indent="0" marL="0">
              <a:buNone/>
            </a:pPr>
            <a:r>
              <a:rPr lang="en-US" sz="28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pPr indent="0" marL="0">
              <a:buNone/>
            </a:pPr>
            <a:r>
              <a:rPr lang="en-US" sz="28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feed into the BI tool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789920" y="2743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200" i="1" dirty="0">
                <a:solidFill>
                  <a:srgbClr val="7F8C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1A2B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32918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B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44168"/>
            <a:ext cx="1188720" cy="201168"/>
          </a:xfrm>
          <a:prstGeom prst="rect">
            <a:avLst/>
          </a:prstGeom>
          <a:solidFill>
            <a:srgbClr val="1A2B22"/>
          </a:solidFill>
          <a:ln w="9525">
            <a:solidFill>
              <a:srgbClr val="1A2B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441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DIAGRAM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017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by: data 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&amp; cardinality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103120"/>
            <a:ext cx="1005840" cy="274320"/>
          </a:xfrm>
          <a:prstGeom prst="rect">
            <a:avLst/>
          </a:prstGeom>
          <a:solidFill>
            <a:srgbClr val="E8F1E8"/>
          </a:solidFill>
          <a:ln w="12700">
            <a:solidFill>
              <a:srgbClr val="1A2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2606040"/>
            <a:ext cx="914400" cy="274320"/>
          </a:xfrm>
          <a:prstGeom prst="rect">
            <a:avLst/>
          </a:prstGeom>
          <a:solidFill>
            <a:srgbClr val="E8F1E8"/>
          </a:solidFill>
          <a:ln w="12700">
            <a:solidFill>
              <a:srgbClr val="1A2B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2606040"/>
            <a:ext cx="914400" cy="274320"/>
          </a:xfrm>
          <a:prstGeom prst="rect">
            <a:avLst/>
          </a:prstGeom>
          <a:solidFill>
            <a:srgbClr val="E8F1E8"/>
          </a:solidFill>
          <a:ln w="12700">
            <a:solidFill>
              <a:srgbClr val="1A2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14600" y="2103120"/>
            <a:ext cx="1005840" cy="274320"/>
          </a:xfrm>
          <a:prstGeom prst="rect">
            <a:avLst/>
          </a:prstGeom>
          <a:solidFill>
            <a:srgbClr val="E8F1E8"/>
          </a:solidFill>
          <a:ln w="12700">
            <a:solidFill>
              <a:srgbClr val="1A2B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88720" y="2377440"/>
            <a:ext cx="0" cy="228600"/>
          </a:xfrm>
          <a:prstGeom prst="line">
            <a:avLst/>
          </a:prstGeom>
          <a:noFill/>
          <a:ln w="13970">
            <a:solidFill>
              <a:srgbClr val="1A2B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5568" y="2423160"/>
            <a:ext cx="146304" cy="0"/>
          </a:xfrm>
          <a:prstGeom prst="line">
            <a:avLst/>
          </a:prstGeom>
          <a:noFill/>
          <a:ln w="13970">
            <a:solidFill>
              <a:srgbClr val="1A2B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1188720" y="2532888"/>
            <a:ext cx="-73152" cy="73152"/>
          </a:xfrm>
          <a:prstGeom prst="line">
            <a:avLst/>
          </a:prstGeom>
          <a:noFill/>
          <a:ln w="13970">
            <a:solidFill>
              <a:srgbClr val="1A2B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" y="2532888"/>
            <a:ext cx="73152" cy="73152"/>
          </a:xfrm>
          <a:prstGeom prst="line">
            <a:avLst/>
          </a:prstGeom>
          <a:noFill/>
          <a:ln w="13970">
            <a:solidFill>
              <a:srgbClr val="1A2B2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91640" y="2240280"/>
            <a:ext cx="822960" cy="0"/>
          </a:xfrm>
          <a:prstGeom prst="line">
            <a:avLst/>
          </a:prstGeom>
          <a:noFill/>
          <a:ln w="13970">
            <a:solidFill>
              <a:srgbClr val="1A2B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8880" y="2167128"/>
            <a:ext cx="0" cy="146304"/>
          </a:xfrm>
          <a:prstGeom prst="line">
            <a:avLst/>
          </a:prstGeom>
          <a:noFill/>
          <a:ln w="13970">
            <a:solidFill>
              <a:srgbClr val="1A2B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1764792" y="2240280"/>
            <a:ext cx="-73152" cy="-73152"/>
          </a:xfrm>
          <a:prstGeom prst="line">
            <a:avLst/>
          </a:prstGeom>
          <a:noFill/>
          <a:ln w="13970">
            <a:solidFill>
              <a:srgbClr val="1A2B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1764792" y="2240280"/>
            <a:ext cx="-73152" cy="73152"/>
          </a:xfrm>
          <a:prstGeom prst="line">
            <a:avLst/>
          </a:prstGeom>
          <a:noFill/>
          <a:ln w="13970">
            <a:solidFill>
              <a:srgbClr val="1A2B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00200" y="2743200"/>
            <a:ext cx="1005840" cy="0"/>
          </a:xfrm>
          <a:prstGeom prst="line">
            <a:avLst/>
          </a:prstGeom>
          <a:noFill/>
          <a:ln w="13970">
            <a:solidFill>
              <a:srgbClr val="1A2B2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45920" y="2670048"/>
            <a:ext cx="0" cy="146304"/>
          </a:xfrm>
          <a:prstGeom prst="line">
            <a:avLst/>
          </a:prstGeom>
          <a:noFill/>
          <a:ln w="13970">
            <a:solidFill>
              <a:srgbClr val="1A2B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2532888" y="2743200"/>
            <a:ext cx="73152" cy="-73152"/>
          </a:xfrm>
          <a:prstGeom prst="line">
            <a:avLst/>
          </a:prstGeom>
          <a:noFill/>
          <a:ln w="13970">
            <a:solidFill>
              <a:srgbClr val="1A2B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32888" y="2743200"/>
            <a:ext cx="73152" cy="73152"/>
          </a:xfrm>
          <a:prstGeom prst="line">
            <a:avLst/>
          </a:prstGeom>
          <a:noFill/>
          <a:ln w="13970">
            <a:solidFill>
              <a:srgbClr val="1A2B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54480" y="2377440"/>
            <a:ext cx="1188720" cy="228600"/>
          </a:xfrm>
          <a:prstGeom prst="line">
            <a:avLst/>
          </a:prstGeom>
          <a:noFill/>
          <a:ln w="13970">
            <a:solidFill>
              <a:srgbClr val="1A2B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218688"/>
            <a:ext cx="32918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B2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3145536"/>
            <a:ext cx="1188720" cy="201168"/>
          </a:xfrm>
          <a:prstGeom prst="rect">
            <a:avLst/>
          </a:prstGeom>
          <a:solidFill>
            <a:srgbClr val="1A5C38"/>
          </a:solidFill>
          <a:ln w="9525">
            <a:solidFill>
              <a:srgbClr val="1A5C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145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4360" y="3401568"/>
            <a:ext cx="3017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by: data producer (CCR engine)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94360" y="3584448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+ measure + grain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417320" y="4064508"/>
            <a:ext cx="1371600" cy="502920"/>
          </a:xfrm>
          <a:prstGeom prst="rect">
            <a:avLst/>
          </a:prstGeom>
          <a:solidFill>
            <a:srgbClr val="1A5C38"/>
          </a:solidFill>
          <a:ln w="9525">
            <a:solidFill>
              <a:srgbClr val="1A5C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17320" y="4064508"/>
            <a:ext cx="137160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Exposure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417320" y="4315968"/>
            <a:ext cx="1371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measure: collateral_value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85800" y="3904488"/>
            <a:ext cx="777240" cy="256032"/>
          </a:xfrm>
          <a:prstGeom prst="rect">
            <a:avLst/>
          </a:prstGeom>
          <a:solidFill>
            <a:srgbClr val="E8F1E8"/>
          </a:solidFill>
          <a:ln w="11430">
            <a:solidFill>
              <a:srgbClr val="1A2B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39044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0" y="3904488"/>
            <a:ext cx="777240" cy="256032"/>
          </a:xfrm>
          <a:prstGeom prst="rect">
            <a:avLst/>
          </a:prstGeom>
          <a:solidFill>
            <a:srgbClr val="E8F1E8"/>
          </a:solidFill>
          <a:ln w="11430">
            <a:solidFill>
              <a:srgbClr val="1A2B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0" y="39044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77240" y="4471416"/>
            <a:ext cx="640080" cy="256032"/>
          </a:xfrm>
          <a:prstGeom prst="rect">
            <a:avLst/>
          </a:prstGeom>
          <a:solidFill>
            <a:srgbClr val="E8F1E8"/>
          </a:solidFill>
          <a:ln w="11430">
            <a:solidFill>
              <a:srgbClr val="1A2B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44714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88920" y="4471416"/>
            <a:ext cx="640080" cy="256032"/>
          </a:xfrm>
          <a:prstGeom prst="rect">
            <a:avLst/>
          </a:prstGeom>
          <a:solidFill>
            <a:srgbClr val="E8F1E8"/>
          </a:solidFill>
          <a:ln w="11430">
            <a:solidFill>
              <a:srgbClr val="1A2B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88920" y="44714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 flipV="1">
            <a:off x="1463040" y="4160520"/>
            <a:ext cx="45720" cy="-96012"/>
          </a:xfrm>
          <a:prstGeom prst="line">
            <a:avLst/>
          </a:prstGeom>
          <a:noFill/>
          <a:ln w="11430">
            <a:solidFill>
              <a:srgbClr val="1A2B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44752" y="417880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463040" y="389991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 flipH="1" flipV="1">
            <a:off x="2743200" y="4160520"/>
            <a:ext cx="-45720" cy="-96012"/>
          </a:xfrm>
          <a:prstGeom prst="line">
            <a:avLst/>
          </a:prstGeom>
          <a:noFill/>
          <a:ln w="11430">
            <a:solidFill>
              <a:srgbClr val="1A2B2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33472" y="417880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24328" y="389991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417320" y="4471416"/>
            <a:ext cx="91440" cy="96012"/>
          </a:xfrm>
          <a:prstGeom prst="line">
            <a:avLst/>
          </a:prstGeom>
          <a:noFill/>
          <a:ln w="11430">
            <a:solidFill>
              <a:srgbClr val="1A2B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99032" y="430682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463040" y="458571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 flipH="1">
            <a:off x="2788920" y="4471416"/>
            <a:ext cx="-91440" cy="96012"/>
          </a:xfrm>
          <a:prstGeom prst="line">
            <a:avLst/>
          </a:prstGeom>
          <a:noFill/>
          <a:ln w="11430">
            <a:solidFill>
              <a:srgbClr val="1A2B2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79192" y="430682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624328" y="458571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5020056"/>
            <a:ext cx="32918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B2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94360" y="4946904"/>
            <a:ext cx="1188720" cy="201168"/>
          </a:xfrm>
          <a:prstGeom prst="rect">
            <a:avLst/>
          </a:prstGeom>
          <a:solidFill>
            <a:srgbClr val="1A2B22"/>
          </a:solidFill>
          <a:ln w="9525">
            <a:solidFill>
              <a:srgbClr val="1A2B2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49469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94360" y="5202936"/>
            <a:ext cx="3017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by: counterparty reference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94360" y="5385816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— declared semantics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0080" y="5660136"/>
            <a:ext cx="2926080" cy="914400"/>
          </a:xfrm>
          <a:prstGeom prst="rect">
            <a:avLst/>
          </a:prstGeom>
          <a:solidFill>
            <a:srgbClr val="EEF7F0"/>
          </a:solidFill>
          <a:ln/>
        </p:spPr>
      </p:sp>
      <p:sp>
        <p:nvSpPr>
          <p:cNvPr id="66" name="Text 64"/>
          <p:cNvSpPr/>
          <p:nvPr/>
        </p:nvSpPr>
        <p:spPr>
          <a:xfrm>
            <a:off x="731520" y="570585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</a:t>
            </a:r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counterparty_code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</a:t>
            </a:r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counterparty_legal_name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classifiers: </a:t>
            </a:r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regulatory_regime,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td_entity_name, rating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grain: </a:t>
            </a:r>
            <a:pPr indent="0" marL="0">
              <a:buNone/>
            </a:pPr>
            <a:r>
              <a:rPr lang="en-US" sz="900" dirty="0">
                <a:solidFill>
                  <a:srgbClr val="1A2B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row per counterparty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886200" y="3611880"/>
            <a:ext cx="365760" cy="0"/>
          </a:xfrm>
          <a:prstGeom prst="line">
            <a:avLst/>
          </a:prstGeom>
          <a:noFill/>
          <a:ln w="22225">
            <a:solidFill>
              <a:srgbClr val="1A2B2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5400000">
            <a:off x="4178808" y="3547872"/>
            <a:ext cx="164592" cy="128016"/>
          </a:xfrm>
          <a:prstGeom prst="triangle">
            <a:avLst/>
          </a:prstGeom>
          <a:solidFill>
            <a:srgbClr val="1A2B22"/>
          </a:solidFill>
          <a:ln w="12700">
            <a:solidFill>
              <a:srgbClr val="1A2B2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94760" y="3246120"/>
            <a:ext cx="594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434840" y="1417320"/>
            <a:ext cx="3931920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A5C3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760720" y="1307592"/>
            <a:ext cx="1280160" cy="237744"/>
          </a:xfrm>
          <a:prstGeom prst="rect">
            <a:avLst/>
          </a:prstGeom>
          <a:solidFill>
            <a:srgbClr val="1A5C38"/>
          </a:solidFill>
          <a:ln w="9525">
            <a:solidFill>
              <a:srgbClr val="1A5C3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60720" y="13075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semantic layer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4572000" y="1874520"/>
            <a:ext cx="3657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of declared semantics — does not invent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663440" y="2194560"/>
            <a:ext cx="3474720" cy="1234440"/>
          </a:xfrm>
          <a:prstGeom prst="rect">
            <a:avLst/>
          </a:prstGeom>
          <a:solidFill>
            <a:srgbClr val="D6EFE1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54880" y="2240280"/>
            <a:ext cx="3291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750" b="1" spc="250" kern="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ENTITY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4754880" y="2395728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4754880" y="26700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key, classifiers, forms  ← product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relationships, cardinality  ← ERD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conformed to collateral fact  ← star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663440" y="3566160"/>
            <a:ext cx="3474720" cy="1234440"/>
          </a:xfrm>
          <a:prstGeom prst="rect">
            <a:avLst/>
          </a:prstGeom>
          <a:solidFill>
            <a:srgbClr val="D6EFE1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54880" y="3611880"/>
            <a:ext cx="3291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750" b="1" spc="250" kern="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ENTITY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4754880" y="3767328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4754880" y="40416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belongs to counterparty (N:1)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relationship from ERD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D52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conformed to collateral fact ← star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4663440" y="5989320"/>
            <a:ext cx="3474720" cy="0"/>
          </a:xfrm>
          <a:prstGeom prst="line">
            <a:avLst/>
          </a:prstGeom>
          <a:noFill/>
          <a:ln w="6350">
            <a:solidFill>
              <a:srgbClr val="D5DDD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663440" y="60533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join path traceable to a declared contract.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ASSEMBLES, it does not guess.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8503920" y="3611880"/>
            <a:ext cx="365760" cy="0"/>
          </a:xfrm>
          <a:prstGeom prst="line">
            <a:avLst/>
          </a:prstGeom>
          <a:noFill/>
          <a:ln w="22225">
            <a:solidFill>
              <a:srgbClr val="1A2B2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5400000">
            <a:off x="8796528" y="3547872"/>
            <a:ext cx="164592" cy="128016"/>
          </a:xfrm>
          <a:prstGeom prst="triangle">
            <a:avLst/>
          </a:prstGeom>
          <a:solidFill>
            <a:srgbClr val="1A2B22"/>
          </a:solidFill>
          <a:ln w="12700">
            <a:solidFill>
              <a:srgbClr val="1A2B2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412480" y="3246120"/>
            <a:ext cx="594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9006840" y="1417320"/>
            <a:ext cx="2743200" cy="1188720"/>
          </a:xfrm>
          <a:prstGeom prst="rect">
            <a:avLst/>
          </a:prstGeom>
          <a:solidFill>
            <a:srgbClr val="D6EFE1"/>
          </a:solidFill>
          <a:ln/>
        </p:spPr>
      </p:sp>
      <p:sp>
        <p:nvSpPr>
          <p:cNvPr id="89" name="Shape 87"/>
          <p:cNvSpPr/>
          <p:nvPr/>
        </p:nvSpPr>
        <p:spPr>
          <a:xfrm>
            <a:off x="9006840" y="1417320"/>
            <a:ext cx="73152" cy="1188720"/>
          </a:xfrm>
          <a:prstGeom prst="rect">
            <a:avLst/>
          </a:prstGeom>
          <a:solidFill>
            <a:srgbClr val="1A5C38"/>
          </a:solidFill>
          <a:ln w="9525">
            <a:solidFill>
              <a:srgbClr val="1A5C3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189720" y="1508760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918972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agreements exist?" → routes to agreement dim → 12, every time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9006840" y="2724912"/>
            <a:ext cx="2743200" cy="1188720"/>
          </a:xfrm>
          <a:prstGeom prst="rect">
            <a:avLst/>
          </a:prstGeom>
          <a:solidFill>
            <a:srgbClr val="D6EFE1"/>
          </a:solidFill>
          <a:ln/>
        </p:spPr>
      </p:sp>
      <p:sp>
        <p:nvSpPr>
          <p:cNvPr id="93" name="Shape 91"/>
          <p:cNvSpPr/>
          <p:nvPr/>
        </p:nvSpPr>
        <p:spPr>
          <a:xfrm>
            <a:off x="9006840" y="2724912"/>
            <a:ext cx="73152" cy="1188720"/>
          </a:xfrm>
          <a:prstGeom prst="rect">
            <a:avLst/>
          </a:prstGeom>
          <a:solidFill>
            <a:srgbClr val="1A5C38"/>
          </a:solidFill>
          <a:ln w="9525">
            <a:solidFill>
              <a:srgbClr val="1A5C3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189720" y="2816352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9189720" y="3044952"/>
            <a:ext cx="2468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traces back to a declared semantic owned by a named team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9006840" y="4032504"/>
            <a:ext cx="2743200" cy="1188720"/>
          </a:xfrm>
          <a:prstGeom prst="rect">
            <a:avLst/>
          </a:prstGeom>
          <a:solidFill>
            <a:srgbClr val="D6EFE1"/>
          </a:solidFill>
          <a:ln/>
        </p:spPr>
      </p:sp>
      <p:sp>
        <p:nvSpPr>
          <p:cNvPr id="97" name="Shape 95"/>
          <p:cNvSpPr/>
          <p:nvPr/>
        </p:nvSpPr>
        <p:spPr>
          <a:xfrm>
            <a:off x="9006840" y="4032504"/>
            <a:ext cx="73152" cy="1188720"/>
          </a:xfrm>
          <a:prstGeom prst="rect">
            <a:avLst/>
          </a:prstGeom>
          <a:solidFill>
            <a:srgbClr val="1A5C38"/>
          </a:solidFill>
          <a:ln w="9525">
            <a:solidFill>
              <a:srgbClr val="1A5C3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189720" y="4123944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SAFE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9189720" y="4352544"/>
            <a:ext cx="2468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composes visuals — never authors cardinality or join keys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9006840" y="5340096"/>
            <a:ext cx="2743200" cy="1188720"/>
          </a:xfrm>
          <a:prstGeom prst="rect">
            <a:avLst/>
          </a:prstGeom>
          <a:solidFill>
            <a:srgbClr val="D6EFE1"/>
          </a:solidFill>
          <a:ln/>
        </p:spPr>
      </p:sp>
      <p:sp>
        <p:nvSpPr>
          <p:cNvPr id="101" name="Shape 99"/>
          <p:cNvSpPr/>
          <p:nvPr/>
        </p:nvSpPr>
        <p:spPr>
          <a:xfrm>
            <a:off x="9006840" y="5340096"/>
            <a:ext cx="73152" cy="1188720"/>
          </a:xfrm>
          <a:prstGeom prst="rect">
            <a:avLst/>
          </a:prstGeom>
          <a:solidFill>
            <a:srgbClr val="1A5C38"/>
          </a:solidFill>
          <a:ln w="9525">
            <a:solidFill>
              <a:srgbClr val="1A5C3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189720" y="5431536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CATALOGUED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9189720" y="5660136"/>
            <a:ext cx="2468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pre-generates the set of questions answerable from entities alone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5DDD7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semantics  ▸  assembled model  ▸  correct answers by construction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FOUNDATION FOR BI — CURRENT STATE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</a:t>
            </a:r>
            <a:pPr indent="0" marL="0">
              <a:buNone/>
            </a:pPr>
            <a:r>
              <a:rPr lang="en-US" sz="2800" b="1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</a:t>
            </a:r>
            <a:pPr indent="0" marL="0">
              <a:buNone/>
            </a:pPr>
            <a:r>
              <a:rPr lang="en-US" sz="28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happening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789920" y="2743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200" i="1" dirty="0">
                <a:solidFill>
                  <a:srgbClr val="7F8C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1A2B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3291840" cy="1691640"/>
          </a:xfrm>
          <a:prstGeom prst="rect">
            <a:avLst/>
          </a:prstGeom>
          <a:solidFill>
            <a:srgbClr val="FBEFEC"/>
          </a:solidFill>
          <a:ln w="12700">
            <a:solidFill>
              <a:srgbClr val="A8362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94360" y="1344168"/>
            <a:ext cx="1188720" cy="201168"/>
          </a:xfrm>
          <a:prstGeom prst="rect">
            <a:avLst/>
          </a:prstGeom>
          <a:solidFill>
            <a:srgbClr val="A8362A"/>
          </a:solidFill>
          <a:ln w="9525">
            <a:solidFill>
              <a:srgbClr val="A83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441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DIAGRAM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017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owned by data architecture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&amp; cardinality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103120"/>
            <a:ext cx="1005840" cy="274320"/>
          </a:xfrm>
          <a:prstGeom prst="rect">
            <a:avLst/>
          </a:prstGeom>
          <a:solidFill>
            <a:srgbClr val="FBEFEC"/>
          </a:solidFill>
          <a:ln w="8890">
            <a:solidFill>
              <a:srgbClr val="A8362A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8580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606040"/>
            <a:ext cx="914400" cy="274320"/>
          </a:xfrm>
          <a:prstGeom prst="rect">
            <a:avLst/>
          </a:prstGeom>
          <a:solidFill>
            <a:srgbClr val="FBEFEC"/>
          </a:solidFill>
          <a:ln w="8890">
            <a:solidFill>
              <a:srgbClr val="A8362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8580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2606040"/>
            <a:ext cx="914400" cy="274320"/>
          </a:xfrm>
          <a:prstGeom prst="rect">
            <a:avLst/>
          </a:prstGeom>
          <a:solidFill>
            <a:srgbClr val="FBEFEC"/>
          </a:solidFill>
          <a:ln w="8890">
            <a:solidFill>
              <a:srgbClr val="A8362A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60604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2103120"/>
            <a:ext cx="1005840" cy="274320"/>
          </a:xfrm>
          <a:prstGeom prst="rect">
            <a:avLst/>
          </a:prstGeom>
          <a:solidFill>
            <a:srgbClr val="FBEFEC"/>
          </a:solidFill>
          <a:ln w="8890">
            <a:solidFill>
              <a:srgbClr val="A8362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251460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2377440"/>
            <a:ext cx="0" cy="228600"/>
          </a:xfrm>
          <a:prstGeom prst="line">
            <a:avLst/>
          </a:prstGeom>
          <a:noFill/>
          <a:ln w="8890">
            <a:solidFill>
              <a:srgbClr val="A8362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691640" y="2240280"/>
            <a:ext cx="822960" cy="0"/>
          </a:xfrm>
          <a:prstGeom prst="line">
            <a:avLst/>
          </a:prstGeom>
          <a:noFill/>
          <a:ln w="8890">
            <a:solidFill>
              <a:srgbClr val="A8362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600200" y="2743200"/>
            <a:ext cx="1005840" cy="0"/>
          </a:xfrm>
          <a:prstGeom prst="line">
            <a:avLst/>
          </a:prstGeom>
          <a:noFill/>
          <a:ln w="8890">
            <a:solidFill>
              <a:srgbClr val="A8362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697480" y="1554480"/>
            <a:ext cx="86868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A836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15544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PROVIDED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218688"/>
            <a:ext cx="32918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B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145536"/>
            <a:ext cx="1188720" cy="201168"/>
          </a:xfrm>
          <a:prstGeom prst="rect">
            <a:avLst/>
          </a:prstGeom>
          <a:solidFill>
            <a:srgbClr val="1A5C38"/>
          </a:solidFill>
          <a:ln w="9525">
            <a:solidFill>
              <a:srgbClr val="1A5C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145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3401568"/>
            <a:ext cx="3017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by: data producer (CCR engine)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94360" y="3584448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+ measure + grain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17320" y="4064508"/>
            <a:ext cx="1371600" cy="502920"/>
          </a:xfrm>
          <a:prstGeom prst="rect">
            <a:avLst/>
          </a:prstGeom>
          <a:solidFill>
            <a:srgbClr val="1A5C38"/>
          </a:solidFill>
          <a:ln w="9525">
            <a:solidFill>
              <a:srgbClr val="1A5C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4064508"/>
            <a:ext cx="137160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Exposure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17320" y="4315968"/>
            <a:ext cx="1371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9A2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measure: collateral_value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5800" y="3904488"/>
            <a:ext cx="777240" cy="256032"/>
          </a:xfrm>
          <a:prstGeom prst="rect">
            <a:avLst/>
          </a:prstGeom>
          <a:solidFill>
            <a:srgbClr val="E8F1E8"/>
          </a:solidFill>
          <a:ln w="11430">
            <a:solidFill>
              <a:srgbClr val="1A2B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9044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0" y="3904488"/>
            <a:ext cx="777240" cy="256032"/>
          </a:xfrm>
          <a:prstGeom prst="rect">
            <a:avLst/>
          </a:prstGeom>
          <a:solidFill>
            <a:srgbClr val="E8F1E8"/>
          </a:solidFill>
          <a:ln w="11430">
            <a:solidFill>
              <a:srgbClr val="1A2B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0" y="39044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77240" y="4471416"/>
            <a:ext cx="640080" cy="256032"/>
          </a:xfrm>
          <a:prstGeom prst="rect">
            <a:avLst/>
          </a:prstGeom>
          <a:solidFill>
            <a:srgbClr val="E8F1E8"/>
          </a:solidFill>
          <a:ln w="11430">
            <a:solidFill>
              <a:srgbClr val="1A2B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4714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88920" y="4471416"/>
            <a:ext cx="640080" cy="256032"/>
          </a:xfrm>
          <a:prstGeom prst="rect">
            <a:avLst/>
          </a:prstGeom>
          <a:solidFill>
            <a:srgbClr val="E8F1E8"/>
          </a:solidFill>
          <a:ln w="11430">
            <a:solidFill>
              <a:srgbClr val="1A2B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44714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 flipV="1">
            <a:off x="1463040" y="4160520"/>
            <a:ext cx="45720" cy="-96012"/>
          </a:xfrm>
          <a:prstGeom prst="line">
            <a:avLst/>
          </a:prstGeom>
          <a:noFill/>
          <a:ln w="11430">
            <a:solidFill>
              <a:srgbClr val="1A2B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44752" y="417880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463040" y="389991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 flipH="1" flipV="1">
            <a:off x="2743200" y="4160520"/>
            <a:ext cx="-45720" cy="-96012"/>
          </a:xfrm>
          <a:prstGeom prst="line">
            <a:avLst/>
          </a:prstGeom>
          <a:noFill/>
          <a:ln w="11430">
            <a:solidFill>
              <a:srgbClr val="1A2B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33472" y="4178808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24328" y="389991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417320" y="4471416"/>
            <a:ext cx="91440" cy="96012"/>
          </a:xfrm>
          <a:prstGeom prst="line">
            <a:avLst/>
          </a:prstGeom>
          <a:noFill/>
          <a:ln w="11430">
            <a:solidFill>
              <a:srgbClr val="1A2B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99032" y="430682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463040" y="458571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 flipH="1">
            <a:off x="2788920" y="4471416"/>
            <a:ext cx="-91440" cy="96012"/>
          </a:xfrm>
          <a:prstGeom prst="line">
            <a:avLst/>
          </a:prstGeom>
          <a:noFill/>
          <a:ln w="11430">
            <a:solidFill>
              <a:srgbClr val="1A2B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79192" y="4306824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624328" y="4585716"/>
            <a:ext cx="137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5C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5020056"/>
            <a:ext cx="3291840" cy="1691640"/>
          </a:xfrm>
          <a:prstGeom prst="rect">
            <a:avLst/>
          </a:prstGeom>
          <a:solidFill>
            <a:srgbClr val="FBEFEC"/>
          </a:solidFill>
          <a:ln w="12700">
            <a:solidFill>
              <a:srgbClr val="A8362A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594360" y="4946904"/>
            <a:ext cx="1188720" cy="201168"/>
          </a:xfrm>
          <a:prstGeom prst="rect">
            <a:avLst/>
          </a:prstGeom>
          <a:solidFill>
            <a:srgbClr val="A8362A"/>
          </a:solidFill>
          <a:ln w="9525">
            <a:solidFill>
              <a:srgbClr val="A8362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49469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94360" y="5202936"/>
            <a:ext cx="301752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owned by counterparty reference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94360" y="5385816"/>
            <a:ext cx="3017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— declared semantics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40080" y="5660136"/>
            <a:ext cx="2926080" cy="914400"/>
          </a:xfrm>
          <a:prstGeom prst="rect">
            <a:avLst/>
          </a:prstGeom>
          <a:solidFill>
            <a:srgbClr val="FBEFEC"/>
          </a:solidFill>
          <a:ln/>
        </p:spPr>
      </p:sp>
      <p:sp>
        <p:nvSpPr>
          <p:cNvPr id="58" name="Text 56"/>
          <p:cNvSpPr/>
          <p:nvPr/>
        </p:nvSpPr>
        <p:spPr>
          <a:xfrm>
            <a:off x="731520" y="570585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</a:t>
            </a:r>
            <a:pPr indent="0" marL="0">
              <a:buNone/>
            </a:pPr>
            <a:r>
              <a:rPr lang="en-US" sz="900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classifiers: </a:t>
            </a:r>
            <a:pPr indent="0" marL="0">
              <a:buNone/>
            </a:pPr>
            <a:r>
              <a:rPr lang="en-US" sz="900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grain: </a:t>
            </a:r>
            <a:pPr indent="0" marL="0">
              <a:buNone/>
            </a:pPr>
            <a:r>
              <a:rPr lang="en-US" sz="900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697480" y="5157216"/>
            <a:ext cx="86868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A836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97480" y="515721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PROVIDED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886200" y="3611880"/>
            <a:ext cx="365760" cy="0"/>
          </a:xfrm>
          <a:prstGeom prst="line">
            <a:avLst/>
          </a:prstGeom>
          <a:noFill/>
          <a:ln w="19050">
            <a:solidFill>
              <a:srgbClr val="A8362A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 rot="5400000">
            <a:off x="4178808" y="3547872"/>
            <a:ext cx="164592" cy="128016"/>
          </a:xfrm>
          <a:prstGeom prst="triangle">
            <a:avLst/>
          </a:prstGeom>
          <a:solidFill>
            <a:srgbClr val="A8362A"/>
          </a:solidFill>
          <a:ln w="12700">
            <a:solidFill>
              <a:srgbClr val="A836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49040" y="3246120"/>
            <a:ext cx="685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ONLY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434840" y="1417320"/>
            <a:ext cx="3931920" cy="5212080"/>
          </a:xfrm>
          <a:prstGeom prst="rect">
            <a:avLst/>
          </a:prstGeom>
          <a:solidFill>
            <a:srgbClr val="FBEFEC"/>
          </a:solidFill>
          <a:ln w="25400">
            <a:solidFill>
              <a:srgbClr val="A8362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60720" y="1307592"/>
            <a:ext cx="1280160" cy="237744"/>
          </a:xfrm>
          <a:prstGeom prst="rect">
            <a:avLst/>
          </a:prstGeom>
          <a:solidFill>
            <a:srgbClr val="A8362A"/>
          </a:solidFill>
          <a:ln w="9525">
            <a:solidFill>
              <a:srgbClr val="A8362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60720" y="13075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57200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semantic layer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4572000" y="1874520"/>
            <a:ext cx="3657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to infer relationships from column names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663440" y="2194560"/>
            <a:ext cx="3474720" cy="1234440"/>
          </a:xfrm>
          <a:prstGeom prst="rect">
            <a:avLst/>
          </a:prstGeom>
          <a:solidFill>
            <a:srgbClr val="F5DBD6"/>
          </a:solidFill>
          <a:ln w="12700">
            <a:solidFill>
              <a:srgbClr val="A8362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0" y="2240280"/>
            <a:ext cx="3291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750" b="1" spc="250" kern="0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ENTITY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754880" y="2395728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(auto-detected)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4754880" y="26700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relationships GUESSED from column names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classifiers NOT declared — disconnected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cardinality INFERRED, not authoritative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663440" y="3566160"/>
            <a:ext cx="3474720" cy="1234440"/>
          </a:xfrm>
          <a:prstGeom prst="rect">
            <a:avLst/>
          </a:prstGeom>
          <a:solidFill>
            <a:srgbClr val="F5DBD6"/>
          </a:solidFill>
          <a:ln w="12700">
            <a:solidFill>
              <a:srgbClr val="A8362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0" y="3611880"/>
            <a:ext cx="32918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750" b="1" spc="250" kern="0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ENTITY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754880" y="3767328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(auto-detected)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754880" y="40416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to counterparty ROUTED THROUGH FACT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no direct dim-to-dim path declared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83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depends on filter context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663440" y="5989320"/>
            <a:ext cx="3474720" cy="0"/>
          </a:xfrm>
          <a:prstGeom prst="line">
            <a:avLst/>
          </a:prstGeom>
          <a:noFill/>
          <a:ln w="6350">
            <a:solidFill>
              <a:srgbClr val="D5DDD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663440" y="60533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is reverse-engineering an ERD from a star schema.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 ≠  declared truth.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503920" y="3611880"/>
            <a:ext cx="365760" cy="0"/>
          </a:xfrm>
          <a:prstGeom prst="line">
            <a:avLst/>
          </a:prstGeom>
          <a:noFill/>
          <a:ln w="19050">
            <a:solidFill>
              <a:srgbClr val="A8362A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 rot="5400000">
            <a:off x="8796528" y="3547872"/>
            <a:ext cx="164592" cy="128016"/>
          </a:xfrm>
          <a:prstGeom prst="triangle">
            <a:avLst/>
          </a:prstGeom>
          <a:solidFill>
            <a:srgbClr val="A8362A"/>
          </a:solidFill>
          <a:ln w="12700">
            <a:solidFill>
              <a:srgbClr val="A8362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412480" y="3246120"/>
            <a:ext cx="594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9006840" y="1417320"/>
            <a:ext cx="2743200" cy="1188720"/>
          </a:xfrm>
          <a:prstGeom prst="rect">
            <a:avLst/>
          </a:prstGeom>
          <a:solidFill>
            <a:srgbClr val="F5DBD6"/>
          </a:solidFill>
          <a:ln/>
        </p:spPr>
      </p:sp>
      <p:sp>
        <p:nvSpPr>
          <p:cNvPr id="83" name="Shape 81"/>
          <p:cNvSpPr/>
          <p:nvPr/>
        </p:nvSpPr>
        <p:spPr>
          <a:xfrm>
            <a:off x="9006840" y="1417320"/>
            <a:ext cx="73152" cy="1188720"/>
          </a:xfrm>
          <a:prstGeom prst="rect">
            <a:avLst/>
          </a:prstGeom>
          <a:solidFill>
            <a:srgbClr val="A8362A"/>
          </a:solidFill>
          <a:ln w="9525">
            <a:solidFill>
              <a:srgbClr val="A8362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189720" y="1508760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WRONG, SILENTLY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918972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agreements exist?" → routed via issuer fact → 5 instead of 12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006840" y="2724912"/>
            <a:ext cx="2743200" cy="1188720"/>
          </a:xfrm>
          <a:prstGeom prst="rect">
            <a:avLst/>
          </a:prstGeom>
          <a:solidFill>
            <a:srgbClr val="F5DBD6"/>
          </a:solidFill>
          <a:ln/>
        </p:spPr>
      </p:sp>
      <p:sp>
        <p:nvSpPr>
          <p:cNvPr id="87" name="Shape 85"/>
          <p:cNvSpPr/>
          <p:nvPr/>
        </p:nvSpPr>
        <p:spPr>
          <a:xfrm>
            <a:off x="9006840" y="2724912"/>
            <a:ext cx="73152" cy="1188720"/>
          </a:xfrm>
          <a:prstGeom prst="rect">
            <a:avLst/>
          </a:prstGeom>
          <a:solidFill>
            <a:srgbClr val="A8362A"/>
          </a:solidFill>
          <a:ln w="9525">
            <a:solidFill>
              <a:srgbClr val="A8362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189720" y="2816352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AUDITABLE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9189720" y="3044952"/>
            <a:ext cx="2468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come from inferred join paths — can't defend them to audit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9006840" y="4032504"/>
            <a:ext cx="2743200" cy="1188720"/>
          </a:xfrm>
          <a:prstGeom prst="rect">
            <a:avLst/>
          </a:prstGeom>
          <a:solidFill>
            <a:srgbClr val="F5DBD6"/>
          </a:solidFill>
          <a:ln/>
        </p:spPr>
      </p:sp>
      <p:sp>
        <p:nvSpPr>
          <p:cNvPr id="91" name="Shape 89"/>
          <p:cNvSpPr/>
          <p:nvPr/>
        </p:nvSpPr>
        <p:spPr>
          <a:xfrm>
            <a:off x="9006840" y="4032504"/>
            <a:ext cx="73152" cy="1188720"/>
          </a:xfrm>
          <a:prstGeom prst="rect">
            <a:avLst/>
          </a:prstGeom>
          <a:solidFill>
            <a:srgbClr val="A8362A"/>
          </a:solidFill>
          <a:ln w="9525">
            <a:solidFill>
              <a:srgbClr val="A8362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189720" y="4123944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DOES MODELLING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9189720" y="4352544"/>
            <a:ext cx="2468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forced to declare cardinality and fix relationships inside the tool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9006840" y="5340096"/>
            <a:ext cx="2743200" cy="1188720"/>
          </a:xfrm>
          <a:prstGeom prst="rect">
            <a:avLst/>
          </a:prstGeom>
          <a:solidFill>
            <a:srgbClr val="F5DBD6"/>
          </a:solidFill>
          <a:ln/>
        </p:spPr>
      </p:sp>
      <p:sp>
        <p:nvSpPr>
          <p:cNvPr id="95" name="Shape 93"/>
          <p:cNvSpPr/>
          <p:nvPr/>
        </p:nvSpPr>
        <p:spPr>
          <a:xfrm>
            <a:off x="9006840" y="5340096"/>
            <a:ext cx="73152" cy="1188720"/>
          </a:xfrm>
          <a:prstGeom prst="rect">
            <a:avLst/>
          </a:prstGeom>
          <a:solidFill>
            <a:srgbClr val="A8362A"/>
          </a:solidFill>
          <a:ln w="9525">
            <a:solidFill>
              <a:srgbClr val="A8362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189720" y="5431536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A8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SIDE-EFFECTS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9189720" y="5660136"/>
            <a:ext cx="2468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filter on one page silently re-routes a query, changing the answer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D5DDD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semantics  ▸  inferred model  ▸  plausible but wrong answers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F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Foundation for BI</dc:title>
  <dc:subject>PptxGenJS Presentation</dc:subject>
  <dc:creator>Reena</dc:creator>
  <cp:lastModifiedBy>Reena</cp:lastModifiedBy>
  <cp:revision>1</cp:revision>
  <dcterms:created xsi:type="dcterms:W3CDTF">2026-05-27T16:31:19Z</dcterms:created>
  <dcterms:modified xsi:type="dcterms:W3CDTF">2026-05-27T16:31:19Z</dcterms:modified>
</cp:coreProperties>
</file>