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85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008" y="42976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/>
              <a:t>Risk  Domain – Data  - Applications - TDVIP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1527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74320" y="1892808"/>
            <a:ext cx="2606040" cy="1664208"/>
          </a:xfrm>
          <a:prstGeom prst="rect">
            <a:avLst/>
          </a:prstGeom>
          <a:solidFill>
            <a:srgbClr val="00B050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94767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185416"/>
            <a:ext cx="2423160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2231136"/>
            <a:ext cx="227685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2404872"/>
            <a:ext cx="22768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Risk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Management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Management (OTC)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Risk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366674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66674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Banking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365760" y="401421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74320" y="426110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261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Lifecycle &amp; Operations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365760" y="460857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274320" y="485546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48554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65760" y="520293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74320" y="544982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544982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Counterparty Mgmt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365760" y="579729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4211566" y="1591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151586" y="1892808"/>
            <a:ext cx="2157774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11568" y="1947672"/>
            <a:ext cx="2006351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Domains / Products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11568" y="2148840"/>
            <a:ext cx="2006351" cy="23774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11568" y="2148840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211568" y="2409444"/>
            <a:ext cx="2006351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11568" y="2409444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11568" y="2670048"/>
            <a:ext cx="2006351" cy="23774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11568" y="2670048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211568" y="2930652"/>
            <a:ext cx="2006351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11568" y="2930652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211568" y="3191256"/>
            <a:ext cx="2006351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11568" y="3191256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151584" y="3565109"/>
            <a:ext cx="2157775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11568" y="3630168"/>
            <a:ext cx="20063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11568" y="3813048"/>
            <a:ext cx="20063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Concepts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51584" y="4453128"/>
            <a:ext cx="215777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11566" y="4498848"/>
            <a:ext cx="2006353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11566" y="4681728"/>
            <a:ext cx="2006353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65392" y="1527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Application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537960" y="1892808"/>
            <a:ext cx="2514600" cy="3931920"/>
          </a:xfrm>
          <a:prstGeom prst="rect">
            <a:avLst/>
          </a:prstGeom>
          <a:solidFill>
            <a:srgbClr val="00B050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29400" y="194767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3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 (Risk-owned)</a:t>
            </a:r>
            <a:endParaRPr lang="en-US" sz="93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29400" y="21488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</a:t>
            </a:r>
            <a:endParaRPr lang="en-US" sz="86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</a:t>
            </a:r>
            <a:endParaRPr lang="en-US" sz="86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</a:t>
            </a:r>
            <a:endParaRPr lang="en-US" sz="86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RCAPS</a:t>
            </a:r>
            <a:endParaRPr lang="en-US" sz="860" dirty="0">
              <a:solidFill>
                <a:schemeClr val="bg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29400" y="5852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3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exposes its capability as an API / microservice (bounded context).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9281160" y="152704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9253728" y="1869949"/>
            <a:ext cx="2633472" cy="365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372600" y="189280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(TDVIP) — the platform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53728" y="2295144"/>
            <a:ext cx="2633472" cy="3529584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478A85B-389C-E49A-D4A7-4FDF3E0E8C49}"/>
              </a:ext>
            </a:extLst>
          </p:cNvPr>
          <p:cNvGrpSpPr/>
          <p:nvPr/>
        </p:nvGrpSpPr>
        <p:grpSpPr>
          <a:xfrm>
            <a:off x="9345168" y="4050792"/>
            <a:ext cx="2450592" cy="889641"/>
            <a:chOff x="9372600" y="2011680"/>
            <a:chExt cx="2450592" cy="889641"/>
          </a:xfrm>
        </p:grpSpPr>
        <p:sp>
          <p:nvSpPr>
            <p:cNvPr id="58" name="Shape 56"/>
            <p:cNvSpPr/>
            <p:nvPr/>
          </p:nvSpPr>
          <p:spPr>
            <a:xfrm>
              <a:off x="9372600" y="2011680"/>
              <a:ext cx="2450592" cy="8896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rgbClr val="9C6B16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57"/>
            <p:cNvSpPr/>
            <p:nvPr/>
          </p:nvSpPr>
          <p:spPr>
            <a:xfrm>
              <a:off x="9445752" y="2048256"/>
              <a:ext cx="2304288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60" b="1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state (needs serverless on):</a:t>
              </a:r>
              <a:endParaRPr lang="en-US" sz="76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9445752" y="2244852"/>
              <a:ext cx="2304288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Tooling</a:t>
              </a:r>
              <a:endParaRPr lang="en-US" sz="760" dirty="0"/>
            </a:p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ML Tooling</a:t>
              </a:r>
              <a:endParaRPr lang="en-US" sz="760" dirty="0"/>
            </a:p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Monitoring</a:t>
              </a:r>
              <a:endParaRPr lang="en-US" sz="760" dirty="0"/>
            </a:p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Notification</a:t>
              </a:r>
              <a:endParaRPr lang="en-US" sz="760" dirty="0"/>
            </a:p>
          </p:txBody>
        </p:sp>
      </p:grpSp>
      <p:sp>
        <p:nvSpPr>
          <p:cNvPr id="61" name="Text 59"/>
          <p:cNvSpPr/>
          <p:nvPr/>
        </p:nvSpPr>
        <p:spPr>
          <a:xfrm>
            <a:off x="9464040" y="2472138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30" b="1" dirty="0"/>
              <a:t>Central team creates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Workspace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Catalogs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Schemas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Automated Deployment</a:t>
            </a:r>
          </a:p>
          <a:p>
            <a:pPr algn="l"/>
            <a:r>
              <a:rPr lang="en-US" sz="830" b="1" dirty="0"/>
              <a:t>Apps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30" dirty="0"/>
              <a:t>Coordinate with central team 1-3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30" dirty="0"/>
              <a:t>Per-App  set up  of Tech Stacks – Tibco, Kafka Queues , DBMS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30" dirty="0"/>
              <a:t>Deploy using deployment framework</a:t>
            </a:r>
          </a:p>
          <a:p>
            <a:pPr marL="0" indent="0" algn="l">
              <a:buNone/>
            </a:pP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3008376" y="2514600"/>
            <a:ext cx="1051768" cy="9144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079992" y="2514600"/>
            <a:ext cx="173736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11480" y="6272784"/>
            <a:ext cx="113385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 — Domain Driven · Data Mesh · Data Products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11480" y="6528816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govern all four columns above — not a Technology-only concern.</a:t>
            </a:r>
            <a:endParaRPr lang="en-US" sz="8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C68FC8-FCB6-D1D1-F7D2-E7751E8BFEBF}"/>
              </a:ext>
            </a:extLst>
          </p:cNvPr>
          <p:cNvSpPr txBox="1"/>
          <p:nvPr/>
        </p:nvSpPr>
        <p:spPr>
          <a:xfrm>
            <a:off x="6617939" y="3332980"/>
            <a:ext cx="1739579" cy="195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0" b="1" dirty="0">
                <a:solidFill>
                  <a:schemeClr val="bg1"/>
                </a:solidFill>
              </a:rPr>
              <a:t>Capabilities</a:t>
            </a:r>
            <a:endParaRPr lang="en-US" sz="86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Vendor Platform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Web socket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Data consumption/Publish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Web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Batch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Streaming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 err="1">
                <a:solidFill>
                  <a:schemeClr val="bg1"/>
                </a:solidFill>
              </a:rPr>
              <a:t>Websocket</a:t>
            </a:r>
            <a:endParaRPr lang="en-US" sz="86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 err="1">
                <a:solidFill>
                  <a:schemeClr val="bg1"/>
                </a:solidFill>
              </a:rPr>
              <a:t>Dremio</a:t>
            </a:r>
            <a:endParaRPr lang="en-US" sz="86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DBMS setup/management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SQL 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 err="1">
                <a:solidFill>
                  <a:schemeClr val="bg1"/>
                </a:solidFill>
              </a:rPr>
              <a:t>Hbase</a:t>
            </a:r>
            <a:endParaRPr lang="en-US" sz="86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Cassandra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557BF5-8580-DE80-FFBE-6904CE9EFD16}"/>
              </a:ext>
            </a:extLst>
          </p:cNvPr>
          <p:cNvSpPr txBox="1"/>
          <p:nvPr/>
        </p:nvSpPr>
        <p:spPr>
          <a:xfrm>
            <a:off x="9356414" y="5029974"/>
            <a:ext cx="2428100" cy="629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Gaps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30" dirty="0"/>
              <a:t>Data catalog templates / </a:t>
            </a:r>
            <a:r>
              <a:rPr lang="en-US" sz="830" dirty="0" err="1"/>
              <a:t>Rqt</a:t>
            </a:r>
            <a:endParaRPr lang="en-US" sz="83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30" dirty="0"/>
              <a:t>Data Contract templates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30" dirty="0"/>
              <a:t>Data Product templates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C32874-44DE-3591-37C2-F0EA18635CA6}"/>
              </a:ext>
            </a:extLst>
          </p:cNvPr>
          <p:cNvSpPr txBox="1"/>
          <p:nvPr/>
        </p:nvSpPr>
        <p:spPr>
          <a:xfrm>
            <a:off x="3172968" y="2406878"/>
            <a:ext cx="66396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i="1" dirty="0"/>
              <a:t>contributes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 for RISK — corrected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0" cy="50292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868680"/>
            <a:ext cx="27432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27432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960120"/>
            <a:ext cx="12344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7008" y="96012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658368"/>
            <a:ext cx="576072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325880"/>
            <a:ext cx="14173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61488" y="1325880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743200" y="1965960"/>
            <a:ext cx="141732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8920" y="201168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Distribution (Central)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788920" y="221284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Dremio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572000" y="1325880"/>
            <a:ext cx="178308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38988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73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DB</a:t>
            </a:r>
            <a:endParaRPr lang="en-US" sz="73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</a:t>
            </a:r>
            <a:endParaRPr lang="en-US" sz="73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626864" y="2011680"/>
            <a:ext cx="1673352" cy="50292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6864" y="2011680"/>
            <a:ext cx="1673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produced data)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2788920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28346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720840" y="1463040"/>
            <a:ext cx="1463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9128" y="146304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(Consumer)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720840" y="2651760"/>
            <a:ext cx="1463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39128" y="26517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(Apps)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160520" y="1572768"/>
            <a:ext cx="36576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60520" y="2212848"/>
            <a:ext cx="36576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55080" y="1709928"/>
            <a:ext cx="32004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2898648"/>
            <a:ext cx="32004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20840" y="1709928"/>
            <a:ext cx="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32520" y="658368"/>
            <a:ext cx="32004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69680" y="7315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(TDVIP)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69680" y="1042416"/>
            <a:ext cx="29260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933688" y="1069848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 (catalog)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961120" y="1298448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61120" y="12984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  (schema)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961120" y="1572768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61120" y="1572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 (schema)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961120" y="1847088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61120" y="1847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TAMS  (schema)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8869680" y="2304288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33688" y="2331720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 (catalog)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961120" y="2560320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961120" y="2560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RCAPS  (schema)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8869680" y="301752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933688" y="3044952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 (catalog)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961120" y="3273552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961120" y="32735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 (schema)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8869680" y="3730752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33688" y="3758184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 (catalog)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8961120" y="3986784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961120" y="398678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TRW  (schema)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9646920" y="502920"/>
            <a:ext cx="0" cy="155448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291840" y="548640"/>
            <a:ext cx="635508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0" y="365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loaded into app-specific schemas as needed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366760" y="1737360"/>
            <a:ext cx="36576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" y="4114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343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(Rest)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(files)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Dremio (Query)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30" dirty="0"/>
          </a:p>
        </p:txBody>
      </p:sp>
      <p:sp>
        <p:nvSpPr>
          <p:cNvPr id="59" name="Text 57"/>
          <p:cNvSpPr/>
          <p:nvPr/>
        </p:nvSpPr>
        <p:spPr>
          <a:xfrm>
            <a:off x="1920240" y="41148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920240" y="43434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Data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Data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Calculate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Risk Metrics</a:t>
            </a:r>
            <a:endParaRPr lang="en-US" sz="830" dirty="0"/>
          </a:p>
        </p:txBody>
      </p:sp>
      <p:sp>
        <p:nvSpPr>
          <p:cNvPr id="61" name="Text 59"/>
          <p:cNvSpPr/>
          <p:nvPr/>
        </p:nvSpPr>
        <p:spPr>
          <a:xfrm>
            <a:off x="3657600" y="41148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0" y="4343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2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/ Downstream Apps</a:t>
            </a:r>
            <a:endParaRPr lang="en-US" sz="830" dirty="0"/>
          </a:p>
        </p:txBody>
      </p:sp>
      <p:sp>
        <p:nvSpPr>
          <p:cNvPr id="63" name="Text 61"/>
          <p:cNvSpPr/>
          <p:nvPr/>
        </p:nvSpPr>
        <p:spPr>
          <a:xfrm>
            <a:off x="3657600" y="45994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657600" y="47914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95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  <a:p>
            <a:pPr marL="342900" indent="-342900">
              <a:lnSpc>
                <a:spcPts val="95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  <a:p>
            <a:pPr marL="342900" indent="-342900">
              <a:lnSpc>
                <a:spcPts val="95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732520" y="470001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Workspace → Risk Domain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Catalog → Risk Product Groups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Schemas → Risk Apps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732520" y="52303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73252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for Risk-produced Data added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/ Dashboards</a:t>
            </a:r>
            <a:endParaRPr lang="en-US" sz="830" dirty="0"/>
          </a:p>
        </p:txBody>
      </p:sp>
      <p:sp>
        <p:nvSpPr>
          <p:cNvPr id="68" name="Text 66"/>
          <p:cNvSpPr/>
          <p:nvPr/>
        </p:nvSpPr>
        <p:spPr>
          <a:xfrm>
            <a:off x="274320" y="598932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added Finance as the 4th product-group catalog (was missing); nested apps as schemas within their catalog per the Catalog=Product Group / Schema=App convention already defined elsewhere in the deck.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grouped by theme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&amp; Governance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— and how it maps to the CDM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Domains: who owns Ontology, who owns Governance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CDM / EDW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0156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or Domain-Driven / Data Mesh?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custodian: domain-authored rules, transforms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764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Tenancy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vs. custodian-managed tenancy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Domain data, or specific slices only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needs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Schema/App-level storage, or Domain-level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5372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8116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starting point?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it be logged?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template?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list preserved in full — grouped here by theme for discussion flow; nothing removed.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539</Words>
  <Application>Microsoft Macintosh PowerPoint</Application>
  <PresentationFormat>Widescreen</PresentationFormat>
  <Paragraphs>158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Reena Cheema</cp:lastModifiedBy>
  <cp:revision>2</cp:revision>
  <dcterms:created xsi:type="dcterms:W3CDTF">2026-08-18T15:03:38Z</dcterms:created>
  <dcterms:modified xsi:type="dcterms:W3CDTF">2026-08-18T15:49:33Z</dcterms:modified>
</cp:coreProperties>
</file>