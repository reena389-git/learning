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0"/>
            <a:ext cx="758952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Derivatives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B8CB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Analytics Platform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3337560"/>
            <a:ext cx="548640" cy="457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5204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C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 flows today, where it breaks,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8C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will actually work.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senior leadership  |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291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is unhappy. Technology is slow. Here's why.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118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B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1920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7+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touching the same trade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K+DB, Veritas, InfoP/CDM, Dremio, TDVIP/Databricks, DeepHaven, vendor TMS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554480"/>
            <a:ext cx="36118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B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554480"/>
            <a:ext cx="73152" cy="1920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6916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457200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semantic models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880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K+DB desk, Veritas APIs, and CDM each define the same concepts differently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1554480"/>
            <a:ext cx="36118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B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1554480"/>
            <a:ext cx="73152" cy="1920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16916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836676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latency SLAs in writing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66760" y="2880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near real-time, intraday, and EOD are used loosely with no thresholds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FRONT OFFICE IS ASKING FOR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CURRENT STACK DELIVERS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279392"/>
            <a:ext cx="164592" cy="16459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1605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view of trade + enrichment + risk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782312"/>
            <a:ext cx="164592" cy="16459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6634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visibility, no waiting on EOD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285232"/>
            <a:ext cx="164592" cy="16459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1663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numbers across desks &amp; risk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788152"/>
            <a:ext cx="164592" cy="16459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6692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discovery via one catalog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4279392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41605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3-5 APIs at the UI to build that view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0" y="4782312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46634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Mixed: real-time on K+DB, batch elsewhere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0" y="5285232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51663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definitions per platform &amp; desk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0" y="5788152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0840" y="56692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 split across InfoP, Dremio, Unity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 |  Credit Derivatives Data &amp; Analytics Platform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291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data flows through the stack today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783080" cy="68580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934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CAPTURE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C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TMS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7830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B9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523744"/>
            <a:ext cx="91440" cy="914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377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Calypso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" y="3072384"/>
            <a:ext cx="91440" cy="914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926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" y="3621024"/>
            <a:ext cx="91440" cy="914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474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Murex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2971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2450592" y="1554480"/>
            <a:ext cx="1783080" cy="6858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160934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STORE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42032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C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50592" y="2240280"/>
            <a:ext cx="17830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B9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15184" y="2523744"/>
            <a:ext cx="91440" cy="914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79776" y="2377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K+DB (per desk)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15184" y="3072384"/>
            <a:ext cx="91440" cy="914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79776" y="2926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ingest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15184" y="3621024"/>
            <a:ext cx="91440" cy="914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79776" y="3474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enrichment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87952" y="2971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4352544" y="1554480"/>
            <a:ext cx="1783080" cy="6858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43984" y="160934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SERVICES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43984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C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layer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352544" y="2240280"/>
            <a:ext cx="17830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B9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17136" y="2523744"/>
            <a:ext cx="91440" cy="914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1728" y="2377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 APIs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17136" y="3072384"/>
            <a:ext cx="91440" cy="914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1728" y="2926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semantics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17136" y="3621024"/>
            <a:ext cx="91440" cy="914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3474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joins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89904" y="2971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6254496" y="1554480"/>
            <a:ext cx="1783080" cy="6858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45936" y="160934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MODEL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45936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C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54496" y="2240280"/>
            <a:ext cx="17830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B9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19088" y="2523744"/>
            <a:ext cx="91440" cy="914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2377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InfoP / CDM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19088" y="3072384"/>
            <a:ext cx="91440" cy="914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2926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+ Iceberg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19088" y="3621024"/>
            <a:ext cx="91440" cy="914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0" y="3474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Queryable via Dremio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991856" y="2971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49" name="Shape 47"/>
          <p:cNvSpPr/>
          <p:nvPr/>
        </p:nvSpPr>
        <p:spPr>
          <a:xfrm>
            <a:off x="8156448" y="1554480"/>
            <a:ext cx="1783080" cy="6858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47888" y="160934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ANALYTICS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247888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C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156448" y="2240280"/>
            <a:ext cx="17830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B9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21040" y="2523744"/>
            <a:ext cx="91440" cy="914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85632" y="2377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TDVIP / Databricks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321040" y="3072384"/>
            <a:ext cx="91440" cy="914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85632" y="2926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321040" y="3621024"/>
            <a:ext cx="91440" cy="914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85632" y="3474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893808" y="2971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60" name="Shape 58"/>
          <p:cNvSpPr/>
          <p:nvPr/>
        </p:nvSpPr>
        <p:spPr>
          <a:xfrm>
            <a:off x="10058400" y="1554480"/>
            <a:ext cx="1783080" cy="68580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149840" y="160934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014984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C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0058400" y="2240280"/>
            <a:ext cx="17830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B9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222992" y="2523744"/>
            <a:ext cx="91440" cy="914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387584" y="2377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 &amp; desks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0222992" y="3072384"/>
            <a:ext cx="91440" cy="914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387584" y="2926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users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10222992" y="3621024"/>
            <a:ext cx="91440" cy="914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387584" y="3474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teams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48640" y="4709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POINTS IN THIS FLOW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48640" y="5029200"/>
            <a:ext cx="3657600" cy="128016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8640" y="5029200"/>
            <a:ext cx="73152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7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166360"/>
            <a:ext cx="256032" cy="256032"/>
          </a:xfrm>
          <a:prstGeom prst="rect">
            <a:avLst/>
          </a:prstGeom>
        </p:spPr>
      </p:pic>
      <p:sp>
        <p:nvSpPr>
          <p:cNvPr id="74" name="Text 71"/>
          <p:cNvSpPr/>
          <p:nvPr/>
        </p:nvSpPr>
        <p:spPr>
          <a:xfrm>
            <a:off x="1097280" y="51206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K+DBs duplicate reference data and apply their own enrichment, diverging from CDM.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4343400" y="5029200"/>
            <a:ext cx="3657600" cy="128016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343400" y="5029200"/>
            <a:ext cx="73152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7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5166360"/>
            <a:ext cx="256032" cy="256032"/>
          </a:xfrm>
          <a:prstGeom prst="rect">
            <a:avLst/>
          </a:prstGeom>
        </p:spPr>
      </p:pic>
      <p:sp>
        <p:nvSpPr>
          <p:cNvPr id="78" name="Text 74"/>
          <p:cNvSpPr/>
          <p:nvPr/>
        </p:nvSpPr>
        <p:spPr>
          <a:xfrm>
            <a:off x="4892040" y="51206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 &amp; CDM define the same domain objects with different semantics and joins.</a:t>
            </a:r>
            <a:endParaRPr lang="en-US" sz="1100" dirty="0"/>
          </a:p>
        </p:txBody>
      </p:sp>
      <p:sp>
        <p:nvSpPr>
          <p:cNvPr id="79" name="Shape 75"/>
          <p:cNvSpPr/>
          <p:nvPr/>
        </p:nvSpPr>
        <p:spPr>
          <a:xfrm>
            <a:off x="8138160" y="5029200"/>
            <a:ext cx="3657600" cy="128016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8138160" y="5029200"/>
            <a:ext cx="73152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8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5166360"/>
            <a:ext cx="256032" cy="256032"/>
          </a:xfrm>
          <a:prstGeom prst="rect">
            <a:avLst/>
          </a:prstGeom>
        </p:spPr>
      </p:pic>
      <p:sp>
        <p:nvSpPr>
          <p:cNvPr id="82" name="Text 77"/>
          <p:cNvSpPr/>
          <p:nvPr/>
        </p:nvSpPr>
        <p:spPr>
          <a:xfrm>
            <a:off x="8686800" y="51206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trade events have no first-class path from TMS to Risk/Databricks.</a:t>
            </a:r>
            <a:endParaRPr lang="en-US" sz="1100" dirty="0"/>
          </a:p>
        </p:txBody>
      </p:sp>
      <p:sp>
        <p:nvSpPr>
          <p:cNvPr id="83" name="Text 78"/>
          <p:cNvSpPr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 |  Credit Derivatives Data &amp; Analytics Platform</a:t>
            </a:r>
            <a:endParaRPr lang="en-US" sz="900" dirty="0"/>
          </a:p>
        </p:txBody>
      </p:sp>
      <p:sp>
        <p:nvSpPr>
          <p:cNvPr id="84" name="Text 79"/>
          <p:cNvSpPr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291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architecture is failing the business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7490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B9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37490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F5F2E8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83794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fragmentation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23317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K+DB, Veritas, CDM, and Risk each define trade, P&amp;L, and exposure differently. Numbers reconcile by accident, not by design.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" y="3337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lost trust in the numbers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416552" y="1508760"/>
            <a:ext cx="37490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B9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16552" y="1508760"/>
            <a:ext cx="37490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45152" y="1737360"/>
            <a:ext cx="502920" cy="502920"/>
          </a:xfrm>
          <a:prstGeom prst="ellipse">
            <a:avLst/>
          </a:prstGeom>
          <a:solidFill>
            <a:srgbClr val="F5F2E8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183794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85232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has no home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645152" y="23317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 trade events stream to desk K+DBs but reach CDM and Risk via batch. There is no first-class real-time path to Risk/Databricks.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645152" y="3337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traders blind on intraday risk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8284464" y="1508760"/>
            <a:ext cx="37490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B9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84464" y="1508760"/>
            <a:ext cx="37490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513064" y="1737360"/>
            <a:ext cx="502920" cy="502920"/>
          </a:xfrm>
          <a:prstGeom prst="ellipse">
            <a:avLst/>
          </a:prstGeom>
          <a:solidFill>
            <a:srgbClr val="F5F2E8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837944"/>
            <a:ext cx="301752" cy="3017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153144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Front-office stitching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513064" y="23317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UIs assemble trade + enrichment + risk by calling 3-5 disconnected APIs. Integration logic lives in the wrong layer.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8513064" y="3337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every change is a UI release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548640" y="3886200"/>
            <a:ext cx="37490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B9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8640" y="3886200"/>
            <a:ext cx="37490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F5F2E8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215384"/>
            <a:ext cx="301752" cy="30175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41732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Catalog &amp; discovery split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777240" y="47091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InfoP, Dremio, and Unity Catalog hold different slices of metadata. Users cannot find or trust data across platforms.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777240" y="5715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rework, duplicated data products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4416552" y="3886200"/>
            <a:ext cx="37490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B9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416552" y="3886200"/>
            <a:ext cx="37490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645152" y="4114800"/>
            <a:ext cx="502920" cy="502920"/>
          </a:xfrm>
          <a:prstGeom prst="ellipse">
            <a:avLst/>
          </a:prstGeom>
          <a:solidFill>
            <a:srgbClr val="F5F2E8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6" y="4215384"/>
            <a:ext cx="301752" cy="30175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285232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Unclear workload ownership</a:t>
            </a:r>
            <a:endParaRPr lang="en-US" sz="1500" dirty="0"/>
          </a:p>
        </p:txBody>
      </p:sp>
      <p:sp>
        <p:nvSpPr>
          <p:cNvPr id="38" name="Text 31"/>
          <p:cNvSpPr/>
          <p:nvPr/>
        </p:nvSpPr>
        <p:spPr>
          <a:xfrm>
            <a:off x="4645152" y="47091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agreed answer to: which platform owns enriched trade truth, risk truth, and real-time inquiry. Teams build overlapping solutions.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4645152" y="5715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long lead times, vendor sprawl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8284464" y="3886200"/>
            <a:ext cx="37490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B9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8284464" y="3886200"/>
            <a:ext cx="37490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8513064" y="4114800"/>
            <a:ext cx="502920" cy="502920"/>
          </a:xfrm>
          <a:prstGeom prst="ellipse">
            <a:avLst/>
          </a:prstGeom>
          <a:solidFill>
            <a:srgbClr val="F5F2E8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648" y="4215384"/>
            <a:ext cx="301752" cy="30175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153144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Latency and network not designed</a:t>
            </a:r>
            <a:endParaRPr lang="en-US" sz="1500" dirty="0"/>
          </a:p>
        </p:txBody>
      </p:sp>
      <p:sp>
        <p:nvSpPr>
          <p:cNvPr id="45" name="Text 37"/>
          <p:cNvSpPr/>
          <p:nvPr/>
        </p:nvSpPr>
        <p:spPr>
          <a:xfrm>
            <a:off x="8513064" y="47091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InfoP, Dremio, and TDVIP sit on different segments. Network proximity, freshness SLAs, and entitlement propagation are unmeasured.</a:t>
            </a:r>
            <a:endParaRPr lang="en-US" sz="1050" dirty="0"/>
          </a:p>
        </p:txBody>
      </p:sp>
      <p:sp>
        <p:nvSpPr>
          <p:cNvPr id="46" name="Text 38"/>
          <p:cNvSpPr/>
          <p:nvPr/>
        </p:nvSpPr>
        <p:spPr>
          <a:xfrm>
            <a:off x="8513064" y="5715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unpredictable performance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 |  Credit Derivatives Data &amp; Analytics Platform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291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FIT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 cannot serve every latency tier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0698480" cy="64008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tier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71800" y="1554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K+DB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26280" y="1554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InfoP/CDM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Dremio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1554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TDVIP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09560" y="1554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DeepHaven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0" y="1554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106984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CB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2677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trader inquiry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2542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sub-second, low concurrency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08960" y="239572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23957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fit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32020" y="239572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F5C7C7"/>
          </a:solidFill>
          <a:ln w="12700">
            <a:solidFill>
              <a:srgbClr val="F5C7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2020" y="23957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fit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23660" y="239572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3660" y="23957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prove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115300" y="239572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15300" y="23957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prove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806940" y="239572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06940" y="23957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fit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2880360"/>
            <a:ext cx="10698480" cy="685800"/>
          </a:xfrm>
          <a:prstGeom prst="rect">
            <a:avLst/>
          </a:prstGeom>
          <a:solidFill>
            <a:srgbClr val="F5F2E8"/>
          </a:solidFill>
          <a:ln w="6350">
            <a:solidFill>
              <a:srgbClr val="B8CB9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29535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real-time enriched view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5800" y="3227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seconds, integrated trade+enrich+risk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08960" y="308152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0" y="30815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Workable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32020" y="308152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2020" y="30815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prove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23660" y="308152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3660" y="30815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prove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115300" y="308152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15300" y="30815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prove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806940" y="308152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06940" y="30815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fit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3566160"/>
            <a:ext cx="106984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CB9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36393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analytics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85800" y="3913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ad hoc across desks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108960" y="376732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F5C7C7"/>
          </a:solidFill>
          <a:ln w="12700">
            <a:solidFill>
              <a:srgbClr val="F5C7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0" y="37673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fit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32020" y="376732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2020" y="37673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Workable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23660" y="376732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23660" y="37673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fit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115300" y="376732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5300" y="37673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Workable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806940" y="376732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806940" y="37673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Workable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48640" y="4251960"/>
            <a:ext cx="10698480" cy="685800"/>
          </a:xfrm>
          <a:prstGeom prst="rect">
            <a:avLst/>
          </a:prstGeom>
          <a:solidFill>
            <a:srgbClr val="F5F2E8"/>
          </a:solidFill>
          <a:ln w="6350">
            <a:solidFill>
              <a:srgbClr val="B8CB9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" y="43251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 analytics &amp; reporting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85800" y="4599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scheduled, full-history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108960" y="445312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FED7D7"/>
          </a:solidFill>
          <a:ln w="12700">
            <a:solidFill>
              <a:srgbClr val="FED7D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08960" y="44531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right tool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32020" y="445312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32020" y="44531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fit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23660" y="445312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23660" y="44531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fit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115300" y="445312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F5C7C7"/>
          </a:solidFill>
          <a:ln w="12700">
            <a:solidFill>
              <a:srgbClr val="F5C7C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15300" y="44531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fit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806940" y="445312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806940" y="44531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Workable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48640" y="4937760"/>
            <a:ext cx="106984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CB9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5800" y="5010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cross-domain discovery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685800" y="5285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lineage, entitlements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108960" y="513892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FED7D7"/>
          </a:solidFill>
          <a:ln w="12700">
            <a:solidFill>
              <a:srgbClr val="FED7D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108960" y="51389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right tool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732020" y="513892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32020" y="51389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Workable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423660" y="513892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23660" y="51389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fit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115300" y="513892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FED7D7"/>
          </a:solidFill>
          <a:ln w="12700">
            <a:solidFill>
              <a:srgbClr val="FED7D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115300" y="51389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right tool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9806940" y="513892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806940" y="51389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Workable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48640" y="5760720"/>
            <a:ext cx="11091672" cy="68580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77240" y="57607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platform wins all five tiers. The unresolved decisions are 'Must prove' cells — they need benchmarks, not opinions.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 |  Credit Derivatives Data &amp; Analytics Platform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291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BLOCKING 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decisions that, until made, keep tech slow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7490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B8CB9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73152" cy="1508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459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600200" y="16733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owns enriched trade truth?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K+DB, CDM, or a composite serving layer. Until decided, every team builds their own enrichment.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16552" y="1508760"/>
            <a:ext cx="37490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B8CB9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6552" y="1508760"/>
            <a:ext cx="73152" cy="1508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6459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468112" y="16733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the latency SLAs, in numbers?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45152" y="22402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NRT, intraday, EOD must be defined per domain with milliseconds and minutes, not adjectives.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84464" y="1508760"/>
            <a:ext cx="37490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B8CB9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4464" y="1508760"/>
            <a:ext cx="73152" cy="1508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13064" y="16459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336024" y="16733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real-time trade events reach Risk?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513064" y="22402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event stream, CDM replication, Dremio query, or a separate operational feed. Pick one and design 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182112"/>
            <a:ext cx="37490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B8CB9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182112"/>
            <a:ext cx="73152" cy="1508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31927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600200" y="334670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Dremio's actual job?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77240" y="391363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engine, semantic bridge, catalog bridge, API back-end - or all of these. Today it is ambiguous.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16552" y="3182112"/>
            <a:ext cx="37490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B8CB9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16552" y="3182112"/>
            <a:ext cx="73152" cy="1508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331927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5468112" y="334670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InfoP metadata get into Unity Catalog?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645152" y="391363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Federation, sync, external catalog mapping. Without this, 'one catalog experience' is a slogan.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84464" y="3182112"/>
            <a:ext cx="37490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B8CB9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84464" y="3182112"/>
            <a:ext cx="73152" cy="1508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13064" y="331927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9336024" y="334670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 business semantics live?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513064" y="391363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contracts, data products, a metrics layer, or BI. Without one answer, every metric is re-defined per tool.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074920"/>
            <a:ext cx="11091672" cy="128016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5074920"/>
            <a:ext cx="73152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257800"/>
            <a:ext cx="320040" cy="32004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234440" y="5212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tech is slow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1234440" y="5532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that touches Credit Derivatives data has to re-litigate these six questions. Until they are owned and answered at the architecture level, delivery teams will keep designing around them - slowly, and inconsistently.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 |  Credit Derivatives Data &amp; Analytics Platform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291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data should move - workload-fit and governed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005840" cy="1645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1005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005840" cy="164592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337560"/>
            <a:ext cx="1005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1783080"/>
            <a:ext cx="15544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8CB9C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7452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74520" y="22402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Calypso, Sophis, Murex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64992" y="2148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611880" y="1783080"/>
            <a:ext cx="1691640" cy="1188720"/>
          </a:xfrm>
          <a:prstGeom prst="rect">
            <a:avLst/>
          </a:prstGeom>
          <a:solidFill>
            <a:srgbClr val="2C5F2D"/>
          </a:solidFill>
          <a:ln w="9525">
            <a:solidFill>
              <a:srgbClr val="B8CB9C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03320" y="18745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03320" y="22402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real-time spine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30952" y="2148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577840" y="1783080"/>
            <a:ext cx="18288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8CB9C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K+DB (FO)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2240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Ultra-low-latency trader inquiry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70832" y="2971800"/>
            <a:ext cx="73152" cy="5029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783080" y="3566160"/>
            <a:ext cx="15544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8CB9C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874520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 / Sources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74520" y="40233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sources &amp; APIs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64992" y="3931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3611880" y="3566160"/>
            <a:ext cx="16916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8CB9C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703320" y="3657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InfoP / CDM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03320" y="402336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+ Iceberg; conformed truth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30952" y="3931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5577840" y="3566160"/>
            <a:ext cx="18288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8CB9C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669280" y="3657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TDVIP / Databricks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0" y="40233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Lake, SQL, risk analytics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34072" y="2148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434072" y="3931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7680960" y="1783080"/>
            <a:ext cx="2011680" cy="297180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2011680"/>
            <a:ext cx="365760" cy="36576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772400" y="2468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Composite Serving Layer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7772400" y="28803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+ enrichment + selected risk, served as one business view. No UI-side stitching.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9674352" y="30403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40" name="Shape 37"/>
          <p:cNvSpPr/>
          <p:nvPr/>
        </p:nvSpPr>
        <p:spPr>
          <a:xfrm>
            <a:off x="9921240" y="1783080"/>
            <a:ext cx="1719072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B9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921240" y="1783080"/>
            <a:ext cx="1719072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01268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10012680" y="2423160"/>
            <a:ext cx="128016" cy="12801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222992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10012680" y="2880360"/>
            <a:ext cx="128016" cy="12801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222992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users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10012680" y="3337560"/>
            <a:ext cx="128016" cy="12801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222992" y="3246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10012680" y="3794760"/>
            <a:ext cx="128016" cy="12801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0222992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548640" y="5166360"/>
            <a:ext cx="11091672" cy="7772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5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9240"/>
            <a:ext cx="365760" cy="365760"/>
          </a:xfrm>
          <a:prstGeom prst="rect">
            <a:avLst/>
          </a:prstGeom>
        </p:spPr>
      </p:pic>
      <p:sp>
        <p:nvSpPr>
          <p:cNvPr id="53" name="Text 49"/>
          <p:cNvSpPr/>
          <p:nvPr/>
        </p:nvSpPr>
        <p:spPr>
          <a:xfrm>
            <a:off x="1280160" y="5257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1200" dirty="0"/>
          </a:p>
        </p:txBody>
      </p:sp>
      <p:sp>
        <p:nvSpPr>
          <p:cNvPr id="54" name="Text 50"/>
          <p:cNvSpPr/>
          <p:nvPr/>
        </p:nvSpPr>
        <p:spPr>
          <a:xfrm>
            <a:off x="1280160" y="55321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discovery, lineage, entitlement, and metadata layer across all data above - InfoP, Dremio, Databricks, and the serving layer.</a:t>
            </a:r>
            <a:endParaRPr lang="en-US" sz="1050" dirty="0"/>
          </a:p>
        </p:txBody>
      </p:sp>
      <p:sp>
        <p:nvSpPr>
          <p:cNvPr id="55" name="Text 51"/>
          <p:cNvSpPr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 |  Credit Derivatives Data &amp; Analytics Platform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548640" cy="457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7490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commitments that turn today's fragmentation into a workable target state - without forcing a single-platform bet.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640080"/>
            <a:ext cx="3703320" cy="1783080"/>
          </a:xfrm>
          <a:prstGeom prst="rect">
            <a:avLst/>
          </a:prstGeom>
          <a:solidFill>
            <a:srgbClr val="274A35"/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14400"/>
            <a:ext cx="457200" cy="4572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7176" y="996696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49240" y="868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K+DB where it's proven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754880" y="15544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Trader-facing low-latency inquiry stays on K+DB until benchmarks prove an alternative.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412480" y="640080"/>
            <a:ext cx="3703320" cy="1783080"/>
          </a:xfrm>
          <a:prstGeom prst="rect">
            <a:avLst/>
          </a:prstGeom>
          <a:solidFill>
            <a:srgbClr val="274A35"/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41080" y="914400"/>
            <a:ext cx="457200" cy="4572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76" y="996696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235440" y="868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Databricks/TDVIP the analytics &amp; risk strategic platform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8641080" y="15544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Lake, SQL, governed analytics, and risk workloads converge here.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26280" y="2560320"/>
            <a:ext cx="3703320" cy="1783080"/>
          </a:xfrm>
          <a:prstGeom prst="rect">
            <a:avLst/>
          </a:prstGeom>
          <a:solidFill>
            <a:srgbClr val="274A35"/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754880" y="2834640"/>
            <a:ext cx="457200" cy="4572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76" y="2916936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49240" y="2788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 real-time event flow as a first-class design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4754880" y="34747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 to K+DB, CDM, and Risk goes via an event bus, not batch afterthoughts.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412480" y="2560320"/>
            <a:ext cx="3703320" cy="1783080"/>
          </a:xfrm>
          <a:prstGeom prst="rect">
            <a:avLst/>
          </a:prstGeom>
          <a:solidFill>
            <a:srgbClr val="274A35"/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641080" y="2834640"/>
            <a:ext cx="457200" cy="4572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76" y="2916936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35440" y="2788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a composite serving layer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8641080" y="34747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front-office API stitching. Trade + enrichment + risk served as one business view.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526280" y="4480560"/>
            <a:ext cx="3703320" cy="1783080"/>
          </a:xfrm>
          <a:prstGeom prst="rect">
            <a:avLst/>
          </a:prstGeom>
          <a:solidFill>
            <a:srgbClr val="274A35"/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754880" y="4754880"/>
            <a:ext cx="457200" cy="4572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7176" y="4837176"/>
            <a:ext cx="292608" cy="29260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49240" y="4709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with Unity Catalog and semantic mapping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4754880" y="53949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federation and Veritas/CDM/Risk semantic maps are prerequisites, not phase two.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8412480" y="4480560"/>
            <a:ext cx="3703320" cy="1783080"/>
          </a:xfrm>
          <a:prstGeom prst="rect">
            <a:avLst/>
          </a:prstGeom>
          <a:solidFill>
            <a:srgbClr val="274A35"/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641080" y="4754880"/>
            <a:ext cx="457200" cy="4572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3376" y="4837176"/>
            <a:ext cx="292608" cy="29260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235440" y="4709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 before benchmarking; benchmark before scaling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8641080" y="53949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six blocking decisions, then prove with PoCs - DeepHaven included, only against unmet needs.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4526280" y="6126480"/>
            <a:ext cx="7589520" cy="4114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4663440" y="6126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agree the six blocking decisions in one architecture session, then schedule benchmarks.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TDS Credit Derivatives - Data &amp; Analytics Platform</dc:title>
  <dc:subject>PptxGenJS Presentation</dc:subject>
  <dc:creator>TD Securities</dc:creator>
  <cp:lastModifiedBy>TD Securities</cp:lastModifiedBy>
  <cp:revision>1</cp:revision>
  <dcterms:created xsi:type="dcterms:W3CDTF">2026-05-11T17:13:32Z</dcterms:created>
  <dcterms:modified xsi:type="dcterms:W3CDTF">2026-05-11T17:13:32Z</dcterms:modified>
</cp:coreProperties>
</file>