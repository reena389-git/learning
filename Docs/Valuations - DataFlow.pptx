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04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84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399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984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" name="Elbow Connector 149">
            <a:extLst>
              <a:ext uri="{FF2B5EF4-FFF2-40B4-BE49-F238E27FC236}">
                <a16:creationId xmlns:a16="http://schemas.microsoft.com/office/drawing/2014/main" id="{3DA50007-BA35-2D29-D469-CC6B6CB62FA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360396" y="4409301"/>
            <a:ext cx="740119" cy="1673340"/>
          </a:xfrm>
          <a:prstGeom prst="bentConnector3">
            <a:avLst>
              <a:gd name="adj1" fmla="val -12041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Shape 13">
            <a:extLst>
              <a:ext uri="{FF2B5EF4-FFF2-40B4-BE49-F238E27FC236}">
                <a16:creationId xmlns:a16="http://schemas.microsoft.com/office/drawing/2014/main" id="{542152BD-2472-728B-1C46-CDEC1B49D739}"/>
              </a:ext>
            </a:extLst>
          </p:cNvPr>
          <p:cNvSpPr/>
          <p:nvPr/>
        </p:nvSpPr>
        <p:spPr>
          <a:xfrm>
            <a:off x="1200046" y="1404547"/>
            <a:ext cx="3658810" cy="4747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anchor="ctr"/>
          <a:lstStyle/>
          <a:p>
            <a:pPr algn="ctr"/>
            <a:endParaRPr lang="en-US" sz="800" dirty="0"/>
          </a:p>
        </p:txBody>
      </p:sp>
      <p:sp>
        <p:nvSpPr>
          <p:cNvPr id="56" name="Shape 13">
            <a:extLst>
              <a:ext uri="{FF2B5EF4-FFF2-40B4-BE49-F238E27FC236}">
                <a16:creationId xmlns:a16="http://schemas.microsoft.com/office/drawing/2014/main" id="{26046B65-696D-7632-C36D-3D0D88517A55}"/>
              </a:ext>
            </a:extLst>
          </p:cNvPr>
          <p:cNvSpPr/>
          <p:nvPr/>
        </p:nvSpPr>
        <p:spPr>
          <a:xfrm>
            <a:off x="4858856" y="2686240"/>
            <a:ext cx="1651442" cy="5028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anchor="ctr"/>
          <a:lstStyle/>
          <a:p>
            <a:pPr algn="ctr"/>
            <a:endParaRPr lang="en-US" sz="8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A09FF04-796A-5B0C-6169-230AA03239C0}"/>
              </a:ext>
            </a:extLst>
          </p:cNvPr>
          <p:cNvSpPr/>
          <p:nvPr/>
        </p:nvSpPr>
        <p:spPr>
          <a:xfrm>
            <a:off x="1228762" y="2603471"/>
            <a:ext cx="973999" cy="13593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E9E19306-D5E0-550D-C1E7-9942CFE6B1A8}"/>
              </a:ext>
            </a:extLst>
          </p:cNvPr>
          <p:cNvSpPr/>
          <p:nvPr/>
        </p:nvSpPr>
        <p:spPr>
          <a:xfrm>
            <a:off x="1252728" y="3483319"/>
            <a:ext cx="3365877" cy="409010"/>
          </a:xfrm>
          <a:prstGeom prst="rect">
            <a:avLst/>
          </a:prstGeom>
          <a:solidFill>
            <a:srgbClr val="008300"/>
          </a:solidFill>
          <a:ln w="19050">
            <a:solidFill>
              <a:srgbClr val="008300"/>
            </a:solidFill>
          </a:ln>
        </p:spPr>
        <p:txBody>
          <a:bodyPr anchor="ctr"/>
          <a:lstStyle/>
          <a:p>
            <a:pPr algn="ctr"/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" name="Shape 13">
            <a:extLst>
              <a:ext uri="{FF2B5EF4-FFF2-40B4-BE49-F238E27FC236}">
                <a16:creationId xmlns:a16="http://schemas.microsoft.com/office/drawing/2014/main" id="{B401F019-958B-8E06-601B-1A9E06984465}"/>
              </a:ext>
            </a:extLst>
          </p:cNvPr>
          <p:cNvSpPr/>
          <p:nvPr/>
        </p:nvSpPr>
        <p:spPr>
          <a:xfrm>
            <a:off x="1252728" y="1435608"/>
            <a:ext cx="896112" cy="409010"/>
          </a:xfrm>
          <a:prstGeom prst="rect">
            <a:avLst/>
          </a:prstGeom>
          <a:solidFill>
            <a:srgbClr val="008300"/>
          </a:solidFill>
          <a:ln/>
        </p:spPr>
        <p:txBody>
          <a:bodyPr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Calypso Derivatives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9DC4E3-F640-9687-0BE0-A36C8B8B69D3}"/>
              </a:ext>
            </a:extLst>
          </p:cNvPr>
          <p:cNvSpPr/>
          <p:nvPr/>
        </p:nvSpPr>
        <p:spPr>
          <a:xfrm>
            <a:off x="2148840" y="669982"/>
            <a:ext cx="3465460" cy="409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Interest Rate Swap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(IRS)</a:t>
            </a:r>
          </a:p>
        </p:txBody>
      </p:sp>
      <p:sp>
        <p:nvSpPr>
          <p:cNvPr id="4" name="Shape 13">
            <a:extLst>
              <a:ext uri="{FF2B5EF4-FFF2-40B4-BE49-F238E27FC236}">
                <a16:creationId xmlns:a16="http://schemas.microsoft.com/office/drawing/2014/main" id="{98E5FBE6-A419-CF47-59A0-6FDB30E0079F}"/>
              </a:ext>
            </a:extLst>
          </p:cNvPr>
          <p:cNvSpPr/>
          <p:nvPr/>
        </p:nvSpPr>
        <p:spPr>
          <a:xfrm>
            <a:off x="2404872" y="1435608"/>
            <a:ext cx="963168" cy="409010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txBody>
          <a:bodyPr anchor="ctr"/>
          <a:lstStyle/>
          <a:p>
            <a:pPr algn="ctr"/>
            <a:r>
              <a:rPr lang="en-US" sz="800" dirty="0"/>
              <a:t>Darwin</a:t>
            </a:r>
          </a:p>
          <a:p>
            <a:pPr algn="ctr"/>
            <a:r>
              <a:rPr lang="en-US" sz="800" dirty="0"/>
              <a:t>(Legacy IRS trades)</a:t>
            </a:r>
          </a:p>
        </p:txBody>
      </p:sp>
      <p:sp>
        <p:nvSpPr>
          <p:cNvPr id="5" name="Shape 13">
            <a:extLst>
              <a:ext uri="{FF2B5EF4-FFF2-40B4-BE49-F238E27FC236}">
                <a16:creationId xmlns:a16="http://schemas.microsoft.com/office/drawing/2014/main" id="{D4542D57-C5F7-9ED4-CD56-FB1603390D26}"/>
              </a:ext>
            </a:extLst>
          </p:cNvPr>
          <p:cNvSpPr/>
          <p:nvPr/>
        </p:nvSpPr>
        <p:spPr>
          <a:xfrm>
            <a:off x="3624072" y="1435608"/>
            <a:ext cx="957974" cy="409010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txBody>
          <a:bodyPr anchor="ctr"/>
          <a:lstStyle/>
          <a:p>
            <a:pPr algn="ctr"/>
            <a:r>
              <a:rPr lang="en-US" sz="800" dirty="0" err="1"/>
              <a:t>Sophis</a:t>
            </a:r>
            <a:endParaRPr lang="en-US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7095E7-BF6F-9C9E-37F6-5721DD646C27}"/>
              </a:ext>
            </a:extLst>
          </p:cNvPr>
          <p:cNvSpPr txBox="1"/>
          <p:nvPr/>
        </p:nvSpPr>
        <p:spPr>
          <a:xfrm>
            <a:off x="162717" y="1427316"/>
            <a:ext cx="9332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Trade Booking</a:t>
            </a:r>
          </a:p>
          <a:p>
            <a:r>
              <a:rPr lang="en-US" sz="1000" dirty="0"/>
              <a:t>Systems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869B7-E95B-4430-4335-3560464D0AF7}"/>
              </a:ext>
            </a:extLst>
          </p:cNvPr>
          <p:cNvSpPr txBox="1"/>
          <p:nvPr/>
        </p:nvSpPr>
        <p:spPr>
          <a:xfrm>
            <a:off x="239373" y="832771"/>
            <a:ext cx="5950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Product</a:t>
            </a:r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B773D5DD-1A84-A467-EE87-DCBE4804706C}"/>
              </a:ext>
            </a:extLst>
          </p:cNvPr>
          <p:cNvSpPr/>
          <p:nvPr/>
        </p:nvSpPr>
        <p:spPr>
          <a:xfrm>
            <a:off x="5697248" y="2831713"/>
            <a:ext cx="729628" cy="314696"/>
          </a:xfrm>
          <a:prstGeom prst="rect">
            <a:avLst/>
          </a:prstGeom>
          <a:solidFill>
            <a:schemeClr val="bg1"/>
          </a:solidFill>
          <a:ln w="12700">
            <a:solidFill>
              <a:srgbClr val="008300"/>
            </a:solidFill>
          </a:ln>
        </p:spPr>
        <p:txBody>
          <a:bodyPr anchor="ctr"/>
          <a:lstStyle/>
          <a:p>
            <a:pPr algn="ctr"/>
            <a:r>
              <a:rPr lang="en-US" sz="800" dirty="0"/>
              <a:t>Scream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5CEE45-3A9A-003E-9B3B-72373C5A8ECA}"/>
              </a:ext>
            </a:extLst>
          </p:cNvPr>
          <p:cNvSpPr txBox="1"/>
          <p:nvPr/>
        </p:nvSpPr>
        <p:spPr>
          <a:xfrm>
            <a:off x="1252728" y="2054767"/>
            <a:ext cx="982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/>
              <a:t>Proprietary -Oracle</a:t>
            </a:r>
          </a:p>
          <a:p>
            <a:r>
              <a:rPr lang="en-US" sz="800" i="1" dirty="0">
                <a:solidFill>
                  <a:schemeClr val="accent1"/>
                </a:solidFill>
              </a:rPr>
              <a:t>Veritas API</a:t>
            </a: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1805F901-F804-1FB8-96AC-9B1B98BD666B}"/>
              </a:ext>
            </a:extLst>
          </p:cNvPr>
          <p:cNvSpPr/>
          <p:nvPr/>
        </p:nvSpPr>
        <p:spPr>
          <a:xfrm>
            <a:off x="4939344" y="2830077"/>
            <a:ext cx="729628" cy="311677"/>
          </a:xfrm>
          <a:prstGeom prst="rect">
            <a:avLst/>
          </a:prstGeom>
          <a:solidFill>
            <a:schemeClr val="bg1"/>
          </a:solidFill>
          <a:ln w="12700">
            <a:solidFill>
              <a:srgbClr val="008300"/>
            </a:solidFill>
          </a:ln>
        </p:spPr>
        <p:txBody>
          <a:bodyPr anchor="ctr"/>
          <a:lstStyle/>
          <a:p>
            <a:pPr algn="ctr"/>
            <a:r>
              <a:rPr lang="en-US" sz="800" dirty="0"/>
              <a:t>Phoenix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6D7532-F555-6363-3D5B-A9803D05C731}"/>
              </a:ext>
            </a:extLst>
          </p:cNvPr>
          <p:cNvSpPr txBox="1"/>
          <p:nvPr/>
        </p:nvSpPr>
        <p:spPr>
          <a:xfrm>
            <a:off x="215407" y="2850814"/>
            <a:ext cx="88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Risk Engines</a:t>
            </a:r>
          </a:p>
          <a:p>
            <a:r>
              <a:rPr lang="en-US" sz="1000" dirty="0"/>
              <a:t>(</a:t>
            </a:r>
            <a:r>
              <a:rPr lang="en-US" sz="1000" b="1" dirty="0">
                <a:solidFill>
                  <a:srgbClr val="00B0F0"/>
                </a:solidFill>
              </a:rPr>
              <a:t>V</a:t>
            </a:r>
            <a:r>
              <a:rPr lang="en-US" sz="1000" dirty="0"/>
              <a:t>aluations)</a:t>
            </a:r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ED2B203A-6778-A851-912D-958524D85C0C}"/>
              </a:ext>
            </a:extLst>
          </p:cNvPr>
          <p:cNvSpPr/>
          <p:nvPr/>
        </p:nvSpPr>
        <p:spPr>
          <a:xfrm>
            <a:off x="1252728" y="2769420"/>
            <a:ext cx="896112" cy="409010"/>
          </a:xfrm>
          <a:prstGeom prst="rect">
            <a:avLst/>
          </a:prstGeom>
          <a:solidFill>
            <a:srgbClr val="008300"/>
          </a:solidFill>
          <a:ln/>
        </p:spPr>
        <p:txBody>
          <a:bodyPr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Risk Valuation Service</a:t>
            </a: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480EBD30-6F01-8EB6-E672-B929BC65B61E}"/>
              </a:ext>
            </a:extLst>
          </p:cNvPr>
          <p:cNvSpPr/>
          <p:nvPr/>
        </p:nvSpPr>
        <p:spPr>
          <a:xfrm>
            <a:off x="2404872" y="2611946"/>
            <a:ext cx="963168" cy="524768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txBody>
          <a:bodyPr anchor="ctr"/>
          <a:lstStyle/>
          <a:p>
            <a:pPr algn="ctr"/>
            <a:r>
              <a:rPr lang="en-US" sz="800" dirty="0"/>
              <a:t>Darwin </a:t>
            </a:r>
          </a:p>
          <a:p>
            <a:pPr algn="ctr"/>
            <a:r>
              <a:rPr lang="en-US" sz="800" dirty="0"/>
              <a:t>Valuation Engine</a:t>
            </a:r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EF1AB938-17C7-3ADE-4FFC-65CD93907E0A}"/>
              </a:ext>
            </a:extLst>
          </p:cNvPr>
          <p:cNvSpPr/>
          <p:nvPr/>
        </p:nvSpPr>
        <p:spPr>
          <a:xfrm>
            <a:off x="3624072" y="2626487"/>
            <a:ext cx="940178" cy="497745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txBody>
          <a:bodyPr anchor="ctr"/>
          <a:lstStyle/>
          <a:p>
            <a:pPr algn="ctr"/>
            <a:r>
              <a:rPr lang="en-US" sz="800" dirty="0" err="1"/>
              <a:t>Sophis</a:t>
            </a:r>
            <a:endParaRPr lang="en-US" sz="800" dirty="0"/>
          </a:p>
          <a:p>
            <a:pPr algn="ctr"/>
            <a:r>
              <a:rPr lang="en-US" sz="800" dirty="0"/>
              <a:t>Valuations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63D9B9-37D0-90DC-CD65-739E03E7D27F}"/>
              </a:ext>
            </a:extLst>
          </p:cNvPr>
          <p:cNvSpPr txBox="1"/>
          <p:nvPr/>
        </p:nvSpPr>
        <p:spPr>
          <a:xfrm>
            <a:off x="215406" y="3558650"/>
            <a:ext cx="9093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Sensitivities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2E85E89-F44E-B11B-7FB5-B36AD96AD319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2886232" y="3204028"/>
            <a:ext cx="1" cy="208793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4EA2929-7BDA-B77C-9D84-67E391A09A1F}"/>
              </a:ext>
            </a:extLst>
          </p:cNvPr>
          <p:cNvCxnSpPr>
            <a:cxnSpLocks/>
            <a:stCxn id="63" idx="2"/>
          </p:cNvCxnSpPr>
          <p:nvPr/>
        </p:nvCxnSpPr>
        <p:spPr>
          <a:xfrm flipV="1">
            <a:off x="3947567" y="3240936"/>
            <a:ext cx="0" cy="251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58EDE56-0299-321F-DDCC-068416D8D2CC}"/>
              </a:ext>
            </a:extLst>
          </p:cNvPr>
          <p:cNvSpPr txBox="1"/>
          <p:nvPr/>
        </p:nvSpPr>
        <p:spPr>
          <a:xfrm>
            <a:off x="190399" y="4461313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Risk Reporting</a:t>
            </a:r>
          </a:p>
          <a:p>
            <a:r>
              <a:rPr lang="en-US" sz="1000" dirty="0"/>
              <a:t>Apps</a:t>
            </a:r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3DC6499B-73CC-2F93-9FB3-2BAAEC6B9720}"/>
              </a:ext>
            </a:extLst>
          </p:cNvPr>
          <p:cNvSpPr/>
          <p:nvPr/>
        </p:nvSpPr>
        <p:spPr>
          <a:xfrm>
            <a:off x="1273954" y="4430469"/>
            <a:ext cx="1529217" cy="409010"/>
          </a:xfrm>
          <a:prstGeom prst="rect">
            <a:avLst/>
          </a:prstGeom>
          <a:solidFill>
            <a:srgbClr val="008300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anchor="ctr"/>
          <a:lstStyle/>
          <a:p>
            <a:pPr algn="ctr"/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87554EC9-DE6E-35F0-6D70-AD6EA85198BE}"/>
              </a:ext>
            </a:extLst>
          </p:cNvPr>
          <p:cNvSpPr/>
          <p:nvPr/>
        </p:nvSpPr>
        <p:spPr>
          <a:xfrm>
            <a:off x="2874582" y="4417724"/>
            <a:ext cx="1396952" cy="409010"/>
          </a:xfrm>
          <a:prstGeom prst="rect">
            <a:avLst/>
          </a:prstGeom>
          <a:solidFill>
            <a:srgbClr val="008300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anchor="ctr"/>
          <a:lstStyle/>
          <a:p>
            <a:pPr algn="ctr"/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CFCD5E-5FD2-A85F-39C3-EE36DE938B2D}"/>
              </a:ext>
            </a:extLst>
          </p:cNvPr>
          <p:cNvSpPr txBox="1"/>
          <p:nvPr/>
        </p:nvSpPr>
        <p:spPr>
          <a:xfrm>
            <a:off x="174756" y="2054768"/>
            <a:ext cx="8980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Persistence &amp;</a:t>
            </a:r>
          </a:p>
          <a:p>
            <a:r>
              <a:rPr lang="en-US" sz="1000" dirty="0"/>
              <a:t>Distribution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DCF35E-7FCA-04B3-E619-E9D3A2072D18}"/>
              </a:ext>
            </a:extLst>
          </p:cNvPr>
          <p:cNvSpPr txBox="1"/>
          <p:nvPr/>
        </p:nvSpPr>
        <p:spPr>
          <a:xfrm>
            <a:off x="2537415" y="2066919"/>
            <a:ext cx="4844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/>
              <a:t>SQL DB</a:t>
            </a:r>
          </a:p>
          <a:p>
            <a:r>
              <a:rPr lang="en-US" sz="800" i="1" dirty="0">
                <a:solidFill>
                  <a:schemeClr val="accent1"/>
                </a:solidFill>
              </a:rPr>
              <a:t>Files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AD9312-7284-B90B-0078-197BBDA83932}"/>
              </a:ext>
            </a:extLst>
          </p:cNvPr>
          <p:cNvSpPr txBox="1"/>
          <p:nvPr/>
        </p:nvSpPr>
        <p:spPr>
          <a:xfrm>
            <a:off x="3538728" y="2008642"/>
            <a:ext cx="909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/>
              <a:t>Custom Platform </a:t>
            </a:r>
          </a:p>
          <a:p>
            <a:r>
              <a:rPr lang="en-US" sz="800" i="1" dirty="0"/>
              <a:t>– ECHO API</a:t>
            </a:r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6D008CFC-2DF1-5BB2-9D7E-703DBBFE0CFA}"/>
              </a:ext>
            </a:extLst>
          </p:cNvPr>
          <p:cNvSpPr/>
          <p:nvPr/>
        </p:nvSpPr>
        <p:spPr>
          <a:xfrm>
            <a:off x="2377119" y="1374588"/>
            <a:ext cx="1018227" cy="18294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anchor="ctr"/>
          <a:lstStyle/>
          <a:p>
            <a:pPr algn="ctr"/>
            <a:endParaRPr lang="en-US" sz="800" dirty="0"/>
          </a:p>
        </p:txBody>
      </p:sp>
      <p:sp>
        <p:nvSpPr>
          <p:cNvPr id="49" name="Shape 13">
            <a:extLst>
              <a:ext uri="{FF2B5EF4-FFF2-40B4-BE49-F238E27FC236}">
                <a16:creationId xmlns:a16="http://schemas.microsoft.com/office/drawing/2014/main" id="{EF8334C3-450B-7BE4-D420-67BDBECB890B}"/>
              </a:ext>
            </a:extLst>
          </p:cNvPr>
          <p:cNvSpPr/>
          <p:nvPr/>
        </p:nvSpPr>
        <p:spPr>
          <a:xfrm>
            <a:off x="3600384" y="1358283"/>
            <a:ext cx="990742" cy="1843919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anchor="ctr"/>
          <a:lstStyle/>
          <a:p>
            <a:pPr algn="ctr"/>
            <a:endParaRPr lang="en-US" sz="8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688D76-43E4-5DEB-0493-2B23979D006A}"/>
              </a:ext>
            </a:extLst>
          </p:cNvPr>
          <p:cNvSpPr txBox="1"/>
          <p:nvPr/>
        </p:nvSpPr>
        <p:spPr>
          <a:xfrm>
            <a:off x="4052283" y="1662188"/>
            <a:ext cx="66590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dirty="0"/>
              <a:t>IR Exposure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A47B45E-7380-3E68-0F3C-07811929E67E}"/>
              </a:ext>
            </a:extLst>
          </p:cNvPr>
          <p:cNvSpPr txBox="1"/>
          <p:nvPr/>
        </p:nvSpPr>
        <p:spPr>
          <a:xfrm>
            <a:off x="1329570" y="2556623"/>
            <a:ext cx="6783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Market Risk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32D158B-AF88-22A5-FA8C-4F3548F2CAEB}"/>
              </a:ext>
            </a:extLst>
          </p:cNvPr>
          <p:cNvCxnSpPr>
            <a:cxnSpLocks/>
          </p:cNvCxnSpPr>
          <p:nvPr/>
        </p:nvCxnSpPr>
        <p:spPr>
          <a:xfrm flipV="1">
            <a:off x="2202761" y="3483319"/>
            <a:ext cx="0" cy="32155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Shape 13">
            <a:extLst>
              <a:ext uri="{FF2B5EF4-FFF2-40B4-BE49-F238E27FC236}">
                <a16:creationId xmlns:a16="http://schemas.microsoft.com/office/drawing/2014/main" id="{6CBC1684-6964-C75C-21A4-FD4BD565A52D}"/>
              </a:ext>
            </a:extLst>
          </p:cNvPr>
          <p:cNvSpPr/>
          <p:nvPr/>
        </p:nvSpPr>
        <p:spPr>
          <a:xfrm>
            <a:off x="6564658" y="2686240"/>
            <a:ext cx="812494" cy="492190"/>
          </a:xfrm>
          <a:prstGeom prst="rect">
            <a:avLst/>
          </a:prstGeom>
          <a:noFill/>
          <a:ln w="12700">
            <a:solidFill>
              <a:srgbClr val="008300"/>
            </a:solidFill>
          </a:ln>
        </p:spPr>
        <p:txBody>
          <a:bodyPr anchor="ctr"/>
          <a:lstStyle/>
          <a:p>
            <a:pPr algn="ctr"/>
            <a:r>
              <a:rPr lang="en-US" sz="800" dirty="0" err="1"/>
              <a:t>AlFA</a:t>
            </a:r>
            <a:endParaRPr lang="en-US" sz="800" dirty="0"/>
          </a:p>
          <a:p>
            <a:pPr algn="ctr"/>
            <a:r>
              <a:rPr lang="en-US" sz="800" dirty="0"/>
              <a:t>Liquidity Stress Testing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EBE8C21-BDF1-A138-A00E-EB2B52446328}"/>
              </a:ext>
            </a:extLst>
          </p:cNvPr>
          <p:cNvSpPr txBox="1"/>
          <p:nvPr/>
        </p:nvSpPr>
        <p:spPr>
          <a:xfrm>
            <a:off x="5180992" y="2523099"/>
            <a:ext cx="978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Credit Risk</a:t>
            </a:r>
          </a:p>
          <a:p>
            <a:pPr algn="ctr"/>
            <a:r>
              <a:rPr lang="en-US" sz="800" b="1" dirty="0"/>
              <a:t>Internal</a:t>
            </a:r>
            <a:r>
              <a:rPr lang="en-US" sz="800" dirty="0"/>
              <a:t> Valuations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42509A-66F2-4614-6E52-BE8813848BB0}"/>
              </a:ext>
            </a:extLst>
          </p:cNvPr>
          <p:cNvSpPr txBox="1"/>
          <p:nvPr/>
        </p:nvSpPr>
        <p:spPr>
          <a:xfrm>
            <a:off x="2935666" y="4604404"/>
            <a:ext cx="1305345" cy="18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740"/>
              </a:lnSpc>
            </a:pPr>
            <a:r>
              <a:rPr lang="en-US" sz="700" i="1" dirty="0">
                <a:solidFill>
                  <a:schemeClr val="bg1"/>
                </a:solidFill>
                <a:latin typeface="+mj-lt"/>
                <a:cs typeface="Calibri" pitchFamily="34" charset="-120"/>
              </a:rPr>
              <a:t>official EOD </a:t>
            </a:r>
            <a:r>
              <a:rPr lang="en-US" sz="700" i="1" dirty="0" err="1">
                <a:solidFill>
                  <a:schemeClr val="bg1"/>
                </a:solidFill>
                <a:latin typeface="+mj-lt"/>
                <a:cs typeface="Calibri" pitchFamily="34" charset="-120"/>
              </a:rPr>
              <a:t>PnL</a:t>
            </a:r>
            <a:endParaRPr lang="en-US" sz="700" i="1" dirty="0">
              <a:solidFill>
                <a:schemeClr val="bg1"/>
              </a:solidFill>
              <a:latin typeface="+mj-lt"/>
              <a:cs typeface="Calibri" pitchFamily="34" charset="-12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BE8693-BB73-43CA-98E1-F65C2E40B5C2}"/>
              </a:ext>
            </a:extLst>
          </p:cNvPr>
          <p:cNvSpPr txBox="1"/>
          <p:nvPr/>
        </p:nvSpPr>
        <p:spPr>
          <a:xfrm>
            <a:off x="1329570" y="4608475"/>
            <a:ext cx="146012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official EOD reporting for Valuations</a:t>
            </a:r>
            <a:endParaRPr lang="en-US" sz="7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4B8BA9-3428-7849-9E20-8965E5948E1B}"/>
              </a:ext>
            </a:extLst>
          </p:cNvPr>
          <p:cNvSpPr txBox="1"/>
          <p:nvPr/>
        </p:nvSpPr>
        <p:spPr>
          <a:xfrm>
            <a:off x="1229813" y="3125932"/>
            <a:ext cx="10070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/>
              <a:t>Storage: Berkley DB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312788-915B-4B84-9B7C-F144F879760A}"/>
              </a:ext>
            </a:extLst>
          </p:cNvPr>
          <p:cNvSpPr txBox="1"/>
          <p:nvPr/>
        </p:nvSpPr>
        <p:spPr>
          <a:xfrm>
            <a:off x="2215316" y="3713825"/>
            <a:ext cx="1504707" cy="459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740"/>
              </a:lnSpc>
            </a:pPr>
            <a:r>
              <a:rPr lang="en-US" sz="700" i="1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official Stress, </a:t>
            </a:r>
            <a:r>
              <a:rPr lang="en-US" sz="700" i="1" dirty="0" err="1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VaR</a:t>
            </a:r>
            <a:r>
              <a:rPr lang="en-US" sz="700" i="1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, FRTB reporting</a:t>
            </a:r>
            <a:endParaRPr lang="en-US" sz="700" dirty="0">
              <a:solidFill>
                <a:schemeClr val="bg1"/>
              </a:solidFill>
              <a:latin typeface="+mj-lt"/>
            </a:endParaRPr>
          </a:p>
          <a:p>
            <a:endParaRPr 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6C3070-AD3F-A84B-DD21-51AE9204D078}"/>
              </a:ext>
            </a:extLst>
          </p:cNvPr>
          <p:cNvSpPr txBox="1"/>
          <p:nvPr/>
        </p:nvSpPr>
        <p:spPr>
          <a:xfrm>
            <a:off x="3623600" y="3276846"/>
            <a:ext cx="6479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 err="1"/>
              <a:t>sensitivites</a:t>
            </a:r>
            <a:endParaRPr lang="en-US" sz="800" i="1" dirty="0"/>
          </a:p>
        </p:txBody>
      </p:sp>
      <p:sp>
        <p:nvSpPr>
          <p:cNvPr id="69" name="Shape 13">
            <a:extLst>
              <a:ext uri="{FF2B5EF4-FFF2-40B4-BE49-F238E27FC236}">
                <a16:creationId xmlns:a16="http://schemas.microsoft.com/office/drawing/2014/main" id="{5B3B2CE1-EF2D-B9BB-3944-C66BFA478BEE}"/>
              </a:ext>
            </a:extLst>
          </p:cNvPr>
          <p:cNvSpPr/>
          <p:nvPr/>
        </p:nvSpPr>
        <p:spPr>
          <a:xfrm>
            <a:off x="5099074" y="4238920"/>
            <a:ext cx="2332358" cy="548868"/>
          </a:xfrm>
          <a:prstGeom prst="rect">
            <a:avLst/>
          </a:prstGeom>
          <a:solidFill>
            <a:schemeClr val="bg1"/>
          </a:solidFill>
          <a:ln w="12700">
            <a:solidFill>
              <a:srgbClr val="008300"/>
            </a:solidFill>
          </a:ln>
        </p:spPr>
        <p:txBody>
          <a:bodyPr anchor="ctr"/>
          <a:lstStyle/>
          <a:p>
            <a:pPr algn="ctr"/>
            <a:r>
              <a:rPr lang="en-US" sz="800" b="1" dirty="0"/>
              <a:t>Credit Risk &amp; ALFA</a:t>
            </a:r>
          </a:p>
          <a:p>
            <a:pPr algn="ctr"/>
            <a:r>
              <a:rPr lang="en-US" sz="800" dirty="0"/>
              <a:t>Also serve as official  EOD reporting/Regulatory Reporting and Limits Management 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852BA9F-00D5-7992-8AB4-528D9C70F298}"/>
              </a:ext>
            </a:extLst>
          </p:cNvPr>
          <p:cNvCxnSpPr>
            <a:cxnSpLocks/>
          </p:cNvCxnSpPr>
          <p:nvPr/>
        </p:nvCxnSpPr>
        <p:spPr>
          <a:xfrm>
            <a:off x="1720312" y="1917112"/>
            <a:ext cx="0" cy="537766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C1A10CC2-85FB-3B0E-0B8D-C090D93B2629}"/>
              </a:ext>
            </a:extLst>
          </p:cNvPr>
          <p:cNvSpPr txBox="1"/>
          <p:nvPr/>
        </p:nvSpPr>
        <p:spPr>
          <a:xfrm>
            <a:off x="1533687" y="1156317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13BE7ED-09A3-42AD-EBD3-60B2D6DEAAA3}"/>
              </a:ext>
            </a:extLst>
          </p:cNvPr>
          <p:cNvSpPr txBox="1"/>
          <p:nvPr/>
        </p:nvSpPr>
        <p:spPr>
          <a:xfrm>
            <a:off x="2646718" y="1148796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F71F4F1-2D14-D3BB-57F0-5E626DE94BBA}"/>
              </a:ext>
            </a:extLst>
          </p:cNvPr>
          <p:cNvSpPr txBox="1"/>
          <p:nvPr/>
        </p:nvSpPr>
        <p:spPr>
          <a:xfrm>
            <a:off x="3908047" y="1156316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T3</a:t>
            </a:r>
          </a:p>
        </p:txBody>
      </p: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204B4EC6-6779-BE82-2814-0451DA16353B}"/>
              </a:ext>
            </a:extLst>
          </p:cNvPr>
          <p:cNvCxnSpPr>
            <a:stCxn id="86" idx="3"/>
            <a:endCxn id="58" idx="0"/>
          </p:cNvCxnSpPr>
          <p:nvPr/>
        </p:nvCxnSpPr>
        <p:spPr>
          <a:xfrm>
            <a:off x="4858856" y="1641920"/>
            <a:ext cx="811213" cy="881179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AE4F349A-1162-5C57-0052-6ABCBDA97430}"/>
              </a:ext>
            </a:extLst>
          </p:cNvPr>
          <p:cNvCxnSpPr>
            <a:cxnSpLocks/>
          </p:cNvCxnSpPr>
          <p:nvPr/>
        </p:nvCxnSpPr>
        <p:spPr>
          <a:xfrm>
            <a:off x="4833025" y="1544759"/>
            <a:ext cx="2112049" cy="1044320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D4E21006-622C-09F7-2DAE-2B804A684898}"/>
              </a:ext>
            </a:extLst>
          </p:cNvPr>
          <p:cNvSpPr txBox="1"/>
          <p:nvPr/>
        </p:nvSpPr>
        <p:spPr>
          <a:xfrm>
            <a:off x="1656660" y="2420305"/>
            <a:ext cx="2888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P1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1E6EBA4-EFA5-CCBE-9546-70887229D11A}"/>
              </a:ext>
            </a:extLst>
          </p:cNvPr>
          <p:cNvSpPr txBox="1"/>
          <p:nvPr/>
        </p:nvSpPr>
        <p:spPr>
          <a:xfrm>
            <a:off x="1385509" y="5030528"/>
            <a:ext cx="2904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P2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3B749AE-86A6-9713-62E4-D8F426CE688F}"/>
              </a:ext>
            </a:extLst>
          </p:cNvPr>
          <p:cNvSpPr txBox="1"/>
          <p:nvPr/>
        </p:nvSpPr>
        <p:spPr>
          <a:xfrm>
            <a:off x="3624307" y="4948177"/>
            <a:ext cx="2904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P5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0F21F9B-40EA-01D8-4D5F-130D759F4710}"/>
              </a:ext>
            </a:extLst>
          </p:cNvPr>
          <p:cNvSpPr txBox="1"/>
          <p:nvPr/>
        </p:nvSpPr>
        <p:spPr>
          <a:xfrm>
            <a:off x="2595768" y="5012894"/>
            <a:ext cx="2904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P4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24ADC97-3FDD-C262-BC71-AB4CCC490417}"/>
              </a:ext>
            </a:extLst>
          </p:cNvPr>
          <p:cNvSpPr txBox="1"/>
          <p:nvPr/>
        </p:nvSpPr>
        <p:spPr>
          <a:xfrm>
            <a:off x="5594020" y="2247746"/>
            <a:ext cx="2904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p7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99ED2E9-99AB-1059-7B38-D2EB9E071CF0}"/>
              </a:ext>
            </a:extLst>
          </p:cNvPr>
          <p:cNvSpPr txBox="1"/>
          <p:nvPr/>
        </p:nvSpPr>
        <p:spPr>
          <a:xfrm>
            <a:off x="1186188" y="2596817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00B0F0"/>
                </a:solidFill>
              </a:rPr>
              <a:t>V1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C9BE81B-1E41-C9B3-D263-AD8193FB477E}"/>
              </a:ext>
            </a:extLst>
          </p:cNvPr>
          <p:cNvSpPr txBox="1"/>
          <p:nvPr/>
        </p:nvSpPr>
        <p:spPr>
          <a:xfrm>
            <a:off x="2383234" y="2589078"/>
            <a:ext cx="333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00B0F0"/>
                </a:solidFill>
              </a:rPr>
              <a:t>V2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8505E6E-65D2-40C1-F0F2-01B64E073E97}"/>
              </a:ext>
            </a:extLst>
          </p:cNvPr>
          <p:cNvSpPr txBox="1"/>
          <p:nvPr/>
        </p:nvSpPr>
        <p:spPr>
          <a:xfrm>
            <a:off x="3567569" y="2605478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00B0F0"/>
                </a:solidFill>
              </a:rPr>
              <a:t>V3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1683D25-A91C-B8E1-4C64-5D28631CA94B}"/>
              </a:ext>
            </a:extLst>
          </p:cNvPr>
          <p:cNvSpPr txBox="1"/>
          <p:nvPr/>
        </p:nvSpPr>
        <p:spPr>
          <a:xfrm>
            <a:off x="4889192" y="2781943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00B0F0"/>
                </a:solidFill>
              </a:rPr>
              <a:t>V4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6D2BF42-E3B9-7B30-5BDB-10FFCECA592D}"/>
              </a:ext>
            </a:extLst>
          </p:cNvPr>
          <p:cNvSpPr txBox="1"/>
          <p:nvPr/>
        </p:nvSpPr>
        <p:spPr>
          <a:xfrm>
            <a:off x="5647700" y="2802065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00B0F0"/>
                </a:solidFill>
              </a:rPr>
              <a:t>V5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C1FB116-28FF-1237-9305-A3A91567613D}"/>
              </a:ext>
            </a:extLst>
          </p:cNvPr>
          <p:cNvSpPr txBox="1"/>
          <p:nvPr/>
        </p:nvSpPr>
        <p:spPr>
          <a:xfrm>
            <a:off x="6542916" y="2695531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00B0F0"/>
                </a:solidFill>
              </a:rPr>
              <a:t>V6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16626CB-F67B-20AF-39A3-8398B044F1BC}"/>
              </a:ext>
            </a:extLst>
          </p:cNvPr>
          <p:cNvGrpSpPr/>
          <p:nvPr/>
        </p:nvGrpSpPr>
        <p:grpSpPr>
          <a:xfrm>
            <a:off x="1283108" y="5250021"/>
            <a:ext cx="1233220" cy="316832"/>
            <a:chOff x="1260477" y="5454179"/>
            <a:chExt cx="1233220" cy="316832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4444524-6DAC-6EFD-036C-722E1F22C4E8}"/>
                </a:ext>
              </a:extLst>
            </p:cNvPr>
            <p:cNvSpPr txBox="1"/>
            <p:nvPr/>
          </p:nvSpPr>
          <p:spPr>
            <a:xfrm>
              <a:off x="1483064" y="5489484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T1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4BD13F44-9820-0355-BF6A-B9C5FFBDA022}"/>
                </a:ext>
              </a:extLst>
            </p:cNvPr>
            <p:cNvSpPr txBox="1"/>
            <p:nvPr/>
          </p:nvSpPr>
          <p:spPr>
            <a:xfrm>
              <a:off x="1823307" y="5485288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T2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57157F7-4663-5847-5B28-51E4883D7D72}"/>
                </a:ext>
              </a:extLst>
            </p:cNvPr>
            <p:cNvSpPr txBox="1"/>
            <p:nvPr/>
          </p:nvSpPr>
          <p:spPr>
            <a:xfrm>
              <a:off x="2132789" y="5496468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T3</a:t>
              </a:r>
            </a:p>
          </p:txBody>
        </p:sp>
        <p:sp>
          <p:nvSpPr>
            <p:cNvPr id="114" name="Shape 13">
              <a:extLst>
                <a:ext uri="{FF2B5EF4-FFF2-40B4-BE49-F238E27FC236}">
                  <a16:creationId xmlns:a16="http://schemas.microsoft.com/office/drawing/2014/main" id="{5AF45E1E-F9E9-9D6F-6D3A-DE4304DBD07D}"/>
                </a:ext>
              </a:extLst>
            </p:cNvPr>
            <p:cNvSpPr/>
            <p:nvPr/>
          </p:nvSpPr>
          <p:spPr>
            <a:xfrm>
              <a:off x="1260477" y="5454179"/>
              <a:ext cx="1233220" cy="316832"/>
            </a:xfrm>
            <a:prstGeom prst="rect">
              <a:avLst/>
            </a:prstGeom>
            <a:noFill/>
            <a:ln w="12700">
              <a:solidFill>
                <a:schemeClr val="bg1">
                  <a:lumMod val="65000"/>
                </a:schemeClr>
              </a:solidFill>
            </a:ln>
          </p:spPr>
          <p:txBody>
            <a:bodyPr anchor="ctr"/>
            <a:lstStyle/>
            <a:p>
              <a:pPr algn="ctr"/>
              <a:endParaRPr lang="en-US" sz="800" dirty="0"/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AB453B2B-0C57-F256-B3CE-A1C42690DE54}"/>
              </a:ext>
            </a:extLst>
          </p:cNvPr>
          <p:cNvSpPr txBox="1"/>
          <p:nvPr/>
        </p:nvSpPr>
        <p:spPr>
          <a:xfrm>
            <a:off x="2209591" y="5021265"/>
            <a:ext cx="2904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P3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B6FB1A5-B29D-A96D-1067-3CBA9ED95CD1}"/>
              </a:ext>
            </a:extLst>
          </p:cNvPr>
          <p:cNvGrpSpPr/>
          <p:nvPr/>
        </p:nvGrpSpPr>
        <p:grpSpPr>
          <a:xfrm>
            <a:off x="2585068" y="5242997"/>
            <a:ext cx="1281984" cy="316832"/>
            <a:chOff x="3444775" y="5418872"/>
            <a:chExt cx="1281984" cy="316832"/>
          </a:xfrm>
        </p:grpSpPr>
        <p:sp>
          <p:nvSpPr>
            <p:cNvPr id="121" name="Shape 13">
              <a:extLst>
                <a:ext uri="{FF2B5EF4-FFF2-40B4-BE49-F238E27FC236}">
                  <a16:creationId xmlns:a16="http://schemas.microsoft.com/office/drawing/2014/main" id="{0FCDB3C1-CCCA-1F91-0CFA-CAEF53DECF12}"/>
                </a:ext>
              </a:extLst>
            </p:cNvPr>
            <p:cNvSpPr/>
            <p:nvPr/>
          </p:nvSpPr>
          <p:spPr>
            <a:xfrm>
              <a:off x="3444775" y="5418872"/>
              <a:ext cx="1281984" cy="3168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txBody>
            <a:bodyPr anchor="ctr"/>
            <a:lstStyle/>
            <a:p>
              <a:pPr algn="ctr"/>
              <a:endParaRPr lang="en-US" sz="800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659D648-225C-0186-C308-AA8B62EF3EFA}"/>
                </a:ext>
              </a:extLst>
            </p:cNvPr>
            <p:cNvSpPr txBox="1"/>
            <p:nvPr/>
          </p:nvSpPr>
          <p:spPr>
            <a:xfrm>
              <a:off x="3546587" y="5459978"/>
              <a:ext cx="29687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rgbClr val="00B0F0"/>
                  </a:solidFill>
                </a:rPr>
                <a:t>V1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C0F4DCF-1F7E-CC55-5767-667FD6DEDE95}"/>
                </a:ext>
              </a:extLst>
            </p:cNvPr>
            <p:cNvSpPr txBox="1"/>
            <p:nvPr/>
          </p:nvSpPr>
          <p:spPr>
            <a:xfrm>
              <a:off x="3926420" y="5465450"/>
              <a:ext cx="29687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rgbClr val="00B0F0"/>
                  </a:solidFill>
                </a:rPr>
                <a:t>V2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25846F5-6DBA-17E8-F1CD-F6D3204D3117}"/>
                </a:ext>
              </a:extLst>
            </p:cNvPr>
            <p:cNvSpPr txBox="1"/>
            <p:nvPr/>
          </p:nvSpPr>
          <p:spPr>
            <a:xfrm>
              <a:off x="4313684" y="5459978"/>
              <a:ext cx="29687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rgbClr val="00B0F0"/>
                  </a:solidFill>
                </a:rPr>
                <a:t>V3</a:t>
              </a:r>
            </a:p>
          </p:txBody>
        </p:sp>
      </p:grp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7A047D0B-C7FF-D970-ABB8-909272C936BB}"/>
              </a:ext>
            </a:extLst>
          </p:cNvPr>
          <p:cNvCxnSpPr/>
          <p:nvPr/>
        </p:nvCxnSpPr>
        <p:spPr>
          <a:xfrm>
            <a:off x="5697248" y="3341376"/>
            <a:ext cx="0" cy="84271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AF1ADFDE-7C62-94A4-AE9A-1476928DE745}"/>
              </a:ext>
            </a:extLst>
          </p:cNvPr>
          <p:cNvCxnSpPr/>
          <p:nvPr/>
        </p:nvCxnSpPr>
        <p:spPr>
          <a:xfrm>
            <a:off x="6945074" y="3288592"/>
            <a:ext cx="0" cy="84271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F85BB0C-AFF9-DE9D-7AA4-07370D7B4357}"/>
              </a:ext>
            </a:extLst>
          </p:cNvPr>
          <p:cNvCxnSpPr/>
          <p:nvPr/>
        </p:nvCxnSpPr>
        <p:spPr>
          <a:xfrm flipV="1">
            <a:off x="2397329" y="4928780"/>
            <a:ext cx="0" cy="326728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D0C90E96-C9F6-CD67-2FC2-15A2693D9DFF}"/>
              </a:ext>
            </a:extLst>
          </p:cNvPr>
          <p:cNvSpPr txBox="1"/>
          <p:nvPr/>
        </p:nvSpPr>
        <p:spPr>
          <a:xfrm>
            <a:off x="3383795" y="4415352"/>
            <a:ext cx="4090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SPRx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0592908-7D19-C1C6-0128-4F7F28609C8B}"/>
              </a:ext>
            </a:extLst>
          </p:cNvPr>
          <p:cNvSpPr txBox="1"/>
          <p:nvPr/>
        </p:nvSpPr>
        <p:spPr>
          <a:xfrm>
            <a:off x="1781403" y="4430469"/>
            <a:ext cx="3545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MRI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AE27B7D-14B3-B77F-FEDD-06D363D8085E}"/>
              </a:ext>
            </a:extLst>
          </p:cNvPr>
          <p:cNvSpPr txBox="1"/>
          <p:nvPr/>
        </p:nvSpPr>
        <p:spPr>
          <a:xfrm>
            <a:off x="2648672" y="3496183"/>
            <a:ext cx="3818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RCS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AA834C8F-0800-811C-FEA8-81CF2936C7F5}"/>
              </a:ext>
            </a:extLst>
          </p:cNvPr>
          <p:cNvCxnSpPr/>
          <p:nvPr/>
        </p:nvCxnSpPr>
        <p:spPr>
          <a:xfrm flipV="1">
            <a:off x="1641646" y="4928780"/>
            <a:ext cx="0" cy="326728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5FAE4A91-FA07-A00A-E9F7-057B0D2045D1}"/>
              </a:ext>
            </a:extLst>
          </p:cNvPr>
          <p:cNvCxnSpPr/>
          <p:nvPr/>
        </p:nvCxnSpPr>
        <p:spPr>
          <a:xfrm flipV="1">
            <a:off x="3708515" y="4867164"/>
            <a:ext cx="0" cy="326728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214EBA63-6360-8A60-DEA2-D060E34C9964}"/>
              </a:ext>
            </a:extLst>
          </p:cNvPr>
          <p:cNvCxnSpPr/>
          <p:nvPr/>
        </p:nvCxnSpPr>
        <p:spPr>
          <a:xfrm flipV="1">
            <a:off x="2741000" y="4904277"/>
            <a:ext cx="0" cy="326728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41253532-73F1-EFB1-2981-1395000A0A36}"/>
              </a:ext>
            </a:extLst>
          </p:cNvPr>
          <p:cNvSpPr txBox="1"/>
          <p:nvPr/>
        </p:nvSpPr>
        <p:spPr>
          <a:xfrm>
            <a:off x="3394029" y="4956135"/>
            <a:ext cx="2904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P6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615FE84-24B2-7E63-6DF9-C71589F88B14}"/>
              </a:ext>
            </a:extLst>
          </p:cNvPr>
          <p:cNvSpPr txBox="1"/>
          <p:nvPr/>
        </p:nvSpPr>
        <p:spPr>
          <a:xfrm>
            <a:off x="6894309" y="2341179"/>
            <a:ext cx="2904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p8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FD184480-0520-ADF0-96F9-85E47D333188}"/>
              </a:ext>
            </a:extLst>
          </p:cNvPr>
          <p:cNvSpPr txBox="1"/>
          <p:nvPr/>
        </p:nvSpPr>
        <p:spPr>
          <a:xfrm>
            <a:off x="8189157" y="1360093"/>
            <a:ext cx="246915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9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Multiple books of record (</a:t>
            </a:r>
            <a:r>
              <a:rPr lang="en-US" sz="9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T1,T2,T3) </a:t>
            </a:r>
            <a:r>
              <a:rPr lang="en-US" sz="9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represent</a:t>
            </a:r>
          </a:p>
          <a:p>
            <a:pPr marL="0" marR="0">
              <a:buNone/>
            </a:pPr>
            <a:r>
              <a:rPr lang="en-US" sz="9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similar economic risk</a:t>
            </a:r>
            <a:r>
              <a:rPr lang="en-US" sz="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9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differently.</a:t>
            </a:r>
          </a:p>
          <a:p>
            <a:pPr marL="171450" marR="0" indent="-171450">
              <a:buFont typeface="Arial" panose="020B0604020202020204" pitchFamily="34" charset="0"/>
              <a:buChar char="•"/>
            </a:pPr>
            <a:r>
              <a:rPr lang="en-US" sz="900" kern="100" dirty="0">
                <a:ea typeface="Aptos" panose="020B0004020202020204" pitchFamily="34" charset="0"/>
                <a:cs typeface="Times New Roman" panose="02020603050405020304" pitchFamily="18" charset="0"/>
              </a:rPr>
              <a:t>Different Booking Models</a:t>
            </a:r>
          </a:p>
          <a:p>
            <a:pPr marL="171450" marR="0" indent="-171450">
              <a:buFont typeface="Arial" panose="020B0604020202020204" pitchFamily="34" charset="0"/>
              <a:buChar char="•"/>
            </a:pPr>
            <a:r>
              <a:rPr lang="en-US" sz="9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Different Data Storage Structures</a:t>
            </a:r>
          </a:p>
          <a:p>
            <a:pPr marL="171450" marR="0" indent="-171450">
              <a:buFont typeface="Arial" panose="020B0604020202020204" pitchFamily="34" charset="0"/>
              <a:buChar char="•"/>
            </a:pPr>
            <a:r>
              <a:rPr lang="en-US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Different Data Models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78B2585-330B-7CD0-6B94-10B9735F9B6F}"/>
              </a:ext>
            </a:extLst>
          </p:cNvPr>
          <p:cNvSpPr txBox="1"/>
          <p:nvPr/>
        </p:nvSpPr>
        <p:spPr>
          <a:xfrm>
            <a:off x="8202984" y="2666148"/>
            <a:ext cx="3161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kern="100" dirty="0">
                <a:cs typeface="Times New Roman" panose="02020603050405020304" pitchFamily="18" charset="0"/>
              </a:rPr>
              <a:t>Multiple risk engines (</a:t>
            </a:r>
            <a:r>
              <a:rPr lang="en-US" sz="900" kern="100" dirty="0">
                <a:solidFill>
                  <a:srgbClr val="00B0F0"/>
                </a:solidFill>
                <a:cs typeface="Times New Roman" panose="02020603050405020304" pitchFamily="18" charset="0"/>
              </a:rPr>
              <a:t>V1-Vn</a:t>
            </a:r>
            <a:r>
              <a:rPr lang="en-US" sz="900" kern="100" dirty="0">
                <a:cs typeface="Times New Roman" panose="02020603050405020304" pitchFamily="18" charset="0"/>
              </a:rPr>
              <a:t>) calculate and store results differently.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kern="100" dirty="0">
                <a:cs typeface="Times New Roman" panose="02020603050405020304" pitchFamily="18" charset="0"/>
              </a:rPr>
              <a:t>Different Libraries 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kern="100" dirty="0">
                <a:cs typeface="Times New Roman" panose="02020603050405020304" pitchFamily="18" charset="0"/>
              </a:rPr>
              <a:t>Different Methodology ?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4A8F69D-1DE2-6D58-75A9-2C9B1E288B44}"/>
              </a:ext>
            </a:extLst>
          </p:cNvPr>
          <p:cNvSpPr txBox="1"/>
          <p:nvPr/>
        </p:nvSpPr>
        <p:spPr>
          <a:xfrm>
            <a:off x="8202984" y="4230686"/>
            <a:ext cx="2332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kern="100" dirty="0">
                <a:cs typeface="Times New Roman" panose="02020603050405020304" pitchFamily="18" charset="0"/>
              </a:rPr>
              <a:t>Multiple reporting applications independently consume and reshape similar information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2E92D44-EE75-0D3E-977E-CA0D765562D6}"/>
              </a:ext>
            </a:extLst>
          </p:cNvPr>
          <p:cNvSpPr txBox="1"/>
          <p:nvPr/>
        </p:nvSpPr>
        <p:spPr>
          <a:xfrm>
            <a:off x="8189157" y="725049"/>
            <a:ext cx="23344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kern="100" dirty="0">
                <a:cs typeface="Times New Roman" panose="02020603050405020304" pitchFamily="18" charset="0"/>
              </a:rPr>
              <a:t>One Product Type booked in multiple Systems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18A633C-3F97-F794-96F7-5304D519C23A}"/>
              </a:ext>
            </a:extLst>
          </p:cNvPr>
          <p:cNvSpPr txBox="1"/>
          <p:nvPr/>
        </p:nvSpPr>
        <p:spPr>
          <a:xfrm>
            <a:off x="3567126" y="30338"/>
            <a:ext cx="3773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Valuations – Representative Data Flow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F29350E-77E4-20EB-F380-D221F0135B33}"/>
              </a:ext>
            </a:extLst>
          </p:cNvPr>
          <p:cNvSpPr txBox="1"/>
          <p:nvPr/>
        </p:nvSpPr>
        <p:spPr>
          <a:xfrm>
            <a:off x="239373" y="6292645"/>
            <a:ext cx="10422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00B0F0"/>
                </a:solidFill>
              </a:rPr>
              <a:t>V1-Vn :     </a:t>
            </a:r>
            <a:r>
              <a:rPr lang="en-US" sz="800" dirty="0"/>
              <a:t>Valuations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A66E28A-E363-069D-68DA-90FEAEB22F5A}"/>
              </a:ext>
            </a:extLst>
          </p:cNvPr>
          <p:cNvSpPr txBox="1"/>
          <p:nvPr/>
        </p:nvSpPr>
        <p:spPr>
          <a:xfrm>
            <a:off x="225106" y="6508089"/>
            <a:ext cx="12186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T1,T2,T3 :  trade Booking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38BBFCA-0001-483F-ECD0-C36D0BBB184D}"/>
              </a:ext>
            </a:extLst>
          </p:cNvPr>
          <p:cNvSpPr txBox="1"/>
          <p:nvPr/>
        </p:nvSpPr>
        <p:spPr>
          <a:xfrm>
            <a:off x="1700784" y="6292645"/>
            <a:ext cx="19768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C00000"/>
                </a:solidFill>
              </a:rPr>
              <a:t>P&lt;n&gt; :  </a:t>
            </a:r>
            <a:r>
              <a:rPr lang="en-US" sz="800" dirty="0"/>
              <a:t>Data ingestion/Processing pipelines</a:t>
            </a:r>
          </a:p>
        </p:txBody>
      </p:sp>
      <p:sp>
        <p:nvSpPr>
          <p:cNvPr id="167" name="Shape 13">
            <a:extLst>
              <a:ext uri="{FF2B5EF4-FFF2-40B4-BE49-F238E27FC236}">
                <a16:creationId xmlns:a16="http://schemas.microsoft.com/office/drawing/2014/main" id="{271A39E2-36D7-CE47-E590-64B1A773ECF9}"/>
              </a:ext>
            </a:extLst>
          </p:cNvPr>
          <p:cNvSpPr/>
          <p:nvPr/>
        </p:nvSpPr>
        <p:spPr>
          <a:xfrm>
            <a:off x="1237942" y="1347988"/>
            <a:ext cx="1018227" cy="876161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anchor="ctr"/>
          <a:lstStyle/>
          <a:p>
            <a:pPr algn="ctr"/>
            <a:endParaRPr lang="en-US" sz="8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9AAD85D1-79B4-0610-449F-C2D6663BFE46}"/>
              </a:ext>
            </a:extLst>
          </p:cNvPr>
          <p:cNvSpPr txBox="1"/>
          <p:nvPr/>
        </p:nvSpPr>
        <p:spPr>
          <a:xfrm>
            <a:off x="8189157" y="4928780"/>
            <a:ext cx="316165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Multiple Risk App Pipelines p1-p8 consuming the same trade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Interpret it differently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Different Rules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1BB1F5B5-2D0E-7073-E3F1-F2FD575C3923}"/>
              </a:ext>
            </a:extLst>
          </p:cNvPr>
          <p:cNvSpPr txBox="1"/>
          <p:nvPr/>
        </p:nvSpPr>
        <p:spPr>
          <a:xfrm>
            <a:off x="8189157" y="3459429"/>
            <a:ext cx="2073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One Data Row multiple data ownerships</a:t>
            </a:r>
          </a:p>
          <a:p>
            <a:r>
              <a:rPr lang="en-US" sz="900" dirty="0"/>
              <a:t>One Trade multiple risk numbers</a:t>
            </a:r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E1AAA6CD-B60C-57DE-583A-78D1E26C235D}"/>
              </a:ext>
            </a:extLst>
          </p:cNvPr>
          <p:cNvCxnSpPr>
            <a:cxnSpLocks/>
          </p:cNvCxnSpPr>
          <p:nvPr/>
        </p:nvCxnSpPr>
        <p:spPr>
          <a:xfrm flipH="1">
            <a:off x="7766529" y="681712"/>
            <a:ext cx="38578" cy="51384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AFE3CAF5-88F2-E4E7-2CCF-DD28F7B7099A}"/>
              </a:ext>
            </a:extLst>
          </p:cNvPr>
          <p:cNvSpPr txBox="1"/>
          <p:nvPr/>
        </p:nvSpPr>
        <p:spPr>
          <a:xfrm>
            <a:off x="3859570" y="6292645"/>
            <a:ext cx="1409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RCS : Risk Capital Studio</a:t>
            </a:r>
          </a:p>
          <a:p>
            <a:r>
              <a:rPr lang="en-US" sz="800" dirty="0"/>
              <a:t>SPRx : Strategic </a:t>
            </a:r>
            <a:r>
              <a:rPr lang="en-US" sz="800" dirty="0" err="1"/>
              <a:t>PnL</a:t>
            </a:r>
            <a:r>
              <a:rPr lang="en-US" sz="800" dirty="0"/>
              <a:t> reporting</a:t>
            </a:r>
          </a:p>
          <a:p>
            <a:r>
              <a:rPr lang="en-US" sz="800" dirty="0"/>
              <a:t>MRI : Market Risk Insights</a:t>
            </a:r>
          </a:p>
        </p:txBody>
      </p:sp>
    </p:spTree>
    <p:extLst>
      <p:ext uri="{BB962C8B-B14F-4D97-AF65-F5344CB8AC3E}">
        <p14:creationId xmlns:p14="http://schemas.microsoft.com/office/powerpoint/2010/main" val="4052228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8300"/>
        </a:solidFill>
        <a:ln/>
      </a:spPr>
      <a:bodyPr anchor="ctr"/>
      <a:lstStyle>
        <a:defPPr algn="ctr">
          <a:defRPr sz="800" dirty="0" smtClean="0">
            <a:solidFill>
              <a:schemeClr val="bg1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</TotalTime>
  <Words>256</Words>
  <Application>Microsoft Macintosh PowerPoint</Application>
  <PresentationFormat>Widescreen</PresentationFormat>
  <Paragraphs>90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Reena Cheema</cp:lastModifiedBy>
  <cp:revision>7</cp:revision>
  <dcterms:created xsi:type="dcterms:W3CDTF">2026-08-31T18:50:02Z</dcterms:created>
  <dcterms:modified xsi:type="dcterms:W3CDTF">2026-09-01T12:42:10Z</dcterms:modified>
</cp:coreProperties>
</file>