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BCCU story by actor: desks book (Murex/Calypso); Legal/TAMS holds ISDA 1989 + CSA 1689 terms (75k/10k/98%); CMOS values (exposure 14,115,000) and calls (14,040,000, event 390066); BCCU disputes 450k, agrees 13.59M, posts CMB 13.87M credited 13,592,600; Colline settles; Credit Ops investigates the 3-day-old dispute across four systems - the agent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PD CDM rendered as the story: 1 parties, 2 ISDA umbrella (CSA family only), 3 one agreement in four kinds (is-a, exactly one), 4 the agreement's schedules, 5 trades + applicability (one trade, several margin homes), 6 the daily cycle (one event -&gt; one exposure, at most one call/dispute), 8 the movement (the act), 9 the holding (derived, must reconcile). Every box persists; formulas live in metric views, not as entities.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SoRs: CMOS/Colline (OTC, ISDA+CSA family), SFT stack (GMRA/GMSLA), Softek (PBA, not landed). One model + mappings = authored conformance. AI path: MCP (governed, logged) -&gt; entity resolution via client master -&gt; measures from the metric view (Genie executes declarations, never invents joins) -&gt; compiled SQL runs as one scan of the denormalized gold OBT. Answer carries the honest PBA coverage note. Closing: conformance authored once; Genie executes within a product; agents compose across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 ·  THE BUSINESS STORY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Thursday — the story, actor by actor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ACTORS: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417320" y="1216152"/>
            <a:ext cx="1230782" cy="274320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17320" y="1216152"/>
            <a:ext cx="12307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desks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76118" y="1216152"/>
            <a:ext cx="1155802" cy="274320"/>
          </a:xfrm>
          <a:prstGeom prst="roundRect">
            <a:avLst>
              <a:gd name="adj" fmla="val 50000"/>
            </a:avLst>
          </a:prstGeom>
          <a:solidFill>
            <a:srgbClr val="EDE6B8"/>
          </a:solidFill>
          <a:ln w="12700">
            <a:solidFill>
              <a:srgbClr val="EDE6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76118" y="1216152"/>
            <a:ext cx="11558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TAMS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59936" y="1216152"/>
            <a:ext cx="1755648" cy="274320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59936" y="1216152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(margin engine)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0" y="1216152"/>
            <a:ext cx="1680667" cy="274320"/>
          </a:xfrm>
          <a:prstGeom prst="roundRect">
            <a:avLst>
              <a:gd name="adj" fmla="val 50000"/>
            </a:avLst>
          </a:prstGeom>
          <a:solidFill>
            <a:srgbClr val="7FD6DB"/>
          </a:solidFill>
          <a:ln w="12700">
            <a:solidFill>
              <a:srgbClr val="7FD6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1216152"/>
            <a:ext cx="168066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BCCU Collateral Ops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52283" y="1216152"/>
            <a:ext cx="1830629" cy="274320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52283" y="1216152"/>
            <a:ext cx="1830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 / Calypso IFI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710928" y="1216152"/>
            <a:ext cx="1005840" cy="274320"/>
          </a:xfrm>
          <a:prstGeom prst="roundRect">
            <a:avLst>
              <a:gd name="adj" fmla="val 50000"/>
            </a:avLst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10928" y="12161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Ops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1719072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8368" y="1828800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1823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05840" y="1847088"/>
            <a:ext cx="1110996" cy="237744"/>
          </a:xfrm>
          <a:prstGeom prst="roundRect">
            <a:avLst>
              <a:gd name="adj" fmla="val 50000"/>
            </a:avLst>
          </a:prstGeom>
          <a:solidFill>
            <a:srgbClr val="1F6F6B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1847088"/>
            <a:ext cx="11109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desks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6656" y="213969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exist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76656" y="2414016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and BCCU trade FX options and CDS. Values move every day.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" y="325526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Murex · Calypso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27832" y="2633472"/>
            <a:ext cx="107594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362858" y="1719072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2586" y="1828800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2586" y="1823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20058" y="1847088"/>
            <a:ext cx="1042416" cy="237744"/>
          </a:xfrm>
          <a:prstGeom prst="roundRect">
            <a:avLst>
              <a:gd name="adj" fmla="val 50000"/>
            </a:avLst>
          </a:prstGeom>
          <a:solidFill>
            <a:srgbClr val="EDE6B8"/>
          </a:solidFill>
          <a:ln w="12700">
            <a:solidFill>
              <a:srgbClr val="EDE6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20058" y="1847088"/>
            <a:ext cx="10424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TAMS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90874" y="213969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Terms on file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3490874" y="2414016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 (1989) + CSA 1689: trust line $75k, MTA $10k, CMB at 98%, CAD cash 100%.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90874" y="325526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TAMS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042050" y="2633472"/>
            <a:ext cx="107594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177077" y="1719072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86805" y="1828800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86805" y="1823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34277" y="1847088"/>
            <a:ext cx="1591056" cy="237744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34277" y="184708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(margin engine)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05093" y="213969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valuation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6305093" y="2414016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MtM across the trades: exposure +$14,115,000 in TD's favour.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305093" y="325526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CMOS · event 390066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856269" y="2633472"/>
            <a:ext cx="107594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8991295" y="1719072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101023" y="1828800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01023" y="18233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448495" y="1847088"/>
            <a:ext cx="1591056" cy="237744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448495" y="1847088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(margin engine)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9119311" y="213969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9119311" y="2414016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max(0, E − 75k) = $14,040,000 ≥ MTA → VM margin call issued to BCCU.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19311" y="325526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CMOS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48640" y="393192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8368" y="4041648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" y="40361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1005840" y="4059936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7FD6DB"/>
          </a:solidFill>
          <a:ln w="12700">
            <a:solidFill>
              <a:srgbClr val="7FD6D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05840" y="4059936"/>
            <a:ext cx="1522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BCCU Collateral Ops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76656" y="43525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dispute</a:t>
            </a:r>
            <a:endParaRPr lang="en-US" sz="1250" dirty="0"/>
          </a:p>
        </p:txBody>
      </p:sp>
      <p:sp>
        <p:nvSpPr>
          <p:cNvPr id="58" name="Text 56"/>
          <p:cNvSpPr/>
          <p:nvPr/>
        </p:nvSpPr>
        <p:spPr>
          <a:xfrm>
            <a:off x="676656" y="4626864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BCCU disputes $450,000 (FX valuations), agrees $13,590,000.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76656" y="54681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Partial Dispute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3227832" y="4846320"/>
            <a:ext cx="107594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3362858" y="393192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472586" y="4041648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472586" y="40361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3820058" y="4059936"/>
            <a:ext cx="1522476" cy="237744"/>
          </a:xfrm>
          <a:prstGeom prst="roundRect">
            <a:avLst>
              <a:gd name="adj" fmla="val 50000"/>
            </a:avLst>
          </a:prstGeom>
          <a:solidFill>
            <a:srgbClr val="7FD6DB"/>
          </a:solidFill>
          <a:ln w="12700">
            <a:solidFill>
              <a:srgbClr val="7FD6D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820058" y="4059936"/>
            <a:ext cx="1522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BCCU Collateral Ops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3490874" y="43525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posted</a:t>
            </a:r>
            <a:endParaRPr lang="en-US" sz="1250" dirty="0"/>
          </a:p>
        </p:txBody>
      </p:sp>
      <p:sp>
        <p:nvSpPr>
          <p:cNvPr id="67" name="Text 65"/>
          <p:cNvSpPr/>
          <p:nvPr/>
        </p:nvSpPr>
        <p:spPr>
          <a:xfrm>
            <a:off x="3490874" y="4626864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Canada Mortgage Bond, market value $13,870,000 → credited $13,592,600 at 98%.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3490874" y="54681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Colline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6042050" y="4846320"/>
            <a:ext cx="107594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6177077" y="393192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286805" y="4041648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86805" y="40361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634277" y="4059936"/>
            <a:ext cx="1659636" cy="237744"/>
          </a:xfrm>
          <a:prstGeom prst="roundRect">
            <a:avLst>
              <a:gd name="adj" fmla="val 50000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634277" y="4059936"/>
            <a:ext cx="16596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Colline / Calypso IFI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305093" y="43525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 &amp; hold</a:t>
            </a:r>
            <a:endParaRPr lang="en-US" sz="1250" dirty="0"/>
          </a:p>
        </p:txBody>
      </p:sp>
      <p:sp>
        <p:nvSpPr>
          <p:cNvPr id="76" name="Text 74"/>
          <p:cNvSpPr/>
          <p:nvPr/>
        </p:nvSpPr>
        <p:spPr>
          <a:xfrm>
            <a:off x="6305093" y="4626864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settles; holding = $13,592,600. Shortfall $447,400 ≈ the dispute.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305093" y="54681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Colline · Calypso IFI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8856269" y="4846320"/>
            <a:ext cx="107594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>
            <a:off x="8991295" y="393192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101023" y="4041648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101023" y="403616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448495" y="4059936"/>
            <a:ext cx="905256" cy="237744"/>
          </a:xfrm>
          <a:prstGeom prst="roundRect">
            <a:avLst>
              <a:gd name="adj" fmla="val 50000"/>
            </a:avLst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448495" y="4059936"/>
            <a:ext cx="905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Ops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9119311" y="4352544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250" dirty="0"/>
          </a:p>
        </p:txBody>
      </p:sp>
      <p:sp>
        <p:nvSpPr>
          <p:cNvPr id="85" name="Text 83"/>
          <p:cNvSpPr/>
          <p:nvPr/>
        </p:nvSpPr>
        <p:spPr>
          <a:xfrm>
            <a:off x="9119311" y="4626864"/>
            <a:ext cx="23957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age 3 days. Evidence sits in four systems — the exception agent's job.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9119311" y="546811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 Ops + agent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219895" y="3602736"/>
            <a:ext cx="0" cy="292608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548640" y="589788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0E3D29"/>
          </a:solidFill>
          <a:ln/>
        </p:spPr>
      </p:sp>
      <p:sp>
        <p:nvSpPr>
          <p:cNvPr id="89" name="Text 87"/>
          <p:cNvSpPr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actor writes facts the next actor needs.  </a:t>
            </a:r>
            <a:pPr indent="0" marL="0">
              <a:buNone/>
            </a:pPr>
            <a:r>
              <a:rPr lang="en-US" sz="1050" dirty="0">
                <a:solidFill>
                  <a:srgbClr val="C9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on the next slide is what lets the last actor (and an AI agent) see the first actor's facts — with meaning attached.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 ·  THE MODEL, ONE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story, drawn once — every box persists, colours = role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874520" cy="457200"/>
          </a:xfrm>
          <a:prstGeom prst="roundRect">
            <a:avLst>
              <a:gd name="adj" fmla="val 10000"/>
            </a:avLst>
          </a:prstGeom>
          <a:solidFill>
            <a:srgbClr val="7FD6DB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1874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counterparty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4048" y="1536192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5307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1874520" cy="457200"/>
          </a:xfrm>
          <a:prstGeom prst="roundRect">
            <a:avLst>
              <a:gd name="adj" fmla="val 10000"/>
            </a:avLst>
          </a:prstGeom>
          <a:solidFill>
            <a:srgbClr val="7FD6DB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48840"/>
            <a:ext cx="1874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td_entity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1874520" cy="457200"/>
          </a:xfrm>
          <a:prstGeom prst="roundRect">
            <a:avLst>
              <a:gd name="adj" fmla="val 10000"/>
            </a:avLst>
          </a:prstGeom>
          <a:solidFill>
            <a:srgbClr val="7FD6DB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97480"/>
            <a:ext cx="1874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credit_rating_snapshot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874520" cy="457200"/>
          </a:xfrm>
          <a:prstGeom prst="roundRect">
            <a:avLst>
              <a:gd name="adj" fmla="val 10000"/>
            </a:avLst>
          </a:prstGeom>
          <a:solidFill>
            <a:srgbClr val="7FD6DB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5074920"/>
            <a:ext cx="1874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1874520" cy="457200"/>
          </a:xfrm>
          <a:prstGeom prst="roundRect">
            <a:avLst>
              <a:gd name="adj" fmla="val 10000"/>
            </a:avLst>
          </a:prstGeom>
          <a:solidFill>
            <a:srgbClr val="1F6F6B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29000"/>
            <a:ext cx="1874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364992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3595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874520" cy="566928"/>
          </a:xfrm>
          <a:prstGeom prst="roundRect">
            <a:avLst>
              <a:gd name="adj" fmla="val 8065"/>
            </a:avLst>
          </a:prstGeom>
          <a:solidFill>
            <a:srgbClr val="1F6F6B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977640"/>
            <a:ext cx="187452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trade_agreement_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63240" y="1600200"/>
            <a:ext cx="1920240" cy="548640"/>
          </a:xfrm>
          <a:prstGeom prst="roundRect">
            <a:avLst>
              <a:gd name="adj" fmla="val 8333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3240" y="1600200"/>
            <a:ext cx="19202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ISDA Master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898648" y="1536192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98648" y="15307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63240" y="260604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0" y="2606040"/>
            <a:ext cx="19202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legal_agreement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898648" y="2542032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98648" y="25365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88920" y="3566160"/>
            <a:ext cx="621792" cy="365760"/>
          </a:xfrm>
          <a:prstGeom prst="roundRect">
            <a:avLst>
              <a:gd name="adj" fmla="val 12500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88920" y="3566160"/>
            <a:ext cx="621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47288" y="3566160"/>
            <a:ext cx="621792" cy="365760"/>
          </a:xfrm>
          <a:prstGeom prst="roundRect">
            <a:avLst>
              <a:gd name="adj" fmla="val 12500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47288" y="3566160"/>
            <a:ext cx="621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GMRA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105656" y="3566160"/>
            <a:ext cx="621792" cy="365760"/>
          </a:xfrm>
          <a:prstGeom prst="roundRect">
            <a:avLst>
              <a:gd name="adj" fmla="val 12500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05656" y="3566160"/>
            <a:ext cx="621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64024" y="3566160"/>
            <a:ext cx="621792" cy="365760"/>
          </a:xfrm>
          <a:prstGeom prst="roundRect">
            <a:avLst>
              <a:gd name="adj" fmla="val 12500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64024" y="3566160"/>
            <a:ext cx="621792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PBA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743200" y="39502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kinds (is-a): exactly one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063240" y="4279392"/>
            <a:ext cx="1920240" cy="457200"/>
          </a:xfrm>
          <a:prstGeom prst="roundRect">
            <a:avLst>
              <a:gd name="adj" fmla="val 10000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63240" y="4279392"/>
            <a:ext cx="1920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agreement_group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23560" y="141732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AGREEMENT'S SCHEDULES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77840" y="1664208"/>
            <a:ext cx="3200400" cy="2606040"/>
          </a:xfrm>
          <a:prstGeom prst="roundRect">
            <a:avLst>
              <a:gd name="adj" fmla="val 1754"/>
            </a:avLst>
          </a:prstGeom>
          <a:solidFill>
            <a:srgbClr val="FDFBEA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13248" y="1600200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13248" y="15947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760720" y="1828800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F7E94A"/>
          </a:solidFill>
          <a:ln w="12700">
            <a:solidFill>
              <a:srgbClr val="C9B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60720" y="1828800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threshold_entry  ·  Thr $75k · MTA $10k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760720" y="2432304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F7E94A"/>
          </a:solidFill>
          <a:ln w="12700">
            <a:solidFill>
              <a:srgbClr val="C9B9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60720" y="2432304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eligibility_entry  ·  CMB 98% · cash 100%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760720" y="3035808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F7E94A"/>
          </a:solidFill>
          <a:ln w="12700">
            <a:solidFill>
              <a:srgbClr val="C9B9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60720" y="3035808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interest_rate_term  ·  per currency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760720" y="3639312"/>
            <a:ext cx="2834640" cy="457200"/>
          </a:xfrm>
          <a:prstGeom prst="roundRect">
            <a:avLst>
              <a:gd name="adj" fmla="val 10000"/>
            </a:avLst>
          </a:prstGeom>
          <a:solidFill>
            <a:srgbClr val="F7E94A"/>
          </a:solidFill>
          <a:ln w="12700">
            <a:solidFill>
              <a:srgbClr val="C9B9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60720" y="3639312"/>
            <a:ext cx="28346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settlement_instruction  ·  SSIs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44000" y="141732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CYCLE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098280" y="1664208"/>
            <a:ext cx="2542032" cy="3291840"/>
          </a:xfrm>
          <a:prstGeom prst="roundRect">
            <a:avLst>
              <a:gd name="adj" fmla="val 1799"/>
            </a:avLst>
          </a:prstGeom>
          <a:solidFill>
            <a:srgbClr val="EEF7EF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933688" y="1600200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33688" y="15947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9281160" y="1828800"/>
            <a:ext cx="2176272" cy="502920"/>
          </a:xfrm>
          <a:prstGeom prst="roundRect">
            <a:avLst>
              <a:gd name="adj" fmla="val 9091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81160" y="1828800"/>
            <a:ext cx="2176272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margin_event  390066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9281160" y="2468880"/>
            <a:ext cx="2176272" cy="411480"/>
          </a:xfrm>
          <a:prstGeom prst="roundRect">
            <a:avLst>
              <a:gd name="adj" fmla="val 11111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281160" y="2468880"/>
            <a:ext cx="21762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 +$14.115M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9281160" y="2971800"/>
            <a:ext cx="2176272" cy="411480"/>
          </a:xfrm>
          <a:prstGeom prst="roundRect">
            <a:avLst>
              <a:gd name="adj" fmla="val 11111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81160" y="2971800"/>
            <a:ext cx="21762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margin_call  $14.04M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9281160" y="3474720"/>
            <a:ext cx="2176272" cy="411480"/>
          </a:xfrm>
          <a:prstGeom prst="roundRect">
            <a:avLst>
              <a:gd name="adj" fmla="val 11111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281160" y="3474720"/>
            <a:ext cx="217627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dispute  $450k · 3d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11521440" y="3410712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521440" y="34052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9281160" y="39502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1B5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event → one exposure,</a:t>
            </a:r>
            <a:endParaRPr lang="en-US" sz="800" dirty="0"/>
          </a:p>
          <a:p>
            <a:pPr indent="0" marL="0">
              <a:buNone/>
            </a:pPr>
            <a:r>
              <a:rPr lang="en-US" sz="800" i="1" dirty="0">
                <a:solidFill>
                  <a:srgbClr val="1B5E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most one call, one dispute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063240" y="5074920"/>
            <a:ext cx="1920240" cy="502920"/>
          </a:xfrm>
          <a:prstGeom prst="roundRect">
            <a:avLst>
              <a:gd name="adj" fmla="val 9091"/>
            </a:avLst>
          </a:prstGeom>
          <a:solidFill>
            <a:srgbClr val="2F9E44"/>
          </a:solidFill>
          <a:ln w="12700">
            <a:solidFill>
              <a:srgbClr val="2F9E4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63240" y="5074920"/>
            <a:ext cx="1920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collateral_movement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898648" y="5010912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98648" y="50054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035040" y="5074920"/>
            <a:ext cx="2377440" cy="502920"/>
          </a:xfrm>
          <a:prstGeom prst="roundRect">
            <a:avLst>
              <a:gd name="adj" fmla="val 9091"/>
            </a:avLst>
          </a:prstGeom>
          <a:solidFill>
            <a:srgbClr val="C9CDD0"/>
          </a:solidFill>
          <a:ln w="12700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035040" y="5074920"/>
            <a:ext cx="23774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collateral_holding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870448" y="5010912"/>
            <a:ext cx="274320" cy="274320"/>
          </a:xfrm>
          <a:prstGeom prst="ellipse">
            <a:avLst/>
          </a:prstGeom>
          <a:solidFill>
            <a:srgbClr val="0E3D29"/>
          </a:solidFill>
          <a:ln w="12700">
            <a:solidFill>
              <a:srgbClr val="0E3D2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70448" y="500542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6035040" y="559612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— must equal Σ settled movements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2423160" y="1828800"/>
            <a:ext cx="621792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76" name="Text 74"/>
          <p:cNvSpPr/>
          <p:nvPr/>
        </p:nvSpPr>
        <p:spPr>
          <a:xfrm>
            <a:off x="2487168" y="16276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signs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4023360" y="2148840"/>
            <a:ext cx="0" cy="438912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78" name="Text 76"/>
          <p:cNvSpPr/>
          <p:nvPr/>
        </p:nvSpPr>
        <p:spPr>
          <a:xfrm>
            <a:off x="4114800" y="223113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umbrella for (CSA only)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983480" y="2926080"/>
            <a:ext cx="576072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80" name="Text 78"/>
          <p:cNvSpPr/>
          <p:nvPr/>
        </p:nvSpPr>
        <p:spPr>
          <a:xfrm>
            <a:off x="4892040" y="27249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 terms via</a:t>
            </a:r>
            <a:endParaRPr lang="en-US" sz="800" dirty="0"/>
          </a:p>
        </p:txBody>
      </p:sp>
      <p:sp>
        <p:nvSpPr>
          <p:cNvPr id="81" name="Shape 79"/>
          <p:cNvSpPr/>
          <p:nvPr/>
        </p:nvSpPr>
        <p:spPr>
          <a:xfrm flipV="1">
            <a:off x="4983480" y="2011680"/>
            <a:ext cx="4096512" cy="109728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82" name="Text 80"/>
          <p:cNvSpPr/>
          <p:nvPr/>
        </p:nvSpPr>
        <p:spPr>
          <a:xfrm>
            <a:off x="6949440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023360" y="3401568"/>
            <a:ext cx="0" cy="1655064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84" name="Text 82"/>
          <p:cNvSpPr/>
          <p:nvPr/>
        </p:nvSpPr>
        <p:spPr>
          <a:xfrm>
            <a:off x="4114800" y="4480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made under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 flipH="1">
            <a:off x="5029200" y="4160520"/>
            <a:ext cx="4206240" cy="91440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86" name="Text 84"/>
          <p:cNvSpPr/>
          <p:nvPr/>
        </p:nvSpPr>
        <p:spPr>
          <a:xfrm>
            <a:off x="6675120" y="4663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2423160" y="5303520"/>
            <a:ext cx="621792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88" name="Text 86"/>
          <p:cNvSpPr/>
          <p:nvPr/>
        </p:nvSpPr>
        <p:spPr>
          <a:xfrm>
            <a:off x="2487168" y="510235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moves</a:t>
            </a:r>
            <a:endParaRPr lang="en-US" sz="800" dirty="0"/>
          </a:p>
        </p:txBody>
      </p:sp>
      <p:sp>
        <p:nvSpPr>
          <p:cNvPr id="89" name="Shape 87"/>
          <p:cNvSpPr/>
          <p:nvPr/>
        </p:nvSpPr>
        <p:spPr>
          <a:xfrm>
            <a:off x="5001768" y="5303520"/>
            <a:ext cx="1014984" cy="0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90" name="Text 88"/>
          <p:cNvSpPr/>
          <p:nvPr/>
        </p:nvSpPr>
        <p:spPr>
          <a:xfrm>
            <a:off x="5029200" y="55961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reported as ↔ reconcile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548640" y="5897880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31520" y="589788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D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 reference   </a:t>
            </a:r>
            <a:pPr indent="0" marL="0">
              <a:buNone/>
            </a:pPr>
            <a:r>
              <a:rPr lang="en-US" sz="950" dirty="0">
                <a:solidFill>
                  <a:srgbClr val="1F6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  </a:t>
            </a:r>
            <a:pPr indent="0" marL="0">
              <a:buNone/>
            </a:pPr>
            <a:r>
              <a:rPr lang="en-US" sz="950" dirty="0">
                <a:solidFill>
                  <a:srgbClr val="B8AD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(one agreement, four kinds)   </a:t>
            </a:r>
            <a:pPr indent="0" marL="0">
              <a:buNone/>
            </a:pPr>
            <a:r>
              <a:rPr lang="en-US" sz="950" dirty="0">
                <a:solidFill>
                  <a:srgbClr val="C9B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schedules   </a:t>
            </a:r>
            <a:pPr indent="0" marL="0">
              <a:buNone/>
            </a:pPr>
            <a:r>
              <a:rPr lang="en-US" sz="950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daily operations   </a:t>
            </a:r>
            <a:pPr indent="0" marL="0">
              <a:buNone/>
            </a:pPr>
            <a:r>
              <a:rPr lang="en-US" sz="9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pPr indent="0" marL="0"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— must reconcile.   </a:t>
            </a:r>
            <a:pPr indent="0" marL="0"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(credited value, entitlement) have NO boxes — they live in the semantic layer above.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95" name="Text 93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 ·  FROM SYSTEMS TO ANSWERS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 of Record, One Model — and How AI Answers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15258" cy="960120"/>
          </a:xfrm>
          <a:prstGeom prst="roundRect">
            <a:avLst>
              <a:gd name="adj" fmla="val 4762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CMOS orchestrates · Colline executes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OTC derivatives margin — the ISDA + CSA family (GENERAL_CSA, REG_VM, REG_IMC / IMP)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338218" y="1280160"/>
            <a:ext cx="3515258" cy="960120"/>
          </a:xfrm>
          <a:prstGeom prst="roundRect">
            <a:avLst>
              <a:gd name="adj" fmla="val 4762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475378" y="1371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 stack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475378" y="16459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GMRA (repo) · GMSLA (stock lending) — outside CMOS today, converging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127797" y="1280160"/>
            <a:ext cx="3515258" cy="960120"/>
          </a:xfrm>
          <a:prstGeom prst="roundRect">
            <a:avLst>
              <a:gd name="adj" fmla="val 4762"/>
            </a:avLst>
          </a:prstGeom>
          <a:solidFill>
            <a:srgbClr val="EDE6B8"/>
          </a:solidFill>
          <a:ln w="12700">
            <a:solidFill>
              <a:srgbClr val="B8AD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64957" y="1371600"/>
            <a:ext cx="32409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Softek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64957" y="1645920"/>
            <a:ext cx="32409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PBA (prime brokerage) — separate legal framework; not landed on platform yet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95848" y="2286000"/>
            <a:ext cx="0" cy="256032"/>
          </a:xfrm>
          <a:prstGeom prst="line">
            <a:avLst/>
          </a:prstGeom>
          <a:noFill/>
          <a:ln w="19050">
            <a:solidFill>
              <a:srgbClr val="8B82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8640" y="2578608"/>
            <a:ext cx="11094415" cy="457200"/>
          </a:xfrm>
          <a:prstGeom prst="roundRect">
            <a:avLst>
              <a:gd name="adj" fmla="val 12000"/>
            </a:avLst>
          </a:prstGeom>
          <a:solidFill>
            <a:srgbClr val="0E3D2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78608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+ MAPPINGS — conformance authored once:  </a:t>
            </a:r>
            <a:pPr indent="0" marL="0">
              <a:buNone/>
            </a:pPr>
            <a:r>
              <a:rPr lang="en-US" sz="1050" dirty="0">
                <a:solidFill>
                  <a:srgbClr val="C9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system's tables mapped to the shared entities (contract_entity, grain, keys) · measures defined once in the metric view.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5440680" cy="2514600"/>
          </a:xfrm>
          <a:prstGeom prst="roundRect">
            <a:avLst>
              <a:gd name="adj" fmla="val 1818"/>
            </a:avLst>
          </a:prstGeom>
          <a:solidFill>
            <a:srgbClr val="F5F7F5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35584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F7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QUESTION, IN PLAIN ENGLISH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593592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eligible collateral do we hold from Central 1, by agreement kind — and is anything disputed?”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MCP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assistant calls the governed Genie tool; catalog permissions apply; call logged.
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Resolve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“Central 1” → BCCU via the client master (one golden record).
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Semantics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“eligible collateral” and “disputed” resolve to governed MEASURES — not a guessed formula. Genie executes what was declared; it does not invent joins.
</a:t>
            </a:r>
            <a:pPr indent="0" marL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Compile &amp; run  </a:t>
            </a:r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SQL against the metric view →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3246120"/>
            <a:ext cx="5333695" cy="1024128"/>
          </a:xfrm>
          <a:prstGeom prst="roundRect">
            <a:avLst>
              <a:gd name="adj" fmla="val 4464"/>
            </a:avLst>
          </a:prstGeom>
          <a:solidFill>
            <a:srgbClr val="2028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55664" y="3319272"/>
            <a:ext cx="50410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agreement_kind,</a:t>
            </a:r>
            <a:endParaRPr lang="en-US" sz="8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MEASURE(eligible_collateral_value),</a:t>
            </a:r>
            <a:endParaRPr lang="en-US" sz="8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MEASURE(disputed_amount)</a:t>
            </a:r>
            <a:endParaRPr lang="en-US" sz="8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creditrisk.collateral.positions_mv</a:t>
            </a:r>
            <a:endParaRPr lang="en-US" sz="8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counterparty = 'Central 1 Credit Union'</a:t>
            </a:r>
            <a:endParaRPr lang="en-US" sz="82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 BY agreement_kind;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6309360" y="4343400"/>
            <a:ext cx="53336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0E3D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as ONE SCAN of the denormalized gold table </a:t>
            </a:r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6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(positions_gold — the pre-joined OBT, grain declared, copies documented). The join work was done once in the pipeline, not at question time.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309360" y="4983480"/>
            <a:ext cx="5333695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D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5047488"/>
            <a:ext cx="50593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262B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Central 1 · eligible collateral</a:t>
            </a:r>
            <a:endParaRPr lang="en-US" sz="84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262B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CSA  $13,592,600   ·  1 dispute: $450,000 (age 3d)</a:t>
            </a:r>
            <a:endParaRPr lang="en-US" sz="84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262B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GMRA $4,100,026    ·  GMSLA $800,000</a:t>
            </a:r>
            <a:endParaRPr lang="en-US" sz="84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840" dirty="0">
                <a:solidFill>
                  <a:srgbClr val="262B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PBA  — not landed → excluded, NOT zero (coverage declared)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548640" y="5925312"/>
            <a:ext cx="11094415" cy="438912"/>
          </a:xfrm>
          <a:prstGeom prst="roundRect">
            <a:avLst>
              <a:gd name="adj" fmla="val 12500"/>
            </a:avLst>
          </a:prstGeom>
          <a:solidFill>
            <a:srgbClr val="0E3D29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925312"/>
            <a:ext cx="1063721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division of labour:  </a:t>
            </a:r>
            <a:pPr indent="0" marL="0">
              <a:buNone/>
            </a:pPr>
            <a:r>
              <a:rPr lang="en-US" sz="1050" dirty="0">
                <a:solidFill>
                  <a:srgbClr val="C9D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is authored once · Genie executes it within a product · agents compose across products. Nothing stitches by itself.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 Securities  ·  Risk Data Platform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357055" y="6473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2026-07-15T13:12:15Z</dcterms:created>
  <dcterms:modified xsi:type="dcterms:W3CDTF">2026-07-15T13:12:15Z</dcterms:modified>
</cp:coreProperties>
</file>