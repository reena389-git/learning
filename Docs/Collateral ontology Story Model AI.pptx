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22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2643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BCCU story by actor: desks book (Murex/Calypso); Legal/TAMS holds ISDA 1989 + CSA 1689 terms (75k/10k/98%); CMOS values (exposure 14,115,000) and calls (14,040,000, event 390066); BCCU disputes 450k, agrees 13.59M, posts CMB 13.87M credited 13,592,600; Colline settles; Credit Ops investigates the 3-day-old dispute across four systems - the agent use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PD CDM rendered as the story: 1 parties, 2 ISDA umbrella (CSA family only), 3 one agreement in four kinds (is-a, exactly one), 4 the agreement's schedules, 5 trades + applicability (one trade, several margin homes), 6 the daily cycle (one event -&gt; one exposure, at most one call/dispute), 8 the movement (the act), 9 the holding (derived, must reconcile). Every box persists; formulas live in metric views, not as entities.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SoRs: CMOS/Colline (OTC, ISDA+CSA family), SFT stack (GMRA/GMSLA), Softek (PBA, not landed). One model + mappings = authored conformance. AI path: MCP (governed, logged) -&gt; entity resolution via client master -&gt; measures from the metric view (Genie executes declarations, never invents joins) -&gt; compiled SQL runs as one scan of the denormalized gold OBT. Answer carries the honest PBA coverage note. Closing: conformance authored once; Genie executes within a product; agents compose across products.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 ·  THE BUSINESS 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Thursday — the story, actor by actor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417320" y="1216152"/>
            <a:ext cx="1230782" cy="274320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 w="12700">
            <a:solidFill>
              <a:srgbClr val="1F6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417320" y="1216152"/>
            <a:ext cx="1230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desks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76118" y="1216152"/>
            <a:ext cx="1155802" cy="274320"/>
          </a:xfrm>
          <a:prstGeom prst="roundRect">
            <a:avLst>
              <a:gd name="adj" fmla="val 50000"/>
            </a:avLst>
          </a:prstGeom>
          <a:solidFill>
            <a:srgbClr val="EDE6B8"/>
          </a:solidFill>
          <a:ln w="12700">
            <a:solidFill>
              <a:srgbClr val="EDE6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76118" y="1216152"/>
            <a:ext cx="1155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/ TAMS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059936" y="1216152"/>
            <a:ext cx="1755648" cy="274320"/>
          </a:xfrm>
          <a:prstGeom prst="roundRect">
            <a:avLst>
              <a:gd name="adj" fmla="val 50000"/>
            </a:avLst>
          </a:prstGeom>
          <a:solidFill>
            <a:srgbClr val="2F9E44"/>
          </a:solidFill>
          <a:ln w="12700">
            <a:solidFill>
              <a:srgbClr val="2F9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059936" y="1216152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CMOS (margin engine)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216152"/>
            <a:ext cx="1680667" cy="274320"/>
          </a:xfrm>
          <a:prstGeom prst="roundRect">
            <a:avLst>
              <a:gd name="adj" fmla="val 50000"/>
            </a:avLst>
          </a:prstGeom>
          <a:solidFill>
            <a:srgbClr val="7FD6DB"/>
          </a:solidFill>
          <a:ln w="12700">
            <a:solidFill>
              <a:srgbClr val="7FD6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0" y="1216152"/>
            <a:ext cx="16806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BCCU Collateral Ops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52283" y="1216152"/>
            <a:ext cx="1830629" cy="274320"/>
          </a:xfrm>
          <a:prstGeom prst="roundRect">
            <a:avLst>
              <a:gd name="adj" fmla="val 50000"/>
            </a:avLst>
          </a:prstGeom>
          <a:solidFill>
            <a:srgbClr val="2F9E44"/>
          </a:solidFill>
          <a:ln w="12700">
            <a:solidFill>
              <a:srgbClr val="2F9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52283" y="1216152"/>
            <a:ext cx="18306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Colline / Calypso IFI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710928" y="12161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710928" y="12161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719072"/>
            <a:ext cx="2651760" cy="1828800"/>
          </a:xfrm>
          <a:prstGeom prst="roundRect">
            <a:avLst>
              <a:gd name="adj" fmla="val 2500"/>
            </a:avLst>
          </a:prstGeom>
          <a:solidFill>
            <a:srgbClr val="F5F7F5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58368" y="1828800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8368" y="18233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05840" y="1847088"/>
            <a:ext cx="1110996" cy="237744"/>
          </a:xfrm>
          <a:prstGeom prst="roundRect">
            <a:avLst>
              <a:gd name="adj" fmla="val 50000"/>
            </a:avLst>
          </a:prstGeom>
          <a:solidFill>
            <a:srgbClr val="1F6F6B"/>
          </a:solidFill>
          <a:ln w="12700">
            <a:solidFill>
              <a:srgbClr val="1F6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05840" y="1847088"/>
            <a:ext cx="11109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desks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76656" y="213969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 exist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6656" y="2414016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and BCCU trade FX options and CDS. Values move every day.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" y="325526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Murex · Calypso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27832" y="2633472"/>
            <a:ext cx="107594" cy="0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362858" y="1719072"/>
            <a:ext cx="2651760" cy="1828800"/>
          </a:xfrm>
          <a:prstGeom prst="roundRect">
            <a:avLst>
              <a:gd name="adj" fmla="val 2500"/>
            </a:avLst>
          </a:prstGeom>
          <a:solidFill>
            <a:srgbClr val="F5F7F5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472586" y="1828800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72586" y="18233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20058" y="1847088"/>
            <a:ext cx="1042416" cy="237744"/>
          </a:xfrm>
          <a:prstGeom prst="roundRect">
            <a:avLst>
              <a:gd name="adj" fmla="val 50000"/>
            </a:avLst>
          </a:prstGeom>
          <a:solidFill>
            <a:srgbClr val="EDE6B8"/>
          </a:solidFill>
          <a:ln w="12700">
            <a:solidFill>
              <a:srgbClr val="EDE6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20058" y="1847088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/ TAMS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490874" y="213969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on file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490874" y="2414016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ISDA (1989) + CSA 1689: trust line $75k, MTA $10k, CMB at 98%, CAD cash 100%.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490874" y="325526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042050" y="2633472"/>
            <a:ext cx="107594" cy="0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177077" y="1719072"/>
            <a:ext cx="2651760" cy="1828800"/>
          </a:xfrm>
          <a:prstGeom prst="roundRect">
            <a:avLst>
              <a:gd name="adj" fmla="val 2500"/>
            </a:avLst>
          </a:prstGeom>
          <a:solidFill>
            <a:srgbClr val="F5F7F5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286805" y="1828800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286805" y="18233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634277" y="1847088"/>
            <a:ext cx="1591056" cy="237744"/>
          </a:xfrm>
          <a:prstGeom prst="roundRect">
            <a:avLst>
              <a:gd name="adj" fmla="val 50000"/>
            </a:avLst>
          </a:prstGeom>
          <a:solidFill>
            <a:srgbClr val="2F9E44"/>
          </a:solidFill>
          <a:ln w="12700">
            <a:solidFill>
              <a:srgbClr val="2F9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634277" y="1847088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CMOS (margin engine)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305093" y="213969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valuation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305093" y="2414016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MtM across the trades: exposure +$14,115,000 in TD's favour.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305093" y="325526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CMOS · event 390066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856269" y="2633472"/>
            <a:ext cx="107594" cy="0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8991295" y="1719072"/>
            <a:ext cx="2651760" cy="1828800"/>
          </a:xfrm>
          <a:prstGeom prst="roundRect">
            <a:avLst>
              <a:gd name="adj" fmla="val 2500"/>
            </a:avLst>
          </a:prstGeom>
          <a:solidFill>
            <a:srgbClr val="F5F7F5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9101023" y="1828800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9101023" y="18233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448495" y="1847088"/>
            <a:ext cx="1591056" cy="237744"/>
          </a:xfrm>
          <a:prstGeom prst="roundRect">
            <a:avLst>
              <a:gd name="adj" fmla="val 50000"/>
            </a:avLst>
          </a:prstGeom>
          <a:solidFill>
            <a:srgbClr val="2F9E44"/>
          </a:solidFill>
          <a:ln w="12700">
            <a:solidFill>
              <a:srgbClr val="2F9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9448495" y="1847088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CMOS (margin engine)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9119311" y="213969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9119311" y="2414016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max(0, E − 75k) = $14,040,000 ≥ MTA → VM margin call issued to BCCU.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119311" y="325526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CMOS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48640" y="3931920"/>
            <a:ext cx="2651760" cy="1828800"/>
          </a:xfrm>
          <a:prstGeom prst="roundRect">
            <a:avLst>
              <a:gd name="adj" fmla="val 2500"/>
            </a:avLst>
          </a:prstGeom>
          <a:solidFill>
            <a:srgbClr val="F5F7F5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58368" y="4041648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58368" y="403616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1005840" y="4059936"/>
            <a:ext cx="1522476" cy="237744"/>
          </a:xfrm>
          <a:prstGeom prst="roundRect">
            <a:avLst>
              <a:gd name="adj" fmla="val 50000"/>
            </a:avLst>
          </a:prstGeom>
          <a:solidFill>
            <a:srgbClr val="7FD6DB"/>
          </a:solidFill>
          <a:ln w="12700">
            <a:solidFill>
              <a:srgbClr val="7FD6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05840" y="4059936"/>
            <a:ext cx="1522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BCCU Collateral Ops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76656" y="43525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dispute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76656" y="4626864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BCCU disputes $450,000 (FX valuations), agrees $13,590,000.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676656" y="5468112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status: Partial Dispute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3227832" y="4846320"/>
            <a:ext cx="107594" cy="0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3362858" y="3931920"/>
            <a:ext cx="2651760" cy="1828800"/>
          </a:xfrm>
          <a:prstGeom prst="roundRect">
            <a:avLst>
              <a:gd name="adj" fmla="val 2500"/>
            </a:avLst>
          </a:prstGeom>
          <a:solidFill>
            <a:srgbClr val="F5F7F5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3472586" y="4041648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3472586" y="403616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820058" y="4059936"/>
            <a:ext cx="1522476" cy="237744"/>
          </a:xfrm>
          <a:prstGeom prst="roundRect">
            <a:avLst>
              <a:gd name="adj" fmla="val 50000"/>
            </a:avLst>
          </a:prstGeom>
          <a:solidFill>
            <a:srgbClr val="7FD6DB"/>
          </a:solidFill>
          <a:ln w="12700">
            <a:solidFill>
              <a:srgbClr val="7FD6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820058" y="4059936"/>
            <a:ext cx="1522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BCCU Collateral Ops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3490874" y="43525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posted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3490874" y="4626864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Mortgage Bond, market value $13,870,000 → credited $13,592,600 at 98%.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3490874" y="5468112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Colline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6042050" y="4846320"/>
            <a:ext cx="107594" cy="0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6177077" y="3931920"/>
            <a:ext cx="2651760" cy="1828800"/>
          </a:xfrm>
          <a:prstGeom prst="roundRect">
            <a:avLst>
              <a:gd name="adj" fmla="val 2500"/>
            </a:avLst>
          </a:prstGeom>
          <a:solidFill>
            <a:srgbClr val="F5F7F5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6286805" y="4041648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6286805" y="403616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6634277" y="4059936"/>
            <a:ext cx="1659636" cy="237744"/>
          </a:xfrm>
          <a:prstGeom prst="roundRect">
            <a:avLst>
              <a:gd name="adj" fmla="val 50000"/>
            </a:avLst>
          </a:prstGeom>
          <a:solidFill>
            <a:srgbClr val="2F9E44"/>
          </a:solidFill>
          <a:ln w="12700">
            <a:solidFill>
              <a:srgbClr val="2F9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6634277" y="4059936"/>
            <a:ext cx="16596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Colline / Calypso IFI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6305093" y="43525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&amp; hold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6305093" y="4626864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settles; holding = $13,592,600. Shortfall $447,400 ≈ the dispute.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6305093" y="5468112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Colline · Calypso IFI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856269" y="4846320"/>
            <a:ext cx="107594" cy="0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8991295" y="3931920"/>
            <a:ext cx="2651760" cy="1828800"/>
          </a:xfrm>
          <a:prstGeom prst="roundRect">
            <a:avLst>
              <a:gd name="adj" fmla="val 2500"/>
            </a:avLst>
          </a:prstGeom>
          <a:solidFill>
            <a:srgbClr val="F5F7F5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9101023" y="4041648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9101023" y="403616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9448495" y="4059936"/>
            <a:ext cx="905256" cy="237744"/>
          </a:xfrm>
          <a:prstGeom prst="roundRect">
            <a:avLst>
              <a:gd name="adj" fmla="val 50000"/>
            </a:avLst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9448495" y="4059936"/>
            <a:ext cx="905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Ops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119311" y="43525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250" dirty="0"/>
          </a:p>
        </p:txBody>
      </p:sp>
      <p:sp>
        <p:nvSpPr>
          <p:cNvPr id="85" name="Text 83"/>
          <p:cNvSpPr/>
          <p:nvPr/>
        </p:nvSpPr>
        <p:spPr>
          <a:xfrm>
            <a:off x="9119311" y="4626864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 age 3 days. Evidence sits in four systems — the exception agent's job.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9119311" y="5468112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Credit Ops + agent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9219895" y="3602736"/>
            <a:ext cx="0" cy="292608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548640" y="5897880"/>
            <a:ext cx="11094415" cy="457200"/>
          </a:xfrm>
          <a:prstGeom prst="roundRect">
            <a:avLst>
              <a:gd name="adj" fmla="val 12000"/>
            </a:avLst>
          </a:prstGeom>
          <a:solidFill>
            <a:srgbClr val="0E3D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777240" y="589788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actor writes facts the next actor needs.  </a:t>
            </a:r>
            <a:r>
              <a:rPr lang="en-US" sz="1050" dirty="0">
                <a:solidFill>
                  <a:srgbClr val="C9D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on the next slide is what lets the last actor (and an AI agent) see the first actor's facts — with meaning attached.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Securities  ·  Risk Data Platform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9357055" y="6473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 ·  THE MODEL, ONE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story, drawn once — every box persists, colours = role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874520" cy="457200"/>
          </a:xfrm>
          <a:prstGeom prst="roundRect">
            <a:avLst>
              <a:gd name="adj" fmla="val 10000"/>
            </a:avLst>
          </a:prstGeom>
          <a:solidFill>
            <a:srgbClr val="7FD6DB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874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84048" y="1536192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84048" y="1530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874520" cy="457200"/>
          </a:xfrm>
          <a:prstGeom prst="roundRect">
            <a:avLst>
              <a:gd name="adj" fmla="val 10000"/>
            </a:avLst>
          </a:prstGeom>
          <a:solidFill>
            <a:srgbClr val="7FD6DB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148840"/>
            <a:ext cx="1874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td_entity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1874520" cy="457200"/>
          </a:xfrm>
          <a:prstGeom prst="roundRect">
            <a:avLst>
              <a:gd name="adj" fmla="val 10000"/>
            </a:avLst>
          </a:prstGeom>
          <a:solidFill>
            <a:srgbClr val="7FD6DB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697480"/>
            <a:ext cx="1874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credit_rating_snapshot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874520" cy="457200"/>
          </a:xfrm>
          <a:prstGeom prst="roundRect">
            <a:avLst>
              <a:gd name="adj" fmla="val 10000"/>
            </a:avLst>
          </a:prstGeom>
          <a:solidFill>
            <a:srgbClr val="7FD6DB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5074920"/>
            <a:ext cx="1874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1874520" cy="457200"/>
          </a:xfrm>
          <a:prstGeom prst="roundRect">
            <a:avLst>
              <a:gd name="adj" fmla="val 10000"/>
            </a:avLst>
          </a:prstGeom>
          <a:solidFill>
            <a:srgbClr val="1F6F6B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429000"/>
            <a:ext cx="1874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84048" y="3364992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84048" y="3359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1874520" cy="566928"/>
          </a:xfrm>
          <a:prstGeom prst="roundRect">
            <a:avLst>
              <a:gd name="adj" fmla="val 8065"/>
            </a:avLst>
          </a:prstGeom>
          <a:solidFill>
            <a:srgbClr val="1F6F6B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3977640"/>
            <a:ext cx="187452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trade_agreement_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applicability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063240" y="1600200"/>
            <a:ext cx="1920240" cy="548640"/>
          </a:xfrm>
          <a:prstGeom prst="roundRect">
            <a:avLst>
              <a:gd name="adj" fmla="val 8333"/>
            </a:avLst>
          </a:prstGeom>
          <a:solidFill>
            <a:srgbClr val="EDE6B8"/>
          </a:solidFill>
          <a:ln w="12700">
            <a:solidFill>
              <a:srgbClr val="B8AD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063240" y="1600200"/>
            <a:ext cx="192024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ISDA Master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98648" y="1536192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898648" y="1530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63240" y="2606040"/>
            <a:ext cx="1920240" cy="777240"/>
          </a:xfrm>
          <a:prstGeom prst="roundRect">
            <a:avLst>
              <a:gd name="adj" fmla="val 5882"/>
            </a:avLst>
          </a:prstGeom>
          <a:solidFill>
            <a:srgbClr val="EDE6B8"/>
          </a:solidFill>
          <a:ln w="12700">
            <a:solidFill>
              <a:srgbClr val="B8AD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063240" y="2606040"/>
            <a:ext cx="192024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legal_agreement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898648" y="2542032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898648" y="253654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88920" y="3566160"/>
            <a:ext cx="621792" cy="365760"/>
          </a:xfrm>
          <a:prstGeom prst="roundRect">
            <a:avLst>
              <a:gd name="adj" fmla="val 12500"/>
            </a:avLst>
          </a:prstGeom>
          <a:solidFill>
            <a:srgbClr val="EDE6B8"/>
          </a:solidFill>
          <a:ln w="12700">
            <a:solidFill>
              <a:srgbClr val="B8AD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88920" y="3566160"/>
            <a:ext cx="62179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447288" y="3566160"/>
            <a:ext cx="621792" cy="365760"/>
          </a:xfrm>
          <a:prstGeom prst="roundRect">
            <a:avLst>
              <a:gd name="adj" fmla="val 12500"/>
            </a:avLst>
          </a:prstGeom>
          <a:solidFill>
            <a:srgbClr val="EDE6B8"/>
          </a:solidFill>
          <a:ln w="12700">
            <a:solidFill>
              <a:srgbClr val="B8AD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447288" y="3566160"/>
            <a:ext cx="62179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GMRA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105656" y="3566160"/>
            <a:ext cx="621792" cy="365760"/>
          </a:xfrm>
          <a:prstGeom prst="roundRect">
            <a:avLst>
              <a:gd name="adj" fmla="val 12500"/>
            </a:avLst>
          </a:prstGeom>
          <a:solidFill>
            <a:srgbClr val="EDE6B8"/>
          </a:solidFill>
          <a:ln w="12700">
            <a:solidFill>
              <a:srgbClr val="B8AD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05656" y="3566160"/>
            <a:ext cx="62179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GMSLA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64024" y="3566160"/>
            <a:ext cx="621792" cy="365760"/>
          </a:xfrm>
          <a:prstGeom prst="roundRect">
            <a:avLst>
              <a:gd name="adj" fmla="val 12500"/>
            </a:avLst>
          </a:prstGeom>
          <a:solidFill>
            <a:srgbClr val="EDE6B8"/>
          </a:solidFill>
          <a:ln w="12700">
            <a:solidFill>
              <a:srgbClr val="B8AD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764024" y="3566160"/>
            <a:ext cx="62179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PBA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743200" y="39502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kinds (is-a): exactly one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063240" y="4279392"/>
            <a:ext cx="1920240" cy="457200"/>
          </a:xfrm>
          <a:prstGeom prst="roundRect">
            <a:avLst>
              <a:gd name="adj" fmla="val 10000"/>
            </a:avLst>
          </a:prstGeom>
          <a:solidFill>
            <a:srgbClr val="EDE6B8"/>
          </a:solidFill>
          <a:ln w="12700">
            <a:solidFill>
              <a:srgbClr val="B8AD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063240" y="4279392"/>
            <a:ext cx="19202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agreement_group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623560" y="141732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AGREEMENT'S SCHEDULES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577840" y="1664208"/>
            <a:ext cx="3200400" cy="2606040"/>
          </a:xfrm>
          <a:prstGeom prst="roundRect">
            <a:avLst>
              <a:gd name="adj" fmla="val 1754"/>
            </a:avLst>
          </a:prstGeom>
          <a:solidFill>
            <a:srgbClr val="FDFBEA"/>
          </a:solidFill>
          <a:ln w="12700">
            <a:solidFill>
              <a:srgbClr val="B8AD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413248" y="1600200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413248" y="15947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760720" y="1828800"/>
            <a:ext cx="2834640" cy="457200"/>
          </a:xfrm>
          <a:prstGeom prst="roundRect">
            <a:avLst>
              <a:gd name="adj" fmla="val 10000"/>
            </a:avLst>
          </a:prstGeom>
          <a:solidFill>
            <a:srgbClr val="F7E94A"/>
          </a:solidFill>
          <a:ln w="12700">
            <a:solidFill>
              <a:srgbClr val="C9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760720" y="1828800"/>
            <a:ext cx="28346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threshold_entry  ·  Thr $75k · MTA $10k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760720" y="2432304"/>
            <a:ext cx="2834640" cy="457200"/>
          </a:xfrm>
          <a:prstGeom prst="roundRect">
            <a:avLst>
              <a:gd name="adj" fmla="val 10000"/>
            </a:avLst>
          </a:prstGeom>
          <a:solidFill>
            <a:srgbClr val="F7E94A"/>
          </a:solidFill>
          <a:ln w="12700">
            <a:solidFill>
              <a:srgbClr val="C9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760720" y="2432304"/>
            <a:ext cx="28346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eligibility_entry  ·  CMB 98% · cash 100%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760720" y="3035808"/>
            <a:ext cx="2834640" cy="457200"/>
          </a:xfrm>
          <a:prstGeom prst="roundRect">
            <a:avLst>
              <a:gd name="adj" fmla="val 10000"/>
            </a:avLst>
          </a:prstGeom>
          <a:solidFill>
            <a:srgbClr val="F7E94A"/>
          </a:solidFill>
          <a:ln w="12700">
            <a:solidFill>
              <a:srgbClr val="C9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760720" y="3035808"/>
            <a:ext cx="28346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interest_rate_term  ·  per currency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760720" y="3639312"/>
            <a:ext cx="2834640" cy="457200"/>
          </a:xfrm>
          <a:prstGeom prst="roundRect">
            <a:avLst>
              <a:gd name="adj" fmla="val 10000"/>
            </a:avLst>
          </a:prstGeom>
          <a:solidFill>
            <a:srgbClr val="F7E94A"/>
          </a:solidFill>
          <a:ln w="12700">
            <a:solidFill>
              <a:srgbClr val="C9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760720" y="3639312"/>
            <a:ext cx="28346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settlement_instruction  ·  SSIs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144000" y="14173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CYCLE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098280" y="1664208"/>
            <a:ext cx="2542032" cy="3291840"/>
          </a:xfrm>
          <a:prstGeom prst="roundRect">
            <a:avLst>
              <a:gd name="adj" fmla="val 1799"/>
            </a:avLst>
          </a:prstGeom>
          <a:solidFill>
            <a:srgbClr val="EEF7EF"/>
          </a:solidFill>
          <a:ln w="12700">
            <a:solidFill>
              <a:srgbClr val="2F9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8933688" y="1600200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8933688" y="159471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9281160" y="1828800"/>
            <a:ext cx="2176272" cy="502920"/>
          </a:xfrm>
          <a:prstGeom prst="roundRect">
            <a:avLst>
              <a:gd name="adj" fmla="val 9091"/>
            </a:avLst>
          </a:prstGeom>
          <a:solidFill>
            <a:srgbClr val="2F9E44"/>
          </a:solidFill>
          <a:ln w="12700">
            <a:solidFill>
              <a:srgbClr val="2F9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9281160" y="1828800"/>
            <a:ext cx="217627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margin_event  390066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9281160" y="2468880"/>
            <a:ext cx="2176272" cy="411480"/>
          </a:xfrm>
          <a:prstGeom prst="roundRect">
            <a:avLst>
              <a:gd name="adj" fmla="val 11111"/>
            </a:avLst>
          </a:prstGeom>
          <a:solidFill>
            <a:srgbClr val="2F9E44"/>
          </a:solidFill>
          <a:ln w="12700">
            <a:solidFill>
              <a:srgbClr val="2F9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9281160" y="2468880"/>
            <a:ext cx="2176272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 +$14.115M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9281160" y="2971800"/>
            <a:ext cx="2176272" cy="411480"/>
          </a:xfrm>
          <a:prstGeom prst="roundRect">
            <a:avLst>
              <a:gd name="adj" fmla="val 11111"/>
            </a:avLst>
          </a:prstGeom>
          <a:solidFill>
            <a:srgbClr val="2F9E44"/>
          </a:solidFill>
          <a:ln w="12700">
            <a:solidFill>
              <a:srgbClr val="2F9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9281160" y="2971800"/>
            <a:ext cx="2176272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margin_call  $14.04M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9281160" y="3474720"/>
            <a:ext cx="2176272" cy="411480"/>
          </a:xfrm>
          <a:prstGeom prst="roundRect">
            <a:avLst>
              <a:gd name="adj" fmla="val 11111"/>
            </a:avLst>
          </a:prstGeom>
          <a:solidFill>
            <a:srgbClr val="2F9E44"/>
          </a:solidFill>
          <a:ln w="12700">
            <a:solidFill>
              <a:srgbClr val="2F9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9281160" y="3474720"/>
            <a:ext cx="2176272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  $450k · 3d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11521440" y="3410712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11521440" y="34052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281160" y="39502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1B5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 → one exposure,</a:t>
            </a:r>
            <a:endParaRPr lang="en-US" sz="800" dirty="0"/>
          </a:p>
          <a:p>
            <a:pPr marL="0" indent="0">
              <a:buNone/>
            </a:pPr>
            <a:r>
              <a:rPr lang="en-US" sz="800" i="1" dirty="0">
                <a:solidFill>
                  <a:srgbClr val="1B5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most one call, one dispute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063240" y="5074920"/>
            <a:ext cx="1920240" cy="502920"/>
          </a:xfrm>
          <a:prstGeom prst="roundRect">
            <a:avLst>
              <a:gd name="adj" fmla="val 9091"/>
            </a:avLst>
          </a:prstGeom>
          <a:solidFill>
            <a:srgbClr val="2F9E44"/>
          </a:solidFill>
          <a:ln w="12700">
            <a:solidFill>
              <a:srgbClr val="2F9E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3063240" y="5074920"/>
            <a:ext cx="19202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collateral_movement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2898648" y="5010912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2898648" y="50054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035040" y="5074920"/>
            <a:ext cx="2377440" cy="502920"/>
          </a:xfrm>
          <a:prstGeom prst="roundRect">
            <a:avLst>
              <a:gd name="adj" fmla="val 9091"/>
            </a:avLst>
          </a:prstGeom>
          <a:solidFill>
            <a:srgbClr val="C9CDD0"/>
          </a:solidFill>
          <a:ln w="1270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6035040" y="5074920"/>
            <a:ext cx="23774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collateral_holding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870448" y="5010912"/>
            <a:ext cx="274320" cy="274320"/>
          </a:xfrm>
          <a:prstGeom prst="ellipse">
            <a:avLst/>
          </a:prstGeom>
          <a:solidFill>
            <a:srgbClr val="0E3D29"/>
          </a:solidFill>
          <a:ln w="12700">
            <a:solidFill>
              <a:srgbClr val="0E3D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5870448" y="50054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60350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— must equal Σ settled movements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2423160" y="1828800"/>
            <a:ext cx="621792" cy="0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2487168" y="16276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4023360" y="2148840"/>
            <a:ext cx="0" cy="438912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4114800" y="22311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umbrella for (CSA only)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983480" y="2926080"/>
            <a:ext cx="576072" cy="0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4892040" y="27249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sets terms via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 flipV="1">
            <a:off x="4983480" y="2011680"/>
            <a:ext cx="4096512" cy="1097280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6949440" y="23957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4023360" y="3401568"/>
            <a:ext cx="0" cy="1655064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4114800" y="44805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made under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 flipH="1">
            <a:off x="5029200" y="4160520"/>
            <a:ext cx="4206240" cy="914400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6675120" y="46634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answers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2423160" y="5303520"/>
            <a:ext cx="621792" cy="0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2487168" y="51023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moves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001768" y="5303520"/>
            <a:ext cx="1014984" cy="0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5029200" y="559612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reported as ↔ reconcile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548640" y="5897880"/>
            <a:ext cx="11094415" cy="457200"/>
          </a:xfrm>
          <a:prstGeom prst="roundRect">
            <a:avLst>
              <a:gd name="adj" fmla="val 12000"/>
            </a:avLst>
          </a:prstGeom>
          <a:solidFill>
            <a:srgbClr val="F5F7F5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731520" y="589788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F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reference   </a:t>
            </a:r>
            <a:r>
              <a:rPr lang="en-US" sz="950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  </a:t>
            </a:r>
            <a:r>
              <a:rPr lang="en-US" sz="950" dirty="0">
                <a:solidFill>
                  <a:srgbClr val="B8AD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(one agreement, four kinds)   </a:t>
            </a:r>
            <a:r>
              <a:rPr lang="en-US" sz="950" dirty="0">
                <a:solidFill>
                  <a:srgbClr val="C9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schedules   </a:t>
            </a:r>
            <a:r>
              <a:rPr lang="en-US" sz="950" dirty="0">
                <a:solidFill>
                  <a:srgbClr val="2F9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operations   </a:t>
            </a:r>
            <a:r>
              <a:rPr lang="en-US" sz="9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— must reconcile.   </a:t>
            </a:r>
            <a:r>
              <a:rPr lang="en-US" sz="9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Calculations (credited value, entitlement) have NO boxes — they live in the semantic layer above.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Securities  ·  Risk Data Platform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9357055" y="6473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 ·  FROM SYSTEMS TO ANSWERS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Systems of Record, One Model — and How AI Answers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515258" cy="960120"/>
          </a:xfrm>
          <a:prstGeom prst="roundRect">
            <a:avLst>
              <a:gd name="adj" fmla="val 4762"/>
            </a:avLst>
          </a:prstGeom>
          <a:solidFill>
            <a:srgbClr val="EDE6B8"/>
          </a:solidFill>
          <a:ln w="12700">
            <a:solidFill>
              <a:srgbClr val="B8AD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37160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CMOS orchestrates · Colline executes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OTC derivatives margin — the ISDA + CSA family (GENERAL_CSA, REG_VM, REG_IMC / IMP)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38218" y="1280160"/>
            <a:ext cx="3515258" cy="960120"/>
          </a:xfrm>
          <a:prstGeom prst="roundRect">
            <a:avLst>
              <a:gd name="adj" fmla="val 4762"/>
            </a:avLst>
          </a:prstGeom>
          <a:solidFill>
            <a:srgbClr val="EDE6B8"/>
          </a:solidFill>
          <a:ln w="12700">
            <a:solidFill>
              <a:srgbClr val="B8AD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475378" y="137160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stack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475378" y="164592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GMRA (repo) · GMSLA (stock lending) — outside CMOS today, converging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127797" y="1280160"/>
            <a:ext cx="3515258" cy="960120"/>
          </a:xfrm>
          <a:prstGeom prst="roundRect">
            <a:avLst>
              <a:gd name="adj" fmla="val 4762"/>
            </a:avLst>
          </a:prstGeom>
          <a:solidFill>
            <a:srgbClr val="EDE6B8"/>
          </a:solidFill>
          <a:ln w="12700">
            <a:solidFill>
              <a:srgbClr val="B8AD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64957" y="137160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264957" y="164592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PBA (prime brokerage) — separate legal framework; not landed on platform yet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5848" y="2286000"/>
            <a:ext cx="0" cy="256032"/>
          </a:xfrm>
          <a:prstGeom prst="line">
            <a:avLst/>
          </a:prstGeom>
          <a:noFill/>
          <a:ln w="19050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48640" y="2578608"/>
            <a:ext cx="11094415" cy="457200"/>
          </a:xfrm>
          <a:prstGeom prst="roundRect">
            <a:avLst>
              <a:gd name="adj" fmla="val 12000"/>
            </a:avLst>
          </a:prstGeom>
          <a:solidFill>
            <a:srgbClr val="0E3D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2578608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+ MAPPINGS — conformance authored once:  </a:t>
            </a:r>
            <a:r>
              <a:rPr lang="en-US" sz="1050" dirty="0">
                <a:solidFill>
                  <a:srgbClr val="C9D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system's tables mapped to the shared entities (contract_entity, grain, keys) · measures defined once in the metric view.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5440680" cy="2514600"/>
          </a:xfrm>
          <a:prstGeom prst="roundRect">
            <a:avLst>
              <a:gd name="adj" fmla="val 1818"/>
            </a:avLst>
          </a:prstGeom>
          <a:solidFill>
            <a:srgbClr val="F5F7F5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" y="335584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QUESTION, IN PLAIN ENGLISH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31520" y="359359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much eligible collateral do we hold from Central 1, by agreement kind — and is anything disputed?”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411480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MCP  </a:t>
            </a: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assistant calls the governed Genie tool; catalog permissions apply; call logged.
</a:t>
            </a:r>
            <a:r>
              <a:rPr lang="en-US" sz="9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Resolve  </a:t>
            </a: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“Central 1” → BCCU via the client master (one golden record).
</a:t>
            </a:r>
            <a:r>
              <a:rPr lang="en-US" sz="9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Semantics  </a:t>
            </a: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“eligible collateral” and “disputed” resolve to governed MEASURES — not a guessed formula. Genie executes what was declared; it does not invent joins.
</a:t>
            </a:r>
            <a:r>
              <a:rPr lang="en-US" sz="9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Compile &amp; run  </a:t>
            </a: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SQL against the metric view →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309360" y="3246120"/>
            <a:ext cx="5333695" cy="1024128"/>
          </a:xfrm>
          <a:prstGeom prst="roundRect">
            <a:avLst>
              <a:gd name="adj" fmla="val 4464"/>
            </a:avLst>
          </a:prstGeom>
          <a:solidFill>
            <a:srgbClr val="2028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55664" y="3319272"/>
            <a:ext cx="50410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20" dirty="0">
                <a:solidFill>
                  <a:srgbClr val="E8E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agreement_kind,</a:t>
            </a:r>
            <a:endParaRPr lang="en-US" sz="82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20" dirty="0">
                <a:solidFill>
                  <a:srgbClr val="E8E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MEASURE(eligible_collateral_value),</a:t>
            </a:r>
            <a:endParaRPr lang="en-US" sz="82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20" dirty="0">
                <a:solidFill>
                  <a:srgbClr val="E8E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MEASURE(disputed_amount)</a:t>
            </a:r>
            <a:endParaRPr lang="en-US" sz="82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20" dirty="0">
                <a:solidFill>
                  <a:srgbClr val="E8E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  creditrisk.collateral.positions_mv</a:t>
            </a:r>
            <a:endParaRPr lang="en-US" sz="82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20" dirty="0">
                <a:solidFill>
                  <a:srgbClr val="E8E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counterparty = 'Central 1 Credit Union'</a:t>
            </a:r>
            <a:endParaRPr lang="en-US" sz="82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820" dirty="0">
                <a:solidFill>
                  <a:srgbClr val="E8E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 BY agreement_kind;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6309360" y="4343400"/>
            <a:ext cx="53336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as ONE SCAN of the denormalized gold table </a:t>
            </a:r>
            <a:r>
              <a:rPr lang="en-US" sz="950" dirty="0">
                <a:solidFill>
                  <a:srgbClr val="26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(positions_gold — the pre-joined OBT, grain declared, copies documented). The join work was done once in the pipeline, not at question time.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309360" y="4983480"/>
            <a:ext cx="5333695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0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46520" y="5047488"/>
            <a:ext cx="5059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840" dirty="0">
                <a:solidFill>
                  <a:srgbClr val="262B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Central 1 · eligible collateral</a:t>
            </a:r>
            <a:endParaRPr lang="en-US" sz="84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40" dirty="0">
                <a:solidFill>
                  <a:srgbClr val="262B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CSA  $13,592,600   ·  1 dispute: $450,000 (age 3d)</a:t>
            </a:r>
            <a:endParaRPr lang="en-US" sz="84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40" dirty="0">
                <a:solidFill>
                  <a:srgbClr val="262B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GMRA $4,100,026    ·  GMSLA $800,000</a:t>
            </a:r>
            <a:endParaRPr lang="en-US" sz="84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40" dirty="0">
                <a:solidFill>
                  <a:srgbClr val="262B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PBA  — not landed → excluded, NOT zero (coverage declared)</a:t>
            </a:r>
            <a:endParaRPr lang="en-US" sz="840" dirty="0"/>
          </a:p>
        </p:txBody>
      </p:sp>
      <p:sp>
        <p:nvSpPr>
          <p:cNvPr id="25" name="Shape 23"/>
          <p:cNvSpPr/>
          <p:nvPr/>
        </p:nvSpPr>
        <p:spPr>
          <a:xfrm>
            <a:off x="548640" y="5925312"/>
            <a:ext cx="11094415" cy="438912"/>
          </a:xfrm>
          <a:prstGeom prst="roundRect">
            <a:avLst>
              <a:gd name="adj" fmla="val 12500"/>
            </a:avLst>
          </a:prstGeom>
          <a:solidFill>
            <a:srgbClr val="0E3D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77240" y="5925312"/>
            <a:ext cx="106372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of labour:  </a:t>
            </a:r>
            <a:r>
              <a:rPr lang="en-US" sz="1050" dirty="0">
                <a:solidFill>
                  <a:srgbClr val="C9D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conformance is authored once · Genie executes it within a product · agents compose across products. Nothing stitches by itself.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Securities  ·  Risk Data Platform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357055" y="6473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 ·  THE WHOLE 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303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E3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ontology — nouns, verbs, one derived card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23748" y="1380744"/>
            <a:ext cx="1885401" cy="534924"/>
          </a:xfrm>
          <a:prstGeom prst="roundRect">
            <a:avLst>
              <a:gd name="adj" fmla="val 8547"/>
            </a:avLst>
          </a:prstGeom>
          <a:solidFill>
            <a:srgbClr val="F4EDDD"/>
          </a:solidFill>
          <a:ln w="15240">
            <a:solidFill>
              <a:srgbClr val="8A6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96900" y="1408176"/>
            <a:ext cx="173909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8A6A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PARTY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796900" y="1536192"/>
            <a:ext cx="17390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Counterparty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96900" y="1732788"/>
            <a:ext cx="173909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Central 1 CU · BCCU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723748" y="2183130"/>
            <a:ext cx="1885401" cy="534924"/>
          </a:xfrm>
          <a:prstGeom prst="roundRect">
            <a:avLst>
              <a:gd name="adj" fmla="val 8547"/>
            </a:avLst>
          </a:prstGeom>
          <a:solidFill>
            <a:srgbClr val="F4EDDD"/>
          </a:solidFill>
          <a:ln w="15240">
            <a:solidFill>
              <a:srgbClr val="8A6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96900" y="2210562"/>
            <a:ext cx="173909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8A6A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PARTY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796900" y="2338578"/>
            <a:ext cx="17390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TD Entity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6900" y="2535174"/>
            <a:ext cx="173909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TD Bank · TDBK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348990" y="1469898"/>
            <a:ext cx="1909267" cy="534924"/>
          </a:xfrm>
          <a:prstGeom prst="roundRect">
            <a:avLst>
              <a:gd name="adj" fmla="val 8547"/>
            </a:avLst>
          </a:prstGeom>
          <a:solidFill>
            <a:srgbClr val="F4EDDD"/>
          </a:solidFill>
          <a:ln w="15240">
            <a:solidFill>
              <a:srgbClr val="8A6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22142" y="1497330"/>
            <a:ext cx="176296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8A6A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LEGAL UMBRELLA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2142" y="1625346"/>
            <a:ext cx="17629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ISDA Master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22142" y="1821942"/>
            <a:ext cx="17629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1989 · group TDBK_BCCU_GEN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348990" y="2361438"/>
            <a:ext cx="1909267" cy="570586"/>
          </a:xfrm>
          <a:prstGeom prst="roundRect">
            <a:avLst>
              <a:gd name="adj" fmla="val 8013"/>
            </a:avLst>
          </a:prstGeom>
          <a:solidFill>
            <a:srgbClr val="F4EDDD"/>
          </a:solidFill>
          <a:ln w="15240">
            <a:solidFill>
              <a:srgbClr val="8A6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22142" y="2388870"/>
            <a:ext cx="176296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8A6A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LEGAL TERMS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3422142" y="2516886"/>
            <a:ext cx="17629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22142" y="2749144"/>
            <a:ext cx="17629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1689 · GENERAL_CSA · TAMS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23748" y="3698748"/>
            <a:ext cx="2028596" cy="570586"/>
          </a:xfrm>
          <a:prstGeom prst="roundRect">
            <a:avLst>
              <a:gd name="adj" fmla="val 8013"/>
            </a:avLst>
          </a:prstGeom>
          <a:solidFill>
            <a:srgbClr val="F4EDDD"/>
          </a:solidFill>
          <a:ln w="15240">
            <a:solidFill>
              <a:srgbClr val="8A6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96900" y="3726180"/>
            <a:ext cx="18822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8A6A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TERMS · SCHEDULE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796900" y="3854196"/>
            <a:ext cx="1882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Eligibility Entry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96900" y="4086454"/>
            <a:ext cx="18822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CMB 98% · CAD cash · GoC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23748" y="4518965"/>
            <a:ext cx="2028596" cy="570586"/>
          </a:xfrm>
          <a:prstGeom prst="roundRect">
            <a:avLst>
              <a:gd name="adj" fmla="val 8013"/>
            </a:avLst>
          </a:prstGeom>
          <a:solidFill>
            <a:srgbClr val="F4EDDD"/>
          </a:solidFill>
          <a:ln w="15240">
            <a:solidFill>
              <a:srgbClr val="8A6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96900" y="4546397"/>
            <a:ext cx="18822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8A6A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TERMS · SCHEDULE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796900" y="4674413"/>
            <a:ext cx="1882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 Entry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96900" y="4906670"/>
            <a:ext cx="18822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 $75k · MTA $10k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723748" y="5339182"/>
            <a:ext cx="2028596" cy="534924"/>
          </a:xfrm>
          <a:prstGeom prst="roundRect">
            <a:avLst>
              <a:gd name="adj" fmla="val 8547"/>
            </a:avLst>
          </a:prstGeom>
          <a:solidFill>
            <a:srgbClr val="F4EDDD"/>
          </a:solidFill>
          <a:ln w="15240">
            <a:solidFill>
              <a:srgbClr val="8A6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96900" y="5366614"/>
            <a:ext cx="18822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8A6A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796900" y="5494630"/>
            <a:ext cx="1882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 Rating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96900" y="5691226"/>
            <a:ext cx="18822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BCCU: AA- (S&amp;P) · 1C int.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348990" y="3698748"/>
            <a:ext cx="1909267" cy="570586"/>
          </a:xfrm>
          <a:prstGeom prst="roundRect">
            <a:avLst>
              <a:gd name="adj" fmla="val 8013"/>
            </a:avLst>
          </a:prstGeom>
          <a:solidFill>
            <a:srgbClr val="E9EEF4"/>
          </a:solidFill>
          <a:ln w="1524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422142" y="3726180"/>
            <a:ext cx="176296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2E4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TRADING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3422142" y="3854196"/>
            <a:ext cx="17629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Netting Set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22142" y="4086454"/>
            <a:ext cx="17629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NS-1689 · from CSA scope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3348990" y="4857750"/>
            <a:ext cx="1909267" cy="570586"/>
          </a:xfrm>
          <a:prstGeom prst="roundRect">
            <a:avLst>
              <a:gd name="adj" fmla="val 8013"/>
            </a:avLst>
          </a:prstGeom>
          <a:solidFill>
            <a:srgbClr val="E9EEF4"/>
          </a:solidFill>
          <a:ln w="1524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422142" y="4885182"/>
            <a:ext cx="176296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2E4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TRADING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3422142" y="5013198"/>
            <a:ext cx="17629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422142" y="5245456"/>
            <a:ext cx="17629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FX options · CDS (Murex/Calypso)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974232" y="3698748"/>
            <a:ext cx="1885401" cy="570586"/>
          </a:xfrm>
          <a:prstGeom prst="roundRect">
            <a:avLst>
              <a:gd name="adj" fmla="val 8013"/>
            </a:avLst>
          </a:prstGeom>
          <a:solidFill>
            <a:srgbClr val="E9EEF4"/>
          </a:solidFill>
          <a:ln w="1524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047384" y="3726180"/>
            <a:ext cx="173909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2E4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TRADING · DAILY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6047384" y="3854196"/>
            <a:ext cx="17390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Exposure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47384" y="4086454"/>
            <a:ext cx="173909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 MtM +$14.115M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5974232" y="2539746"/>
            <a:ext cx="1885401" cy="570586"/>
          </a:xfrm>
          <a:prstGeom prst="roundRect">
            <a:avLst>
              <a:gd name="adj" fmla="val 8013"/>
            </a:avLst>
          </a:prstGeom>
          <a:solidFill>
            <a:srgbClr val="E5F0ED"/>
          </a:solidFill>
          <a:ln w="15240">
            <a:solidFill>
              <a:srgbClr val="216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047384" y="2567178"/>
            <a:ext cx="173909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216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 · CMOS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6047384" y="2695194"/>
            <a:ext cx="17390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Call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047384" y="2927452"/>
            <a:ext cx="173909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VM · $14.04M · disputed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974232" y="4857750"/>
            <a:ext cx="1885401" cy="624078"/>
          </a:xfrm>
          <a:prstGeom prst="roundRect">
            <a:avLst>
              <a:gd name="adj" fmla="val 7326"/>
            </a:avLst>
          </a:prstGeom>
          <a:solidFill>
            <a:srgbClr val="E5F0ED"/>
          </a:solidFill>
          <a:ln w="15240">
            <a:solidFill>
              <a:srgbClr val="216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047384" y="4885182"/>
            <a:ext cx="173909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216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 · COLLINE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6047384" y="5013198"/>
            <a:ext cx="17390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Collateral Movement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047384" y="5298948"/>
            <a:ext cx="173909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MV-0402 · $13.87M CMB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8718804" y="5481828"/>
            <a:ext cx="1789938" cy="534924"/>
          </a:xfrm>
          <a:prstGeom prst="roundRect">
            <a:avLst>
              <a:gd name="adj" fmla="val 8547"/>
            </a:avLst>
          </a:prstGeom>
          <a:solidFill>
            <a:srgbClr val="E9EEF4"/>
          </a:solidFill>
          <a:ln w="1524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791956" y="5509260"/>
            <a:ext cx="164363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2E4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8791956" y="5637276"/>
            <a:ext cx="16436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Asset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91956" y="5833872"/>
            <a:ext cx="164363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Canada Mortgage Bond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8718804" y="3698748"/>
            <a:ext cx="2028596" cy="570586"/>
          </a:xfrm>
          <a:prstGeom prst="roundRect">
            <a:avLst>
              <a:gd name="adj" fmla="val 8013"/>
            </a:avLst>
          </a:prstGeom>
          <a:solidFill>
            <a:srgbClr val="EEF1F2"/>
          </a:solidFill>
          <a:ln w="15240">
            <a:solidFill>
              <a:srgbClr val="5A6B7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8791956" y="3726180"/>
            <a:ext cx="18822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1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DERIVED — NEVER STORED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8791956" y="3854196"/>
            <a:ext cx="1882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Collateral Position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791956" y="4086454"/>
            <a:ext cx="18822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A6B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 mvts · $0 → $13.59M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8146024" y="1291590"/>
            <a:ext cx="3579876" cy="1337310"/>
          </a:xfrm>
          <a:prstGeom prst="roundRect">
            <a:avLst>
              <a:gd name="adj" fmla="val 4103"/>
            </a:avLst>
          </a:prstGeom>
          <a:solidFill>
            <a:srgbClr val="FDFBF3"/>
          </a:solidFill>
          <a:ln w="15240">
            <a:solidFill>
              <a:srgbClr val="8A6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8219176" y="1319022"/>
            <a:ext cx="34335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8A6A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LEGAL_AGREEMENT — THE FOUR KINDS (every agreement is exactly one)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8289219" y="1576883"/>
            <a:ext cx="1646743" cy="303124"/>
          </a:xfrm>
          <a:prstGeom prst="roundRect">
            <a:avLst>
              <a:gd name="adj" fmla="val 12066"/>
            </a:avLst>
          </a:prstGeom>
          <a:solidFill>
            <a:srgbClr val="F4EDDD"/>
          </a:solidFill>
          <a:ln w="20320">
            <a:solidFill>
              <a:srgbClr val="8A6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8289219" y="1576883"/>
            <a:ext cx="1646743" cy="3031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  (this example)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10031425" y="1576883"/>
            <a:ext cx="1646743" cy="303124"/>
          </a:xfrm>
          <a:prstGeom prst="roundRect">
            <a:avLst>
              <a:gd name="adj" fmla="val 12066"/>
            </a:avLst>
          </a:prstGeom>
          <a:solidFill>
            <a:srgbClr val="FFFFFF"/>
          </a:solidFill>
          <a:ln w="11430">
            <a:solidFill>
              <a:srgbClr val="8A6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10031425" y="1576883"/>
            <a:ext cx="1646743" cy="3031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GMRA — repo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8289219" y="1986991"/>
            <a:ext cx="1646743" cy="303124"/>
          </a:xfrm>
          <a:prstGeom prst="roundRect">
            <a:avLst>
              <a:gd name="adj" fmla="val 12066"/>
            </a:avLst>
          </a:prstGeom>
          <a:solidFill>
            <a:srgbClr val="FFFFFF"/>
          </a:solidFill>
          <a:ln w="11430">
            <a:solidFill>
              <a:srgbClr val="8A6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8289219" y="1986991"/>
            <a:ext cx="1646743" cy="3031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GMSLA — sec lending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10031425" y="1986991"/>
            <a:ext cx="1646743" cy="303124"/>
          </a:xfrm>
          <a:prstGeom prst="roundRect">
            <a:avLst>
              <a:gd name="adj" fmla="val 12066"/>
            </a:avLst>
          </a:prstGeom>
          <a:solidFill>
            <a:srgbClr val="FFFFFF"/>
          </a:solidFill>
          <a:ln w="11430">
            <a:solidFill>
              <a:srgbClr val="8A6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10031425" y="1986991"/>
            <a:ext cx="1646743" cy="3031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PBA — prime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 flipV="1">
            <a:off x="5258257" y="2004822"/>
            <a:ext cx="2887767" cy="534924"/>
          </a:xfrm>
          <a:prstGeom prst="line">
            <a:avLst/>
          </a:prstGeom>
          <a:noFill/>
          <a:ln w="15875">
            <a:solidFill>
              <a:srgbClr val="5A6B75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6391885" y="2165299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 of kind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 flipV="1">
            <a:off x="4303624" y="2022653"/>
            <a:ext cx="0" cy="338785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4375221" y="214746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supports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 flipH="1" flipV="1">
            <a:off x="2633015" y="1844345"/>
            <a:ext cx="715975" cy="677570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2704612" y="2076145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between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 flipH="1" flipV="1">
            <a:off x="2633015" y="2539746"/>
            <a:ext cx="715975" cy="196139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2812009" y="268239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 flipV="1">
            <a:off x="1797710" y="2932024"/>
            <a:ext cx="1694475" cy="766724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2155698" y="3270809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of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 flipV="1">
            <a:off x="1702247" y="2967685"/>
            <a:ext cx="1861536" cy="1551280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2334692" y="3859225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of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 flipV="1">
            <a:off x="1654515" y="5107381"/>
            <a:ext cx="0" cy="231800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1726113" y="516087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conditioned on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 flipV="1">
            <a:off x="4303624" y="2949854"/>
            <a:ext cx="0" cy="748894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4375221" y="3270809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defined by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 flipV="1">
            <a:off x="4303624" y="4287164"/>
            <a:ext cx="0" cy="570586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375221" y="453679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 of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 flipH="1">
            <a:off x="5282123" y="3948379"/>
            <a:ext cx="692109" cy="0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5473050" y="3805733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 flipH="1">
            <a:off x="5115062" y="2914193"/>
            <a:ext cx="883036" cy="766724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4971867" y="316382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calculated for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6905000" y="3128162"/>
            <a:ext cx="0" cy="552755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6976598" y="3359963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based on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7859634" y="2860700"/>
            <a:ext cx="1360353" cy="820217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8289219" y="3092501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based on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 flipV="1">
            <a:off x="6905000" y="3128162"/>
            <a:ext cx="0" cy="1711757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6976598" y="409102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satisfies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 flipH="1" flipV="1">
            <a:off x="4566148" y="2949854"/>
            <a:ext cx="1408085" cy="2104034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4804806" y="4304995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made under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7859634" y="5285689"/>
            <a:ext cx="859170" cy="320954"/>
          </a:xfrm>
          <a:prstGeom prst="line">
            <a:avLst/>
          </a:prstGeom>
          <a:noFill/>
          <a:ln w="15875">
            <a:solidFill>
              <a:srgbClr val="8B827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883500" y="5499659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references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 flipH="1">
            <a:off x="7931231" y="4287164"/>
            <a:ext cx="1312621" cy="766724"/>
          </a:xfrm>
          <a:prstGeom prst="line">
            <a:avLst/>
          </a:prstGeom>
          <a:noFill/>
          <a:ln w="15875">
            <a:solidFill>
              <a:srgbClr val="5A6B75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8217621" y="471510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63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derived from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365760" y="6455664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6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9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&amp; terms   </a:t>
            </a:r>
            <a:r>
              <a:rPr lang="en-US" sz="900" dirty="0">
                <a:solidFill>
                  <a:srgbClr val="2E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9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  </a:t>
            </a:r>
            <a:r>
              <a:rPr lang="en-US" sz="900" dirty="0">
                <a:solidFill>
                  <a:srgbClr val="21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9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(CMOS · Colline)   </a:t>
            </a: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▨ </a:t>
            </a:r>
            <a:r>
              <a:rPr lang="en-US" sz="900" dirty="0">
                <a:solidFill>
                  <a:srgbClr val="1C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— never stored, always Σ of settled movements.   </a:t>
            </a:r>
            <a:r>
              <a:rPr lang="en-US" sz="900" i="1" dirty="0">
                <a:solidFill>
                  <a:srgbClr val="6B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names its system of record; every line is a business sentence.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1431</Words>
  <Application>Microsoft Macintosh PowerPoint</Application>
  <PresentationFormat>Widescreen</PresentationFormat>
  <Paragraphs>207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Reena Cheema</cp:lastModifiedBy>
  <cp:revision>2</cp:revision>
  <dcterms:created xsi:type="dcterms:W3CDTF">2026-07-15T13:12:15Z</dcterms:created>
  <dcterms:modified xsi:type="dcterms:W3CDTF">2026-07-15T18:08:29Z</dcterms:modified>
</cp:coreProperties>
</file>